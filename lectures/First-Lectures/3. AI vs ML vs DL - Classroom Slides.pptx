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58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A4FA3-B306-4AE2-AF34-D8D66ABB8168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71E5DC-0ED1-4A92-8142-9716D2C6C1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47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234440"/>
            <a:ext cx="4663440" cy="4663440"/>
          </a:xfrm>
          <a:prstGeom prst="ellipse">
            <a:avLst/>
          </a:prstGeom>
          <a:solidFill>
            <a:srgbClr val="EEF2FA"/>
          </a:solidFill>
          <a:ln w="19050">
            <a:solidFill>
              <a:srgbClr val="3D5A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2011680"/>
            <a:ext cx="3108960" cy="3108960"/>
          </a:xfrm>
          <a:prstGeom prst="ellipse">
            <a:avLst/>
          </a:prstGeom>
          <a:solidFill>
            <a:srgbClr val="E3F1F1"/>
          </a:solidFill>
          <a:ln w="19050">
            <a:solidFill>
              <a:srgbClr val="2E8B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2788920"/>
            <a:ext cx="1554480" cy="1554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6903720" y="1371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0" y="3429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2352575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vs. ML vs. DL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47575" y="35204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terms beginners mix up constantly — and how they actually nest inside one another.</a:t>
            </a:r>
            <a:endParaRPr lang="en-US" sz="1500" dirty="0"/>
          </a:p>
        </p:txBody>
      </p:sp>
      <p:sp>
        <p:nvSpPr>
          <p:cNvPr id="8" name="AutoShape 2" descr="artificial intelligence - Distinction between AI, ML, Neural Networks, Deep  learning and Data mining - Software Engineering Stack Exchan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4" descr="artificial intelligence - Distinction between AI, ML, Neural Networks, Deep  learning and Data mining - Software Engineering Stack Exchan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400" y="4144328"/>
            <a:ext cx="4503728" cy="2713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HARD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intelligence, really?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can build it artificially, it's worth admitting how little consensus there 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usually say humans are more “intelligent” than other species. But intelligence itself resists a clean definition — it isn't one thing, it's a bundle of different capabilities working together.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128016" cy="12801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3580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logic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85032"/>
            <a:ext cx="128016" cy="12801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66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15384"/>
            <a:ext cx="128016" cy="12801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9651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 imagination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745736"/>
            <a:ext cx="128016" cy="12801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2686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2011680"/>
            <a:ext cx="4233672" cy="3977640"/>
          </a:xfrm>
          <a:prstGeom prst="roundRect">
            <a:avLst>
              <a:gd name="adj" fmla="val 2299"/>
            </a:avLst>
          </a:prstGeom>
          <a:solidFill>
            <a:srgbClr val="E8ECF5"/>
          </a:solidFill>
          <a:ln/>
        </p:spPr>
      </p:sp>
      <p:sp>
        <p:nvSpPr>
          <p:cNvPr id="16" name="Text 14"/>
          <p:cNvSpPr/>
          <p:nvPr/>
        </p:nvSpPr>
        <p:spPr>
          <a:xfrm>
            <a:off x="7571232" y="2176272"/>
            <a:ext cx="3721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UNCOMFORTABLE TRUTH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71232" y="2450592"/>
            <a:ext cx="3721608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fully agrees on what intelligence is. We can't precisely define creativity or emotion in computable terms — so “artificial intelligence” was never aiming at one crisp target.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AI progress has quietly narrowed its ambitions to specific, testable capabilities (reasoning, prediction, pattern recognition) rather than a full general intelligence matching our own.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ML, and DL are nested — not separate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28800"/>
            <a:ext cx="4663440" cy="4663440"/>
          </a:xfrm>
          <a:prstGeom prst="ellipse">
            <a:avLst/>
          </a:prstGeom>
          <a:solidFill>
            <a:srgbClr val="EEF2FA"/>
          </a:solidFill>
          <a:ln w="22860">
            <a:solidFill>
              <a:srgbClr val="3D5A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2560320"/>
            <a:ext cx="3200400" cy="3200400"/>
          </a:xfrm>
          <a:prstGeom prst="ellipse">
            <a:avLst/>
          </a:prstGeom>
          <a:solidFill>
            <a:srgbClr val="E3F1F1"/>
          </a:solidFill>
          <a:ln w="22860">
            <a:solidFill>
              <a:srgbClr val="2E8B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3337560"/>
            <a:ext cx="1645920" cy="164592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011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</a:t>
            </a:r>
            <a:endParaRPr lang="en-US" sz="11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2788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71800" y="400507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965960"/>
            <a:ext cx="5056632" cy="1234440"/>
          </a:xfrm>
          <a:prstGeom prst="roundRect">
            <a:avLst>
              <a:gd name="adj" fmla="val 7407"/>
            </a:avLst>
          </a:prstGeom>
          <a:solidFill>
            <a:srgbClr val="E8EC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766560" y="2167128"/>
            <a:ext cx="274320" cy="274320"/>
          </a:xfrm>
          <a:prstGeom prst="ellipse">
            <a:avLst/>
          </a:prstGeom>
          <a:solidFill>
            <a:srgbClr val="3D5A99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2103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12280" y="2468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8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goal: build machines that behave intelligently, whatever technique gets you there.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492240" y="3383280"/>
            <a:ext cx="5056632" cy="1234440"/>
          </a:xfrm>
          <a:prstGeom prst="roundRect">
            <a:avLst>
              <a:gd name="adj" fmla="val 7407"/>
            </a:avLst>
          </a:prstGeom>
          <a:solidFill>
            <a:srgbClr val="E8EC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766560" y="3584448"/>
            <a:ext cx="274320" cy="274320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3520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3886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8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approach to AI: instead of hand-coded rules, the system finds patterns in data on its own.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492240" y="4800600"/>
            <a:ext cx="5056632" cy="1234440"/>
          </a:xfrm>
          <a:prstGeom prst="roundRect">
            <a:avLst>
              <a:gd name="adj" fmla="val 7407"/>
            </a:avLst>
          </a:prstGeom>
          <a:solidFill>
            <a:srgbClr val="E8EC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6560" y="5001768"/>
            <a:ext cx="274320" cy="2743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4937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12280" y="5303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8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approach within ML, using layered neural networks that also learn their own features.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 BRIEF HISTORY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ML: the Symbolic AI era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of intelligent machines goes back decades — long before data-driven learning took over.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E8ECF5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30552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2404872"/>
            <a:ext cx="4745736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sat down with human experts, extracted their knowledge as explicit rules, and encoded that “knowledge base” directly into a program. This approach is often called Symbolic AI or expert systems.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48056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E8ECF5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4645152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EXAMPLE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4919472"/>
            <a:ext cx="474573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Chess-playing programs — an expert's strategic knowledge, converted into if-then rules a machine could follow.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376672" cy="3886200"/>
          </a:xfrm>
          <a:prstGeom prst="roundRect">
            <a:avLst>
              <a:gd name="adj" fmla="val 2353"/>
            </a:avLst>
          </a:prstGeom>
          <a:solidFill>
            <a:srgbClr val="E8EC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2130552"/>
            <a:ext cx="4864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WORKED — AND WHERE IT BROKE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28232" y="2404872"/>
            <a:ext cx="4864608" cy="3282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00" dirty="0"/>
          </a:p>
        </p:txBody>
      </p:sp>
      <p:sp>
        <p:nvSpPr>
          <p:cNvPr id="15" name="Text 13"/>
          <p:cNvSpPr/>
          <p:nvPr/>
        </p:nvSpPr>
        <p:spPr>
          <a:xfrm>
            <a:off x="6428232" y="2423160"/>
            <a:ext cx="4864608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well for: </a:t>
            </a:r>
            <a:r>
              <a:rPr lang="en-US" sz="123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logic-heavy problems with clear rules — like game strategy or structured diagnosis.
</a:t>
            </a:r>
            <a:r>
              <a:rPr lang="en-US" sz="12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 down on: </a:t>
            </a:r>
            <a:r>
              <a:rPr lang="en-US" sz="123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problems — recognizing an image, understanding speech. Nobody could write down “all the rules” for what makes a photo contain a dog. Breeds vary too much in size, color, and shape to enumerate by hand.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Machine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10396728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a branch of computer science that uses statistical techniques to find patterns in data automatically — rather than relying on explicitly hand-coded rules.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classifying dog breeds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AI would try to hand-write rules per breed — impossible given the variation. With machine learning, you instead show the system thousands of labeled photos (“this is a dog,” “this is not”) and let it work out the underlying pattern itself. That pattern-finding process is what we call learning.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7406640" y="3429000"/>
            <a:ext cx="4142232" cy="2651760"/>
          </a:xfrm>
          <a:prstGeom prst="roundRect">
            <a:avLst>
              <a:gd name="adj" fmla="val 3448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62672" y="3593592"/>
            <a:ext cx="3630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PARALLEL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62672" y="3867912"/>
            <a:ext cx="3630168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how children learn animals — shown examples and gently corrected, not handed a rulebook of features to check.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Symbolic AI vs. Machine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30175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2011680"/>
            <a:ext cx="3931920" cy="502920"/>
          </a:xfrm>
          <a:prstGeom prst="rect">
            <a:avLst/>
          </a:prstGeom>
          <a:solidFill>
            <a:srgbClr val="6B7A9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20116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2011680"/>
            <a:ext cx="3931920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20116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3017520" cy="658368"/>
          </a:xfrm>
          <a:prstGeom prst="rect">
            <a:avLst/>
          </a:prstGeom>
          <a:solidFill>
            <a:srgbClr val="E8ECF5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146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rules come from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0" y="2514600"/>
            <a:ext cx="3931920" cy="658368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251460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hand, from expert knowledge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89520" y="2514600"/>
            <a:ext cx="3931920" cy="658368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51460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automatically from data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3017520" cy="658368"/>
          </a:xfrm>
          <a:prstGeom prst="rect">
            <a:avLst/>
          </a:prstGeom>
          <a:solidFill>
            <a:srgbClr val="E8ECF5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7296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0" y="3172968"/>
            <a:ext cx="3931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31729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logic-heavy problems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89520" y="3172968"/>
            <a:ext cx="3931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31729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&amp; pattern-heavy problems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831336"/>
            <a:ext cx="3017520" cy="658368"/>
          </a:xfrm>
          <a:prstGeom prst="rect">
            <a:avLst/>
          </a:prstGeom>
          <a:solidFill>
            <a:srgbClr val="E8ECF5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83133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case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0" y="3831336"/>
            <a:ext cx="3931920" cy="658368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383133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rewriting rules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89520" y="3831336"/>
            <a:ext cx="3931920" cy="658368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383133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more training data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489704"/>
            <a:ext cx="3017520" cy="658368"/>
          </a:xfrm>
          <a:prstGeom prst="rect">
            <a:avLst/>
          </a:prstGeom>
          <a:solidFill>
            <a:srgbClr val="E8ECF5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4897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0" y="4489704"/>
            <a:ext cx="3931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448970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Chess-playing programs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89520" y="4489704"/>
            <a:ext cx="3931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448970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breed image classifier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ONE LEVEL DEEPER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why do we need deep learning at all?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ML already learns from data, what's left for DL to add?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 actually looks the same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algorithm data → train it → reduce its error over time → deploy it. That loop is identical for both classical ML and deep learning — which is part of why the distinction confuses people.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name comes from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learning's core unit is the perceptron, loosely inspired by a biological neuron. But this is loose inspiration, not simulation — a network of perceptrons doesn't work the way an actual brain does. “Deep” refers to stacking many layers of these units on top of each other.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2011680"/>
            <a:ext cx="4142232" cy="3931920"/>
          </a:xfrm>
          <a:prstGeom prst="roundRect">
            <a:avLst>
              <a:gd name="adj" fmla="val 2326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62672" y="2176272"/>
            <a:ext cx="3630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QUESTION IN MIND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62672" y="2450592"/>
            <a:ext cx="3630168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training loop is the same, and the biology is only loosely inspired — what is the actual, practical difference between classical ML and deep learning?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the next slide answers.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THE REAL DIFFERENCE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engineering: who finds the signal?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— you define the features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placement-prediction example, you decide upfront which signals matter — then hand them to the model: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364992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36499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certifications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3913632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9136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experience (%)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4462272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4622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score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5010912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0109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…every other feature you think to add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56692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miss a feature that actually mattered, the model never sees 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91072" y="19659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65392" y="21945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— the network finds its own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269748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recognizing a handwritten digit. Each layer builds on the last, forming increasingly abstract representations — automatically, with no manual feature list: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52044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0D162B"/>
          </a:solidFill>
          <a:ln w="9525">
            <a:solidFill>
              <a:srgbClr val="2A35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3520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→ detects raw edges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65392" y="406908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0D162B"/>
          </a:solidFill>
          <a:ln w="9525">
            <a:solidFill>
              <a:srgbClr val="2A35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→ groups edges into strokes/parts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65392" y="461772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CA311"/>
          </a:solidFill>
          <a:ln w="9525">
            <a:solidFill>
              <a:srgbClr val="2A35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4617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layer → identifies the digit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65392" y="527608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AA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layers generally means richer, more useful representations — up to a point.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THE TRADE-OFF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deep learning is hungrier for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VS. DATA VOLUME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88720" y="2743200"/>
            <a:ext cx="0" cy="2926080"/>
          </a:xfrm>
          <a:prstGeom prst="line">
            <a:avLst/>
          </a:prstGeom>
          <a:noFill/>
          <a:ln w="16510">
            <a:solidFill>
              <a:srgbClr val="C7CE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5669280"/>
            <a:ext cx="4572000" cy="0"/>
          </a:xfrm>
          <a:prstGeom prst="line">
            <a:avLst/>
          </a:prstGeom>
          <a:noFill/>
          <a:ln w="16510">
            <a:solidFill>
              <a:srgbClr val="C7CE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280160" y="4480560"/>
            <a:ext cx="822960" cy="1051560"/>
          </a:xfrm>
          <a:prstGeom prst="line">
            <a:avLst/>
          </a:prstGeom>
          <a:noFill/>
          <a:ln w="31750">
            <a:solidFill>
              <a:srgbClr val="6B7A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103120" y="3886200"/>
            <a:ext cx="914400" cy="594360"/>
          </a:xfrm>
          <a:prstGeom prst="line">
            <a:avLst/>
          </a:prstGeom>
          <a:noFill/>
          <a:ln w="31750">
            <a:solidFill>
              <a:srgbClr val="6B7A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017520" y="3703320"/>
            <a:ext cx="1097280" cy="182880"/>
          </a:xfrm>
          <a:prstGeom prst="line">
            <a:avLst/>
          </a:prstGeom>
          <a:noFill/>
          <a:ln w="31750">
            <a:solidFill>
              <a:srgbClr val="6B7A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4114800" y="3657600"/>
            <a:ext cx="1371600" cy="45720"/>
          </a:xfrm>
          <a:prstGeom prst="line">
            <a:avLst/>
          </a:prstGeom>
          <a:noFill/>
          <a:ln w="31750">
            <a:solidFill>
              <a:srgbClr val="6B7A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280160" y="5212080"/>
            <a:ext cx="1005840" cy="411480"/>
          </a:xfrm>
          <a:prstGeom prst="line">
            <a:avLst/>
          </a:prstGeom>
          <a:noFill/>
          <a:ln w="31750">
            <a:solidFill>
              <a:srgbClr val="FCA3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286000" y="4297680"/>
            <a:ext cx="1005840" cy="914400"/>
          </a:xfrm>
          <a:prstGeom prst="line">
            <a:avLst/>
          </a:prstGeom>
          <a:noFill/>
          <a:ln w="31750">
            <a:solidFill>
              <a:srgbClr val="FCA3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291840" y="3337560"/>
            <a:ext cx="1005840" cy="960120"/>
          </a:xfrm>
          <a:prstGeom prst="line">
            <a:avLst/>
          </a:prstGeom>
          <a:noFill/>
          <a:ln w="31750">
            <a:solidFill>
              <a:srgbClr val="FCA3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4297680" y="2880360"/>
            <a:ext cx="1188720" cy="457200"/>
          </a:xfrm>
          <a:prstGeom prst="line">
            <a:avLst/>
          </a:prstGeom>
          <a:noFill/>
          <a:ln w="31750">
            <a:solidFill>
              <a:srgbClr val="FCA3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3429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7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5742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 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" y="2450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↑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55080" y="1965960"/>
            <a:ext cx="5193792" cy="4206240"/>
          </a:xfrm>
          <a:prstGeom prst="roundRect">
            <a:avLst>
              <a:gd name="adj" fmla="val 2174"/>
            </a:avLst>
          </a:prstGeom>
          <a:solidFill>
            <a:srgbClr val="E8ECF5"/>
          </a:solidFill>
          <a:ln/>
        </p:spPr>
      </p:sp>
      <p:sp>
        <p:nvSpPr>
          <p:cNvPr id="22" name="Text 20"/>
          <p:cNvSpPr/>
          <p:nvPr/>
        </p:nvSpPr>
        <p:spPr>
          <a:xfrm>
            <a:off x="6611112" y="2130552"/>
            <a:ext cx="4681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MEANS IN PRACTICE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11112" y="2404872"/>
            <a:ext cx="4681728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models tend to plateau — past a certain point, more data barely improves them.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keeps improving as data grows, but it needs a large volume before it starts to shine, plus real compute power (GPUs) to train.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dataset, tight budget, tabular data? Classical ML is usually the safer, cheaper choice.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DECISION GUIDE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reach for which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40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shines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2980944"/>
            <a:ext cx="109728" cy="1097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8346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data: images, audio, raw text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758184"/>
            <a:ext cx="109728" cy="1097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36118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datasets available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4535424"/>
            <a:ext cx="109728" cy="1097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1207008" y="43891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/ compute budget available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5312664"/>
            <a:ext cx="109728" cy="1097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51663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list isn't obvious in advance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19672" y="19659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E8ECF5"/>
          </a:solidFill>
          <a:ln/>
        </p:spPr>
      </p:sp>
      <p:sp>
        <p:nvSpPr>
          <p:cNvPr id="16" name="Text 14"/>
          <p:cNvSpPr/>
          <p:nvPr/>
        </p:nvSpPr>
        <p:spPr>
          <a:xfrm>
            <a:off x="6839712" y="2240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ML shines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39712" y="2980944"/>
            <a:ext cx="109728" cy="1097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8346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tabular data (banking, insurance)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39712" y="3758184"/>
            <a:ext cx="109728" cy="1097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36118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or moderate dataset size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39712" y="4535424"/>
            <a:ext cx="109728" cy="1097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43891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compute budget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39712" y="5312664"/>
            <a:ext cx="109728" cy="1097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51663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can define good features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1671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09397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nested, not separate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25880" y="24231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broad goal; ML is one approach to it; DL is one approach within ML.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291072" y="196596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1671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76872" y="209397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Symbolic AI came first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976872" y="24231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rules worked for narrow, logical problems — but not for perception.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7216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64845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learns the rules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25880" y="39776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labeled data, and it finds the pattern connecting input to output itself.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291072" y="352044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37216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76872" y="364845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 learns the features too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976872" y="39776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build increasingly abstract representations automatically, with no manual feature list.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26" name="Shape 24"/>
          <p:cNvSpPr/>
          <p:nvPr/>
        </p:nvSpPr>
        <p:spPr>
          <a:xfrm>
            <a:off x="841248" y="5276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276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52029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 trades data for accuracy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325880" y="553212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far more data and compute than classical ML, but keeps improving as both grow.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6291072" y="507492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5276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5276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76872" y="52029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based on your data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976872" y="553212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+ large + high compute → DL. Tabular + small + limited compute → classical ML.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1174</Words>
  <Application>Microsoft Office PowerPoint</Application>
  <PresentationFormat>Custom</PresentationFormat>
  <Paragraphs>155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</cp:lastModifiedBy>
  <cp:revision>5</cp:revision>
  <dcterms:created xsi:type="dcterms:W3CDTF">2026-08-22T07:42:37Z</dcterms:created>
  <dcterms:modified xsi:type="dcterms:W3CDTF">2026-08-24T02:36:59Z</dcterms:modified>
</cp:coreProperties>
</file>