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-370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582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3749040" cy="3291840"/>
          </a:xfrm>
          <a:prstGeom prst="rect">
            <a:avLst/>
          </a:prstGeom>
          <a:solidFill>
            <a:srgbClr val="E8ECF5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5212080"/>
            <a:ext cx="0" cy="0"/>
          </a:xfrm>
          <a:prstGeom prst="line">
            <a:avLst/>
          </a:prstGeom>
          <a:noFill/>
          <a:ln w="12700">
            <a:solidFill>
              <a:srgbClr val="C7CE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5212080"/>
            <a:ext cx="3200400" cy="0"/>
          </a:xfrm>
          <a:prstGeom prst="line">
            <a:avLst/>
          </a:prstGeom>
          <a:noFill/>
          <a:ln w="12700">
            <a:solidFill>
              <a:srgbClr val="C7CE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834640"/>
            <a:ext cx="2651760" cy="2194560"/>
          </a:xfrm>
          <a:prstGeom prst="line">
            <a:avLst/>
          </a:prstGeom>
          <a:noFill/>
          <a:ln w="31750">
            <a:solidFill>
              <a:srgbClr val="2E8B8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595360" y="3108960"/>
            <a:ext cx="146304" cy="146304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0" y="2926080"/>
            <a:ext cx="146304" cy="146304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566160"/>
            <a:ext cx="146304" cy="146304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0" y="3200400"/>
            <a:ext cx="146304" cy="146304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0" y="3749040"/>
            <a:ext cx="146304" cy="146304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11" name="Shape 9"/>
          <p:cNvSpPr/>
          <p:nvPr/>
        </p:nvSpPr>
        <p:spPr>
          <a:xfrm>
            <a:off x="10149840" y="4023360"/>
            <a:ext cx="146304" cy="146304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0" y="3749040"/>
            <a:ext cx="146304" cy="146304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24160" y="4572000"/>
            <a:ext cx="146304" cy="146304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0" y="4297680"/>
            <a:ext cx="146304" cy="146304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0" y="5029200"/>
            <a:ext cx="146304" cy="146304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FUNDAMENTALS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233172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Instance-Based vs.</a:t>
            </a:r>
            <a:endParaRPr lang="en-US" sz="36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Model-Based Learning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completely different ways an algorithm can actually learn — memorize the data, or extract the rule behind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 learn the same two ways we 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BACK TO SCHOOL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10396728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probably knew two kinds of students. One crammed — memorized facts the night before an exam. The other tried to actually understand the underlying concept, so they could work out any question, not just the ones they'd seen before.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5257800" cy="2468880"/>
          </a:xfrm>
          <a:prstGeom prst="roundRect">
            <a:avLst>
              <a:gd name="adj" fmla="val 4444"/>
            </a:avLst>
          </a:prstGeom>
          <a:solidFill>
            <a:srgbClr val="E8ECF5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794760"/>
            <a:ext cx="201168" cy="201168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703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Memorizing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simple form of learning: store what you saw, and recall it later. No real understanding required — just recognition.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91072" y="3520440"/>
            <a:ext cx="5257800" cy="2468880"/>
          </a:xfrm>
          <a:prstGeom prst="roundRect">
            <a:avLst>
              <a:gd name="adj" fmla="val 4444"/>
            </a:avLst>
          </a:prstGeom>
          <a:solidFill>
            <a:srgbClr val="E8EC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565392" y="3794760"/>
            <a:ext cx="201168" cy="201168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4" name="Text 12"/>
          <p:cNvSpPr/>
          <p:nvPr/>
        </p:nvSpPr>
        <p:spPr>
          <a:xfrm>
            <a:off x="6885432" y="3703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65392" y="434340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form of learning: understand the underlying principle, so you can handle situations you've never directly seen before.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VS. MODEL-BASED LEARNING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families of machine learning algorithms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8EC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5257800" cy="128016"/>
          </a:xfrm>
          <a:prstGeom prst="roundRect">
            <a:avLst/>
          </a:prstGeom>
          <a:solidFill>
            <a:srgbClr val="8E6FB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Instance-Based Learning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a.k.a. “lazy learning”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training data as-is. When a new point shows up, it compares that point against everything stored and decides on the spot.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91072" y="214884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8ECF5"/>
          </a:solidFill>
          <a:ln/>
        </p:spPr>
      </p:sp>
      <p:sp>
        <p:nvSpPr>
          <p:cNvPr id="11" name="Shape 9"/>
          <p:cNvSpPr/>
          <p:nvPr/>
        </p:nvSpPr>
        <p:spPr>
          <a:xfrm>
            <a:off x="6291072" y="2148840"/>
            <a:ext cx="5257800" cy="128016"/>
          </a:xfrm>
          <a:prstGeom prst="roundRect">
            <a:avLst/>
          </a:prstGeom>
          <a:solidFill>
            <a:srgbClr val="2E8B8B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25146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Model-Based Learning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565392" y="3017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underlying rule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65392" y="35204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the training data once, extracts a general mathematical relationship, and throws the raw data away — the rule is what's kept.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VS. MODEL-BASED LEARNING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INSTANCE-BASED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everything, decide when asked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0908792" cy="1463040"/>
          </a:xfrm>
          <a:prstGeom prst="roundRect">
            <a:avLst>
              <a:gd name="adj" fmla="val 6250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103967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learning stores the training data essentially untouched. There's no real “training” step — the algorithm just holds on to the data quietly. When a new query point finally arrives, it compares that point to everything stored and answers immediately.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2587752" cy="1005840"/>
          </a:xfrm>
          <a:prstGeom prst="roundRect">
            <a:avLst>
              <a:gd name="adj" fmla="val 9091"/>
            </a:avLst>
          </a:prstGeom>
          <a:solidFill>
            <a:srgbClr val="E8ECF5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703320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training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27832" y="4123944"/>
            <a:ext cx="137160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1" name="Shape 9"/>
          <p:cNvSpPr/>
          <p:nvPr/>
        </p:nvSpPr>
        <p:spPr>
          <a:xfrm>
            <a:off x="3364992" y="3703320"/>
            <a:ext cx="2587752" cy="1005840"/>
          </a:xfrm>
          <a:prstGeom prst="roundRect">
            <a:avLst>
              <a:gd name="adj" fmla="val 9091"/>
            </a:avLst>
          </a:prstGeom>
          <a:solidFill>
            <a:srgbClr val="E8ECF5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3703320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 new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point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52744" y="4123944"/>
            <a:ext cx="137160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9904" y="3703320"/>
            <a:ext cx="2587752" cy="1005840"/>
          </a:xfrm>
          <a:prstGeom prst="roundRect">
            <a:avLst>
              <a:gd name="adj" fmla="val 9091"/>
            </a:avLst>
          </a:prstGeom>
          <a:solidFill>
            <a:srgbClr val="E8ECF5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3703320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distance to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stored point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77656" y="4123944"/>
            <a:ext cx="137160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7" name="Shape 15"/>
          <p:cNvSpPr/>
          <p:nvPr/>
        </p:nvSpPr>
        <p:spPr>
          <a:xfrm>
            <a:off x="8814816" y="3703320"/>
            <a:ext cx="2587752" cy="1005840"/>
          </a:xfrm>
          <a:prstGeom prst="roundRect">
            <a:avLst>
              <a:gd name="adj" fmla="val 9091"/>
            </a:avLst>
          </a:prstGeom>
          <a:solidFill>
            <a:srgbClr val="FCA311"/>
          </a:solidFill>
          <a:ln/>
        </p:spPr>
      </p:sp>
      <p:sp>
        <p:nvSpPr>
          <p:cNvPr id="18" name="Text 16"/>
          <p:cNvSpPr/>
          <p:nvPr/>
        </p:nvSpPr>
        <p:spPr>
          <a:xfrm>
            <a:off x="8924544" y="3703320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using the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519379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CALLED “LAZY LEARNING”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5468112"/>
            <a:ext cx="10396728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this approach does almost nothing — it just files the data away. All the real work happens later, at prediction time, which is why it's nicknamed lazy learning.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VS. MODEL-BASED LEARNING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INSTANCE-BASED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will this student get placed?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9029" y="1450571"/>
            <a:ext cx="7543151" cy="4206240"/>
          </a:xfrm>
          <a:prstGeom prst="roundRect">
            <a:avLst>
              <a:gd name="adj" fmla="val 2174"/>
            </a:avLst>
          </a:prstGeom>
          <a:solidFill>
            <a:srgbClr val="E8ECF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50571"/>
            <a:ext cx="7298811" cy="19102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IQ and CGPA as inputs, and Placement (Yes/No) as the output. Instance-based learning plots every student as a point — red for “not placed,” blue for “placed” — and simply keeps all of them on hand.</a:t>
            </a:r>
            <a:endParaRPr lang="en-US" sz="1400" b="1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brand-new student's IQ and CGPA come in, the algorithm doesn't consult any pre-built rule. It looks at where that new point lands relative to everyone already stored.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7988" y="2422124"/>
            <a:ext cx="5376672" cy="4206240"/>
          </a:xfrm>
          <a:prstGeom prst="roundRect">
            <a:avLst>
              <a:gd name="adj" fmla="val 2174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2947630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DECISION: NEAREST NEIGHBORS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3417472"/>
            <a:ext cx="4864608" cy="196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6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measures the new point's distance to every stored student, then looks at its k closest neighbors — say, the 3 nearest.</a:t>
            </a:r>
            <a:endParaRPr lang="en-US" sz="1600" dirty="0"/>
          </a:p>
          <a:p>
            <a:pPr marL="0" indent="0" algn="just">
              <a:lnSpc>
                <a:spcPts val="1800"/>
              </a:lnSpc>
              <a:buNone/>
            </a:pPr>
            <a:endParaRPr lang="en-US" sz="1600" dirty="0"/>
          </a:p>
          <a:p>
            <a:pPr marL="0" indent="0" algn="just">
              <a:lnSpc>
                <a:spcPts val="1800"/>
              </a:lnSpc>
              <a:buNone/>
            </a:pPr>
            <a:r>
              <a:rPr lang="en-US" sz="16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2 of those 3 nearest students got placed, the new student is predicted “Yes.” The idea: points that sit near each other tend to behave alike. This is the core logic behind k-Nearest Neighbors (KNN).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VS. MODEL-BASED LEARNING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30" y="2438124"/>
            <a:ext cx="5757158" cy="4206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MODEL-BASED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the rule, then forget the data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0908792" cy="1463040"/>
          </a:xfrm>
          <a:prstGeom prst="roundRect">
            <a:avLst>
              <a:gd name="adj" fmla="val 6250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103967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learning studies the training data once and tries to extract the underlying mathematical relationship between input and output. The result is a decision function — once that function exists, the raw training data is no longer needed to make predictions.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2587752" cy="1005840"/>
          </a:xfrm>
          <a:prstGeom prst="roundRect">
            <a:avLst>
              <a:gd name="adj" fmla="val 9091"/>
            </a:avLst>
          </a:prstGeom>
          <a:solidFill>
            <a:srgbClr val="E8ECF5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703320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algorithm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27832" y="4123944"/>
            <a:ext cx="137160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1" name="Shape 9"/>
          <p:cNvSpPr/>
          <p:nvPr/>
        </p:nvSpPr>
        <p:spPr>
          <a:xfrm>
            <a:off x="3364992" y="3703320"/>
            <a:ext cx="2587752" cy="1005840"/>
          </a:xfrm>
          <a:prstGeom prst="roundRect">
            <a:avLst>
              <a:gd name="adj" fmla="val 9091"/>
            </a:avLst>
          </a:prstGeom>
          <a:solidFill>
            <a:srgbClr val="E8ECF5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3703320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searches for an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pattern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52744" y="4123944"/>
            <a:ext cx="137160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9904" y="3703320"/>
            <a:ext cx="2587752" cy="1005840"/>
          </a:xfrm>
          <a:prstGeom prst="roundRect">
            <a:avLst>
              <a:gd name="adj" fmla="val 9091"/>
            </a:avLst>
          </a:prstGeom>
          <a:solidFill>
            <a:srgbClr val="E8ECF5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3703320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fits a mathematical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function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77656" y="4123944"/>
            <a:ext cx="137160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7" name="Shape 15"/>
          <p:cNvSpPr/>
          <p:nvPr/>
        </p:nvSpPr>
        <p:spPr>
          <a:xfrm>
            <a:off x="8814816" y="3703320"/>
            <a:ext cx="2587752" cy="1005840"/>
          </a:xfrm>
          <a:prstGeom prst="roundRect">
            <a:avLst>
              <a:gd name="adj" fmla="val 9091"/>
            </a:avLst>
          </a:prstGeom>
          <a:solidFill>
            <a:srgbClr val="FCA311"/>
          </a:solidFill>
          <a:ln/>
        </p:spPr>
      </p:sp>
      <p:sp>
        <p:nvSpPr>
          <p:cNvPr id="18" name="Text 16"/>
          <p:cNvSpPr/>
          <p:nvPr/>
        </p:nvSpPr>
        <p:spPr>
          <a:xfrm>
            <a:off x="8924544" y="3703320"/>
            <a:ext cx="23682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points get classified</a:t>
            </a:r>
            <a:endParaRPr lang="en-US" sz="14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that function alone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519379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PART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5468112"/>
            <a:ext cx="10396728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rule is generalized once, in advance, you no longer need to keep the training points around — which is the opposite of instance-based learning.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VS. MODEL-BASED LEARNING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MODEL-BASED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dataset, a completely different approach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" y="1305482"/>
            <a:ext cx="11518916" cy="4206240"/>
          </a:xfrm>
          <a:prstGeom prst="roundRect">
            <a:avLst>
              <a:gd name="adj" fmla="val 2174"/>
            </a:avLst>
          </a:prstGeom>
          <a:solidFill>
            <a:srgbClr val="E8ECF5"/>
          </a:solidFill>
          <a:ln/>
        </p:spPr>
      </p:sp>
      <p:sp>
        <p:nvSpPr>
          <p:cNvPr id="7" name="Text 5"/>
          <p:cNvSpPr/>
          <p:nvPr/>
        </p:nvSpPr>
        <p:spPr>
          <a:xfrm>
            <a:off x="781811" y="1389888"/>
            <a:ext cx="11159421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IQ, CGPA, and Placement data, plotted the same way — red for “not placed,” blue for “placed.” But this time, the algorithm doesn't wait for a query point to do anything.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68024" y="2171028"/>
            <a:ext cx="5376672" cy="4468012"/>
          </a:xfrm>
          <a:prstGeom prst="roundRect">
            <a:avLst>
              <a:gd name="adj" fmla="val 2174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67144" y="2228526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DECISION: A BOUNDARY 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76625" y="2924597"/>
            <a:ext cx="4864608" cy="3101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6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the algorithm draws a decision boundary through the data — a line (or curve) that best separates placed from not-placed students.</a:t>
            </a:r>
            <a:endParaRPr lang="en-US" sz="1600" dirty="0"/>
          </a:p>
          <a:p>
            <a:pPr marL="0" indent="0" algn="just">
              <a:lnSpc>
                <a:spcPts val="1800"/>
              </a:lnSpc>
              <a:buNone/>
            </a:pPr>
            <a:endParaRPr lang="en-US" sz="1600" dirty="0"/>
          </a:p>
          <a:p>
            <a:pPr marL="0" indent="0" algn="just">
              <a:lnSpc>
                <a:spcPts val="1800"/>
              </a:lnSpc>
              <a:buNone/>
            </a:pPr>
            <a:r>
              <a:rPr lang="en-US" sz="16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that boundary exists, classifying any new point is instant: which side of the line does it fall on? No comparison to individual students required — the boundary already encodes the pattern.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VS. MODEL-BASED LEARNING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3" name="AutoShape 2" descr="instance_based_learning_KNN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4" descr="instance_based_learning_KNN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AutoShape 7" descr="model_based_learning_boundary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" y="2187170"/>
            <a:ext cx="6119295" cy="446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common algorithms are which?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algorithms you'll encounter are model-based — instance-based learning has a much shorter list.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8ECF5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560320"/>
            <a:ext cx="201168" cy="201168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68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Instance-Based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" y="3227832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3063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2688" y="3685032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35204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kernel-based methods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91072" y="22860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8EC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565392" y="2560320"/>
            <a:ext cx="201168" cy="201168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5" name="Text 13"/>
          <p:cNvSpPr/>
          <p:nvPr/>
        </p:nvSpPr>
        <p:spPr>
          <a:xfrm>
            <a:off x="6885432" y="2468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Model-Based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0" y="3227832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7" name="Text 15"/>
          <p:cNvSpPr/>
          <p:nvPr/>
        </p:nvSpPr>
        <p:spPr>
          <a:xfrm>
            <a:off x="6821424" y="3063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0" y="3685032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9" name="Text 17"/>
          <p:cNvSpPr/>
          <p:nvPr/>
        </p:nvSpPr>
        <p:spPr>
          <a:xfrm>
            <a:off x="6821424" y="35204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0" y="4142232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1" name="Text 19"/>
          <p:cNvSpPr/>
          <p:nvPr/>
        </p:nvSpPr>
        <p:spPr>
          <a:xfrm>
            <a:off x="6821424" y="39776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0" y="4599432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3" name="Text 21"/>
          <p:cNvSpPr/>
          <p:nvPr/>
        </p:nvSpPr>
        <p:spPr>
          <a:xfrm>
            <a:off x="6821424" y="44348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0" y="5056632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5" name="Text 23"/>
          <p:cNvSpPr/>
          <p:nvPr/>
        </p:nvSpPr>
        <p:spPr>
          <a:xfrm>
            <a:off x="6821424" y="48920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0" y="5513832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821424" y="5349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most other ML algorithms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VS. MODEL-BASED LEARNING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568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Instance-based vs. model-based, feature by feature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32004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0" y="1965960"/>
            <a:ext cx="3840480" cy="502920"/>
          </a:xfrm>
          <a:prstGeom prst="rect">
            <a:avLst/>
          </a:prstGeom>
          <a:solidFill>
            <a:srgbClr val="8E6FB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1965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680960" y="1965960"/>
            <a:ext cx="3840480" cy="50292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1965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3200400" cy="685800"/>
          </a:xfrm>
          <a:prstGeom prst="rect">
            <a:avLst/>
          </a:prstGeom>
          <a:solidFill>
            <a:srgbClr val="E8ECF5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68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0" y="2468880"/>
            <a:ext cx="3840480" cy="685800"/>
          </a:xfrm>
          <a:prstGeom prst="rect">
            <a:avLst/>
          </a:prstGeom>
          <a:solidFill>
            <a:srgbClr val="F7F9FC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468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effort either way — nulls, encoding, etc.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80960" y="2468880"/>
            <a:ext cx="3840480" cy="685800"/>
          </a:xfrm>
          <a:prstGeom prst="rect">
            <a:avLst/>
          </a:prstGeom>
          <a:solidFill>
            <a:srgbClr val="F7F9FC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468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effort either way — nulls, encoding, etc.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3200400" cy="685800"/>
          </a:xfrm>
          <a:prstGeom prst="rect">
            <a:avLst/>
          </a:prstGeom>
          <a:solidFill>
            <a:srgbClr val="E8ECF5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54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training produces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0480" y="3154680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31546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data is just stored as-is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80960" y="3154680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1546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learned parameters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3200400" cy="685800"/>
          </a:xfrm>
          <a:prstGeom prst="rect">
            <a:avLst/>
          </a:prstGeom>
          <a:solidFill>
            <a:srgbClr val="E8ECF5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840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required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0480" y="3840480"/>
            <a:ext cx="3840480" cy="685800"/>
          </a:xfrm>
          <a:prstGeom prst="rect">
            <a:avLst/>
          </a:prstGeom>
          <a:solidFill>
            <a:srgbClr val="F7F9FC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38404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training data, forever (grows with data)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80960" y="3840480"/>
            <a:ext cx="3840480" cy="685800"/>
          </a:xfrm>
          <a:prstGeom prst="rect">
            <a:avLst/>
          </a:prstGeom>
          <a:solidFill>
            <a:srgbClr val="F7F9FC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38404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small, fitted function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4526280"/>
            <a:ext cx="3200400" cy="685800"/>
          </a:xfrm>
          <a:prstGeom prst="rect">
            <a:avLst/>
          </a:prstGeom>
          <a:solidFill>
            <a:srgbClr val="E8ECF5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5262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“generalizes”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40480" y="4526280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45262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a new query point arrives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80960" y="4526280"/>
            <a:ext cx="3840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45262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during training — before any query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5212080"/>
            <a:ext cx="3200400" cy="685800"/>
          </a:xfrm>
          <a:prstGeom prst="rect">
            <a:avLst/>
          </a:prstGeom>
          <a:solidFill>
            <a:srgbClr val="E8ECF5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2120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training data later?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0480" y="5212080"/>
            <a:ext cx="3840480" cy="685800"/>
          </a:xfrm>
          <a:prstGeom prst="rect">
            <a:avLst/>
          </a:prstGeom>
          <a:solidFill>
            <a:srgbClr val="F7F9FC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77640" y="5212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always, for every prediction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80960" y="5212080"/>
            <a:ext cx="3840480" cy="685800"/>
          </a:xfrm>
          <a:prstGeom prst="rect">
            <a:avLst/>
          </a:prstGeom>
          <a:solidFill>
            <a:srgbClr val="F7F9FC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5212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the rule alone is enough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VS. MODEL-BASED LEARNING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167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09397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learn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4231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students, algorithms either memorize (instance-based) or understand the underlying rule (model-based).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1072" y="196596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167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76872" y="209397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Instance-based = lazy learning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76872" y="24231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happens during training — the work is deferred until a new query point actually arrives.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7216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64845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Model-based extracts a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9776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produces a decision function or boundary — the raw data can be discarded afterward.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91072" y="352044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37216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76872" y="364845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differs a lot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76872" y="39776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must keep all training data forever; model-based only needs the small, fitted rule.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26" name="Shape 24"/>
          <p:cNvSpPr/>
          <p:nvPr/>
        </p:nvSpPr>
        <p:spPr>
          <a:xfrm>
            <a:off x="841248" y="5276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2029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timing differs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553212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generalizes once, upfront. Instance-based only “decides” when a new point shows up.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91072" y="50749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5276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76872" y="52029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which one you're using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76872" y="553212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you learn a new algorithm, ask: is this memorizing, or generalizing?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VS. MODEL-BASED LEARNING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1093</Words>
  <Application>Microsoft Office PowerPoint</Application>
  <PresentationFormat>Custom</PresentationFormat>
  <Paragraphs>144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</cp:lastModifiedBy>
  <cp:revision>5</cp:revision>
  <dcterms:created xsi:type="dcterms:W3CDTF">2026-08-22T11:38:06Z</dcterms:created>
  <dcterms:modified xsi:type="dcterms:W3CDTF">2026-08-24T11:08:20Z</dcterms:modified>
</cp:coreProperties>
</file>