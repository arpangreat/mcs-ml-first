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5" d="100"/>
          <a:sy n="95" d="100"/>
        </p:scale>
        <p:origin x="-178" y="8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0F4DCA3F-31FE-4E2A-BF46-E1910A261BBE}" type="datetimeFigureOut">
              <a:rPr lang="en-IN" smtClean="0"/>
              <a:t>31-08-2026</a:t>
            </a:fld>
            <a:endParaRPr lang="en-IN"/>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ACF54D09-1D06-43AB-A293-E60A38E6A8E4}" type="slidenum">
              <a:rPr lang="en-IN" smtClean="0"/>
              <a:t>‹#›</a:t>
            </a:fld>
            <a:endParaRPr lang="en-IN"/>
          </a:p>
        </p:txBody>
      </p:sp>
    </p:spTree>
    <p:extLst>
      <p:ext uri="{BB962C8B-B14F-4D97-AF65-F5344CB8AC3E}">
        <p14:creationId xmlns:p14="http://schemas.microsoft.com/office/powerpoint/2010/main" val="3693369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0" y="1600200"/>
            <a:ext cx="2926080" cy="438912"/>
          </a:xfrm>
          <a:prstGeom prst="roundRect">
            <a:avLst>
              <a:gd name="adj" fmla="val 12500"/>
            </a:avLst>
          </a:prstGeom>
          <a:solidFill>
            <a:srgbClr val="E8ECF5"/>
          </a:solidFill>
          <a:ln/>
        </p:spPr>
      </p:sp>
      <p:sp>
        <p:nvSpPr>
          <p:cNvPr id="3" name="Text 1"/>
          <p:cNvSpPr/>
          <p:nvPr/>
        </p:nvSpPr>
        <p:spPr>
          <a:xfrm>
            <a:off x="8321040" y="1600200"/>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1</a:t>
            </a:r>
            <a:endParaRPr lang="en-US" sz="1050" dirty="0"/>
          </a:p>
        </p:txBody>
      </p:sp>
      <p:sp>
        <p:nvSpPr>
          <p:cNvPr id="4" name="Text 2"/>
          <p:cNvSpPr/>
          <p:nvPr/>
        </p:nvSpPr>
        <p:spPr>
          <a:xfrm>
            <a:off x="8613648" y="1600200"/>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Frame</a:t>
            </a:r>
            <a:endParaRPr lang="en-US" sz="1100" dirty="0"/>
          </a:p>
        </p:txBody>
      </p:sp>
      <p:sp>
        <p:nvSpPr>
          <p:cNvPr id="5" name="Shape 3"/>
          <p:cNvSpPr/>
          <p:nvPr/>
        </p:nvSpPr>
        <p:spPr>
          <a:xfrm>
            <a:off x="8549640" y="2130552"/>
            <a:ext cx="2926080" cy="438912"/>
          </a:xfrm>
          <a:prstGeom prst="roundRect">
            <a:avLst>
              <a:gd name="adj" fmla="val 12500"/>
            </a:avLst>
          </a:prstGeom>
          <a:solidFill>
            <a:srgbClr val="E8ECF5"/>
          </a:solidFill>
          <a:ln/>
        </p:spPr>
      </p:sp>
      <p:sp>
        <p:nvSpPr>
          <p:cNvPr id="6" name="Text 4"/>
          <p:cNvSpPr/>
          <p:nvPr/>
        </p:nvSpPr>
        <p:spPr>
          <a:xfrm>
            <a:off x="8641080" y="2130552"/>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2</a:t>
            </a:r>
            <a:endParaRPr lang="en-US" sz="1050" dirty="0"/>
          </a:p>
        </p:txBody>
      </p:sp>
      <p:sp>
        <p:nvSpPr>
          <p:cNvPr id="7" name="Text 5"/>
          <p:cNvSpPr/>
          <p:nvPr/>
        </p:nvSpPr>
        <p:spPr>
          <a:xfrm>
            <a:off x="8933688" y="2130552"/>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Gather</a:t>
            </a:r>
            <a:endParaRPr lang="en-US" sz="1100" dirty="0"/>
          </a:p>
        </p:txBody>
      </p:sp>
      <p:sp>
        <p:nvSpPr>
          <p:cNvPr id="8" name="Shape 6"/>
          <p:cNvSpPr/>
          <p:nvPr/>
        </p:nvSpPr>
        <p:spPr>
          <a:xfrm>
            <a:off x="8229600" y="2660904"/>
            <a:ext cx="2926080" cy="438912"/>
          </a:xfrm>
          <a:prstGeom prst="roundRect">
            <a:avLst>
              <a:gd name="adj" fmla="val 12500"/>
            </a:avLst>
          </a:prstGeom>
          <a:solidFill>
            <a:srgbClr val="E8ECF5"/>
          </a:solidFill>
          <a:ln/>
        </p:spPr>
      </p:sp>
      <p:sp>
        <p:nvSpPr>
          <p:cNvPr id="9" name="Text 7"/>
          <p:cNvSpPr/>
          <p:nvPr/>
        </p:nvSpPr>
        <p:spPr>
          <a:xfrm>
            <a:off x="8321040" y="2660904"/>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3</a:t>
            </a:r>
            <a:endParaRPr lang="en-US" sz="1050" dirty="0"/>
          </a:p>
        </p:txBody>
      </p:sp>
      <p:sp>
        <p:nvSpPr>
          <p:cNvPr id="10" name="Text 8"/>
          <p:cNvSpPr/>
          <p:nvPr/>
        </p:nvSpPr>
        <p:spPr>
          <a:xfrm>
            <a:off x="8613648" y="2660904"/>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Preprocess</a:t>
            </a:r>
            <a:endParaRPr lang="en-US" sz="1100" dirty="0"/>
          </a:p>
        </p:txBody>
      </p:sp>
      <p:sp>
        <p:nvSpPr>
          <p:cNvPr id="11" name="Shape 9"/>
          <p:cNvSpPr/>
          <p:nvPr/>
        </p:nvSpPr>
        <p:spPr>
          <a:xfrm>
            <a:off x="8549640" y="3191256"/>
            <a:ext cx="2926080" cy="438912"/>
          </a:xfrm>
          <a:prstGeom prst="roundRect">
            <a:avLst>
              <a:gd name="adj" fmla="val 12500"/>
            </a:avLst>
          </a:prstGeom>
          <a:solidFill>
            <a:srgbClr val="E8ECF5"/>
          </a:solidFill>
          <a:ln/>
        </p:spPr>
      </p:sp>
      <p:sp>
        <p:nvSpPr>
          <p:cNvPr id="12" name="Text 10"/>
          <p:cNvSpPr/>
          <p:nvPr/>
        </p:nvSpPr>
        <p:spPr>
          <a:xfrm>
            <a:off x="8641080" y="3191256"/>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4</a:t>
            </a:r>
            <a:endParaRPr lang="en-US" sz="1050" dirty="0"/>
          </a:p>
        </p:txBody>
      </p:sp>
      <p:sp>
        <p:nvSpPr>
          <p:cNvPr id="13" name="Text 11"/>
          <p:cNvSpPr/>
          <p:nvPr/>
        </p:nvSpPr>
        <p:spPr>
          <a:xfrm>
            <a:off x="8933688" y="3191256"/>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EDA</a:t>
            </a:r>
            <a:endParaRPr lang="en-US" sz="1100" dirty="0"/>
          </a:p>
        </p:txBody>
      </p:sp>
      <p:sp>
        <p:nvSpPr>
          <p:cNvPr id="14" name="Shape 12"/>
          <p:cNvSpPr/>
          <p:nvPr/>
        </p:nvSpPr>
        <p:spPr>
          <a:xfrm>
            <a:off x="8229600" y="3721608"/>
            <a:ext cx="2926080" cy="438912"/>
          </a:xfrm>
          <a:prstGeom prst="roundRect">
            <a:avLst>
              <a:gd name="adj" fmla="val 12500"/>
            </a:avLst>
          </a:prstGeom>
          <a:solidFill>
            <a:srgbClr val="E8ECF5"/>
          </a:solidFill>
          <a:ln/>
        </p:spPr>
      </p:sp>
      <p:sp>
        <p:nvSpPr>
          <p:cNvPr id="15" name="Text 13"/>
          <p:cNvSpPr/>
          <p:nvPr/>
        </p:nvSpPr>
        <p:spPr>
          <a:xfrm>
            <a:off x="8321040" y="3721608"/>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5</a:t>
            </a:r>
            <a:endParaRPr lang="en-US" sz="1050" dirty="0"/>
          </a:p>
        </p:txBody>
      </p:sp>
      <p:sp>
        <p:nvSpPr>
          <p:cNvPr id="16" name="Text 14"/>
          <p:cNvSpPr/>
          <p:nvPr/>
        </p:nvSpPr>
        <p:spPr>
          <a:xfrm>
            <a:off x="8613648" y="3721608"/>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Features</a:t>
            </a:r>
            <a:endParaRPr lang="en-US" sz="1100" dirty="0"/>
          </a:p>
        </p:txBody>
      </p:sp>
      <p:sp>
        <p:nvSpPr>
          <p:cNvPr id="17" name="Shape 15"/>
          <p:cNvSpPr/>
          <p:nvPr/>
        </p:nvSpPr>
        <p:spPr>
          <a:xfrm>
            <a:off x="8549640" y="4251960"/>
            <a:ext cx="2926080" cy="438912"/>
          </a:xfrm>
          <a:prstGeom prst="roundRect">
            <a:avLst>
              <a:gd name="adj" fmla="val 12500"/>
            </a:avLst>
          </a:prstGeom>
          <a:solidFill>
            <a:srgbClr val="E8ECF5"/>
          </a:solidFill>
          <a:ln/>
        </p:spPr>
      </p:sp>
      <p:sp>
        <p:nvSpPr>
          <p:cNvPr id="18" name="Text 16"/>
          <p:cNvSpPr/>
          <p:nvPr/>
        </p:nvSpPr>
        <p:spPr>
          <a:xfrm>
            <a:off x="8641080" y="4251960"/>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6</a:t>
            </a:r>
            <a:endParaRPr lang="en-US" sz="1050" dirty="0"/>
          </a:p>
        </p:txBody>
      </p:sp>
      <p:sp>
        <p:nvSpPr>
          <p:cNvPr id="19" name="Text 17"/>
          <p:cNvSpPr/>
          <p:nvPr/>
        </p:nvSpPr>
        <p:spPr>
          <a:xfrm>
            <a:off x="8933688" y="4251960"/>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Train</a:t>
            </a:r>
            <a:endParaRPr lang="en-US" sz="1100" dirty="0"/>
          </a:p>
        </p:txBody>
      </p:sp>
      <p:sp>
        <p:nvSpPr>
          <p:cNvPr id="20" name="Shape 18"/>
          <p:cNvSpPr/>
          <p:nvPr/>
        </p:nvSpPr>
        <p:spPr>
          <a:xfrm>
            <a:off x="8229600" y="4782312"/>
            <a:ext cx="2926080" cy="438912"/>
          </a:xfrm>
          <a:prstGeom prst="roundRect">
            <a:avLst>
              <a:gd name="adj" fmla="val 12500"/>
            </a:avLst>
          </a:prstGeom>
          <a:solidFill>
            <a:srgbClr val="E8ECF5"/>
          </a:solidFill>
          <a:ln/>
        </p:spPr>
      </p:sp>
      <p:sp>
        <p:nvSpPr>
          <p:cNvPr id="21" name="Text 19"/>
          <p:cNvSpPr/>
          <p:nvPr/>
        </p:nvSpPr>
        <p:spPr>
          <a:xfrm>
            <a:off x="8321040" y="4782312"/>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7</a:t>
            </a:r>
            <a:endParaRPr lang="en-US" sz="1050" dirty="0"/>
          </a:p>
        </p:txBody>
      </p:sp>
      <p:sp>
        <p:nvSpPr>
          <p:cNvPr id="22" name="Text 20"/>
          <p:cNvSpPr/>
          <p:nvPr/>
        </p:nvSpPr>
        <p:spPr>
          <a:xfrm>
            <a:off x="8613648" y="4782312"/>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Deploy</a:t>
            </a:r>
            <a:endParaRPr lang="en-US" sz="1100" dirty="0"/>
          </a:p>
        </p:txBody>
      </p:sp>
      <p:sp>
        <p:nvSpPr>
          <p:cNvPr id="23" name="Shape 21"/>
          <p:cNvSpPr/>
          <p:nvPr/>
        </p:nvSpPr>
        <p:spPr>
          <a:xfrm>
            <a:off x="8549640" y="5312664"/>
            <a:ext cx="2926080" cy="438912"/>
          </a:xfrm>
          <a:prstGeom prst="roundRect">
            <a:avLst>
              <a:gd name="adj" fmla="val 12500"/>
            </a:avLst>
          </a:prstGeom>
          <a:solidFill>
            <a:srgbClr val="E8ECF5"/>
          </a:solidFill>
          <a:ln/>
        </p:spPr>
      </p:sp>
      <p:sp>
        <p:nvSpPr>
          <p:cNvPr id="24" name="Text 22"/>
          <p:cNvSpPr/>
          <p:nvPr/>
        </p:nvSpPr>
        <p:spPr>
          <a:xfrm>
            <a:off x="8641080" y="5312664"/>
            <a:ext cx="320040" cy="438912"/>
          </a:xfrm>
          <a:prstGeom prst="rect">
            <a:avLst/>
          </a:prstGeom>
          <a:noFill/>
          <a:ln/>
        </p:spPr>
        <p:txBody>
          <a:bodyPr wrap="square" rtlCol="0" anchor="ctr"/>
          <a:lstStyle/>
          <a:p>
            <a:pPr marL="0" indent="0" algn="ctr">
              <a:buNone/>
            </a:pPr>
            <a:r>
              <a:rPr lang="en-US" sz="1050" b="1" dirty="0">
                <a:solidFill>
                  <a:srgbClr val="8892A6"/>
                </a:solidFill>
                <a:latin typeface="Calibri" pitchFamily="34" charset="0"/>
                <a:ea typeface="Calibri" pitchFamily="34" charset="-122"/>
                <a:cs typeface="Calibri" pitchFamily="34" charset="-120"/>
              </a:rPr>
              <a:t>8</a:t>
            </a:r>
            <a:endParaRPr lang="en-US" sz="1050" dirty="0"/>
          </a:p>
        </p:txBody>
      </p:sp>
      <p:sp>
        <p:nvSpPr>
          <p:cNvPr id="25" name="Text 23"/>
          <p:cNvSpPr/>
          <p:nvPr/>
        </p:nvSpPr>
        <p:spPr>
          <a:xfrm>
            <a:off x="8933688" y="5312664"/>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Test</a:t>
            </a:r>
            <a:endParaRPr lang="en-US" sz="1100" dirty="0"/>
          </a:p>
        </p:txBody>
      </p:sp>
      <p:sp>
        <p:nvSpPr>
          <p:cNvPr id="26" name="Shape 24"/>
          <p:cNvSpPr/>
          <p:nvPr/>
        </p:nvSpPr>
        <p:spPr>
          <a:xfrm>
            <a:off x="8229600" y="5843016"/>
            <a:ext cx="2926080" cy="438912"/>
          </a:xfrm>
          <a:prstGeom prst="roundRect">
            <a:avLst>
              <a:gd name="adj" fmla="val 12500"/>
            </a:avLst>
          </a:prstGeom>
          <a:solidFill>
            <a:srgbClr val="FCA311"/>
          </a:solidFill>
          <a:ln/>
        </p:spPr>
      </p:sp>
      <p:sp>
        <p:nvSpPr>
          <p:cNvPr id="27" name="Text 25"/>
          <p:cNvSpPr/>
          <p:nvPr/>
        </p:nvSpPr>
        <p:spPr>
          <a:xfrm>
            <a:off x="8321040" y="5843016"/>
            <a:ext cx="320040" cy="438912"/>
          </a:xfrm>
          <a:prstGeom prst="rect">
            <a:avLst/>
          </a:prstGeom>
          <a:noFill/>
          <a:ln/>
        </p:spPr>
        <p:txBody>
          <a:bodyPr wrap="square" rtlCol="0" anchor="ctr"/>
          <a:lstStyle/>
          <a:p>
            <a:pPr marL="0" indent="0" algn="ctr">
              <a:buNone/>
            </a:pPr>
            <a:r>
              <a:rPr lang="en-US" sz="1050" b="1" dirty="0">
                <a:solidFill>
                  <a:srgbClr val="14213D"/>
                </a:solidFill>
                <a:latin typeface="Calibri" pitchFamily="34" charset="0"/>
                <a:ea typeface="Calibri" pitchFamily="34" charset="-122"/>
                <a:cs typeface="Calibri" pitchFamily="34" charset="-120"/>
              </a:rPr>
              <a:t>9</a:t>
            </a:r>
            <a:endParaRPr lang="en-US" sz="1050" dirty="0"/>
          </a:p>
        </p:txBody>
      </p:sp>
      <p:sp>
        <p:nvSpPr>
          <p:cNvPr id="28" name="Text 26"/>
          <p:cNvSpPr/>
          <p:nvPr/>
        </p:nvSpPr>
        <p:spPr>
          <a:xfrm>
            <a:off x="8613648" y="5843016"/>
            <a:ext cx="2377440" cy="438912"/>
          </a:xfrm>
          <a:prstGeom prst="rect">
            <a:avLst/>
          </a:prstGeom>
          <a:noFill/>
          <a:ln/>
        </p:spPr>
        <p:txBody>
          <a:bodyPr wrap="square" rtlCol="0" anchor="ctr"/>
          <a:lstStyle/>
          <a:p>
            <a:pPr marL="0" indent="0">
              <a:buNone/>
            </a:pPr>
            <a:r>
              <a:rPr lang="en-US" sz="1100" b="1" dirty="0">
                <a:solidFill>
                  <a:srgbClr val="14213D"/>
                </a:solidFill>
                <a:latin typeface="Calibri" pitchFamily="34" charset="0"/>
                <a:ea typeface="Calibri" pitchFamily="34" charset="-122"/>
                <a:cs typeface="Calibri" pitchFamily="34" charset="-120"/>
              </a:rPr>
              <a:t>Optimize</a:t>
            </a:r>
            <a:endParaRPr lang="en-US" sz="1100" dirty="0"/>
          </a:p>
        </p:txBody>
      </p:sp>
      <p:sp>
        <p:nvSpPr>
          <p:cNvPr id="29" name="Text 27"/>
          <p:cNvSpPr/>
          <p:nvPr/>
        </p:nvSpPr>
        <p:spPr>
          <a:xfrm>
            <a:off x="640080" y="1920240"/>
            <a:ext cx="7315200" cy="365760"/>
          </a:xfrm>
          <a:prstGeom prst="rect">
            <a:avLst/>
          </a:prstGeom>
          <a:noFill/>
          <a:ln/>
        </p:spPr>
        <p:txBody>
          <a:bodyPr wrap="square" rtlCol="0" anchor="ctr"/>
          <a:lstStyle/>
          <a:p>
            <a:pPr marL="0" indent="0">
              <a:buNone/>
            </a:pPr>
            <a:r>
              <a:rPr lang="en-US" sz="1300" b="1" kern="0" spc="200" dirty="0">
                <a:solidFill>
                  <a:srgbClr val="FCA311"/>
                </a:solidFill>
                <a:latin typeface="Calibri" pitchFamily="34" charset="0"/>
                <a:ea typeface="Calibri" pitchFamily="34" charset="-122"/>
                <a:cs typeface="Calibri" pitchFamily="34" charset="-120"/>
              </a:rPr>
              <a:t>MACHINE LEARNING FUNDAMENTALS</a:t>
            </a:r>
            <a:endParaRPr lang="en-US" sz="1300" dirty="0"/>
          </a:p>
        </p:txBody>
      </p:sp>
      <p:sp>
        <p:nvSpPr>
          <p:cNvPr id="30" name="Text 28"/>
          <p:cNvSpPr/>
          <p:nvPr/>
        </p:nvSpPr>
        <p:spPr>
          <a:xfrm>
            <a:off x="594360" y="2331720"/>
            <a:ext cx="7315200" cy="1737360"/>
          </a:xfrm>
          <a:prstGeom prst="rect">
            <a:avLst/>
          </a:prstGeom>
          <a:noFill/>
          <a:ln/>
        </p:spPr>
        <p:txBody>
          <a:bodyPr wrap="square" rtlCol="0" anchor="ctr"/>
          <a:lstStyle/>
          <a:p>
            <a:pPr marL="0" indent="0">
              <a:lnSpc>
                <a:spcPts val="4200"/>
              </a:lnSpc>
              <a:buNone/>
            </a:pPr>
            <a:r>
              <a:rPr lang="en-US" sz="3800" b="1" dirty="0">
                <a:solidFill>
                  <a:srgbClr val="14213D"/>
                </a:solidFill>
                <a:latin typeface="Cambria" pitchFamily="34" charset="0"/>
                <a:ea typeface="Cambria" pitchFamily="34" charset="-122"/>
                <a:cs typeface="Cambria" pitchFamily="34" charset="-120"/>
              </a:rPr>
              <a:t>The ML Development</a:t>
            </a:r>
            <a:endParaRPr lang="en-US" sz="3800" dirty="0"/>
          </a:p>
          <a:p>
            <a:pPr marL="0" indent="0">
              <a:lnSpc>
                <a:spcPts val="4200"/>
              </a:lnSpc>
              <a:buNone/>
            </a:pPr>
            <a:r>
              <a:rPr lang="en-US" sz="3800" b="1" dirty="0">
                <a:solidFill>
                  <a:srgbClr val="14213D"/>
                </a:solidFill>
                <a:latin typeface="Cambria" pitchFamily="34" charset="0"/>
                <a:ea typeface="Cambria" pitchFamily="34" charset="-122"/>
                <a:cs typeface="Cambria" pitchFamily="34" charset="-120"/>
              </a:rPr>
              <a:t>Life Cycle</a:t>
            </a:r>
            <a:endParaRPr lang="en-US" sz="3800" dirty="0"/>
          </a:p>
        </p:txBody>
      </p:sp>
      <p:sp>
        <p:nvSpPr>
          <p:cNvPr id="31" name="Text 29"/>
          <p:cNvSpPr/>
          <p:nvPr/>
        </p:nvSpPr>
        <p:spPr>
          <a:xfrm>
            <a:off x="640080" y="4114800"/>
            <a:ext cx="6949440" cy="914400"/>
          </a:xfrm>
          <a:prstGeom prst="rect">
            <a:avLst/>
          </a:prstGeom>
          <a:noFill/>
          <a:ln/>
        </p:spPr>
        <p:txBody>
          <a:bodyPr wrap="square" rtlCol="0" anchor="ctr"/>
          <a:lstStyle/>
          <a:p>
            <a:pPr marL="0" indent="0">
              <a:lnSpc>
                <a:spcPts val="2200"/>
              </a:lnSpc>
              <a:buNone/>
            </a:pPr>
            <a:r>
              <a:rPr lang="en-US" sz="1500" dirty="0">
                <a:solidFill>
                  <a:srgbClr val="3C4257"/>
                </a:solidFill>
                <a:latin typeface="Calibri" pitchFamily="34" charset="0"/>
                <a:ea typeface="Calibri" pitchFamily="34" charset="-122"/>
                <a:cs typeface="Calibri" pitchFamily="34" charset="-120"/>
              </a:rPr>
              <a:t>Nine steps that take a machine learning idea all the way to a real, working product — and keep it working.</a:t>
            </a:r>
            <a:endParaRPr lang="en-US" sz="1500" dirty="0"/>
          </a:p>
        </p:txBody>
      </p:sp>
      <p:sp>
        <p:nvSpPr>
          <p:cNvPr id="32" name="Text 30"/>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33" name="Text 31"/>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6868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WHY THIS MATTERS</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Borrowed from software engineering, for good reason</a:t>
            </a:r>
            <a:endParaRPr lang="en-US" sz="2600" dirty="0"/>
          </a:p>
        </p:txBody>
      </p:sp>
      <p:sp>
        <p:nvSpPr>
          <p:cNvPr id="4" name="Shape 2"/>
          <p:cNvSpPr/>
          <p:nvPr/>
        </p:nvSpPr>
        <p:spPr>
          <a:xfrm>
            <a:off x="640080" y="1463040"/>
            <a:ext cx="10908792" cy="0"/>
          </a:xfrm>
          <a:prstGeom prst="line">
            <a:avLst/>
          </a:prstGeom>
          <a:noFill/>
          <a:ln w="12700">
            <a:solidFill>
              <a:srgbClr val="DCE1EC"/>
            </a:solidFill>
            <a:prstDash val="solid"/>
          </a:ln>
        </p:spPr>
      </p:sp>
      <p:sp>
        <p:nvSpPr>
          <p:cNvPr id="5" name="Shape 3"/>
          <p:cNvSpPr/>
          <p:nvPr/>
        </p:nvSpPr>
        <p:spPr>
          <a:xfrm>
            <a:off x="640080" y="1949918"/>
            <a:ext cx="5257800" cy="4206240"/>
          </a:xfrm>
          <a:prstGeom prst="roundRect">
            <a:avLst>
              <a:gd name="adj" fmla="val 2174"/>
            </a:avLst>
          </a:prstGeom>
          <a:solidFill>
            <a:srgbClr val="E8ECF5"/>
          </a:solidFill>
          <a:ln/>
        </p:spPr>
      </p:sp>
      <p:sp>
        <p:nvSpPr>
          <p:cNvPr id="6" name="Text 4"/>
          <p:cNvSpPr/>
          <p:nvPr/>
        </p:nvSpPr>
        <p:spPr>
          <a:xfrm>
            <a:off x="896112" y="2130552"/>
            <a:ext cx="4745736"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SDLC PARALLEL</a:t>
            </a:r>
            <a:endParaRPr lang="en-US" sz="1050" dirty="0"/>
          </a:p>
        </p:txBody>
      </p:sp>
      <p:sp>
        <p:nvSpPr>
          <p:cNvPr id="7" name="Text 5"/>
          <p:cNvSpPr/>
          <p:nvPr/>
        </p:nvSpPr>
        <p:spPr>
          <a:xfrm>
            <a:off x="896112" y="2404872"/>
            <a:ext cx="4745736" cy="3602736"/>
          </a:xfrm>
          <a:prstGeom prst="rect">
            <a:avLst/>
          </a:prstGeom>
          <a:noFill/>
          <a:ln/>
        </p:spPr>
        <p:txBody>
          <a:bodyPr wrap="square" rtlCol="0" anchor="t"/>
          <a:lstStyle/>
          <a:p>
            <a:pPr marL="0" indent="0">
              <a:lnSpc>
                <a:spcPts val="1900"/>
              </a:lnSpc>
              <a:buNone/>
            </a:pPr>
            <a:r>
              <a:rPr lang="en-US" sz="1300" dirty="0">
                <a:solidFill>
                  <a:srgbClr val="14213D"/>
                </a:solidFill>
                <a:latin typeface="Calibri" pitchFamily="34" charset="0"/>
                <a:ea typeface="Calibri" pitchFamily="34" charset="-122"/>
                <a:cs typeface="Calibri" pitchFamily="34" charset="-120"/>
              </a:rPr>
              <a:t>Computer science already has the Software Development Life Cycle (SDLC): a set of guidelines for building any software product, start to finish. As machine learning matured into its own discipline, the same idea got adapted into the Machine Learning Development Life Cycle (MLDLC) — a shared roadmap from idea to product.</a:t>
            </a:r>
            <a:endParaRPr lang="en-US" sz="1300" dirty="0"/>
          </a:p>
        </p:txBody>
      </p:sp>
      <p:sp>
        <p:nvSpPr>
          <p:cNvPr id="8" name="Shape 6"/>
          <p:cNvSpPr/>
          <p:nvPr/>
        </p:nvSpPr>
        <p:spPr>
          <a:xfrm>
            <a:off x="6172200" y="1965960"/>
            <a:ext cx="5376672" cy="4206240"/>
          </a:xfrm>
          <a:prstGeom prst="roundRect">
            <a:avLst>
              <a:gd name="adj" fmla="val 2174"/>
            </a:avLst>
          </a:prstGeom>
          <a:solidFill>
            <a:srgbClr val="14213D"/>
          </a:solidFill>
          <a:ln/>
          <a:effectLst>
            <a:outerShdw blurRad="101600" dist="38100" dir="5400000" algn="bl" rotWithShape="0">
              <a:srgbClr val="1B1F3B">
                <a:alpha val="15000"/>
              </a:srgbClr>
            </a:outerShdw>
          </a:effectLst>
        </p:spPr>
      </p:sp>
      <p:sp>
        <p:nvSpPr>
          <p:cNvPr id="9" name="Text 7"/>
          <p:cNvSpPr/>
          <p:nvPr/>
        </p:nvSpPr>
        <p:spPr>
          <a:xfrm>
            <a:off x="6428232" y="2130552"/>
            <a:ext cx="486460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MISTAKE THIS AVOIDS</a:t>
            </a:r>
            <a:endParaRPr lang="en-US" sz="1050" dirty="0"/>
          </a:p>
        </p:txBody>
      </p:sp>
      <p:sp>
        <p:nvSpPr>
          <p:cNvPr id="10" name="Text 8"/>
          <p:cNvSpPr/>
          <p:nvPr/>
        </p:nvSpPr>
        <p:spPr>
          <a:xfrm>
            <a:off x="6428232" y="2404872"/>
            <a:ext cx="4864608" cy="3602736"/>
          </a:xfrm>
          <a:prstGeom prst="rect">
            <a:avLst/>
          </a:prstGeom>
          <a:noFill/>
          <a:ln/>
        </p:spPr>
        <p:txBody>
          <a:bodyPr wrap="square" rtlCol="0" anchor="t"/>
          <a:lstStyle/>
          <a:p>
            <a:pPr marL="0" indent="0">
              <a:lnSpc>
                <a:spcPts val="1900"/>
              </a:lnSpc>
              <a:buNone/>
            </a:pPr>
            <a:r>
              <a:rPr lang="en-US" sz="1300" dirty="0">
                <a:solidFill>
                  <a:srgbClr val="DDE3F2"/>
                </a:solidFill>
                <a:latin typeface="Calibri" pitchFamily="34" charset="0"/>
                <a:ea typeface="Calibri" pitchFamily="34" charset="-122"/>
                <a:cs typeface="Calibri" pitchFamily="34" charset="-120"/>
              </a:rPr>
              <a:t>A common beginner habit: train a model, check the accuracy number, and stop — assuming the job is done.</a:t>
            </a:r>
            <a:endParaRPr lang="en-US" sz="1300" dirty="0"/>
          </a:p>
          <a:p>
            <a:pPr marL="0" indent="0">
              <a:lnSpc>
                <a:spcPts val="1900"/>
              </a:lnSpc>
              <a:buNone/>
            </a:pPr>
            <a:endParaRPr lang="en-US" sz="1300" dirty="0"/>
          </a:p>
          <a:p>
            <a:pPr marL="0" indent="0">
              <a:lnSpc>
                <a:spcPts val="1900"/>
              </a:lnSpc>
              <a:buNone/>
            </a:pPr>
            <a:r>
              <a:rPr lang="en-US" sz="1300" dirty="0">
                <a:solidFill>
                  <a:srgbClr val="DDE3F2"/>
                </a:solidFill>
                <a:latin typeface="Calibri" pitchFamily="34" charset="0"/>
                <a:ea typeface="Calibri" pitchFamily="34" charset="-122"/>
                <a:cs typeface="Calibri" pitchFamily="34" charset="-120"/>
              </a:rPr>
              <a:t>In interviews and in industry, what's actually valued is end-to-end product experience: can you take an idea all the way to something real users can use? That's exactly what this roadmap covers.</a:t>
            </a:r>
            <a:endParaRPr lang="en-US" sz="1300" dirty="0"/>
          </a:p>
        </p:txBody>
      </p:sp>
      <p:sp>
        <p:nvSpPr>
          <p:cNvPr id="11" name="Text 9"/>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12" name="Text 1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6868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THE ROADMAP</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Nine steps, idea to production</a:t>
            </a:r>
            <a:endParaRPr lang="en-US" sz="2600" dirty="0"/>
          </a:p>
        </p:txBody>
      </p:sp>
      <p:sp>
        <p:nvSpPr>
          <p:cNvPr id="4" name="Shape 2"/>
          <p:cNvSpPr/>
          <p:nvPr/>
        </p:nvSpPr>
        <p:spPr>
          <a:xfrm>
            <a:off x="640080" y="1463040"/>
            <a:ext cx="10908792" cy="0"/>
          </a:xfrm>
          <a:prstGeom prst="line">
            <a:avLst/>
          </a:prstGeom>
          <a:noFill/>
          <a:ln w="12700">
            <a:solidFill>
              <a:srgbClr val="DCE1EC"/>
            </a:solidFill>
            <a:prstDash val="solid"/>
          </a:ln>
        </p:spPr>
      </p:sp>
      <p:sp>
        <p:nvSpPr>
          <p:cNvPr id="5" name="Shape 3"/>
          <p:cNvSpPr/>
          <p:nvPr/>
        </p:nvSpPr>
        <p:spPr>
          <a:xfrm>
            <a:off x="640080" y="2011680"/>
            <a:ext cx="3520440" cy="1207008"/>
          </a:xfrm>
          <a:prstGeom prst="roundRect">
            <a:avLst>
              <a:gd name="adj" fmla="val 7576"/>
            </a:avLst>
          </a:prstGeom>
          <a:solidFill>
            <a:srgbClr val="E8ECF5"/>
          </a:solidFill>
          <a:ln/>
        </p:spPr>
      </p:sp>
      <p:sp>
        <p:nvSpPr>
          <p:cNvPr id="6" name="Shape 4"/>
          <p:cNvSpPr/>
          <p:nvPr/>
        </p:nvSpPr>
        <p:spPr>
          <a:xfrm>
            <a:off x="822960" y="2194560"/>
            <a:ext cx="384048" cy="384048"/>
          </a:xfrm>
          <a:prstGeom prst="roundRect">
            <a:avLst>
              <a:gd name="adj" fmla="val 19048"/>
            </a:avLst>
          </a:prstGeom>
          <a:solidFill>
            <a:srgbClr val="FCA311"/>
          </a:solidFill>
          <a:ln/>
        </p:spPr>
      </p:sp>
      <p:sp>
        <p:nvSpPr>
          <p:cNvPr id="7" name="Text 5"/>
          <p:cNvSpPr/>
          <p:nvPr/>
        </p:nvSpPr>
        <p:spPr>
          <a:xfrm>
            <a:off x="822960" y="2194560"/>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822960" y="2670048"/>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Frame the Problem</a:t>
            </a:r>
            <a:endParaRPr lang="en-US" sz="1250" dirty="0"/>
          </a:p>
        </p:txBody>
      </p:sp>
      <p:sp>
        <p:nvSpPr>
          <p:cNvPr id="9" name="Shape 7"/>
          <p:cNvSpPr/>
          <p:nvPr/>
        </p:nvSpPr>
        <p:spPr>
          <a:xfrm>
            <a:off x="4425696" y="2011680"/>
            <a:ext cx="3520440" cy="1207008"/>
          </a:xfrm>
          <a:prstGeom prst="roundRect">
            <a:avLst>
              <a:gd name="adj" fmla="val 7576"/>
            </a:avLst>
          </a:prstGeom>
          <a:solidFill>
            <a:srgbClr val="E8ECF5"/>
          </a:solidFill>
          <a:ln/>
        </p:spPr>
      </p:sp>
      <p:sp>
        <p:nvSpPr>
          <p:cNvPr id="10" name="Shape 8"/>
          <p:cNvSpPr/>
          <p:nvPr/>
        </p:nvSpPr>
        <p:spPr>
          <a:xfrm>
            <a:off x="4608576" y="2194560"/>
            <a:ext cx="384048" cy="384048"/>
          </a:xfrm>
          <a:prstGeom prst="roundRect">
            <a:avLst>
              <a:gd name="adj" fmla="val 19048"/>
            </a:avLst>
          </a:prstGeom>
          <a:solidFill>
            <a:srgbClr val="FCA311"/>
          </a:solidFill>
          <a:ln/>
        </p:spPr>
      </p:sp>
      <p:sp>
        <p:nvSpPr>
          <p:cNvPr id="11" name="Text 9"/>
          <p:cNvSpPr/>
          <p:nvPr/>
        </p:nvSpPr>
        <p:spPr>
          <a:xfrm>
            <a:off x="4608576" y="2194560"/>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4608576" y="2670048"/>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Data Gathering</a:t>
            </a:r>
            <a:endParaRPr lang="en-US" sz="1250" dirty="0"/>
          </a:p>
        </p:txBody>
      </p:sp>
      <p:sp>
        <p:nvSpPr>
          <p:cNvPr id="13" name="Shape 11"/>
          <p:cNvSpPr/>
          <p:nvPr/>
        </p:nvSpPr>
        <p:spPr>
          <a:xfrm>
            <a:off x="8211312" y="2011680"/>
            <a:ext cx="3520440" cy="1207008"/>
          </a:xfrm>
          <a:prstGeom prst="roundRect">
            <a:avLst>
              <a:gd name="adj" fmla="val 7576"/>
            </a:avLst>
          </a:prstGeom>
          <a:solidFill>
            <a:srgbClr val="E8ECF5"/>
          </a:solidFill>
          <a:ln/>
        </p:spPr>
      </p:sp>
      <p:sp>
        <p:nvSpPr>
          <p:cNvPr id="14" name="Shape 12"/>
          <p:cNvSpPr/>
          <p:nvPr/>
        </p:nvSpPr>
        <p:spPr>
          <a:xfrm>
            <a:off x="8394192" y="2194560"/>
            <a:ext cx="384048" cy="384048"/>
          </a:xfrm>
          <a:prstGeom prst="roundRect">
            <a:avLst>
              <a:gd name="adj" fmla="val 19048"/>
            </a:avLst>
          </a:prstGeom>
          <a:solidFill>
            <a:srgbClr val="FCA311"/>
          </a:solidFill>
          <a:ln/>
        </p:spPr>
      </p:sp>
      <p:sp>
        <p:nvSpPr>
          <p:cNvPr id="15" name="Text 13"/>
          <p:cNvSpPr/>
          <p:nvPr/>
        </p:nvSpPr>
        <p:spPr>
          <a:xfrm>
            <a:off x="8394192" y="2194560"/>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3</a:t>
            </a:r>
            <a:endParaRPr lang="en-US" sz="1300" dirty="0"/>
          </a:p>
        </p:txBody>
      </p:sp>
      <p:sp>
        <p:nvSpPr>
          <p:cNvPr id="16" name="Text 14"/>
          <p:cNvSpPr/>
          <p:nvPr/>
        </p:nvSpPr>
        <p:spPr>
          <a:xfrm>
            <a:off x="8394192" y="2670048"/>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Data Preprocessing</a:t>
            </a:r>
            <a:endParaRPr lang="en-US" sz="1250" dirty="0"/>
          </a:p>
        </p:txBody>
      </p:sp>
      <p:sp>
        <p:nvSpPr>
          <p:cNvPr id="17" name="Shape 15"/>
          <p:cNvSpPr/>
          <p:nvPr/>
        </p:nvSpPr>
        <p:spPr>
          <a:xfrm>
            <a:off x="640080" y="3419856"/>
            <a:ext cx="3520440" cy="1207008"/>
          </a:xfrm>
          <a:prstGeom prst="roundRect">
            <a:avLst>
              <a:gd name="adj" fmla="val 7576"/>
            </a:avLst>
          </a:prstGeom>
          <a:solidFill>
            <a:srgbClr val="E8ECF5"/>
          </a:solidFill>
          <a:ln/>
        </p:spPr>
      </p:sp>
      <p:sp>
        <p:nvSpPr>
          <p:cNvPr id="18" name="Shape 16"/>
          <p:cNvSpPr/>
          <p:nvPr/>
        </p:nvSpPr>
        <p:spPr>
          <a:xfrm>
            <a:off x="822960" y="3602736"/>
            <a:ext cx="384048" cy="384048"/>
          </a:xfrm>
          <a:prstGeom prst="roundRect">
            <a:avLst>
              <a:gd name="adj" fmla="val 19048"/>
            </a:avLst>
          </a:prstGeom>
          <a:solidFill>
            <a:srgbClr val="FCA311"/>
          </a:solidFill>
          <a:ln/>
        </p:spPr>
      </p:sp>
      <p:sp>
        <p:nvSpPr>
          <p:cNvPr id="19" name="Text 17"/>
          <p:cNvSpPr/>
          <p:nvPr/>
        </p:nvSpPr>
        <p:spPr>
          <a:xfrm>
            <a:off x="822960" y="3602736"/>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4</a:t>
            </a:r>
            <a:endParaRPr lang="en-US" sz="1300" dirty="0"/>
          </a:p>
        </p:txBody>
      </p:sp>
      <p:sp>
        <p:nvSpPr>
          <p:cNvPr id="20" name="Text 18"/>
          <p:cNvSpPr/>
          <p:nvPr/>
        </p:nvSpPr>
        <p:spPr>
          <a:xfrm>
            <a:off x="822960" y="4078224"/>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Exploratory Data Analysis</a:t>
            </a:r>
            <a:endParaRPr lang="en-US" sz="1250" dirty="0"/>
          </a:p>
        </p:txBody>
      </p:sp>
      <p:sp>
        <p:nvSpPr>
          <p:cNvPr id="21" name="Shape 19"/>
          <p:cNvSpPr/>
          <p:nvPr/>
        </p:nvSpPr>
        <p:spPr>
          <a:xfrm>
            <a:off x="4425696" y="3419856"/>
            <a:ext cx="3520440" cy="1207008"/>
          </a:xfrm>
          <a:prstGeom prst="roundRect">
            <a:avLst>
              <a:gd name="adj" fmla="val 7576"/>
            </a:avLst>
          </a:prstGeom>
          <a:solidFill>
            <a:srgbClr val="E8ECF5"/>
          </a:solidFill>
          <a:ln/>
        </p:spPr>
      </p:sp>
      <p:sp>
        <p:nvSpPr>
          <p:cNvPr id="22" name="Shape 20"/>
          <p:cNvSpPr/>
          <p:nvPr/>
        </p:nvSpPr>
        <p:spPr>
          <a:xfrm>
            <a:off x="4608576" y="3602736"/>
            <a:ext cx="384048" cy="384048"/>
          </a:xfrm>
          <a:prstGeom prst="roundRect">
            <a:avLst>
              <a:gd name="adj" fmla="val 19048"/>
            </a:avLst>
          </a:prstGeom>
          <a:solidFill>
            <a:srgbClr val="FCA311"/>
          </a:solidFill>
          <a:ln/>
        </p:spPr>
      </p:sp>
      <p:sp>
        <p:nvSpPr>
          <p:cNvPr id="23" name="Text 21"/>
          <p:cNvSpPr/>
          <p:nvPr/>
        </p:nvSpPr>
        <p:spPr>
          <a:xfrm>
            <a:off x="4608576" y="3602736"/>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5</a:t>
            </a:r>
            <a:endParaRPr lang="en-US" sz="1300" dirty="0"/>
          </a:p>
        </p:txBody>
      </p:sp>
      <p:sp>
        <p:nvSpPr>
          <p:cNvPr id="24" name="Text 22"/>
          <p:cNvSpPr/>
          <p:nvPr/>
        </p:nvSpPr>
        <p:spPr>
          <a:xfrm>
            <a:off x="4608576" y="4078224"/>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Feature Engineering &amp; Selection</a:t>
            </a:r>
            <a:endParaRPr lang="en-US" sz="1250" dirty="0"/>
          </a:p>
        </p:txBody>
      </p:sp>
      <p:sp>
        <p:nvSpPr>
          <p:cNvPr id="25" name="Shape 23"/>
          <p:cNvSpPr/>
          <p:nvPr/>
        </p:nvSpPr>
        <p:spPr>
          <a:xfrm>
            <a:off x="8211312" y="3419856"/>
            <a:ext cx="3520440" cy="1207008"/>
          </a:xfrm>
          <a:prstGeom prst="roundRect">
            <a:avLst>
              <a:gd name="adj" fmla="val 7576"/>
            </a:avLst>
          </a:prstGeom>
          <a:solidFill>
            <a:srgbClr val="E8ECF5"/>
          </a:solidFill>
          <a:ln/>
        </p:spPr>
      </p:sp>
      <p:sp>
        <p:nvSpPr>
          <p:cNvPr id="26" name="Shape 24"/>
          <p:cNvSpPr/>
          <p:nvPr/>
        </p:nvSpPr>
        <p:spPr>
          <a:xfrm>
            <a:off x="8394192" y="3602736"/>
            <a:ext cx="384048" cy="384048"/>
          </a:xfrm>
          <a:prstGeom prst="roundRect">
            <a:avLst>
              <a:gd name="adj" fmla="val 19048"/>
            </a:avLst>
          </a:prstGeom>
          <a:solidFill>
            <a:srgbClr val="FCA311"/>
          </a:solidFill>
          <a:ln/>
        </p:spPr>
      </p:sp>
      <p:sp>
        <p:nvSpPr>
          <p:cNvPr id="27" name="Text 25"/>
          <p:cNvSpPr/>
          <p:nvPr/>
        </p:nvSpPr>
        <p:spPr>
          <a:xfrm>
            <a:off x="8394192" y="3602736"/>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6</a:t>
            </a:r>
            <a:endParaRPr lang="en-US" sz="1300" dirty="0"/>
          </a:p>
        </p:txBody>
      </p:sp>
      <p:sp>
        <p:nvSpPr>
          <p:cNvPr id="28" name="Text 26"/>
          <p:cNvSpPr/>
          <p:nvPr/>
        </p:nvSpPr>
        <p:spPr>
          <a:xfrm>
            <a:off x="8394192" y="4078224"/>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Model Training, Evaluation &amp; Selection</a:t>
            </a:r>
            <a:endParaRPr lang="en-US" sz="1250" dirty="0"/>
          </a:p>
        </p:txBody>
      </p:sp>
      <p:sp>
        <p:nvSpPr>
          <p:cNvPr id="29" name="Shape 27"/>
          <p:cNvSpPr/>
          <p:nvPr/>
        </p:nvSpPr>
        <p:spPr>
          <a:xfrm>
            <a:off x="640080" y="4828032"/>
            <a:ext cx="3520440" cy="1207008"/>
          </a:xfrm>
          <a:prstGeom prst="roundRect">
            <a:avLst>
              <a:gd name="adj" fmla="val 7576"/>
            </a:avLst>
          </a:prstGeom>
          <a:solidFill>
            <a:srgbClr val="E8ECF5"/>
          </a:solidFill>
          <a:ln/>
        </p:spPr>
      </p:sp>
      <p:sp>
        <p:nvSpPr>
          <p:cNvPr id="30" name="Shape 28"/>
          <p:cNvSpPr/>
          <p:nvPr/>
        </p:nvSpPr>
        <p:spPr>
          <a:xfrm>
            <a:off x="822960" y="5010912"/>
            <a:ext cx="384048" cy="384048"/>
          </a:xfrm>
          <a:prstGeom prst="roundRect">
            <a:avLst>
              <a:gd name="adj" fmla="val 19048"/>
            </a:avLst>
          </a:prstGeom>
          <a:solidFill>
            <a:srgbClr val="FCA311"/>
          </a:solidFill>
          <a:ln/>
        </p:spPr>
      </p:sp>
      <p:sp>
        <p:nvSpPr>
          <p:cNvPr id="31" name="Text 29"/>
          <p:cNvSpPr/>
          <p:nvPr/>
        </p:nvSpPr>
        <p:spPr>
          <a:xfrm>
            <a:off x="822960" y="5010912"/>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7</a:t>
            </a:r>
            <a:endParaRPr lang="en-US" sz="1300" dirty="0"/>
          </a:p>
        </p:txBody>
      </p:sp>
      <p:sp>
        <p:nvSpPr>
          <p:cNvPr id="32" name="Text 30"/>
          <p:cNvSpPr/>
          <p:nvPr/>
        </p:nvSpPr>
        <p:spPr>
          <a:xfrm>
            <a:off x="822960" y="5486400"/>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Model Deployment</a:t>
            </a:r>
            <a:endParaRPr lang="en-US" sz="1250" dirty="0"/>
          </a:p>
        </p:txBody>
      </p:sp>
      <p:sp>
        <p:nvSpPr>
          <p:cNvPr id="33" name="Shape 31"/>
          <p:cNvSpPr/>
          <p:nvPr/>
        </p:nvSpPr>
        <p:spPr>
          <a:xfrm>
            <a:off x="4425696" y="4828032"/>
            <a:ext cx="3520440" cy="1207008"/>
          </a:xfrm>
          <a:prstGeom prst="roundRect">
            <a:avLst>
              <a:gd name="adj" fmla="val 7576"/>
            </a:avLst>
          </a:prstGeom>
          <a:solidFill>
            <a:srgbClr val="E8ECF5"/>
          </a:solidFill>
          <a:ln/>
        </p:spPr>
      </p:sp>
      <p:sp>
        <p:nvSpPr>
          <p:cNvPr id="34" name="Shape 32"/>
          <p:cNvSpPr/>
          <p:nvPr/>
        </p:nvSpPr>
        <p:spPr>
          <a:xfrm>
            <a:off x="4608576" y="5010912"/>
            <a:ext cx="384048" cy="384048"/>
          </a:xfrm>
          <a:prstGeom prst="roundRect">
            <a:avLst>
              <a:gd name="adj" fmla="val 19048"/>
            </a:avLst>
          </a:prstGeom>
          <a:solidFill>
            <a:srgbClr val="FCA311"/>
          </a:solidFill>
          <a:ln/>
        </p:spPr>
      </p:sp>
      <p:sp>
        <p:nvSpPr>
          <p:cNvPr id="35" name="Text 33"/>
          <p:cNvSpPr/>
          <p:nvPr/>
        </p:nvSpPr>
        <p:spPr>
          <a:xfrm>
            <a:off x="4608576" y="5010912"/>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8</a:t>
            </a:r>
            <a:endParaRPr lang="en-US" sz="1300" dirty="0"/>
          </a:p>
        </p:txBody>
      </p:sp>
      <p:sp>
        <p:nvSpPr>
          <p:cNvPr id="36" name="Text 34"/>
          <p:cNvSpPr/>
          <p:nvPr/>
        </p:nvSpPr>
        <p:spPr>
          <a:xfrm>
            <a:off x="4608576" y="5486400"/>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Testing</a:t>
            </a:r>
            <a:endParaRPr lang="en-US" sz="1250" dirty="0"/>
          </a:p>
        </p:txBody>
      </p:sp>
      <p:sp>
        <p:nvSpPr>
          <p:cNvPr id="37" name="Shape 35"/>
          <p:cNvSpPr/>
          <p:nvPr/>
        </p:nvSpPr>
        <p:spPr>
          <a:xfrm>
            <a:off x="8211312" y="4828032"/>
            <a:ext cx="3520440" cy="1207008"/>
          </a:xfrm>
          <a:prstGeom prst="roundRect">
            <a:avLst>
              <a:gd name="adj" fmla="val 7576"/>
            </a:avLst>
          </a:prstGeom>
          <a:solidFill>
            <a:srgbClr val="E8ECF5"/>
          </a:solidFill>
          <a:ln/>
        </p:spPr>
      </p:sp>
      <p:sp>
        <p:nvSpPr>
          <p:cNvPr id="38" name="Shape 36"/>
          <p:cNvSpPr/>
          <p:nvPr/>
        </p:nvSpPr>
        <p:spPr>
          <a:xfrm>
            <a:off x="8394192" y="5010912"/>
            <a:ext cx="384048" cy="384048"/>
          </a:xfrm>
          <a:prstGeom prst="roundRect">
            <a:avLst>
              <a:gd name="adj" fmla="val 19048"/>
            </a:avLst>
          </a:prstGeom>
          <a:solidFill>
            <a:srgbClr val="FCA311"/>
          </a:solidFill>
          <a:ln/>
        </p:spPr>
      </p:sp>
      <p:sp>
        <p:nvSpPr>
          <p:cNvPr id="39" name="Text 37"/>
          <p:cNvSpPr/>
          <p:nvPr/>
        </p:nvSpPr>
        <p:spPr>
          <a:xfrm>
            <a:off x="8394192" y="5010912"/>
            <a:ext cx="384048" cy="384048"/>
          </a:xfrm>
          <a:prstGeom prst="rect">
            <a:avLst/>
          </a:prstGeom>
          <a:noFill/>
          <a:ln/>
        </p:spPr>
        <p:txBody>
          <a:bodyPr wrap="square" rtlCol="0" anchor="ctr"/>
          <a:lstStyle/>
          <a:p>
            <a:pPr marL="0" indent="0" algn="ctr">
              <a:buNone/>
            </a:pPr>
            <a:r>
              <a:rPr lang="en-US" sz="1300" b="1" dirty="0">
                <a:solidFill>
                  <a:srgbClr val="14213D"/>
                </a:solidFill>
                <a:latin typeface="Cambria" pitchFamily="34" charset="0"/>
                <a:ea typeface="Cambria" pitchFamily="34" charset="-122"/>
                <a:cs typeface="Cambria" pitchFamily="34" charset="-120"/>
              </a:rPr>
              <a:t>9</a:t>
            </a:r>
            <a:endParaRPr lang="en-US" sz="1300" dirty="0"/>
          </a:p>
        </p:txBody>
      </p:sp>
      <p:sp>
        <p:nvSpPr>
          <p:cNvPr id="40" name="Text 38"/>
          <p:cNvSpPr/>
          <p:nvPr/>
        </p:nvSpPr>
        <p:spPr>
          <a:xfrm>
            <a:off x="8394192" y="5486400"/>
            <a:ext cx="3154680" cy="502920"/>
          </a:xfrm>
          <a:prstGeom prst="rect">
            <a:avLst/>
          </a:prstGeom>
          <a:noFill/>
          <a:ln/>
        </p:spPr>
        <p:txBody>
          <a:bodyPr wrap="square" rtlCol="0" anchor="ctr"/>
          <a:lstStyle/>
          <a:p>
            <a:pPr marL="0" indent="0">
              <a:lnSpc>
                <a:spcPts val="1500"/>
              </a:lnSpc>
              <a:buNone/>
            </a:pPr>
            <a:r>
              <a:rPr lang="en-US" sz="1250" b="1" dirty="0">
                <a:solidFill>
                  <a:srgbClr val="14213D"/>
                </a:solidFill>
                <a:latin typeface="Calibri" pitchFamily="34" charset="0"/>
                <a:ea typeface="Calibri" pitchFamily="34" charset="-122"/>
                <a:cs typeface="Calibri" pitchFamily="34" charset="-120"/>
              </a:rPr>
              <a:t>Optimization</a:t>
            </a:r>
            <a:endParaRPr lang="en-US" sz="1250" dirty="0"/>
          </a:p>
        </p:txBody>
      </p:sp>
      <p:sp>
        <p:nvSpPr>
          <p:cNvPr id="41" name="Text 39"/>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42" name="Text 4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1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Frame the Problem</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10908792" cy="1280160"/>
          </a:xfrm>
          <a:prstGeom prst="roundRect">
            <a:avLst>
              <a:gd name="adj" fmla="val 7143"/>
            </a:avLst>
          </a:prstGeom>
          <a:solidFill>
            <a:srgbClr val="E8ECF5"/>
          </a:solidFill>
          <a:ln/>
        </p:spPr>
      </p:sp>
      <p:sp>
        <p:nvSpPr>
          <p:cNvPr id="8" name="Text 6"/>
          <p:cNvSpPr/>
          <p:nvPr/>
        </p:nvSpPr>
        <p:spPr>
          <a:xfrm>
            <a:off x="896112" y="17647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IDEA</a:t>
            </a:r>
            <a:endParaRPr lang="en-US" sz="1050" dirty="0"/>
          </a:p>
        </p:txBody>
      </p:sp>
      <p:sp>
        <p:nvSpPr>
          <p:cNvPr id="9" name="Text 7"/>
          <p:cNvSpPr/>
          <p:nvPr/>
        </p:nvSpPr>
        <p:spPr>
          <a:xfrm>
            <a:off x="896112" y="2039112"/>
            <a:ext cx="10396728" cy="676656"/>
          </a:xfrm>
          <a:prstGeom prst="rect">
            <a:avLst/>
          </a:prstGeom>
          <a:noFill/>
          <a:ln/>
        </p:spPr>
        <p:txBody>
          <a:bodyPr wrap="square" rtlCol="0" anchor="t"/>
          <a:lstStyle/>
          <a:p>
            <a:pPr marL="0" indent="0">
              <a:lnSpc>
                <a:spcPts val="1900"/>
              </a:lnSpc>
              <a:buNone/>
            </a:pPr>
            <a:r>
              <a:rPr lang="en-US" sz="1350" dirty="0">
                <a:solidFill>
                  <a:srgbClr val="14213D"/>
                </a:solidFill>
                <a:latin typeface="Calibri" pitchFamily="34" charset="0"/>
                <a:ea typeface="Calibri" pitchFamily="34" charset="-122"/>
                <a:cs typeface="Calibri" pitchFamily="34" charset="-120"/>
              </a:rPr>
              <a:t>Before writing a line of code, get precise about what you're actually building. This is where you decide exactly what problem needs solving — vague direction here means wasted work later.</a:t>
            </a:r>
            <a:endParaRPr lang="en-US" sz="1350" dirty="0"/>
          </a:p>
        </p:txBody>
      </p:sp>
      <p:sp>
        <p:nvSpPr>
          <p:cNvPr id="10" name="Shape 8"/>
          <p:cNvSpPr/>
          <p:nvPr/>
        </p:nvSpPr>
        <p:spPr>
          <a:xfrm>
            <a:off x="640080" y="3108960"/>
            <a:ext cx="5257800" cy="777240"/>
          </a:xfrm>
          <a:prstGeom prst="roundRect">
            <a:avLst>
              <a:gd name="adj" fmla="val 9412"/>
            </a:avLst>
          </a:prstGeom>
          <a:solidFill>
            <a:srgbClr val="E8ECF5"/>
          </a:solidFill>
          <a:ln/>
        </p:spPr>
      </p:sp>
      <p:sp>
        <p:nvSpPr>
          <p:cNvPr id="11" name="Text 9"/>
          <p:cNvSpPr/>
          <p:nvPr/>
        </p:nvSpPr>
        <p:spPr>
          <a:xfrm>
            <a:off x="841248" y="3108960"/>
            <a:ext cx="4855464" cy="777240"/>
          </a:xfrm>
          <a:prstGeom prst="rect">
            <a:avLst/>
          </a:prstGeom>
          <a:noFill/>
          <a:ln/>
        </p:spPr>
        <p:txBody>
          <a:bodyPr wrap="square" rtlCol="0" anchor="ctr"/>
          <a:lstStyle/>
          <a:p>
            <a:pPr marL="0" indent="0">
              <a:buNone/>
            </a:pPr>
            <a:r>
              <a:rPr lang="en-US" sz="1250" dirty="0">
                <a:solidFill>
                  <a:srgbClr val="14213D"/>
                </a:solidFill>
                <a:latin typeface="Calibri" pitchFamily="34" charset="0"/>
                <a:ea typeface="Calibri" pitchFamily="34" charset="-122"/>
                <a:cs typeface="Calibri" pitchFamily="34" charset="-120"/>
              </a:rPr>
              <a:t>What exactly are you solving, and for whom?</a:t>
            </a:r>
            <a:endParaRPr lang="en-US" sz="1250" dirty="0"/>
          </a:p>
        </p:txBody>
      </p:sp>
      <p:sp>
        <p:nvSpPr>
          <p:cNvPr id="12" name="Shape 10"/>
          <p:cNvSpPr/>
          <p:nvPr/>
        </p:nvSpPr>
        <p:spPr>
          <a:xfrm>
            <a:off x="6291072" y="3108960"/>
            <a:ext cx="5257800" cy="777240"/>
          </a:xfrm>
          <a:prstGeom prst="roundRect">
            <a:avLst>
              <a:gd name="adj" fmla="val 9412"/>
            </a:avLst>
          </a:prstGeom>
          <a:solidFill>
            <a:srgbClr val="E8ECF5"/>
          </a:solidFill>
          <a:ln/>
        </p:spPr>
      </p:sp>
      <p:sp>
        <p:nvSpPr>
          <p:cNvPr id="13" name="Text 11"/>
          <p:cNvSpPr/>
          <p:nvPr/>
        </p:nvSpPr>
        <p:spPr>
          <a:xfrm>
            <a:off x="6492240" y="3108960"/>
            <a:ext cx="4855464" cy="777240"/>
          </a:xfrm>
          <a:prstGeom prst="rect">
            <a:avLst/>
          </a:prstGeom>
          <a:noFill/>
          <a:ln/>
        </p:spPr>
        <p:txBody>
          <a:bodyPr wrap="square" rtlCol="0" anchor="ctr"/>
          <a:lstStyle/>
          <a:p>
            <a:pPr marL="0" indent="0">
              <a:buNone/>
            </a:pPr>
            <a:r>
              <a:rPr lang="en-US" sz="1250" dirty="0">
                <a:solidFill>
                  <a:srgbClr val="14213D"/>
                </a:solidFill>
                <a:latin typeface="Calibri" pitchFamily="34" charset="0"/>
                <a:ea typeface="Calibri" pitchFamily="34" charset="-122"/>
                <a:cs typeface="Calibri" pitchFamily="34" charset="-120"/>
              </a:rPr>
              <a:t>What's the budget, and how big a team do you need?</a:t>
            </a:r>
            <a:endParaRPr lang="en-US" sz="1250" dirty="0"/>
          </a:p>
        </p:txBody>
      </p:sp>
      <p:sp>
        <p:nvSpPr>
          <p:cNvPr id="14" name="Shape 12"/>
          <p:cNvSpPr/>
          <p:nvPr/>
        </p:nvSpPr>
        <p:spPr>
          <a:xfrm>
            <a:off x="640080" y="4050792"/>
            <a:ext cx="5257800" cy="777240"/>
          </a:xfrm>
          <a:prstGeom prst="roundRect">
            <a:avLst>
              <a:gd name="adj" fmla="val 9412"/>
            </a:avLst>
          </a:prstGeom>
          <a:solidFill>
            <a:srgbClr val="E8ECF5"/>
          </a:solidFill>
          <a:ln/>
        </p:spPr>
      </p:sp>
      <p:sp>
        <p:nvSpPr>
          <p:cNvPr id="15" name="Text 13"/>
          <p:cNvSpPr/>
          <p:nvPr/>
        </p:nvSpPr>
        <p:spPr>
          <a:xfrm>
            <a:off x="841248" y="4050792"/>
            <a:ext cx="4855464" cy="777240"/>
          </a:xfrm>
          <a:prstGeom prst="rect">
            <a:avLst/>
          </a:prstGeom>
          <a:noFill/>
          <a:ln/>
        </p:spPr>
        <p:txBody>
          <a:bodyPr wrap="square" rtlCol="0" anchor="ctr"/>
          <a:lstStyle/>
          <a:p>
            <a:pPr marL="0" indent="0">
              <a:buNone/>
            </a:pPr>
            <a:r>
              <a:rPr lang="en-US" sz="1250" dirty="0">
                <a:solidFill>
                  <a:srgbClr val="14213D"/>
                </a:solidFill>
                <a:latin typeface="Calibri" pitchFamily="34" charset="0"/>
                <a:ea typeface="Calibri" pitchFamily="34" charset="-122"/>
                <a:cs typeface="Calibri" pitchFamily="34" charset="-120"/>
              </a:rPr>
              <a:t>What will the finished product actually look like?</a:t>
            </a:r>
            <a:endParaRPr lang="en-US" sz="1250" dirty="0"/>
          </a:p>
        </p:txBody>
      </p:sp>
      <p:sp>
        <p:nvSpPr>
          <p:cNvPr id="16" name="Shape 14"/>
          <p:cNvSpPr/>
          <p:nvPr/>
        </p:nvSpPr>
        <p:spPr>
          <a:xfrm>
            <a:off x="6291072" y="4050792"/>
            <a:ext cx="5257800" cy="777240"/>
          </a:xfrm>
          <a:prstGeom prst="roundRect">
            <a:avLst>
              <a:gd name="adj" fmla="val 9412"/>
            </a:avLst>
          </a:prstGeom>
          <a:solidFill>
            <a:srgbClr val="E8ECF5"/>
          </a:solidFill>
          <a:ln/>
        </p:spPr>
      </p:sp>
      <p:sp>
        <p:nvSpPr>
          <p:cNvPr id="17" name="Text 15"/>
          <p:cNvSpPr/>
          <p:nvPr/>
        </p:nvSpPr>
        <p:spPr>
          <a:xfrm>
            <a:off x="6492240" y="4050792"/>
            <a:ext cx="4855464" cy="777240"/>
          </a:xfrm>
          <a:prstGeom prst="rect">
            <a:avLst/>
          </a:prstGeom>
          <a:noFill/>
          <a:ln/>
        </p:spPr>
        <p:txBody>
          <a:bodyPr wrap="square" rtlCol="0" anchor="ctr"/>
          <a:lstStyle/>
          <a:p>
            <a:pPr marL="0" indent="0">
              <a:buNone/>
            </a:pPr>
            <a:r>
              <a:rPr lang="en-US" sz="1250" dirty="0">
                <a:solidFill>
                  <a:srgbClr val="14213D"/>
                </a:solidFill>
                <a:latin typeface="Calibri" pitchFamily="34" charset="0"/>
                <a:ea typeface="Calibri" pitchFamily="34" charset="-122"/>
                <a:cs typeface="Calibri" pitchFamily="34" charset="-120"/>
              </a:rPr>
              <a:t>Supervised, unsupervised, batch, or online?</a:t>
            </a:r>
            <a:endParaRPr lang="en-US" sz="1250" dirty="0"/>
          </a:p>
        </p:txBody>
      </p:sp>
      <p:sp>
        <p:nvSpPr>
          <p:cNvPr id="18" name="Shape 16"/>
          <p:cNvSpPr/>
          <p:nvPr/>
        </p:nvSpPr>
        <p:spPr>
          <a:xfrm>
            <a:off x="640080" y="4992624"/>
            <a:ext cx="5257800" cy="777240"/>
          </a:xfrm>
          <a:prstGeom prst="roundRect">
            <a:avLst>
              <a:gd name="adj" fmla="val 9412"/>
            </a:avLst>
          </a:prstGeom>
          <a:solidFill>
            <a:srgbClr val="E8ECF5"/>
          </a:solidFill>
          <a:ln/>
        </p:spPr>
      </p:sp>
      <p:sp>
        <p:nvSpPr>
          <p:cNvPr id="19" name="Text 17"/>
          <p:cNvSpPr/>
          <p:nvPr/>
        </p:nvSpPr>
        <p:spPr>
          <a:xfrm>
            <a:off x="841248" y="4992624"/>
            <a:ext cx="4855464" cy="777240"/>
          </a:xfrm>
          <a:prstGeom prst="rect">
            <a:avLst/>
          </a:prstGeom>
          <a:noFill/>
          <a:ln/>
        </p:spPr>
        <p:txBody>
          <a:bodyPr wrap="square" rtlCol="0" anchor="ctr"/>
          <a:lstStyle/>
          <a:p>
            <a:pPr marL="0" indent="0">
              <a:buNone/>
            </a:pPr>
            <a:r>
              <a:rPr lang="en-US" sz="1250" dirty="0">
                <a:solidFill>
                  <a:srgbClr val="14213D"/>
                </a:solidFill>
                <a:latin typeface="Calibri" pitchFamily="34" charset="0"/>
                <a:ea typeface="Calibri" pitchFamily="34" charset="-122"/>
                <a:cs typeface="Calibri" pitchFamily="34" charset="-120"/>
              </a:rPr>
              <a:t>Which algorithms might be a good fit?</a:t>
            </a:r>
            <a:endParaRPr lang="en-US" sz="1250" dirty="0"/>
          </a:p>
        </p:txBody>
      </p:sp>
      <p:sp>
        <p:nvSpPr>
          <p:cNvPr id="20" name="Shape 18"/>
          <p:cNvSpPr/>
          <p:nvPr/>
        </p:nvSpPr>
        <p:spPr>
          <a:xfrm>
            <a:off x="6291072" y="4992624"/>
            <a:ext cx="5257800" cy="777240"/>
          </a:xfrm>
          <a:prstGeom prst="roundRect">
            <a:avLst>
              <a:gd name="adj" fmla="val 9412"/>
            </a:avLst>
          </a:prstGeom>
          <a:solidFill>
            <a:srgbClr val="E8ECF5"/>
          </a:solidFill>
          <a:ln/>
        </p:spPr>
      </p:sp>
      <p:sp>
        <p:nvSpPr>
          <p:cNvPr id="21" name="Text 19"/>
          <p:cNvSpPr/>
          <p:nvPr/>
        </p:nvSpPr>
        <p:spPr>
          <a:xfrm>
            <a:off x="6492240" y="4992624"/>
            <a:ext cx="4855464" cy="777240"/>
          </a:xfrm>
          <a:prstGeom prst="rect">
            <a:avLst/>
          </a:prstGeom>
          <a:noFill/>
          <a:ln/>
        </p:spPr>
        <p:txBody>
          <a:bodyPr wrap="square" rtlCol="0" anchor="ctr"/>
          <a:lstStyle/>
          <a:p>
            <a:pPr marL="0" indent="0">
              <a:buNone/>
            </a:pPr>
            <a:r>
              <a:rPr lang="en-US" sz="1250" dirty="0">
                <a:solidFill>
                  <a:srgbClr val="14213D"/>
                </a:solidFill>
                <a:latin typeface="Calibri" pitchFamily="34" charset="0"/>
                <a:ea typeface="Calibri" pitchFamily="34" charset="-122"/>
                <a:cs typeface="Calibri" pitchFamily="34" charset="-120"/>
              </a:rPr>
              <a:t>Where will the data even come from?</a:t>
            </a:r>
            <a:endParaRPr lang="en-US" sz="1250" dirty="0"/>
          </a:p>
        </p:txBody>
      </p:sp>
      <p:sp>
        <p:nvSpPr>
          <p:cNvPr id="22" name="Text 20"/>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2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Data Gathering</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10908792" cy="868680"/>
          </a:xfrm>
          <a:prstGeom prst="roundRect">
            <a:avLst>
              <a:gd name="adj" fmla="val 10526"/>
            </a:avLst>
          </a:prstGeom>
          <a:solidFill>
            <a:srgbClr val="E8ECF5"/>
          </a:solidFill>
          <a:ln/>
        </p:spPr>
      </p:sp>
      <p:sp>
        <p:nvSpPr>
          <p:cNvPr id="8" name="Text 6"/>
          <p:cNvSpPr/>
          <p:nvPr/>
        </p:nvSpPr>
        <p:spPr>
          <a:xfrm>
            <a:off x="896112" y="17647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IDEA</a:t>
            </a:r>
            <a:endParaRPr lang="en-US" sz="1050" dirty="0"/>
          </a:p>
        </p:txBody>
      </p:sp>
      <p:sp>
        <p:nvSpPr>
          <p:cNvPr id="9" name="Text 7"/>
          <p:cNvSpPr/>
          <p:nvPr/>
        </p:nvSpPr>
        <p:spPr>
          <a:xfrm>
            <a:off x="896112" y="2039112"/>
            <a:ext cx="10396728" cy="265176"/>
          </a:xfrm>
          <a:prstGeom prst="rect">
            <a:avLst/>
          </a:prstGeom>
          <a:noFill/>
          <a:ln/>
        </p:spPr>
        <p:txBody>
          <a:bodyPr wrap="square" rtlCol="0" anchor="t"/>
          <a:lstStyle/>
          <a:p>
            <a:pPr marL="0" indent="0">
              <a:lnSpc>
                <a:spcPts val="1800"/>
              </a:lnSpc>
              <a:buNone/>
            </a:pPr>
            <a:r>
              <a:rPr lang="en-US" sz="1300" dirty="0">
                <a:solidFill>
                  <a:srgbClr val="14213D"/>
                </a:solidFill>
                <a:latin typeface="Calibri" pitchFamily="34" charset="0"/>
                <a:ea typeface="Calibri" pitchFamily="34" charset="-122"/>
                <a:cs typeface="Calibri" pitchFamily="34" charset="-120"/>
              </a:rPr>
              <a:t>No machine learning without data — and unlike a college project, real data is rarely handed to you as a clean, ready-made file.</a:t>
            </a:r>
            <a:endParaRPr lang="en-US" sz="1300" dirty="0"/>
          </a:p>
        </p:txBody>
      </p:sp>
      <p:sp>
        <p:nvSpPr>
          <p:cNvPr id="10" name="Shape 8"/>
          <p:cNvSpPr/>
          <p:nvPr/>
        </p:nvSpPr>
        <p:spPr>
          <a:xfrm>
            <a:off x="640080" y="2697480"/>
            <a:ext cx="2587752" cy="3429000"/>
          </a:xfrm>
          <a:prstGeom prst="roundRect">
            <a:avLst>
              <a:gd name="adj" fmla="val 3534"/>
            </a:avLst>
          </a:prstGeom>
          <a:solidFill>
            <a:srgbClr val="E8ECF5"/>
          </a:solidFill>
          <a:ln/>
        </p:spPr>
      </p:sp>
      <p:sp>
        <p:nvSpPr>
          <p:cNvPr id="11" name="Text 9"/>
          <p:cNvSpPr/>
          <p:nvPr/>
        </p:nvSpPr>
        <p:spPr>
          <a:xfrm>
            <a:off x="822960" y="2926080"/>
            <a:ext cx="2221992" cy="64008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CSV files</a:t>
            </a:r>
            <a:endParaRPr lang="en-US" sz="1400" dirty="0"/>
          </a:p>
        </p:txBody>
      </p:sp>
      <p:sp>
        <p:nvSpPr>
          <p:cNvPr id="12" name="Text 10"/>
          <p:cNvSpPr/>
          <p:nvPr/>
        </p:nvSpPr>
        <p:spPr>
          <a:xfrm>
            <a:off x="822960" y="3611880"/>
            <a:ext cx="2221992" cy="2286000"/>
          </a:xfrm>
          <a:prstGeom prst="rect">
            <a:avLst/>
          </a:prstGeom>
          <a:noFill/>
          <a:ln/>
        </p:spPr>
        <p:txBody>
          <a:bodyPr wrap="square" rtlCol="0" anchor="t"/>
          <a:lstStyle/>
          <a:p>
            <a:pPr marL="0" indent="0">
              <a:lnSpc>
                <a:spcPts val="1600"/>
              </a:lnSpc>
              <a:buNone/>
            </a:pPr>
            <a:r>
              <a:rPr lang="en-US" sz="1150" dirty="0">
                <a:solidFill>
                  <a:srgbClr val="3C4257"/>
                </a:solidFill>
                <a:latin typeface="Calibri" pitchFamily="34" charset="0"/>
                <a:ea typeface="Calibri" pitchFamily="34" charset="-122"/>
                <a:cs typeface="Calibri" pitchFamily="34" charset="-120"/>
              </a:rPr>
              <a:t>The simplest case — data handed to you directly, ready to load.</a:t>
            </a:r>
            <a:endParaRPr lang="en-US" sz="1150" dirty="0"/>
          </a:p>
        </p:txBody>
      </p:sp>
      <p:sp>
        <p:nvSpPr>
          <p:cNvPr id="13" name="Shape 11"/>
          <p:cNvSpPr/>
          <p:nvPr/>
        </p:nvSpPr>
        <p:spPr>
          <a:xfrm>
            <a:off x="3364992" y="2697480"/>
            <a:ext cx="2587752" cy="3429000"/>
          </a:xfrm>
          <a:prstGeom prst="roundRect">
            <a:avLst>
              <a:gd name="adj" fmla="val 3534"/>
            </a:avLst>
          </a:prstGeom>
          <a:solidFill>
            <a:srgbClr val="E8ECF5"/>
          </a:solidFill>
          <a:ln/>
        </p:spPr>
      </p:sp>
      <p:sp>
        <p:nvSpPr>
          <p:cNvPr id="14" name="Text 12"/>
          <p:cNvSpPr/>
          <p:nvPr/>
        </p:nvSpPr>
        <p:spPr>
          <a:xfrm>
            <a:off x="3547872" y="2926080"/>
            <a:ext cx="2221992" cy="64008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APIs</a:t>
            </a:r>
            <a:endParaRPr lang="en-US" sz="1400" dirty="0"/>
          </a:p>
        </p:txBody>
      </p:sp>
      <p:sp>
        <p:nvSpPr>
          <p:cNvPr id="15" name="Text 13"/>
          <p:cNvSpPr/>
          <p:nvPr/>
        </p:nvSpPr>
        <p:spPr>
          <a:xfrm>
            <a:off x="3547872" y="3611880"/>
            <a:ext cx="2221992" cy="2286000"/>
          </a:xfrm>
          <a:prstGeom prst="rect">
            <a:avLst/>
          </a:prstGeom>
          <a:noFill/>
          <a:ln/>
        </p:spPr>
        <p:txBody>
          <a:bodyPr wrap="square" rtlCol="0" anchor="t"/>
          <a:lstStyle/>
          <a:p>
            <a:pPr marL="0" indent="0">
              <a:lnSpc>
                <a:spcPts val="1600"/>
              </a:lnSpc>
              <a:buNone/>
            </a:pPr>
            <a:r>
              <a:rPr lang="en-US" sz="1150" dirty="0">
                <a:solidFill>
                  <a:srgbClr val="3C4257"/>
                </a:solidFill>
                <a:latin typeface="Calibri" pitchFamily="34" charset="0"/>
                <a:ea typeface="Calibri" pitchFamily="34" charset="-122"/>
                <a:cs typeface="Calibri" pitchFamily="34" charset="-120"/>
              </a:rPr>
              <a:t>Hit an API, pull data back as JSON, then convert it into your preferred format.</a:t>
            </a:r>
            <a:endParaRPr lang="en-US" sz="1150" dirty="0"/>
          </a:p>
        </p:txBody>
      </p:sp>
      <p:sp>
        <p:nvSpPr>
          <p:cNvPr id="16" name="Shape 14"/>
          <p:cNvSpPr/>
          <p:nvPr/>
        </p:nvSpPr>
        <p:spPr>
          <a:xfrm>
            <a:off x="6089904" y="2697480"/>
            <a:ext cx="2587752" cy="3429000"/>
          </a:xfrm>
          <a:prstGeom prst="roundRect">
            <a:avLst>
              <a:gd name="adj" fmla="val 3534"/>
            </a:avLst>
          </a:prstGeom>
          <a:solidFill>
            <a:srgbClr val="E8ECF5"/>
          </a:solidFill>
          <a:ln/>
        </p:spPr>
      </p:sp>
      <p:sp>
        <p:nvSpPr>
          <p:cNvPr id="17" name="Text 15"/>
          <p:cNvSpPr/>
          <p:nvPr/>
        </p:nvSpPr>
        <p:spPr>
          <a:xfrm>
            <a:off x="6272784" y="2926080"/>
            <a:ext cx="2221992" cy="64008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Web scraping</a:t>
            </a:r>
            <a:endParaRPr lang="en-US" sz="1400" dirty="0"/>
          </a:p>
        </p:txBody>
      </p:sp>
      <p:sp>
        <p:nvSpPr>
          <p:cNvPr id="18" name="Text 16"/>
          <p:cNvSpPr/>
          <p:nvPr/>
        </p:nvSpPr>
        <p:spPr>
          <a:xfrm>
            <a:off x="6272784" y="3611880"/>
            <a:ext cx="2221992" cy="2286000"/>
          </a:xfrm>
          <a:prstGeom prst="rect">
            <a:avLst/>
          </a:prstGeom>
          <a:noFill/>
          <a:ln/>
        </p:spPr>
        <p:txBody>
          <a:bodyPr wrap="square" rtlCol="0" anchor="t"/>
          <a:lstStyle/>
          <a:p>
            <a:pPr marL="0" indent="0">
              <a:lnSpc>
                <a:spcPts val="1600"/>
              </a:lnSpc>
              <a:buNone/>
            </a:pPr>
            <a:r>
              <a:rPr lang="en-US" sz="1150" dirty="0">
                <a:solidFill>
                  <a:srgbClr val="3C4257"/>
                </a:solidFill>
                <a:latin typeface="Calibri" pitchFamily="34" charset="0"/>
                <a:ea typeface="Calibri" pitchFamily="34" charset="-122"/>
                <a:cs typeface="Calibri" pitchFamily="34" charset="-120"/>
              </a:rPr>
              <a:t>Pull data straight from a website's pages — think hotel listings or price-comparison sites.</a:t>
            </a:r>
            <a:endParaRPr lang="en-US" sz="1150" dirty="0"/>
          </a:p>
        </p:txBody>
      </p:sp>
      <p:sp>
        <p:nvSpPr>
          <p:cNvPr id="19" name="Shape 17"/>
          <p:cNvSpPr/>
          <p:nvPr/>
        </p:nvSpPr>
        <p:spPr>
          <a:xfrm>
            <a:off x="8814816" y="2697480"/>
            <a:ext cx="2587752" cy="3429000"/>
          </a:xfrm>
          <a:prstGeom prst="roundRect">
            <a:avLst>
              <a:gd name="adj" fmla="val 3534"/>
            </a:avLst>
          </a:prstGeom>
          <a:solidFill>
            <a:srgbClr val="E8ECF5"/>
          </a:solidFill>
          <a:ln/>
        </p:spPr>
      </p:sp>
      <p:sp>
        <p:nvSpPr>
          <p:cNvPr id="20" name="Text 18"/>
          <p:cNvSpPr/>
          <p:nvPr/>
        </p:nvSpPr>
        <p:spPr>
          <a:xfrm>
            <a:off x="8997696" y="2926080"/>
            <a:ext cx="2221992" cy="64008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Databases &amp; warehouses</a:t>
            </a:r>
            <a:endParaRPr lang="en-US" sz="1400" dirty="0"/>
          </a:p>
        </p:txBody>
      </p:sp>
      <p:sp>
        <p:nvSpPr>
          <p:cNvPr id="21" name="Text 19"/>
          <p:cNvSpPr/>
          <p:nvPr/>
        </p:nvSpPr>
        <p:spPr>
          <a:xfrm>
            <a:off x="8997696" y="3611880"/>
            <a:ext cx="2221992" cy="2286000"/>
          </a:xfrm>
          <a:prstGeom prst="rect">
            <a:avLst/>
          </a:prstGeom>
          <a:noFill/>
          <a:ln/>
        </p:spPr>
        <p:txBody>
          <a:bodyPr wrap="square" rtlCol="0" anchor="t"/>
          <a:lstStyle/>
          <a:p>
            <a:pPr marL="0" indent="0">
              <a:lnSpc>
                <a:spcPts val="1600"/>
              </a:lnSpc>
              <a:buNone/>
            </a:pPr>
            <a:r>
              <a:rPr lang="en-US" sz="1150" dirty="0">
                <a:solidFill>
                  <a:srgbClr val="3C4257"/>
                </a:solidFill>
                <a:latin typeface="Calibri" pitchFamily="34" charset="0"/>
                <a:ea typeface="Calibri" pitchFamily="34" charset="-122"/>
                <a:cs typeface="Calibri" pitchFamily="34" charset="-120"/>
              </a:rPr>
              <a:t>Can't train directly on a live database, so an ETL pipeline moves data into a warehouse first.</a:t>
            </a:r>
            <a:endParaRPr lang="en-US" sz="1150" dirty="0"/>
          </a:p>
        </p:txBody>
      </p:sp>
      <p:sp>
        <p:nvSpPr>
          <p:cNvPr id="22" name="Text 20"/>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3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Data Preprocessing</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10908792" cy="960120"/>
          </a:xfrm>
          <a:prstGeom prst="roundRect">
            <a:avLst>
              <a:gd name="adj" fmla="val 9524"/>
            </a:avLst>
          </a:prstGeom>
          <a:solidFill>
            <a:srgbClr val="E8ECF5"/>
          </a:solidFill>
          <a:ln/>
        </p:spPr>
      </p:sp>
      <p:sp>
        <p:nvSpPr>
          <p:cNvPr id="8" name="Text 6"/>
          <p:cNvSpPr/>
          <p:nvPr/>
        </p:nvSpPr>
        <p:spPr>
          <a:xfrm>
            <a:off x="896112" y="17647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IDEA</a:t>
            </a:r>
            <a:endParaRPr lang="en-US" sz="1050" dirty="0"/>
          </a:p>
        </p:txBody>
      </p:sp>
      <p:sp>
        <p:nvSpPr>
          <p:cNvPr id="9" name="Text 7"/>
          <p:cNvSpPr/>
          <p:nvPr/>
        </p:nvSpPr>
        <p:spPr>
          <a:xfrm>
            <a:off x="896112" y="2039112"/>
            <a:ext cx="10396728" cy="356616"/>
          </a:xfrm>
          <a:prstGeom prst="rect">
            <a:avLst/>
          </a:prstGeom>
          <a:noFill/>
          <a:ln/>
        </p:spPr>
        <p:txBody>
          <a:bodyPr wrap="square" rtlCol="0" anchor="t"/>
          <a:lstStyle/>
          <a:p>
            <a:pPr marL="0" indent="0">
              <a:lnSpc>
                <a:spcPts val="1800"/>
              </a:lnSpc>
              <a:buNone/>
            </a:pPr>
            <a:r>
              <a:rPr lang="en-US" sz="1300" dirty="0">
                <a:solidFill>
                  <a:srgbClr val="14213D"/>
                </a:solidFill>
                <a:latin typeface="Calibri" pitchFamily="34" charset="0"/>
                <a:ea typeface="Calibri" pitchFamily="34" charset="-122"/>
                <a:cs typeface="Calibri" pitchFamily="34" charset="-120"/>
              </a:rPr>
              <a:t>Raw data is almost always messy — duplicates, missing values, outliers, inconsistent formats between sources. None of that is usable until it's cleaned up.</a:t>
            </a:r>
            <a:endParaRPr lang="en-US" sz="1300" dirty="0"/>
          </a:p>
        </p:txBody>
      </p:sp>
      <p:sp>
        <p:nvSpPr>
          <p:cNvPr id="10" name="Shape 8"/>
          <p:cNvSpPr/>
          <p:nvPr/>
        </p:nvSpPr>
        <p:spPr>
          <a:xfrm>
            <a:off x="640080" y="2834640"/>
            <a:ext cx="128016" cy="128016"/>
          </a:xfrm>
          <a:prstGeom prst="ellipse">
            <a:avLst/>
          </a:prstGeom>
          <a:solidFill>
            <a:srgbClr val="FCA311"/>
          </a:solidFill>
          <a:ln/>
        </p:spPr>
      </p:sp>
      <p:sp>
        <p:nvSpPr>
          <p:cNvPr id="11" name="Text 9"/>
          <p:cNvSpPr/>
          <p:nvPr/>
        </p:nvSpPr>
        <p:spPr>
          <a:xfrm>
            <a:off x="914400" y="2715768"/>
            <a:ext cx="5486400" cy="365760"/>
          </a:xfrm>
          <a:prstGeom prst="rect">
            <a:avLst/>
          </a:prstGeom>
          <a:noFill/>
          <a:ln/>
        </p:spPr>
        <p:txBody>
          <a:bodyPr wrap="square"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Remove duplicate rows</a:t>
            </a:r>
            <a:endParaRPr lang="en-US" sz="1300" dirty="0"/>
          </a:p>
        </p:txBody>
      </p:sp>
      <p:sp>
        <p:nvSpPr>
          <p:cNvPr id="12" name="Shape 10"/>
          <p:cNvSpPr/>
          <p:nvPr/>
        </p:nvSpPr>
        <p:spPr>
          <a:xfrm>
            <a:off x="640080" y="3337560"/>
            <a:ext cx="128016" cy="128016"/>
          </a:xfrm>
          <a:prstGeom prst="ellipse">
            <a:avLst/>
          </a:prstGeom>
          <a:solidFill>
            <a:srgbClr val="FCA311"/>
          </a:solidFill>
          <a:ln/>
        </p:spPr>
      </p:sp>
      <p:sp>
        <p:nvSpPr>
          <p:cNvPr id="13" name="Text 11"/>
          <p:cNvSpPr/>
          <p:nvPr/>
        </p:nvSpPr>
        <p:spPr>
          <a:xfrm>
            <a:off x="914400" y="3218688"/>
            <a:ext cx="5486400" cy="365760"/>
          </a:xfrm>
          <a:prstGeom prst="rect">
            <a:avLst/>
          </a:prstGeom>
          <a:noFill/>
          <a:ln/>
        </p:spPr>
        <p:txBody>
          <a:bodyPr wrap="square"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Handle missing values</a:t>
            </a:r>
            <a:endParaRPr lang="en-US" sz="1300" dirty="0"/>
          </a:p>
        </p:txBody>
      </p:sp>
      <p:sp>
        <p:nvSpPr>
          <p:cNvPr id="14" name="Shape 12"/>
          <p:cNvSpPr/>
          <p:nvPr/>
        </p:nvSpPr>
        <p:spPr>
          <a:xfrm>
            <a:off x="640080" y="3840480"/>
            <a:ext cx="128016" cy="128016"/>
          </a:xfrm>
          <a:prstGeom prst="ellipse">
            <a:avLst/>
          </a:prstGeom>
          <a:solidFill>
            <a:srgbClr val="FCA311"/>
          </a:solidFill>
          <a:ln/>
        </p:spPr>
      </p:sp>
      <p:sp>
        <p:nvSpPr>
          <p:cNvPr id="15" name="Text 13"/>
          <p:cNvSpPr/>
          <p:nvPr/>
        </p:nvSpPr>
        <p:spPr>
          <a:xfrm>
            <a:off x="914400" y="3721608"/>
            <a:ext cx="5486400" cy="365760"/>
          </a:xfrm>
          <a:prstGeom prst="rect">
            <a:avLst/>
          </a:prstGeom>
          <a:noFill/>
          <a:ln/>
        </p:spPr>
        <p:txBody>
          <a:bodyPr wrap="square"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Remove outliers</a:t>
            </a:r>
            <a:endParaRPr lang="en-US" sz="1300" dirty="0"/>
          </a:p>
        </p:txBody>
      </p:sp>
      <p:sp>
        <p:nvSpPr>
          <p:cNvPr id="16" name="Shape 14"/>
          <p:cNvSpPr/>
          <p:nvPr/>
        </p:nvSpPr>
        <p:spPr>
          <a:xfrm>
            <a:off x="640080" y="4343400"/>
            <a:ext cx="128016" cy="128016"/>
          </a:xfrm>
          <a:prstGeom prst="ellipse">
            <a:avLst/>
          </a:prstGeom>
          <a:solidFill>
            <a:srgbClr val="FCA311"/>
          </a:solidFill>
          <a:ln/>
        </p:spPr>
      </p:sp>
      <p:sp>
        <p:nvSpPr>
          <p:cNvPr id="17" name="Text 15"/>
          <p:cNvSpPr/>
          <p:nvPr/>
        </p:nvSpPr>
        <p:spPr>
          <a:xfrm>
            <a:off x="914400" y="4224528"/>
            <a:ext cx="5486400" cy="365760"/>
          </a:xfrm>
          <a:prstGeom prst="rect">
            <a:avLst/>
          </a:prstGeom>
          <a:noFill/>
          <a:ln/>
        </p:spPr>
        <p:txBody>
          <a:bodyPr wrap="square" rtlCol="0" anchor="ctr"/>
          <a:lstStyle/>
          <a:p>
            <a:pPr marL="0" indent="0">
              <a:buNone/>
            </a:pPr>
            <a:r>
              <a:rPr lang="en-US" sz="1300" b="1" dirty="0">
                <a:solidFill>
                  <a:srgbClr val="14213D"/>
                </a:solidFill>
                <a:latin typeface="Calibri" pitchFamily="34" charset="0"/>
                <a:ea typeface="Calibri" pitchFamily="34" charset="-122"/>
                <a:cs typeface="Calibri" pitchFamily="34" charset="-120"/>
              </a:rPr>
              <a:t>Scale values to a consistent range</a:t>
            </a:r>
            <a:endParaRPr lang="en-US" sz="1300" dirty="0"/>
          </a:p>
        </p:txBody>
      </p:sp>
      <p:sp>
        <p:nvSpPr>
          <p:cNvPr id="18" name="Shape 16"/>
          <p:cNvSpPr/>
          <p:nvPr/>
        </p:nvSpPr>
        <p:spPr>
          <a:xfrm>
            <a:off x="7223760" y="2743200"/>
            <a:ext cx="4325112" cy="3383280"/>
          </a:xfrm>
          <a:prstGeom prst="roundRect">
            <a:avLst>
              <a:gd name="adj" fmla="val 2703"/>
            </a:avLst>
          </a:prstGeom>
          <a:solidFill>
            <a:srgbClr val="14213D"/>
          </a:solidFill>
          <a:ln/>
          <a:effectLst>
            <a:outerShdw blurRad="101600" dist="38100" dir="5400000" algn="bl" rotWithShape="0">
              <a:srgbClr val="1B1F3B">
                <a:alpha val="15000"/>
              </a:srgbClr>
            </a:outerShdw>
          </a:effectLst>
        </p:spPr>
      </p:sp>
      <p:sp>
        <p:nvSpPr>
          <p:cNvPr id="19" name="Text 17"/>
          <p:cNvSpPr/>
          <p:nvPr/>
        </p:nvSpPr>
        <p:spPr>
          <a:xfrm>
            <a:off x="7479792" y="2907792"/>
            <a:ext cx="381304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WHY SCALING MATTERS</a:t>
            </a:r>
            <a:endParaRPr lang="en-US" sz="1050" dirty="0"/>
          </a:p>
        </p:txBody>
      </p:sp>
      <p:sp>
        <p:nvSpPr>
          <p:cNvPr id="20" name="Text 18"/>
          <p:cNvSpPr/>
          <p:nvPr/>
        </p:nvSpPr>
        <p:spPr>
          <a:xfrm>
            <a:off x="7479792" y="3182112"/>
            <a:ext cx="3813048" cy="2779776"/>
          </a:xfrm>
          <a:prstGeom prst="rect">
            <a:avLst/>
          </a:prstGeom>
          <a:noFill/>
          <a:ln/>
        </p:spPr>
        <p:txBody>
          <a:bodyPr wrap="square" rtlCol="0" anchor="t"/>
          <a:lstStyle/>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If one column has values in the crores and another has small decimals, distance-based calculations get skewed by whichever column has bigger raw numbers — even if it isn't actually more important. Scaling brings every column onto a comparable range first.</a:t>
            </a:r>
            <a:endParaRPr lang="en-US" sz="1250" dirty="0"/>
          </a:p>
        </p:txBody>
      </p:sp>
      <p:sp>
        <p:nvSpPr>
          <p:cNvPr id="21" name="Text 19"/>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4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Exploratory Data Analysis</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10908792" cy="960120"/>
          </a:xfrm>
          <a:prstGeom prst="roundRect">
            <a:avLst>
              <a:gd name="adj" fmla="val 9524"/>
            </a:avLst>
          </a:prstGeom>
          <a:solidFill>
            <a:srgbClr val="E8ECF5"/>
          </a:solidFill>
          <a:ln/>
        </p:spPr>
      </p:sp>
      <p:sp>
        <p:nvSpPr>
          <p:cNvPr id="8" name="Text 6"/>
          <p:cNvSpPr/>
          <p:nvPr/>
        </p:nvSpPr>
        <p:spPr>
          <a:xfrm>
            <a:off x="896112" y="17647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IDEA</a:t>
            </a:r>
            <a:endParaRPr lang="en-US" sz="1050" dirty="0"/>
          </a:p>
        </p:txBody>
      </p:sp>
      <p:sp>
        <p:nvSpPr>
          <p:cNvPr id="9" name="Text 7"/>
          <p:cNvSpPr/>
          <p:nvPr/>
        </p:nvSpPr>
        <p:spPr>
          <a:xfrm>
            <a:off x="896112" y="2039112"/>
            <a:ext cx="10396728" cy="356616"/>
          </a:xfrm>
          <a:prstGeom prst="rect">
            <a:avLst/>
          </a:prstGeom>
          <a:noFill/>
          <a:ln/>
        </p:spPr>
        <p:txBody>
          <a:bodyPr wrap="square" rtlCol="0" anchor="t"/>
          <a:lstStyle/>
          <a:p>
            <a:pPr marL="0" indent="0">
              <a:lnSpc>
                <a:spcPts val="1800"/>
              </a:lnSpc>
              <a:buNone/>
            </a:pPr>
            <a:r>
              <a:rPr lang="en-US" sz="1300" dirty="0">
                <a:solidFill>
                  <a:srgbClr val="14213D"/>
                </a:solidFill>
                <a:latin typeface="Calibri" pitchFamily="34" charset="0"/>
                <a:ea typeface="Calibri" pitchFamily="34" charset="-122"/>
                <a:cs typeface="Calibri" pitchFamily="34" charset="-120"/>
              </a:rPr>
              <a:t>Before you can build a model, you need to actually understand your data — what's in it, and how the pieces relate to each other. This stage is pure investigation, done through visualization and experimentation.</a:t>
            </a:r>
            <a:endParaRPr lang="en-US" sz="1300" dirty="0"/>
          </a:p>
        </p:txBody>
      </p:sp>
      <p:sp>
        <p:nvSpPr>
          <p:cNvPr id="10" name="Shape 8"/>
          <p:cNvSpPr/>
          <p:nvPr/>
        </p:nvSpPr>
        <p:spPr>
          <a:xfrm>
            <a:off x="640080" y="2743200"/>
            <a:ext cx="3520440" cy="1737360"/>
          </a:xfrm>
          <a:prstGeom prst="roundRect">
            <a:avLst>
              <a:gd name="adj" fmla="val 5263"/>
            </a:avLst>
          </a:prstGeom>
          <a:solidFill>
            <a:srgbClr val="E8ECF5"/>
          </a:solidFill>
          <a:ln/>
        </p:spPr>
      </p:sp>
      <p:sp>
        <p:nvSpPr>
          <p:cNvPr id="11" name="Text 9"/>
          <p:cNvSpPr/>
          <p:nvPr/>
        </p:nvSpPr>
        <p:spPr>
          <a:xfrm>
            <a:off x="841248" y="2926080"/>
            <a:ext cx="3118104" cy="41148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Univariate analysis</a:t>
            </a:r>
            <a:endParaRPr lang="en-US" sz="1400" dirty="0"/>
          </a:p>
        </p:txBody>
      </p:sp>
      <p:sp>
        <p:nvSpPr>
          <p:cNvPr id="12" name="Text 10"/>
          <p:cNvSpPr/>
          <p:nvPr/>
        </p:nvSpPr>
        <p:spPr>
          <a:xfrm>
            <a:off x="841248" y="3364992"/>
            <a:ext cx="3118104" cy="1005840"/>
          </a:xfrm>
          <a:prstGeom prst="rect">
            <a:avLst/>
          </a:prstGeom>
          <a:noFill/>
          <a:ln/>
        </p:spPr>
        <p:txBody>
          <a:bodyPr wrap="square" rtlCol="0" anchor="t"/>
          <a:lstStyle/>
          <a:p>
            <a:pPr marL="0" indent="0">
              <a:lnSpc>
                <a:spcPts val="1600"/>
              </a:lnSpc>
              <a:buNone/>
            </a:pPr>
            <a:r>
              <a:rPr lang="en-US" sz="1180" dirty="0">
                <a:solidFill>
                  <a:srgbClr val="3C4257"/>
                </a:solidFill>
                <a:latin typeface="Calibri" pitchFamily="34" charset="0"/>
                <a:ea typeface="Calibri" pitchFamily="34" charset="-122"/>
                <a:cs typeface="Calibri" pitchFamily="34" charset="-120"/>
              </a:rPr>
              <a:t>Study one column at a time — its distribution, spread, typical values.</a:t>
            </a:r>
            <a:endParaRPr lang="en-US" sz="1180" dirty="0"/>
          </a:p>
        </p:txBody>
      </p:sp>
      <p:sp>
        <p:nvSpPr>
          <p:cNvPr id="13" name="Shape 11"/>
          <p:cNvSpPr/>
          <p:nvPr/>
        </p:nvSpPr>
        <p:spPr>
          <a:xfrm>
            <a:off x="4425696" y="2743200"/>
            <a:ext cx="3520440" cy="1737360"/>
          </a:xfrm>
          <a:prstGeom prst="roundRect">
            <a:avLst>
              <a:gd name="adj" fmla="val 5263"/>
            </a:avLst>
          </a:prstGeom>
          <a:solidFill>
            <a:srgbClr val="E8ECF5"/>
          </a:solidFill>
          <a:ln/>
        </p:spPr>
      </p:sp>
      <p:sp>
        <p:nvSpPr>
          <p:cNvPr id="14" name="Text 12"/>
          <p:cNvSpPr/>
          <p:nvPr/>
        </p:nvSpPr>
        <p:spPr>
          <a:xfrm>
            <a:off x="4626864" y="2926080"/>
            <a:ext cx="3118104" cy="41148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Bivariate analysis</a:t>
            </a:r>
            <a:endParaRPr lang="en-US" sz="1400" dirty="0"/>
          </a:p>
        </p:txBody>
      </p:sp>
      <p:sp>
        <p:nvSpPr>
          <p:cNvPr id="15" name="Text 13"/>
          <p:cNvSpPr/>
          <p:nvPr/>
        </p:nvSpPr>
        <p:spPr>
          <a:xfrm>
            <a:off x="4626864" y="3364992"/>
            <a:ext cx="3118104" cy="1005840"/>
          </a:xfrm>
          <a:prstGeom prst="rect">
            <a:avLst/>
          </a:prstGeom>
          <a:noFill/>
          <a:ln/>
        </p:spPr>
        <p:txBody>
          <a:bodyPr wrap="square" rtlCol="0" anchor="t"/>
          <a:lstStyle/>
          <a:p>
            <a:pPr marL="0" indent="0">
              <a:lnSpc>
                <a:spcPts val="1600"/>
              </a:lnSpc>
              <a:buNone/>
            </a:pPr>
            <a:r>
              <a:rPr lang="en-US" sz="1180" dirty="0">
                <a:solidFill>
                  <a:srgbClr val="3C4257"/>
                </a:solidFill>
                <a:latin typeface="Calibri" pitchFamily="34" charset="0"/>
                <a:ea typeface="Calibri" pitchFamily="34" charset="-122"/>
                <a:cs typeface="Calibri" pitchFamily="34" charset="-120"/>
              </a:rPr>
              <a:t>Study two columns together to see how they relate to each other.</a:t>
            </a:r>
            <a:endParaRPr lang="en-US" sz="1180" dirty="0"/>
          </a:p>
        </p:txBody>
      </p:sp>
      <p:sp>
        <p:nvSpPr>
          <p:cNvPr id="16" name="Shape 14"/>
          <p:cNvSpPr/>
          <p:nvPr/>
        </p:nvSpPr>
        <p:spPr>
          <a:xfrm>
            <a:off x="8211312" y="2743200"/>
            <a:ext cx="3520440" cy="1737360"/>
          </a:xfrm>
          <a:prstGeom prst="roundRect">
            <a:avLst>
              <a:gd name="adj" fmla="val 5263"/>
            </a:avLst>
          </a:prstGeom>
          <a:solidFill>
            <a:srgbClr val="E8ECF5"/>
          </a:solidFill>
          <a:ln/>
        </p:spPr>
      </p:sp>
      <p:sp>
        <p:nvSpPr>
          <p:cNvPr id="17" name="Text 15"/>
          <p:cNvSpPr/>
          <p:nvPr/>
        </p:nvSpPr>
        <p:spPr>
          <a:xfrm>
            <a:off x="8412480" y="2926080"/>
            <a:ext cx="3118104" cy="411480"/>
          </a:xfrm>
          <a:prstGeom prst="rect">
            <a:avLst/>
          </a:prstGeom>
          <a:noFill/>
          <a:ln/>
        </p:spPr>
        <p:txBody>
          <a:bodyPr wrap="square" rtlCol="0" anchor="ctr"/>
          <a:lstStyle/>
          <a:p>
            <a:pPr marL="0" indent="0">
              <a:buNone/>
            </a:pPr>
            <a:r>
              <a:rPr lang="en-US" sz="1400" b="1" dirty="0">
                <a:solidFill>
                  <a:srgbClr val="14213D"/>
                </a:solidFill>
                <a:latin typeface="Cambria" pitchFamily="34" charset="0"/>
                <a:ea typeface="Cambria" pitchFamily="34" charset="-122"/>
                <a:cs typeface="Cambria" pitchFamily="34" charset="-120"/>
              </a:rPr>
              <a:t>Multivariate analysis</a:t>
            </a:r>
            <a:endParaRPr lang="en-US" sz="1400" dirty="0"/>
          </a:p>
        </p:txBody>
      </p:sp>
      <p:sp>
        <p:nvSpPr>
          <p:cNvPr id="18" name="Text 16"/>
          <p:cNvSpPr/>
          <p:nvPr/>
        </p:nvSpPr>
        <p:spPr>
          <a:xfrm>
            <a:off x="8412480" y="3364992"/>
            <a:ext cx="3118104" cy="1005840"/>
          </a:xfrm>
          <a:prstGeom prst="rect">
            <a:avLst/>
          </a:prstGeom>
          <a:noFill/>
          <a:ln/>
        </p:spPr>
        <p:txBody>
          <a:bodyPr wrap="square" rtlCol="0" anchor="t"/>
          <a:lstStyle/>
          <a:p>
            <a:pPr marL="0" indent="0">
              <a:lnSpc>
                <a:spcPts val="1600"/>
              </a:lnSpc>
              <a:buNone/>
            </a:pPr>
            <a:r>
              <a:rPr lang="en-US" sz="1180" dirty="0">
                <a:solidFill>
                  <a:srgbClr val="3C4257"/>
                </a:solidFill>
                <a:latin typeface="Calibri" pitchFamily="34" charset="0"/>
                <a:ea typeface="Calibri" pitchFamily="34" charset="-122"/>
                <a:cs typeface="Calibri" pitchFamily="34" charset="-120"/>
              </a:rPr>
              <a:t>Study three or more columns together for more complex relationships.</a:t>
            </a:r>
            <a:endParaRPr lang="en-US" sz="1180" dirty="0"/>
          </a:p>
        </p:txBody>
      </p:sp>
      <p:sp>
        <p:nvSpPr>
          <p:cNvPr id="19" name="Shape 17"/>
          <p:cNvSpPr/>
          <p:nvPr/>
        </p:nvSpPr>
        <p:spPr>
          <a:xfrm>
            <a:off x="640080" y="4709160"/>
            <a:ext cx="10908792" cy="1508760"/>
          </a:xfrm>
          <a:prstGeom prst="roundRect">
            <a:avLst>
              <a:gd name="adj" fmla="val 6061"/>
            </a:avLst>
          </a:prstGeom>
          <a:solidFill>
            <a:srgbClr val="E8ECF5"/>
          </a:solidFill>
          <a:ln/>
        </p:spPr>
      </p:sp>
      <p:sp>
        <p:nvSpPr>
          <p:cNvPr id="20" name="Text 18"/>
          <p:cNvSpPr/>
          <p:nvPr/>
        </p:nvSpPr>
        <p:spPr>
          <a:xfrm>
            <a:off x="896112" y="487375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SHARPEN THE AXE FIRST</a:t>
            </a:r>
            <a:endParaRPr lang="en-US" sz="1050" dirty="0"/>
          </a:p>
        </p:txBody>
      </p:sp>
      <p:sp>
        <p:nvSpPr>
          <p:cNvPr id="21" name="Text 19"/>
          <p:cNvSpPr/>
          <p:nvPr/>
        </p:nvSpPr>
        <p:spPr>
          <a:xfrm>
            <a:off x="896112" y="5148072"/>
            <a:ext cx="10396728" cy="905256"/>
          </a:xfrm>
          <a:prstGeom prst="rect">
            <a:avLst/>
          </a:prstGeom>
          <a:noFill/>
          <a:ln/>
        </p:spPr>
        <p:txBody>
          <a:bodyPr wrap="square" rtlCol="0" anchor="t"/>
          <a:lstStyle/>
          <a:p>
            <a:pPr marL="0" indent="0">
              <a:lnSpc>
                <a:spcPts val="1800"/>
              </a:lnSpc>
              <a:buNone/>
            </a:pPr>
            <a:r>
              <a:rPr lang="en-US" sz="1250" dirty="0">
                <a:solidFill>
                  <a:srgbClr val="14213D"/>
                </a:solidFill>
                <a:latin typeface="Calibri" pitchFamily="34" charset="0"/>
                <a:ea typeface="Calibri" pitchFamily="34" charset="-122"/>
                <a:cs typeface="Calibri" pitchFamily="34" charset="-120"/>
              </a:rPr>
              <a:t>This stage also covers spotting imbalanced data — like a cat-vs-dog classifier trained on far more cat photos than dog photos. It's worth investing real time here: as the saying goes, if you have six hours to cut down a tree, spend four of them sharpening the axe.</a:t>
            </a:r>
            <a:endParaRPr lang="en-US" sz="1250" dirty="0"/>
          </a:p>
        </p:txBody>
      </p:sp>
      <p:sp>
        <p:nvSpPr>
          <p:cNvPr id="22" name="Text 20"/>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5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Feature Engineering &amp; Selection</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5257800" cy="4206240"/>
          </a:xfrm>
          <a:prstGeom prst="roundRect">
            <a:avLst>
              <a:gd name="adj" fmla="val 2174"/>
            </a:avLst>
          </a:prstGeom>
          <a:solidFill>
            <a:srgbClr val="E8ECF5"/>
          </a:solidFill>
          <a:ln/>
        </p:spPr>
      </p:sp>
      <p:sp>
        <p:nvSpPr>
          <p:cNvPr id="8" name="Text 6"/>
          <p:cNvSpPr/>
          <p:nvPr/>
        </p:nvSpPr>
        <p:spPr>
          <a:xfrm>
            <a:off x="896112" y="1764792"/>
            <a:ext cx="4745736"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FEATURE ENGINEERING</a:t>
            </a:r>
            <a:endParaRPr lang="en-US" sz="1050" dirty="0"/>
          </a:p>
        </p:txBody>
      </p:sp>
      <p:sp>
        <p:nvSpPr>
          <p:cNvPr id="9" name="Text 7"/>
          <p:cNvSpPr/>
          <p:nvPr/>
        </p:nvSpPr>
        <p:spPr>
          <a:xfrm>
            <a:off x="896112" y="2039112"/>
            <a:ext cx="4745736" cy="3602736"/>
          </a:xfrm>
          <a:prstGeom prst="rect">
            <a:avLst/>
          </a:prstGeom>
          <a:noFill/>
          <a:ln/>
        </p:spPr>
        <p:txBody>
          <a:bodyPr wrap="square" rtlCol="0" anchor="t"/>
          <a:lstStyle/>
          <a:p>
            <a:pPr marL="0" indent="0" algn="just">
              <a:lnSpc>
                <a:spcPts val="1800"/>
              </a:lnSpc>
              <a:buNone/>
            </a:pPr>
            <a:r>
              <a:rPr lang="en-US" sz="1400" dirty="0">
                <a:solidFill>
                  <a:srgbClr val="14213D"/>
                </a:solidFill>
                <a:latin typeface="Calibri" pitchFamily="34" charset="0"/>
                <a:ea typeface="Calibri" pitchFamily="34" charset="-122"/>
                <a:cs typeface="Calibri" pitchFamily="34" charset="-120"/>
              </a:rPr>
              <a:t>“Features” just means input columns — and they matter enormously, since the output depends entirely on them. Feature engineering means creating new, smarter columns from the ones you already have.</a:t>
            </a:r>
            <a:endParaRPr lang="en-US" sz="1400" dirty="0"/>
          </a:p>
          <a:p>
            <a:pPr marL="0" indent="0" algn="just">
              <a:lnSpc>
                <a:spcPts val="1800"/>
              </a:lnSpc>
              <a:buNone/>
            </a:pPr>
            <a:endParaRPr lang="en-US" sz="1400" dirty="0"/>
          </a:p>
          <a:p>
            <a:pPr marL="0" indent="0" algn="just">
              <a:lnSpc>
                <a:spcPts val="1800"/>
              </a:lnSpc>
              <a:buNone/>
            </a:pPr>
            <a:r>
              <a:rPr lang="en-US" sz="1400" dirty="0">
                <a:solidFill>
                  <a:srgbClr val="14213D"/>
                </a:solidFill>
                <a:latin typeface="Calibri" pitchFamily="34" charset="0"/>
                <a:ea typeface="Calibri" pitchFamily="34" charset="-122"/>
                <a:cs typeface="Calibri" pitchFamily="34" charset="-120"/>
              </a:rPr>
              <a:t>Example: predicting house price from “number of rooms” and “number of bathrooms” separately? Combine both into a single “square feet” column that captures the same signal more directly.</a:t>
            </a:r>
            <a:endParaRPr lang="en-US" sz="1400" dirty="0"/>
          </a:p>
        </p:txBody>
      </p:sp>
      <p:sp>
        <p:nvSpPr>
          <p:cNvPr id="10" name="Shape 8"/>
          <p:cNvSpPr/>
          <p:nvPr/>
        </p:nvSpPr>
        <p:spPr>
          <a:xfrm>
            <a:off x="6172200" y="1600200"/>
            <a:ext cx="5376672" cy="4206240"/>
          </a:xfrm>
          <a:prstGeom prst="roundRect">
            <a:avLst>
              <a:gd name="adj" fmla="val 2174"/>
            </a:avLst>
          </a:prstGeom>
          <a:solidFill>
            <a:srgbClr val="14213D"/>
          </a:solidFill>
          <a:ln/>
          <a:effectLst>
            <a:outerShdw blurRad="101600" dist="38100" dir="5400000" algn="bl" rotWithShape="0">
              <a:srgbClr val="1B1F3B">
                <a:alpha val="15000"/>
              </a:srgbClr>
            </a:outerShdw>
          </a:effectLst>
        </p:spPr>
      </p:sp>
      <p:sp>
        <p:nvSpPr>
          <p:cNvPr id="11" name="Text 9"/>
          <p:cNvSpPr/>
          <p:nvPr/>
        </p:nvSpPr>
        <p:spPr>
          <a:xfrm>
            <a:off x="6428232" y="1764792"/>
            <a:ext cx="486460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FEATURE SELECTION</a:t>
            </a:r>
            <a:endParaRPr lang="en-US" sz="1050" dirty="0"/>
          </a:p>
        </p:txBody>
      </p:sp>
      <p:sp>
        <p:nvSpPr>
          <p:cNvPr id="12" name="Text 10"/>
          <p:cNvSpPr/>
          <p:nvPr/>
        </p:nvSpPr>
        <p:spPr>
          <a:xfrm>
            <a:off x="6428232" y="2039112"/>
            <a:ext cx="4864608" cy="3602736"/>
          </a:xfrm>
          <a:prstGeom prst="rect">
            <a:avLst/>
          </a:prstGeom>
          <a:noFill/>
          <a:ln/>
        </p:spPr>
        <p:txBody>
          <a:bodyPr wrap="square" rtlCol="0" anchor="t"/>
          <a:lstStyle/>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Sometimes you end up with far more columns than you actually need. Extra columns that don't meaningfully affect the output just slow down training — more columns, more time to train.</a:t>
            </a:r>
            <a:endParaRPr lang="en-US" sz="1250" dirty="0"/>
          </a:p>
          <a:p>
            <a:pPr marL="0" indent="0">
              <a:lnSpc>
                <a:spcPts val="1800"/>
              </a:lnSpc>
              <a:buNone/>
            </a:pPr>
            <a:endParaRPr lang="en-US" sz="1250" dirty="0"/>
          </a:p>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Feature selection means dropping the columns that aren't pulling their weight, so training stays fast and focused on what actually matters.</a:t>
            </a:r>
            <a:endParaRPr lang="en-US" sz="1250" dirty="0"/>
          </a:p>
        </p:txBody>
      </p:sp>
      <p:sp>
        <p:nvSpPr>
          <p:cNvPr id="13" name="Text 11"/>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14" name="Text 12"/>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6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Model Training, Evaluation &amp; Selection</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10908792" cy="960120"/>
          </a:xfrm>
          <a:prstGeom prst="roundRect">
            <a:avLst>
              <a:gd name="adj" fmla="val 9524"/>
            </a:avLst>
          </a:prstGeom>
          <a:solidFill>
            <a:srgbClr val="E8ECF5"/>
          </a:solidFill>
          <a:ln/>
        </p:spPr>
      </p:sp>
      <p:sp>
        <p:nvSpPr>
          <p:cNvPr id="8" name="Text 6"/>
          <p:cNvSpPr/>
          <p:nvPr/>
        </p:nvSpPr>
        <p:spPr>
          <a:xfrm>
            <a:off x="896112" y="17647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IDEA</a:t>
            </a:r>
            <a:endParaRPr lang="en-US" sz="1050" dirty="0"/>
          </a:p>
        </p:txBody>
      </p:sp>
      <p:sp>
        <p:nvSpPr>
          <p:cNvPr id="9" name="Text 7"/>
          <p:cNvSpPr/>
          <p:nvPr/>
        </p:nvSpPr>
        <p:spPr>
          <a:xfrm>
            <a:off x="896112" y="2039112"/>
            <a:ext cx="10396728" cy="356616"/>
          </a:xfrm>
          <a:prstGeom prst="rect">
            <a:avLst/>
          </a:prstGeom>
          <a:noFill/>
          <a:ln/>
        </p:spPr>
        <p:txBody>
          <a:bodyPr wrap="square" rtlCol="0" anchor="t"/>
          <a:lstStyle/>
          <a:p>
            <a:pPr marL="0" indent="0">
              <a:lnSpc>
                <a:spcPts val="1800"/>
              </a:lnSpc>
              <a:buNone/>
            </a:pPr>
            <a:r>
              <a:rPr lang="en-US" sz="1300" dirty="0">
                <a:solidFill>
                  <a:srgbClr val="14213D"/>
                </a:solidFill>
                <a:latin typeface="Calibri" pitchFamily="34" charset="0"/>
                <a:ea typeface="Calibri" pitchFamily="34" charset="-122"/>
                <a:cs typeface="Calibri" pitchFamily="34" charset="-120"/>
              </a:rPr>
              <a:t>No algorithm is universally best — one might excel on text data, another on images. So the standard approach is to train several different algorithms, usually from different families, and see what actually works on your data.</a:t>
            </a:r>
            <a:endParaRPr lang="en-US" sz="1300" dirty="0"/>
          </a:p>
        </p:txBody>
      </p:sp>
      <p:sp>
        <p:nvSpPr>
          <p:cNvPr id="10" name="Shape 8"/>
          <p:cNvSpPr/>
          <p:nvPr/>
        </p:nvSpPr>
        <p:spPr>
          <a:xfrm>
            <a:off x="640080" y="2743200"/>
            <a:ext cx="3520440" cy="2286000"/>
          </a:xfrm>
          <a:prstGeom prst="roundRect">
            <a:avLst>
              <a:gd name="adj" fmla="val 4000"/>
            </a:avLst>
          </a:prstGeom>
          <a:solidFill>
            <a:srgbClr val="E8ECF5"/>
          </a:solidFill>
          <a:ln/>
        </p:spPr>
      </p:sp>
      <p:sp>
        <p:nvSpPr>
          <p:cNvPr id="11" name="Text 9"/>
          <p:cNvSpPr/>
          <p:nvPr/>
        </p:nvSpPr>
        <p:spPr>
          <a:xfrm>
            <a:off x="841248" y="2944368"/>
            <a:ext cx="3118104" cy="54864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Train multiple models</a:t>
            </a:r>
            <a:endParaRPr lang="en-US" sz="1400" dirty="0"/>
          </a:p>
        </p:txBody>
      </p:sp>
      <p:sp>
        <p:nvSpPr>
          <p:cNvPr id="12" name="Text 10"/>
          <p:cNvSpPr/>
          <p:nvPr/>
        </p:nvSpPr>
        <p:spPr>
          <a:xfrm>
            <a:off x="841248" y="3566160"/>
            <a:ext cx="3118104" cy="1371600"/>
          </a:xfrm>
          <a:prstGeom prst="rect">
            <a:avLst/>
          </a:prstGeom>
          <a:noFill/>
          <a:ln/>
        </p:spPr>
        <p:txBody>
          <a:bodyPr wrap="square" rtlCol="0" anchor="t"/>
          <a:lstStyle/>
          <a:p>
            <a:pPr marL="0" indent="0">
              <a:lnSpc>
                <a:spcPts val="1600"/>
              </a:lnSpc>
              <a:buNone/>
            </a:pPr>
            <a:r>
              <a:rPr lang="en-US" sz="1180" dirty="0">
                <a:solidFill>
                  <a:srgbClr val="3C4257"/>
                </a:solidFill>
                <a:latin typeface="Calibri" pitchFamily="34" charset="0"/>
                <a:ea typeface="Calibri" pitchFamily="34" charset="-122"/>
                <a:cs typeface="Calibri" pitchFamily="34" charset="-120"/>
              </a:rPr>
              <a:t>Run several algorithms on the same data — you never know in advance which will perform best.</a:t>
            </a:r>
            <a:endParaRPr lang="en-US" sz="1180" dirty="0"/>
          </a:p>
        </p:txBody>
      </p:sp>
      <p:sp>
        <p:nvSpPr>
          <p:cNvPr id="13" name="Shape 11"/>
          <p:cNvSpPr/>
          <p:nvPr/>
        </p:nvSpPr>
        <p:spPr>
          <a:xfrm>
            <a:off x="4425696" y="2743200"/>
            <a:ext cx="3520440" cy="2286000"/>
          </a:xfrm>
          <a:prstGeom prst="roundRect">
            <a:avLst>
              <a:gd name="adj" fmla="val 4000"/>
            </a:avLst>
          </a:prstGeom>
          <a:solidFill>
            <a:srgbClr val="E8ECF5"/>
          </a:solidFill>
          <a:ln/>
        </p:spPr>
      </p:sp>
      <p:sp>
        <p:nvSpPr>
          <p:cNvPr id="14" name="Text 12"/>
          <p:cNvSpPr/>
          <p:nvPr/>
        </p:nvSpPr>
        <p:spPr>
          <a:xfrm>
            <a:off x="4626864" y="2944368"/>
            <a:ext cx="3118104" cy="54864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Evaluate with metrics</a:t>
            </a:r>
            <a:endParaRPr lang="en-US" sz="1400" dirty="0"/>
          </a:p>
        </p:txBody>
      </p:sp>
      <p:sp>
        <p:nvSpPr>
          <p:cNvPr id="15" name="Text 13"/>
          <p:cNvSpPr/>
          <p:nvPr/>
        </p:nvSpPr>
        <p:spPr>
          <a:xfrm>
            <a:off x="4626864" y="3566160"/>
            <a:ext cx="3118104" cy="1371600"/>
          </a:xfrm>
          <a:prstGeom prst="rect">
            <a:avLst/>
          </a:prstGeom>
          <a:noFill/>
          <a:ln/>
        </p:spPr>
        <p:txBody>
          <a:bodyPr wrap="square" rtlCol="0" anchor="t"/>
          <a:lstStyle/>
          <a:p>
            <a:pPr marL="0" indent="0">
              <a:lnSpc>
                <a:spcPts val="1600"/>
              </a:lnSpc>
              <a:buNone/>
            </a:pPr>
            <a:r>
              <a:rPr lang="en-US" sz="1180" dirty="0">
                <a:solidFill>
                  <a:srgbClr val="3C4257"/>
                </a:solidFill>
                <a:latin typeface="Calibri" pitchFamily="34" charset="0"/>
                <a:ea typeface="Calibri" pitchFamily="34" charset="-122"/>
                <a:cs typeface="Calibri" pitchFamily="34" charset="-120"/>
              </a:rPr>
              <a:t>Classification metrics (like accuracy) or regression metrics (like mean squared error) reveal how well each one actually performs.</a:t>
            </a:r>
            <a:endParaRPr lang="en-US" sz="1180" dirty="0"/>
          </a:p>
        </p:txBody>
      </p:sp>
      <p:sp>
        <p:nvSpPr>
          <p:cNvPr id="16" name="Shape 14"/>
          <p:cNvSpPr/>
          <p:nvPr/>
        </p:nvSpPr>
        <p:spPr>
          <a:xfrm>
            <a:off x="8211312" y="2743200"/>
            <a:ext cx="3520440" cy="2286000"/>
          </a:xfrm>
          <a:prstGeom prst="roundRect">
            <a:avLst>
              <a:gd name="adj" fmla="val 4000"/>
            </a:avLst>
          </a:prstGeom>
          <a:solidFill>
            <a:srgbClr val="E8ECF5"/>
          </a:solidFill>
          <a:ln/>
        </p:spPr>
      </p:sp>
      <p:sp>
        <p:nvSpPr>
          <p:cNvPr id="17" name="Text 15"/>
          <p:cNvSpPr/>
          <p:nvPr/>
        </p:nvSpPr>
        <p:spPr>
          <a:xfrm>
            <a:off x="8412480" y="2944368"/>
            <a:ext cx="3118104" cy="548640"/>
          </a:xfrm>
          <a:prstGeom prst="rect">
            <a:avLst/>
          </a:prstGeom>
          <a:noFill/>
          <a:ln/>
        </p:spPr>
        <p:txBody>
          <a:bodyPr wrap="square" rtlCol="0" anchor="ctr"/>
          <a:lstStyle/>
          <a:p>
            <a:pPr marL="0" indent="0">
              <a:lnSpc>
                <a:spcPts val="1700"/>
              </a:lnSpc>
              <a:buNone/>
            </a:pPr>
            <a:r>
              <a:rPr lang="en-US" sz="1400" b="1" dirty="0">
                <a:solidFill>
                  <a:srgbClr val="14213D"/>
                </a:solidFill>
                <a:latin typeface="Cambria" pitchFamily="34" charset="0"/>
                <a:ea typeface="Cambria" pitchFamily="34" charset="-122"/>
                <a:cs typeface="Cambria" pitchFamily="34" charset="-120"/>
              </a:rPr>
              <a:t>Select &amp; tune</a:t>
            </a:r>
            <a:endParaRPr lang="en-US" sz="1400" dirty="0"/>
          </a:p>
        </p:txBody>
      </p:sp>
      <p:sp>
        <p:nvSpPr>
          <p:cNvPr id="18" name="Text 16"/>
          <p:cNvSpPr/>
          <p:nvPr/>
        </p:nvSpPr>
        <p:spPr>
          <a:xfrm>
            <a:off x="8412480" y="3566160"/>
            <a:ext cx="3118104" cy="1371600"/>
          </a:xfrm>
          <a:prstGeom prst="rect">
            <a:avLst/>
          </a:prstGeom>
          <a:noFill/>
          <a:ln/>
        </p:spPr>
        <p:txBody>
          <a:bodyPr wrap="square" rtlCol="0" anchor="t"/>
          <a:lstStyle/>
          <a:p>
            <a:pPr marL="0" indent="0">
              <a:lnSpc>
                <a:spcPts val="1600"/>
              </a:lnSpc>
              <a:buNone/>
            </a:pPr>
            <a:r>
              <a:rPr lang="en-US" sz="1180" dirty="0">
                <a:solidFill>
                  <a:srgbClr val="3C4257"/>
                </a:solidFill>
                <a:latin typeface="Calibri" pitchFamily="34" charset="0"/>
                <a:ea typeface="Calibri" pitchFamily="34" charset="-122"/>
                <a:cs typeface="Calibri" pitchFamily="34" charset="-120"/>
              </a:rPr>
              <a:t>Pick the best model (or a few), then tune its hyperparameters — its settings — to squeeze out better performance.</a:t>
            </a:r>
            <a:endParaRPr lang="en-US" sz="1180" dirty="0"/>
          </a:p>
        </p:txBody>
      </p:sp>
      <p:sp>
        <p:nvSpPr>
          <p:cNvPr id="19" name="Shape 17"/>
          <p:cNvSpPr/>
          <p:nvPr/>
        </p:nvSpPr>
        <p:spPr>
          <a:xfrm>
            <a:off x="640080" y="5257800"/>
            <a:ext cx="10908792" cy="960120"/>
          </a:xfrm>
          <a:prstGeom prst="roundRect">
            <a:avLst>
              <a:gd name="adj" fmla="val 9524"/>
            </a:avLst>
          </a:prstGeom>
          <a:solidFill>
            <a:srgbClr val="14213D"/>
          </a:solidFill>
          <a:ln/>
          <a:effectLst>
            <a:outerShdw blurRad="101600" dist="38100" dir="5400000" algn="bl" rotWithShape="0">
              <a:srgbClr val="1B1F3B">
                <a:alpha val="15000"/>
              </a:srgbClr>
            </a:outerShdw>
          </a:effectLst>
        </p:spPr>
      </p:sp>
      <p:sp>
        <p:nvSpPr>
          <p:cNvPr id="20" name="Text 18"/>
          <p:cNvSpPr/>
          <p:nvPr/>
        </p:nvSpPr>
        <p:spPr>
          <a:xfrm>
            <a:off x="896112" y="54223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ENSEMBLE LEARNING</a:t>
            </a:r>
            <a:endParaRPr lang="en-US" sz="1050" dirty="0"/>
          </a:p>
        </p:txBody>
      </p:sp>
      <p:sp>
        <p:nvSpPr>
          <p:cNvPr id="21" name="Text 19"/>
          <p:cNvSpPr/>
          <p:nvPr/>
        </p:nvSpPr>
        <p:spPr>
          <a:xfrm>
            <a:off x="896112" y="5696712"/>
            <a:ext cx="10396728" cy="356616"/>
          </a:xfrm>
          <a:prstGeom prst="rect">
            <a:avLst/>
          </a:prstGeom>
          <a:noFill/>
          <a:ln/>
        </p:spPr>
        <p:txBody>
          <a:bodyPr wrap="square" rtlCol="0" anchor="t"/>
          <a:lstStyle/>
          <a:p>
            <a:pPr marL="0" indent="0">
              <a:lnSpc>
                <a:spcPts val="1700"/>
              </a:lnSpc>
              <a:buNone/>
            </a:pPr>
            <a:r>
              <a:rPr lang="en-US" sz="1200" dirty="0">
                <a:solidFill>
                  <a:srgbClr val="DDE3F2"/>
                </a:solidFill>
                <a:latin typeface="Calibri" pitchFamily="34" charset="0"/>
                <a:ea typeface="Calibri" pitchFamily="34" charset="-122"/>
                <a:cs typeface="Calibri" pitchFamily="34" charset="-120"/>
              </a:rPr>
              <a:t>Often multiple trained models get combined into one more powerful model — techniques like bagging, boosting, and stacking. Combining models usually improves performance over any single one alone.</a:t>
            </a:r>
            <a:endParaRPr lang="en-US" sz="1200" dirty="0"/>
          </a:p>
        </p:txBody>
      </p:sp>
      <p:sp>
        <p:nvSpPr>
          <p:cNvPr id="22" name="Text 20"/>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2000" b="1" dirty="0">
                <a:solidFill>
                  <a:srgbClr val="14213D"/>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 7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Model Deployment</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10908792" cy="960120"/>
          </a:xfrm>
          <a:prstGeom prst="roundRect">
            <a:avLst>
              <a:gd name="adj" fmla="val 9524"/>
            </a:avLst>
          </a:prstGeom>
          <a:solidFill>
            <a:srgbClr val="E8ECF5"/>
          </a:solidFill>
          <a:ln/>
        </p:spPr>
      </p:sp>
      <p:sp>
        <p:nvSpPr>
          <p:cNvPr id="8" name="Text 6"/>
          <p:cNvSpPr/>
          <p:nvPr/>
        </p:nvSpPr>
        <p:spPr>
          <a:xfrm>
            <a:off x="896112" y="176479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THE IDEA</a:t>
            </a:r>
            <a:endParaRPr lang="en-US" sz="1050" dirty="0"/>
          </a:p>
        </p:txBody>
      </p:sp>
      <p:sp>
        <p:nvSpPr>
          <p:cNvPr id="9" name="Text 7"/>
          <p:cNvSpPr/>
          <p:nvPr/>
        </p:nvSpPr>
        <p:spPr>
          <a:xfrm>
            <a:off x="896112" y="2039112"/>
            <a:ext cx="10396728" cy="356616"/>
          </a:xfrm>
          <a:prstGeom prst="rect">
            <a:avLst/>
          </a:prstGeom>
          <a:noFill/>
          <a:ln/>
        </p:spPr>
        <p:txBody>
          <a:bodyPr wrap="square" rtlCol="0" anchor="t"/>
          <a:lstStyle/>
          <a:p>
            <a:pPr marL="0" indent="0">
              <a:lnSpc>
                <a:spcPts val="1800"/>
              </a:lnSpc>
              <a:buNone/>
            </a:pPr>
            <a:r>
              <a:rPr lang="en-US" sz="1300" dirty="0">
                <a:solidFill>
                  <a:srgbClr val="14213D"/>
                </a:solidFill>
                <a:latin typeface="Calibri" pitchFamily="34" charset="0"/>
                <a:ea typeface="Calibri" pitchFamily="34" charset="-122"/>
                <a:cs typeface="Calibri" pitchFamily="34" charset="-120"/>
              </a:rPr>
              <a:t>A trained model isn't a product yet — it has to become software real users can actually reach, whether that's a website, a mobile app, or a desktop tool.</a:t>
            </a:r>
            <a:endParaRPr lang="en-US" sz="1300" dirty="0"/>
          </a:p>
        </p:txBody>
      </p:sp>
      <p:sp>
        <p:nvSpPr>
          <p:cNvPr id="10" name="Shape 8"/>
          <p:cNvSpPr/>
          <p:nvPr/>
        </p:nvSpPr>
        <p:spPr>
          <a:xfrm>
            <a:off x="640080" y="2834640"/>
            <a:ext cx="2587752" cy="1005840"/>
          </a:xfrm>
          <a:prstGeom prst="roundRect">
            <a:avLst>
              <a:gd name="adj" fmla="val 9091"/>
            </a:avLst>
          </a:prstGeom>
          <a:solidFill>
            <a:srgbClr val="E8ECF5"/>
          </a:solidFill>
          <a:ln/>
        </p:spPr>
      </p:sp>
      <p:sp>
        <p:nvSpPr>
          <p:cNvPr id="11" name="Text 9"/>
          <p:cNvSpPr/>
          <p:nvPr/>
        </p:nvSpPr>
        <p:spPr>
          <a:xfrm>
            <a:off x="749808" y="2834640"/>
            <a:ext cx="2368296" cy="1005840"/>
          </a:xfrm>
          <a:prstGeom prst="rect">
            <a:avLst/>
          </a:prstGeom>
          <a:noFill/>
          <a:ln/>
        </p:spPr>
        <p:txBody>
          <a:bodyPr wrap="square" rtlCol="0" anchor="ctr"/>
          <a:lstStyle/>
          <a:p>
            <a:pPr marL="0" indent="0" algn="ctr">
              <a:lnSpc>
                <a:spcPts val="1400"/>
              </a:lnSpc>
              <a:buNone/>
            </a:pPr>
            <a:r>
              <a:rPr lang="en-US" sz="1130" dirty="0">
                <a:solidFill>
                  <a:srgbClr val="14213D"/>
                </a:solidFill>
                <a:latin typeface="Calibri" pitchFamily="34" charset="0"/>
                <a:ea typeface="Calibri" pitchFamily="34" charset="-122"/>
                <a:cs typeface="Calibri" pitchFamily="34" charset="-120"/>
              </a:rPr>
              <a:t>Export the trained</a:t>
            </a:r>
            <a:endParaRPr lang="en-US" sz="1130" dirty="0"/>
          </a:p>
          <a:p>
            <a:pPr marL="0" indent="0" algn="ctr">
              <a:lnSpc>
                <a:spcPts val="1400"/>
              </a:lnSpc>
              <a:buNone/>
            </a:pPr>
            <a:r>
              <a:rPr lang="en-US" sz="1130" dirty="0">
                <a:solidFill>
                  <a:srgbClr val="14213D"/>
                </a:solidFill>
                <a:latin typeface="Calibri" pitchFamily="34" charset="0"/>
                <a:ea typeface="Calibri" pitchFamily="34" charset="-122"/>
                <a:cs typeface="Calibri" pitchFamily="34" charset="-120"/>
              </a:rPr>
              <a:t>model as a binary file</a:t>
            </a:r>
            <a:endParaRPr lang="en-US" sz="1130" dirty="0"/>
          </a:p>
        </p:txBody>
      </p:sp>
      <p:sp>
        <p:nvSpPr>
          <p:cNvPr id="12" name="Shape 10"/>
          <p:cNvSpPr/>
          <p:nvPr/>
        </p:nvSpPr>
        <p:spPr>
          <a:xfrm>
            <a:off x="3227832" y="3255264"/>
            <a:ext cx="137160" cy="164592"/>
          </a:xfrm>
          <a:prstGeom prst="rightArrow">
            <a:avLst/>
          </a:prstGeom>
          <a:solidFill>
            <a:srgbClr val="6B7A99"/>
          </a:solidFill>
          <a:ln/>
        </p:spPr>
      </p:sp>
      <p:sp>
        <p:nvSpPr>
          <p:cNvPr id="13" name="Shape 11"/>
          <p:cNvSpPr/>
          <p:nvPr/>
        </p:nvSpPr>
        <p:spPr>
          <a:xfrm>
            <a:off x="3364992" y="2834640"/>
            <a:ext cx="2587752" cy="1005840"/>
          </a:xfrm>
          <a:prstGeom prst="roundRect">
            <a:avLst>
              <a:gd name="adj" fmla="val 9091"/>
            </a:avLst>
          </a:prstGeom>
          <a:solidFill>
            <a:srgbClr val="E8ECF5"/>
          </a:solidFill>
          <a:ln/>
        </p:spPr>
      </p:sp>
      <p:sp>
        <p:nvSpPr>
          <p:cNvPr id="14" name="Text 12"/>
          <p:cNvSpPr/>
          <p:nvPr/>
        </p:nvSpPr>
        <p:spPr>
          <a:xfrm>
            <a:off x="3474720" y="2834640"/>
            <a:ext cx="2368296" cy="1005840"/>
          </a:xfrm>
          <a:prstGeom prst="rect">
            <a:avLst/>
          </a:prstGeom>
          <a:noFill/>
          <a:ln/>
        </p:spPr>
        <p:txBody>
          <a:bodyPr wrap="square" rtlCol="0" anchor="ctr"/>
          <a:lstStyle/>
          <a:p>
            <a:pPr marL="0" indent="0" algn="ctr">
              <a:lnSpc>
                <a:spcPts val="1400"/>
              </a:lnSpc>
              <a:buNone/>
            </a:pPr>
            <a:r>
              <a:rPr lang="en-US" sz="1130" dirty="0">
                <a:solidFill>
                  <a:srgbClr val="14213D"/>
                </a:solidFill>
                <a:latin typeface="Calibri" pitchFamily="34" charset="0"/>
                <a:ea typeface="Calibri" pitchFamily="34" charset="-122"/>
                <a:cs typeface="Calibri" pitchFamily="34" charset="-120"/>
              </a:rPr>
              <a:t>Wrap it behind</a:t>
            </a:r>
            <a:endParaRPr lang="en-US" sz="1130" dirty="0"/>
          </a:p>
          <a:p>
            <a:pPr marL="0" indent="0" algn="ctr">
              <a:lnSpc>
                <a:spcPts val="1400"/>
              </a:lnSpc>
              <a:buNone/>
            </a:pPr>
            <a:r>
              <a:rPr lang="en-US" sz="1130" dirty="0">
                <a:solidFill>
                  <a:srgbClr val="14213D"/>
                </a:solidFill>
                <a:latin typeface="Calibri" pitchFamily="34" charset="0"/>
                <a:ea typeface="Calibri" pitchFamily="34" charset="-122"/>
                <a:cs typeface="Calibri" pitchFamily="34" charset="-120"/>
              </a:rPr>
              <a:t>an API</a:t>
            </a:r>
            <a:endParaRPr lang="en-US" sz="1130" dirty="0"/>
          </a:p>
        </p:txBody>
      </p:sp>
      <p:sp>
        <p:nvSpPr>
          <p:cNvPr id="15" name="Shape 13"/>
          <p:cNvSpPr/>
          <p:nvPr/>
        </p:nvSpPr>
        <p:spPr>
          <a:xfrm>
            <a:off x="5952744" y="3255264"/>
            <a:ext cx="137160" cy="164592"/>
          </a:xfrm>
          <a:prstGeom prst="rightArrow">
            <a:avLst/>
          </a:prstGeom>
          <a:solidFill>
            <a:srgbClr val="6B7A99"/>
          </a:solidFill>
          <a:ln/>
        </p:spPr>
      </p:sp>
      <p:sp>
        <p:nvSpPr>
          <p:cNvPr id="16" name="Shape 14"/>
          <p:cNvSpPr/>
          <p:nvPr/>
        </p:nvSpPr>
        <p:spPr>
          <a:xfrm>
            <a:off x="6089904" y="2834640"/>
            <a:ext cx="2587752" cy="1005840"/>
          </a:xfrm>
          <a:prstGeom prst="roundRect">
            <a:avLst>
              <a:gd name="adj" fmla="val 9091"/>
            </a:avLst>
          </a:prstGeom>
          <a:solidFill>
            <a:srgbClr val="E8ECF5"/>
          </a:solidFill>
          <a:ln/>
        </p:spPr>
      </p:sp>
      <p:sp>
        <p:nvSpPr>
          <p:cNvPr id="17" name="Text 15"/>
          <p:cNvSpPr/>
          <p:nvPr/>
        </p:nvSpPr>
        <p:spPr>
          <a:xfrm>
            <a:off x="6199632" y="2834640"/>
            <a:ext cx="2368296" cy="1005840"/>
          </a:xfrm>
          <a:prstGeom prst="rect">
            <a:avLst/>
          </a:prstGeom>
          <a:noFill/>
          <a:ln/>
        </p:spPr>
        <p:txBody>
          <a:bodyPr wrap="square" rtlCol="0" anchor="ctr"/>
          <a:lstStyle/>
          <a:p>
            <a:pPr marL="0" indent="0" algn="ctr">
              <a:lnSpc>
                <a:spcPts val="1400"/>
              </a:lnSpc>
              <a:buNone/>
            </a:pPr>
            <a:r>
              <a:rPr lang="en-US" sz="1130" dirty="0">
                <a:solidFill>
                  <a:srgbClr val="14213D"/>
                </a:solidFill>
                <a:latin typeface="Calibri" pitchFamily="34" charset="0"/>
                <a:ea typeface="Calibri" pitchFamily="34" charset="-122"/>
                <a:cs typeface="Calibri" pitchFamily="34" charset="-120"/>
              </a:rPr>
              <a:t>Deploy the API</a:t>
            </a:r>
            <a:endParaRPr lang="en-US" sz="1130" dirty="0"/>
          </a:p>
          <a:p>
            <a:pPr marL="0" indent="0" algn="ctr">
              <a:lnSpc>
                <a:spcPts val="1400"/>
              </a:lnSpc>
              <a:buNone/>
            </a:pPr>
            <a:r>
              <a:rPr lang="en-US" sz="1130" dirty="0">
                <a:solidFill>
                  <a:srgbClr val="14213D"/>
                </a:solidFill>
                <a:latin typeface="Calibri" pitchFamily="34" charset="0"/>
                <a:ea typeface="Calibri" pitchFamily="34" charset="-122"/>
                <a:cs typeface="Calibri" pitchFamily="34" charset="-120"/>
              </a:rPr>
              <a:t>to a cloud server</a:t>
            </a:r>
            <a:endParaRPr lang="en-US" sz="1130" dirty="0"/>
          </a:p>
        </p:txBody>
      </p:sp>
      <p:sp>
        <p:nvSpPr>
          <p:cNvPr id="18" name="Shape 16"/>
          <p:cNvSpPr/>
          <p:nvPr/>
        </p:nvSpPr>
        <p:spPr>
          <a:xfrm>
            <a:off x="8677656" y="3255264"/>
            <a:ext cx="137160" cy="164592"/>
          </a:xfrm>
          <a:prstGeom prst="rightArrow">
            <a:avLst/>
          </a:prstGeom>
          <a:solidFill>
            <a:srgbClr val="6B7A99"/>
          </a:solidFill>
          <a:ln/>
        </p:spPr>
      </p:sp>
      <p:sp>
        <p:nvSpPr>
          <p:cNvPr id="19" name="Shape 17"/>
          <p:cNvSpPr/>
          <p:nvPr/>
        </p:nvSpPr>
        <p:spPr>
          <a:xfrm>
            <a:off x="8814816" y="2834640"/>
            <a:ext cx="2587752" cy="1005840"/>
          </a:xfrm>
          <a:prstGeom prst="roundRect">
            <a:avLst>
              <a:gd name="adj" fmla="val 9091"/>
            </a:avLst>
          </a:prstGeom>
          <a:solidFill>
            <a:srgbClr val="FCA311"/>
          </a:solidFill>
          <a:ln/>
        </p:spPr>
      </p:sp>
      <p:sp>
        <p:nvSpPr>
          <p:cNvPr id="20" name="Text 18"/>
          <p:cNvSpPr/>
          <p:nvPr/>
        </p:nvSpPr>
        <p:spPr>
          <a:xfrm>
            <a:off x="8924544" y="2834640"/>
            <a:ext cx="2368296" cy="1005840"/>
          </a:xfrm>
          <a:prstGeom prst="rect">
            <a:avLst/>
          </a:prstGeom>
          <a:noFill/>
          <a:ln/>
        </p:spPr>
        <p:txBody>
          <a:bodyPr wrap="square" rtlCol="0" anchor="ctr"/>
          <a:lstStyle/>
          <a:p>
            <a:pPr marL="0" indent="0" algn="ctr">
              <a:lnSpc>
                <a:spcPts val="1400"/>
              </a:lnSpc>
              <a:buNone/>
            </a:pPr>
            <a:r>
              <a:rPr lang="en-US" sz="1130" b="1" dirty="0">
                <a:solidFill>
                  <a:srgbClr val="14213D"/>
                </a:solidFill>
                <a:latin typeface="Calibri" pitchFamily="34" charset="0"/>
                <a:ea typeface="Calibri" pitchFamily="34" charset="-122"/>
                <a:cs typeface="Calibri" pitchFamily="34" charset="-120"/>
              </a:rPr>
              <a:t>Users send requests,</a:t>
            </a:r>
            <a:endParaRPr lang="en-US" sz="1130" dirty="0"/>
          </a:p>
          <a:p>
            <a:pPr marL="0" indent="0" algn="ctr">
              <a:lnSpc>
                <a:spcPts val="1400"/>
              </a:lnSpc>
              <a:buNone/>
            </a:pPr>
            <a:r>
              <a:rPr lang="en-US" sz="1130" b="1" dirty="0">
                <a:solidFill>
                  <a:srgbClr val="14213D"/>
                </a:solidFill>
                <a:latin typeface="Calibri" pitchFamily="34" charset="0"/>
                <a:ea typeface="Calibri" pitchFamily="34" charset="-122"/>
                <a:cs typeface="Calibri" pitchFamily="34" charset="-120"/>
              </a:rPr>
              <a:t>API returns predictions</a:t>
            </a:r>
            <a:endParaRPr lang="en-US" sz="1130" dirty="0"/>
          </a:p>
        </p:txBody>
      </p:sp>
      <p:sp>
        <p:nvSpPr>
          <p:cNvPr id="21" name="Shape 19"/>
          <p:cNvSpPr/>
          <p:nvPr/>
        </p:nvSpPr>
        <p:spPr>
          <a:xfrm>
            <a:off x="640080" y="4168541"/>
            <a:ext cx="10908792" cy="2057400"/>
          </a:xfrm>
          <a:prstGeom prst="roundRect">
            <a:avLst>
              <a:gd name="adj" fmla="val 4444"/>
            </a:avLst>
          </a:prstGeom>
          <a:solidFill>
            <a:srgbClr val="14213D"/>
          </a:solidFill>
          <a:ln/>
          <a:effectLst>
            <a:outerShdw blurRad="101600" dist="38100" dir="5400000" algn="bl" rotWithShape="0">
              <a:srgbClr val="1B1F3B">
                <a:alpha val="15000"/>
              </a:srgbClr>
            </a:outerShdw>
          </a:effectLst>
        </p:spPr>
      </p:sp>
      <p:sp>
        <p:nvSpPr>
          <p:cNvPr id="22" name="Text 20"/>
          <p:cNvSpPr/>
          <p:nvPr/>
        </p:nvSpPr>
        <p:spPr>
          <a:xfrm>
            <a:off x="896112" y="4325112"/>
            <a:ext cx="1039672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HOW IT ACTUALLY FLOWS</a:t>
            </a:r>
            <a:endParaRPr lang="en-US" sz="1050" dirty="0"/>
          </a:p>
        </p:txBody>
      </p:sp>
      <p:sp>
        <p:nvSpPr>
          <p:cNvPr id="23" name="Text 21"/>
          <p:cNvSpPr/>
          <p:nvPr/>
        </p:nvSpPr>
        <p:spPr>
          <a:xfrm>
            <a:off x="896112" y="4599432"/>
            <a:ext cx="10396728" cy="1453896"/>
          </a:xfrm>
          <a:prstGeom prst="rect">
            <a:avLst/>
          </a:prstGeom>
          <a:noFill/>
          <a:ln/>
        </p:spPr>
        <p:txBody>
          <a:bodyPr wrap="square" rtlCol="0" anchor="t"/>
          <a:lstStyle/>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A website form collects the user's input and sends it to a Python backend. That backend loads the saved binary model file, runs the prediction, and sends the result back — usually as JSON — for the website to display.</a:t>
            </a:r>
            <a:endParaRPr lang="en-US" sz="1250" dirty="0"/>
          </a:p>
          <a:p>
            <a:pPr marL="0" indent="0">
              <a:lnSpc>
                <a:spcPts val="1800"/>
              </a:lnSpc>
              <a:buNone/>
            </a:pPr>
            <a:endParaRPr lang="en-US" sz="1250" dirty="0"/>
          </a:p>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To make this reachable by real users, the backend gets deployed to a cloud platform like AWS or Google Cloud Platform (GCP), so it's online and able to respond to live requests.</a:t>
            </a:r>
            <a:endParaRPr lang="en-US" sz="1250" dirty="0"/>
          </a:p>
        </p:txBody>
      </p:sp>
      <p:sp>
        <p:nvSpPr>
          <p:cNvPr id="24" name="Text 22"/>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25" name="Text 23"/>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457200"/>
            <a:ext cx="502920" cy="502920"/>
          </a:xfrm>
          <a:prstGeom prst="roundRect">
            <a:avLst>
              <a:gd name="adj" fmla="val 18182"/>
            </a:avLst>
          </a:prstGeom>
          <a:solidFill>
            <a:srgbClr val="FCA311"/>
          </a:solidFill>
          <a:ln/>
        </p:spPr>
      </p:sp>
      <p:sp>
        <p:nvSpPr>
          <p:cNvPr id="3" name="Text 1"/>
          <p:cNvSpPr/>
          <p:nvPr/>
        </p:nvSpPr>
        <p:spPr>
          <a:xfrm>
            <a:off x="640080" y="457200"/>
            <a:ext cx="502920" cy="502920"/>
          </a:xfrm>
          <a:prstGeom prst="rect">
            <a:avLst/>
          </a:prstGeom>
          <a:noFill/>
          <a:ln/>
        </p:spPr>
        <p:txBody>
          <a:bodyPr wrap="square" rtlCol="0" anchor="ctr"/>
          <a:lstStyle/>
          <a:p>
            <a:pPr marL="0" indent="0" algn="ctr">
              <a:buNone/>
            </a:pPr>
            <a:r>
              <a:rPr lang="en-US" sz="1400" b="1" dirty="0">
                <a:solidFill>
                  <a:srgbClr val="14213D"/>
                </a:solidFill>
                <a:latin typeface="Cambria" pitchFamily="34" charset="0"/>
                <a:ea typeface="Cambria" pitchFamily="34" charset="-122"/>
                <a:cs typeface="Cambria" pitchFamily="34" charset="-120"/>
              </a:rPr>
              <a:t>8–9</a:t>
            </a:r>
            <a:endParaRPr lang="en-US" sz="1400" dirty="0"/>
          </a:p>
        </p:txBody>
      </p:sp>
      <p:sp>
        <p:nvSpPr>
          <p:cNvPr id="4" name="Text 2"/>
          <p:cNvSpPr/>
          <p:nvPr/>
        </p:nvSpPr>
        <p:spPr>
          <a:xfrm>
            <a:off x="1280160" y="457200"/>
            <a:ext cx="4572000" cy="256032"/>
          </a:xfrm>
          <a:prstGeom prst="rect">
            <a:avLst/>
          </a:prstGeom>
          <a:noFill/>
          <a:ln/>
        </p:spPr>
        <p:txBody>
          <a:bodyPr wrap="square" rtlCol="0" anchor="ctr"/>
          <a:lstStyle/>
          <a:p>
            <a:pPr marL="0" indent="0">
              <a:buNone/>
            </a:pPr>
            <a:r>
              <a:rPr lang="en-US" sz="1050" b="1" kern="0" spc="150" dirty="0">
                <a:solidFill>
                  <a:srgbClr val="FCA311"/>
                </a:solidFill>
                <a:latin typeface="Calibri" pitchFamily="34" charset="0"/>
                <a:ea typeface="Calibri" pitchFamily="34" charset="-122"/>
                <a:cs typeface="Calibri" pitchFamily="34" charset="-120"/>
              </a:rPr>
              <a:t>STEPS 8 &amp; 9 OF 9</a:t>
            </a:r>
            <a:endParaRPr lang="en-US" sz="1050" dirty="0"/>
          </a:p>
        </p:txBody>
      </p:sp>
      <p:sp>
        <p:nvSpPr>
          <p:cNvPr id="5" name="Text 3"/>
          <p:cNvSpPr/>
          <p:nvPr/>
        </p:nvSpPr>
        <p:spPr>
          <a:xfrm>
            <a:off x="1280160" y="713232"/>
            <a:ext cx="10058400" cy="548640"/>
          </a:xfrm>
          <a:prstGeom prst="rect">
            <a:avLst/>
          </a:prstGeom>
          <a:noFill/>
          <a:ln/>
        </p:spPr>
        <p:txBody>
          <a:bodyPr wrap="square"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Testing, then Optimization</a:t>
            </a:r>
            <a:endParaRPr lang="en-US" sz="2400" dirty="0"/>
          </a:p>
        </p:txBody>
      </p:sp>
      <p:sp>
        <p:nvSpPr>
          <p:cNvPr id="6" name="Shape 4"/>
          <p:cNvSpPr/>
          <p:nvPr/>
        </p:nvSpPr>
        <p:spPr>
          <a:xfrm>
            <a:off x="640080" y="1371600"/>
            <a:ext cx="10908792" cy="0"/>
          </a:xfrm>
          <a:prstGeom prst="line">
            <a:avLst/>
          </a:prstGeom>
          <a:noFill/>
          <a:ln w="12700">
            <a:solidFill>
              <a:srgbClr val="DCE1EC"/>
            </a:solidFill>
            <a:prstDash val="solid"/>
          </a:ln>
        </p:spPr>
      </p:sp>
      <p:sp>
        <p:nvSpPr>
          <p:cNvPr id="7" name="Shape 5"/>
          <p:cNvSpPr/>
          <p:nvPr/>
        </p:nvSpPr>
        <p:spPr>
          <a:xfrm>
            <a:off x="640080" y="1600200"/>
            <a:ext cx="5257800" cy="4206240"/>
          </a:xfrm>
          <a:prstGeom prst="roundRect">
            <a:avLst>
              <a:gd name="adj" fmla="val 2174"/>
            </a:avLst>
          </a:prstGeom>
          <a:solidFill>
            <a:srgbClr val="E8ECF5"/>
          </a:solidFill>
          <a:ln/>
        </p:spPr>
      </p:sp>
      <p:sp>
        <p:nvSpPr>
          <p:cNvPr id="8" name="Text 6"/>
          <p:cNvSpPr/>
          <p:nvPr/>
        </p:nvSpPr>
        <p:spPr>
          <a:xfrm>
            <a:off x="896112" y="1764792"/>
            <a:ext cx="4745736"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STEP 8 · TESTING</a:t>
            </a:r>
            <a:endParaRPr lang="en-US" sz="1050" dirty="0"/>
          </a:p>
        </p:txBody>
      </p:sp>
      <p:sp>
        <p:nvSpPr>
          <p:cNvPr id="9" name="Text 7"/>
          <p:cNvSpPr/>
          <p:nvPr/>
        </p:nvSpPr>
        <p:spPr>
          <a:xfrm>
            <a:off x="896112" y="2039112"/>
            <a:ext cx="4745736" cy="3602736"/>
          </a:xfrm>
          <a:prstGeom prst="rect">
            <a:avLst/>
          </a:prstGeom>
          <a:noFill/>
          <a:ln/>
        </p:spPr>
        <p:txBody>
          <a:bodyPr wrap="square" rtlCol="0" anchor="t"/>
          <a:lstStyle/>
          <a:p>
            <a:pPr marL="0" indent="0">
              <a:lnSpc>
                <a:spcPts val="1800"/>
              </a:lnSpc>
              <a:buNone/>
            </a:pPr>
            <a:r>
              <a:rPr lang="en-US" sz="1250" dirty="0">
                <a:solidFill>
                  <a:srgbClr val="14213D"/>
                </a:solidFill>
                <a:latin typeface="Calibri" pitchFamily="34" charset="0"/>
                <a:ea typeface="Calibri" pitchFamily="34" charset="-122"/>
                <a:cs typeface="Calibri" pitchFamily="34" charset="-120"/>
              </a:rPr>
              <a:t>Roll the new model out to a small group of trusted, loyal customers first — not everyone at once. This is beta testing, and it's how you gather real feedback before a full release.</a:t>
            </a:r>
            <a:endParaRPr lang="en-US" sz="1250" dirty="0"/>
          </a:p>
          <a:p>
            <a:pPr marL="0" indent="0">
              <a:lnSpc>
                <a:spcPts val="1800"/>
              </a:lnSpc>
              <a:buNone/>
            </a:pPr>
            <a:endParaRPr lang="en-US" sz="1250" dirty="0"/>
          </a:p>
          <a:p>
            <a:pPr marL="0" indent="0">
              <a:lnSpc>
                <a:spcPts val="1800"/>
              </a:lnSpc>
              <a:buNone/>
            </a:pPr>
            <a:r>
              <a:rPr lang="en-US" sz="1250" dirty="0">
                <a:solidFill>
                  <a:srgbClr val="14213D"/>
                </a:solidFill>
                <a:latin typeface="Calibri" pitchFamily="34" charset="0"/>
                <a:ea typeface="Calibri" pitchFamily="34" charset="-122"/>
                <a:cs typeface="Calibri" pitchFamily="34" charset="-120"/>
              </a:rPr>
              <a:t>Good feedback? Move forward. Problems? The issue could trace back to bad data, weak preprocessing, poor feature selection, or the algorithm itself — so you go back and revisit those earlier steps.</a:t>
            </a:r>
            <a:endParaRPr lang="en-US" sz="1250" dirty="0"/>
          </a:p>
        </p:txBody>
      </p:sp>
      <p:sp>
        <p:nvSpPr>
          <p:cNvPr id="10" name="Shape 8"/>
          <p:cNvSpPr/>
          <p:nvPr/>
        </p:nvSpPr>
        <p:spPr>
          <a:xfrm>
            <a:off x="6172200" y="1600200"/>
            <a:ext cx="5376672" cy="4206240"/>
          </a:xfrm>
          <a:prstGeom prst="roundRect">
            <a:avLst>
              <a:gd name="adj" fmla="val 2174"/>
            </a:avLst>
          </a:prstGeom>
          <a:solidFill>
            <a:srgbClr val="14213D"/>
          </a:solidFill>
          <a:ln/>
          <a:effectLst>
            <a:outerShdw blurRad="101600" dist="38100" dir="5400000" algn="bl" rotWithShape="0">
              <a:srgbClr val="1B1F3B">
                <a:alpha val="15000"/>
              </a:srgbClr>
            </a:outerShdw>
          </a:effectLst>
        </p:spPr>
      </p:sp>
      <p:sp>
        <p:nvSpPr>
          <p:cNvPr id="11" name="Text 9"/>
          <p:cNvSpPr/>
          <p:nvPr/>
        </p:nvSpPr>
        <p:spPr>
          <a:xfrm>
            <a:off x="6428232" y="1764792"/>
            <a:ext cx="4864608" cy="274320"/>
          </a:xfrm>
          <a:prstGeom prst="rect">
            <a:avLst/>
          </a:prstGeom>
          <a:noFill/>
          <a:ln/>
        </p:spPr>
        <p:txBody>
          <a:bodyPr wrap="square" rtlCol="0" anchor="ctr"/>
          <a:lstStyle/>
          <a:p>
            <a:pPr marL="0" indent="0">
              <a:buNone/>
            </a:pPr>
            <a:r>
              <a:rPr lang="en-US" sz="1050" b="1" kern="0" spc="130" dirty="0">
                <a:solidFill>
                  <a:srgbClr val="FCA311"/>
                </a:solidFill>
                <a:latin typeface="Calibri" pitchFamily="34" charset="0"/>
                <a:ea typeface="Calibri" pitchFamily="34" charset="-122"/>
                <a:cs typeface="Calibri" pitchFamily="34" charset="-120"/>
              </a:rPr>
              <a:t>STEP 9 · OPTIMIZATION</a:t>
            </a:r>
            <a:endParaRPr lang="en-US" sz="1050" dirty="0"/>
          </a:p>
        </p:txBody>
      </p:sp>
      <p:sp>
        <p:nvSpPr>
          <p:cNvPr id="12" name="Text 10"/>
          <p:cNvSpPr/>
          <p:nvPr/>
        </p:nvSpPr>
        <p:spPr>
          <a:xfrm>
            <a:off x="6428232" y="2039112"/>
            <a:ext cx="4864608" cy="3602736"/>
          </a:xfrm>
          <a:prstGeom prst="rect">
            <a:avLst/>
          </a:prstGeom>
          <a:noFill/>
          <a:ln/>
        </p:spPr>
        <p:txBody>
          <a:bodyPr wrap="square" rtlCol="0" anchor="t"/>
          <a:lstStyle/>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Time to roll out to everyone. Before you do: back up the model and the data, so you can roll back fast if something breaks. Set up load balancing so a surge of users doesn't slow everyone down.</a:t>
            </a:r>
            <a:endParaRPr lang="en-US" sz="1250" dirty="0"/>
          </a:p>
          <a:p>
            <a:pPr marL="0" indent="0">
              <a:lnSpc>
                <a:spcPts val="1800"/>
              </a:lnSpc>
              <a:buNone/>
            </a:pPr>
            <a:endParaRPr lang="en-US" sz="1250" dirty="0"/>
          </a:p>
          <a:p>
            <a:pPr marL="0" indent="0">
              <a:lnSpc>
                <a:spcPts val="1800"/>
              </a:lnSpc>
              <a:buNone/>
            </a:pPr>
            <a:r>
              <a:rPr lang="en-US" sz="1250" dirty="0">
                <a:solidFill>
                  <a:srgbClr val="DDE3F2"/>
                </a:solidFill>
                <a:latin typeface="Calibri" pitchFamily="34" charset="0"/>
                <a:ea typeface="Calibri" pitchFamily="34" charset="-122"/>
                <a:cs typeface="Calibri" pitchFamily="34" charset="-120"/>
              </a:rPr>
              <a:t>Models also degrade over time as real-world data drifts — sometimes called model decay. Decide how often to retrain, and automate that process rather than doing it by hand.</a:t>
            </a:r>
            <a:endParaRPr lang="en-US" sz="1250" dirty="0"/>
          </a:p>
        </p:txBody>
      </p:sp>
      <p:sp>
        <p:nvSpPr>
          <p:cNvPr id="13" name="Text 11"/>
          <p:cNvSpPr/>
          <p:nvPr/>
        </p:nvSpPr>
        <p:spPr>
          <a:xfrm>
            <a:off x="457200"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14" name="Text 12"/>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686800" cy="320040"/>
          </a:xfrm>
          <a:prstGeom prst="rect">
            <a:avLst/>
          </a:prstGeom>
          <a:noFill/>
          <a:ln/>
        </p:spPr>
        <p:txBody>
          <a:bodyPr wrap="square" rtlCol="0" anchor="ctr"/>
          <a:lstStyle/>
          <a:p>
            <a:pPr marL="0" indent="0">
              <a:buNone/>
            </a:pPr>
            <a:r>
              <a:rPr lang="en-US" sz="1200" b="1" kern="0" spc="200" dirty="0">
                <a:solidFill>
                  <a:srgbClr val="FCA311"/>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94360" y="749808"/>
            <a:ext cx="10789920" cy="640080"/>
          </a:xfrm>
          <a:prstGeom prst="rect">
            <a:avLst/>
          </a:prstGeom>
          <a:noFill/>
          <a:ln/>
        </p:spPr>
        <p:txBody>
          <a:bodyPr wrap="square" rtlCol="0" anchor="ctr"/>
          <a:lstStyle/>
          <a:p>
            <a:pPr marL="0" indent="0">
              <a:buNone/>
            </a:pPr>
            <a:r>
              <a:rPr lang="en-US" sz="2600" b="1" dirty="0">
                <a:solidFill>
                  <a:srgbClr val="14213D"/>
                </a:solidFill>
                <a:latin typeface="Cambria" pitchFamily="34" charset="0"/>
                <a:ea typeface="Cambria" pitchFamily="34" charset="-122"/>
                <a:cs typeface="Cambria" pitchFamily="34" charset="-120"/>
              </a:rPr>
              <a:t>Key takeaways</a:t>
            </a:r>
            <a:endParaRPr lang="en-US" sz="2600" dirty="0"/>
          </a:p>
        </p:txBody>
      </p:sp>
      <p:sp>
        <p:nvSpPr>
          <p:cNvPr id="4" name="Shape 2"/>
          <p:cNvSpPr/>
          <p:nvPr/>
        </p:nvSpPr>
        <p:spPr>
          <a:xfrm>
            <a:off x="640080" y="1463040"/>
            <a:ext cx="10908792" cy="0"/>
          </a:xfrm>
          <a:prstGeom prst="line">
            <a:avLst/>
          </a:prstGeom>
          <a:noFill/>
          <a:ln w="12700">
            <a:solidFill>
              <a:srgbClr val="DCE1EC"/>
            </a:solidFill>
            <a:prstDash val="solid"/>
          </a:ln>
        </p:spPr>
      </p:sp>
      <p:sp>
        <p:nvSpPr>
          <p:cNvPr id="5" name="Shape 3"/>
          <p:cNvSpPr/>
          <p:nvPr/>
        </p:nvSpPr>
        <p:spPr>
          <a:xfrm>
            <a:off x="640080" y="1965960"/>
            <a:ext cx="5257800" cy="1207008"/>
          </a:xfrm>
          <a:prstGeom prst="roundRect">
            <a:avLst>
              <a:gd name="adj" fmla="val 7576"/>
            </a:avLst>
          </a:prstGeom>
          <a:solidFill>
            <a:srgbClr val="E8ECF5"/>
          </a:solidFill>
          <a:ln/>
        </p:spPr>
      </p:sp>
      <p:sp>
        <p:nvSpPr>
          <p:cNvPr id="6" name="Shape 4"/>
          <p:cNvSpPr/>
          <p:nvPr/>
        </p:nvSpPr>
        <p:spPr>
          <a:xfrm>
            <a:off x="841248" y="2148840"/>
            <a:ext cx="365760" cy="365760"/>
          </a:xfrm>
          <a:prstGeom prst="roundRect">
            <a:avLst>
              <a:gd name="adj" fmla="val 20000"/>
            </a:avLst>
          </a:prstGeom>
          <a:solidFill>
            <a:srgbClr val="FCA311"/>
          </a:solidFill>
          <a:ln/>
        </p:spPr>
      </p:sp>
      <p:sp>
        <p:nvSpPr>
          <p:cNvPr id="7" name="Text 5"/>
          <p:cNvSpPr/>
          <p:nvPr/>
        </p:nvSpPr>
        <p:spPr>
          <a:xfrm>
            <a:off x="841248" y="2148840"/>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25880" y="2084832"/>
            <a:ext cx="4343400" cy="320040"/>
          </a:xfrm>
          <a:prstGeom prst="rect">
            <a:avLst/>
          </a:prstGeom>
          <a:noFill/>
          <a:ln/>
        </p:spPr>
        <p:txBody>
          <a:bodyPr wrap="square" rtlCol="0" anchor="ctr"/>
          <a:lstStyle/>
          <a:p>
            <a:pPr marL="0" indent="0">
              <a:buNone/>
            </a:pPr>
            <a:r>
              <a:rPr lang="en-US" sz="1350" b="1" dirty="0">
                <a:solidFill>
                  <a:srgbClr val="14213D"/>
                </a:solidFill>
                <a:latin typeface="Cambria" pitchFamily="34" charset="0"/>
                <a:ea typeface="Cambria" pitchFamily="34" charset="-122"/>
                <a:cs typeface="Cambria" pitchFamily="34" charset="-120"/>
              </a:rPr>
              <a:t>It's a full life cycle</a:t>
            </a:r>
            <a:endParaRPr lang="en-US" sz="1350" dirty="0"/>
          </a:p>
        </p:txBody>
      </p:sp>
      <p:sp>
        <p:nvSpPr>
          <p:cNvPr id="9" name="Text 7"/>
          <p:cNvSpPr/>
          <p:nvPr/>
        </p:nvSpPr>
        <p:spPr>
          <a:xfrm>
            <a:off x="1325880" y="2404872"/>
            <a:ext cx="4343400" cy="731520"/>
          </a:xfrm>
          <a:prstGeom prst="rect">
            <a:avLst/>
          </a:prstGeom>
          <a:noFill/>
          <a:ln/>
        </p:spPr>
        <p:txBody>
          <a:bodyPr wrap="square" rtlCol="0" anchor="t"/>
          <a:lstStyle/>
          <a:p>
            <a:pPr marL="0" indent="0">
              <a:lnSpc>
                <a:spcPts val="1450"/>
              </a:lnSpc>
              <a:buNone/>
            </a:pPr>
            <a:r>
              <a:rPr lang="en-US" sz="1100" dirty="0">
                <a:solidFill>
                  <a:srgbClr val="3C4257"/>
                </a:solidFill>
                <a:latin typeface="Calibri" pitchFamily="34" charset="0"/>
                <a:ea typeface="Calibri" pitchFamily="34" charset="-122"/>
                <a:cs typeface="Calibri" pitchFamily="34" charset="-120"/>
              </a:rPr>
              <a:t>MLDLC mirrors SDLC — a shared roadmap from raw idea all the way to a working, maintained product.</a:t>
            </a:r>
            <a:endParaRPr lang="en-US" sz="1100" dirty="0"/>
          </a:p>
        </p:txBody>
      </p:sp>
      <p:sp>
        <p:nvSpPr>
          <p:cNvPr id="10" name="Shape 8"/>
          <p:cNvSpPr/>
          <p:nvPr/>
        </p:nvSpPr>
        <p:spPr>
          <a:xfrm>
            <a:off x="6291072" y="1965960"/>
            <a:ext cx="5257800" cy="1207008"/>
          </a:xfrm>
          <a:prstGeom prst="roundRect">
            <a:avLst>
              <a:gd name="adj" fmla="val 7576"/>
            </a:avLst>
          </a:prstGeom>
          <a:solidFill>
            <a:srgbClr val="E8ECF5"/>
          </a:solidFill>
          <a:ln/>
        </p:spPr>
      </p:sp>
      <p:sp>
        <p:nvSpPr>
          <p:cNvPr id="11" name="Shape 9"/>
          <p:cNvSpPr/>
          <p:nvPr/>
        </p:nvSpPr>
        <p:spPr>
          <a:xfrm>
            <a:off x="6492240" y="2148840"/>
            <a:ext cx="365760" cy="365760"/>
          </a:xfrm>
          <a:prstGeom prst="roundRect">
            <a:avLst>
              <a:gd name="adj" fmla="val 20000"/>
            </a:avLst>
          </a:prstGeom>
          <a:solidFill>
            <a:srgbClr val="FCA311"/>
          </a:solidFill>
          <a:ln/>
        </p:spPr>
      </p:sp>
      <p:sp>
        <p:nvSpPr>
          <p:cNvPr id="12" name="Text 10"/>
          <p:cNvSpPr/>
          <p:nvPr/>
        </p:nvSpPr>
        <p:spPr>
          <a:xfrm>
            <a:off x="6492240" y="2148840"/>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6976872" y="2084832"/>
            <a:ext cx="4343400" cy="320040"/>
          </a:xfrm>
          <a:prstGeom prst="rect">
            <a:avLst/>
          </a:prstGeom>
          <a:noFill/>
          <a:ln/>
        </p:spPr>
        <p:txBody>
          <a:bodyPr wrap="square" rtlCol="0" anchor="ctr"/>
          <a:lstStyle/>
          <a:p>
            <a:pPr marL="0" indent="0">
              <a:buNone/>
            </a:pPr>
            <a:r>
              <a:rPr lang="en-US" sz="1350" b="1" dirty="0">
                <a:solidFill>
                  <a:srgbClr val="14213D"/>
                </a:solidFill>
                <a:latin typeface="Cambria" pitchFamily="34" charset="0"/>
                <a:ea typeface="Cambria" pitchFamily="34" charset="-122"/>
                <a:cs typeface="Cambria" pitchFamily="34" charset="-120"/>
              </a:rPr>
              <a:t>Framing comes first</a:t>
            </a:r>
            <a:endParaRPr lang="en-US" sz="1350" dirty="0"/>
          </a:p>
        </p:txBody>
      </p:sp>
      <p:sp>
        <p:nvSpPr>
          <p:cNvPr id="14" name="Text 12"/>
          <p:cNvSpPr/>
          <p:nvPr/>
        </p:nvSpPr>
        <p:spPr>
          <a:xfrm>
            <a:off x="6976872" y="2404872"/>
            <a:ext cx="4343400" cy="731520"/>
          </a:xfrm>
          <a:prstGeom prst="rect">
            <a:avLst/>
          </a:prstGeom>
          <a:noFill/>
          <a:ln/>
        </p:spPr>
        <p:txBody>
          <a:bodyPr wrap="square" rtlCol="0" anchor="t"/>
          <a:lstStyle/>
          <a:p>
            <a:pPr marL="0" indent="0">
              <a:lnSpc>
                <a:spcPts val="1450"/>
              </a:lnSpc>
              <a:buNone/>
            </a:pPr>
            <a:r>
              <a:rPr lang="en-US" sz="1100" dirty="0">
                <a:solidFill>
                  <a:srgbClr val="3C4257"/>
                </a:solidFill>
                <a:latin typeface="Calibri" pitchFamily="34" charset="0"/>
                <a:ea typeface="Calibri" pitchFamily="34" charset="-122"/>
                <a:cs typeface="Calibri" pitchFamily="34" charset="-120"/>
              </a:rPr>
              <a:t>Get precise about the problem, the data source, and the ML approach before writing any code.</a:t>
            </a:r>
            <a:endParaRPr lang="en-US" sz="1100" dirty="0"/>
          </a:p>
        </p:txBody>
      </p:sp>
      <p:sp>
        <p:nvSpPr>
          <p:cNvPr id="15" name="Shape 13"/>
          <p:cNvSpPr/>
          <p:nvPr/>
        </p:nvSpPr>
        <p:spPr>
          <a:xfrm>
            <a:off x="640080" y="3374136"/>
            <a:ext cx="5257800" cy="1207008"/>
          </a:xfrm>
          <a:prstGeom prst="roundRect">
            <a:avLst>
              <a:gd name="adj" fmla="val 7576"/>
            </a:avLst>
          </a:prstGeom>
          <a:solidFill>
            <a:srgbClr val="E8ECF5"/>
          </a:solidFill>
          <a:ln/>
        </p:spPr>
      </p:sp>
      <p:sp>
        <p:nvSpPr>
          <p:cNvPr id="16" name="Shape 14"/>
          <p:cNvSpPr/>
          <p:nvPr/>
        </p:nvSpPr>
        <p:spPr>
          <a:xfrm>
            <a:off x="841248" y="3557016"/>
            <a:ext cx="365760" cy="365760"/>
          </a:xfrm>
          <a:prstGeom prst="roundRect">
            <a:avLst>
              <a:gd name="adj" fmla="val 20000"/>
            </a:avLst>
          </a:prstGeom>
          <a:solidFill>
            <a:srgbClr val="FCA311"/>
          </a:solidFill>
          <a:ln/>
        </p:spPr>
      </p:sp>
      <p:sp>
        <p:nvSpPr>
          <p:cNvPr id="17" name="Text 15"/>
          <p:cNvSpPr/>
          <p:nvPr/>
        </p:nvSpPr>
        <p:spPr>
          <a:xfrm>
            <a:off x="841248" y="3557016"/>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325880" y="3493008"/>
            <a:ext cx="4343400" cy="320040"/>
          </a:xfrm>
          <a:prstGeom prst="rect">
            <a:avLst/>
          </a:prstGeom>
          <a:noFill/>
          <a:ln/>
        </p:spPr>
        <p:txBody>
          <a:bodyPr wrap="square" rtlCol="0" anchor="ctr"/>
          <a:lstStyle/>
          <a:p>
            <a:pPr marL="0" indent="0">
              <a:buNone/>
            </a:pPr>
            <a:r>
              <a:rPr lang="en-US" sz="1350" b="1" dirty="0">
                <a:solidFill>
                  <a:srgbClr val="14213D"/>
                </a:solidFill>
                <a:latin typeface="Cambria" pitchFamily="34" charset="0"/>
                <a:ea typeface="Cambria" pitchFamily="34" charset="-122"/>
                <a:cs typeface="Cambria" pitchFamily="34" charset="-120"/>
              </a:rPr>
              <a:t>Data work is most of the job</a:t>
            </a:r>
            <a:endParaRPr lang="en-US" sz="1350" dirty="0"/>
          </a:p>
        </p:txBody>
      </p:sp>
      <p:sp>
        <p:nvSpPr>
          <p:cNvPr id="19" name="Text 17"/>
          <p:cNvSpPr/>
          <p:nvPr/>
        </p:nvSpPr>
        <p:spPr>
          <a:xfrm>
            <a:off x="1325880" y="3813048"/>
            <a:ext cx="4343400" cy="731520"/>
          </a:xfrm>
          <a:prstGeom prst="rect">
            <a:avLst/>
          </a:prstGeom>
          <a:noFill/>
          <a:ln/>
        </p:spPr>
        <p:txBody>
          <a:bodyPr wrap="square" rtlCol="0" anchor="t"/>
          <a:lstStyle/>
          <a:p>
            <a:pPr marL="0" indent="0">
              <a:lnSpc>
                <a:spcPts val="1450"/>
              </a:lnSpc>
              <a:buNone/>
            </a:pPr>
            <a:r>
              <a:rPr lang="en-US" sz="1100" dirty="0">
                <a:solidFill>
                  <a:srgbClr val="3C4257"/>
                </a:solidFill>
                <a:latin typeface="Calibri" pitchFamily="34" charset="0"/>
                <a:ea typeface="Calibri" pitchFamily="34" charset="-122"/>
                <a:cs typeface="Calibri" pitchFamily="34" charset="-120"/>
              </a:rPr>
              <a:t>Gathering, preprocessing, EDA, and feature engineering all happen before a single model is trained.</a:t>
            </a:r>
            <a:endParaRPr lang="en-US" sz="1100" dirty="0"/>
          </a:p>
        </p:txBody>
      </p:sp>
      <p:sp>
        <p:nvSpPr>
          <p:cNvPr id="20" name="Shape 18"/>
          <p:cNvSpPr/>
          <p:nvPr/>
        </p:nvSpPr>
        <p:spPr>
          <a:xfrm>
            <a:off x="6291072" y="3374136"/>
            <a:ext cx="5257800" cy="1207008"/>
          </a:xfrm>
          <a:prstGeom prst="roundRect">
            <a:avLst>
              <a:gd name="adj" fmla="val 7576"/>
            </a:avLst>
          </a:prstGeom>
          <a:solidFill>
            <a:srgbClr val="E8ECF5"/>
          </a:solidFill>
          <a:ln/>
        </p:spPr>
      </p:sp>
      <p:sp>
        <p:nvSpPr>
          <p:cNvPr id="21" name="Shape 19"/>
          <p:cNvSpPr/>
          <p:nvPr/>
        </p:nvSpPr>
        <p:spPr>
          <a:xfrm>
            <a:off x="6492240" y="3557016"/>
            <a:ext cx="365760" cy="365760"/>
          </a:xfrm>
          <a:prstGeom prst="roundRect">
            <a:avLst>
              <a:gd name="adj" fmla="val 20000"/>
            </a:avLst>
          </a:prstGeom>
          <a:solidFill>
            <a:srgbClr val="FCA311"/>
          </a:solidFill>
          <a:ln/>
        </p:spPr>
      </p:sp>
      <p:sp>
        <p:nvSpPr>
          <p:cNvPr id="22" name="Text 20"/>
          <p:cNvSpPr/>
          <p:nvPr/>
        </p:nvSpPr>
        <p:spPr>
          <a:xfrm>
            <a:off x="6492240" y="3557016"/>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6976872" y="3493008"/>
            <a:ext cx="4343400" cy="320040"/>
          </a:xfrm>
          <a:prstGeom prst="rect">
            <a:avLst/>
          </a:prstGeom>
          <a:noFill/>
          <a:ln/>
        </p:spPr>
        <p:txBody>
          <a:bodyPr wrap="square" rtlCol="0" anchor="ctr"/>
          <a:lstStyle/>
          <a:p>
            <a:pPr marL="0" indent="0">
              <a:buNone/>
            </a:pPr>
            <a:r>
              <a:rPr lang="en-US" sz="1350" b="1" dirty="0">
                <a:solidFill>
                  <a:srgbClr val="14213D"/>
                </a:solidFill>
                <a:latin typeface="Cambria" pitchFamily="34" charset="0"/>
                <a:ea typeface="Cambria" pitchFamily="34" charset="-122"/>
                <a:cs typeface="Cambria" pitchFamily="34" charset="-120"/>
              </a:rPr>
              <a:t>Try many models, then tune</a:t>
            </a:r>
            <a:endParaRPr lang="en-US" sz="1350" dirty="0"/>
          </a:p>
        </p:txBody>
      </p:sp>
      <p:sp>
        <p:nvSpPr>
          <p:cNvPr id="24" name="Text 22"/>
          <p:cNvSpPr/>
          <p:nvPr/>
        </p:nvSpPr>
        <p:spPr>
          <a:xfrm>
            <a:off x="6976872" y="3813048"/>
            <a:ext cx="4343400" cy="731520"/>
          </a:xfrm>
          <a:prstGeom prst="rect">
            <a:avLst/>
          </a:prstGeom>
          <a:noFill/>
          <a:ln/>
        </p:spPr>
        <p:txBody>
          <a:bodyPr wrap="square" rtlCol="0" anchor="t"/>
          <a:lstStyle/>
          <a:p>
            <a:pPr marL="0" indent="0">
              <a:lnSpc>
                <a:spcPts val="1450"/>
              </a:lnSpc>
              <a:buNone/>
            </a:pPr>
            <a:r>
              <a:rPr lang="en-US" sz="1100" dirty="0">
                <a:solidFill>
                  <a:srgbClr val="3C4257"/>
                </a:solidFill>
                <a:latin typeface="Calibri" pitchFamily="34" charset="0"/>
                <a:ea typeface="Calibri" pitchFamily="34" charset="-122"/>
                <a:cs typeface="Calibri" pitchFamily="34" charset="-120"/>
              </a:rPr>
              <a:t>No algorithm wins by default — train several, evaluate with real metrics, then tune the best one.</a:t>
            </a:r>
            <a:endParaRPr lang="en-US" sz="1100" dirty="0"/>
          </a:p>
        </p:txBody>
      </p:sp>
      <p:sp>
        <p:nvSpPr>
          <p:cNvPr id="25" name="Shape 23"/>
          <p:cNvSpPr/>
          <p:nvPr/>
        </p:nvSpPr>
        <p:spPr>
          <a:xfrm>
            <a:off x="640080" y="4782312"/>
            <a:ext cx="5257800" cy="1207008"/>
          </a:xfrm>
          <a:prstGeom prst="roundRect">
            <a:avLst>
              <a:gd name="adj" fmla="val 7576"/>
            </a:avLst>
          </a:prstGeom>
          <a:solidFill>
            <a:srgbClr val="E8ECF5"/>
          </a:solidFill>
          <a:ln/>
        </p:spPr>
      </p:sp>
      <p:sp>
        <p:nvSpPr>
          <p:cNvPr id="26" name="Shape 24"/>
          <p:cNvSpPr/>
          <p:nvPr/>
        </p:nvSpPr>
        <p:spPr>
          <a:xfrm>
            <a:off x="841248" y="4965192"/>
            <a:ext cx="365760" cy="365760"/>
          </a:xfrm>
          <a:prstGeom prst="roundRect">
            <a:avLst>
              <a:gd name="adj" fmla="val 20000"/>
            </a:avLst>
          </a:prstGeom>
          <a:solidFill>
            <a:srgbClr val="FCA311"/>
          </a:solidFill>
          <a:ln/>
        </p:spPr>
      </p:sp>
      <p:sp>
        <p:nvSpPr>
          <p:cNvPr id="27" name="Text 25"/>
          <p:cNvSpPr/>
          <p:nvPr/>
        </p:nvSpPr>
        <p:spPr>
          <a:xfrm>
            <a:off x="841248" y="4965192"/>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325880" y="4901184"/>
            <a:ext cx="4343400" cy="320040"/>
          </a:xfrm>
          <a:prstGeom prst="rect">
            <a:avLst/>
          </a:prstGeom>
          <a:noFill/>
          <a:ln/>
        </p:spPr>
        <p:txBody>
          <a:bodyPr wrap="square" rtlCol="0" anchor="ctr"/>
          <a:lstStyle/>
          <a:p>
            <a:pPr marL="0" indent="0">
              <a:buNone/>
            </a:pPr>
            <a:r>
              <a:rPr lang="en-US" sz="1350" b="1" dirty="0">
                <a:solidFill>
                  <a:srgbClr val="14213D"/>
                </a:solidFill>
                <a:latin typeface="Cambria" pitchFamily="34" charset="0"/>
                <a:ea typeface="Cambria" pitchFamily="34" charset="-122"/>
                <a:cs typeface="Cambria" pitchFamily="34" charset="-120"/>
              </a:rPr>
              <a:t>Deployment is a product step</a:t>
            </a:r>
            <a:endParaRPr lang="en-US" sz="1350" dirty="0"/>
          </a:p>
        </p:txBody>
      </p:sp>
      <p:sp>
        <p:nvSpPr>
          <p:cNvPr id="29" name="Text 27"/>
          <p:cNvSpPr/>
          <p:nvPr/>
        </p:nvSpPr>
        <p:spPr>
          <a:xfrm>
            <a:off x="1325880" y="5221224"/>
            <a:ext cx="4343400" cy="731520"/>
          </a:xfrm>
          <a:prstGeom prst="rect">
            <a:avLst/>
          </a:prstGeom>
          <a:noFill/>
          <a:ln/>
        </p:spPr>
        <p:txBody>
          <a:bodyPr wrap="square" rtlCol="0" anchor="t"/>
          <a:lstStyle/>
          <a:p>
            <a:pPr marL="0" indent="0">
              <a:lnSpc>
                <a:spcPts val="1450"/>
              </a:lnSpc>
              <a:buNone/>
            </a:pPr>
            <a:r>
              <a:rPr lang="en-US" sz="1100" dirty="0">
                <a:solidFill>
                  <a:srgbClr val="3C4257"/>
                </a:solidFill>
                <a:latin typeface="Calibri" pitchFamily="34" charset="0"/>
                <a:ea typeface="Calibri" pitchFamily="34" charset="-122"/>
                <a:cs typeface="Calibri" pitchFamily="34" charset="-120"/>
              </a:rPr>
              <a:t>A trained model becomes a binary file, wrapped in an API, hosted on a cloud server.</a:t>
            </a:r>
            <a:endParaRPr lang="en-US" sz="1100" dirty="0"/>
          </a:p>
        </p:txBody>
      </p:sp>
      <p:sp>
        <p:nvSpPr>
          <p:cNvPr id="30" name="Shape 28"/>
          <p:cNvSpPr/>
          <p:nvPr/>
        </p:nvSpPr>
        <p:spPr>
          <a:xfrm>
            <a:off x="6291072" y="4782312"/>
            <a:ext cx="5257800" cy="1207008"/>
          </a:xfrm>
          <a:prstGeom prst="roundRect">
            <a:avLst>
              <a:gd name="adj" fmla="val 7576"/>
            </a:avLst>
          </a:prstGeom>
          <a:solidFill>
            <a:srgbClr val="E8ECF5"/>
          </a:solidFill>
          <a:ln/>
        </p:spPr>
      </p:sp>
      <p:sp>
        <p:nvSpPr>
          <p:cNvPr id="31" name="Shape 29"/>
          <p:cNvSpPr/>
          <p:nvPr/>
        </p:nvSpPr>
        <p:spPr>
          <a:xfrm>
            <a:off x="6492240" y="4965192"/>
            <a:ext cx="365760" cy="365760"/>
          </a:xfrm>
          <a:prstGeom prst="roundRect">
            <a:avLst>
              <a:gd name="adj" fmla="val 20000"/>
            </a:avLst>
          </a:prstGeom>
          <a:solidFill>
            <a:srgbClr val="FCA311"/>
          </a:solidFill>
          <a:ln/>
        </p:spPr>
      </p:sp>
      <p:sp>
        <p:nvSpPr>
          <p:cNvPr id="32" name="Text 30"/>
          <p:cNvSpPr/>
          <p:nvPr/>
        </p:nvSpPr>
        <p:spPr>
          <a:xfrm>
            <a:off x="6492240" y="4965192"/>
            <a:ext cx="365760" cy="365760"/>
          </a:xfrm>
          <a:prstGeom prst="rect">
            <a:avLst/>
          </a:prstGeom>
          <a:noFill/>
          <a:ln/>
        </p:spPr>
        <p:txBody>
          <a:bodyPr wrap="square" rtlCol="0" anchor="ctr"/>
          <a:lstStyle/>
          <a:p>
            <a:pPr marL="0" indent="0" algn="ctr">
              <a:buNone/>
            </a:pPr>
            <a:r>
              <a:rPr lang="en-US" sz="1200" b="1" dirty="0">
                <a:solidFill>
                  <a:srgbClr val="14213D"/>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6976872" y="4901184"/>
            <a:ext cx="4343400" cy="320040"/>
          </a:xfrm>
          <a:prstGeom prst="rect">
            <a:avLst/>
          </a:prstGeom>
          <a:noFill/>
          <a:ln/>
        </p:spPr>
        <p:txBody>
          <a:bodyPr wrap="square" rtlCol="0" anchor="ctr"/>
          <a:lstStyle/>
          <a:p>
            <a:pPr marL="0" indent="0">
              <a:buNone/>
            </a:pPr>
            <a:r>
              <a:rPr lang="en-US" sz="1350" b="1" dirty="0">
                <a:solidFill>
                  <a:srgbClr val="14213D"/>
                </a:solidFill>
                <a:latin typeface="Cambria" pitchFamily="34" charset="0"/>
                <a:ea typeface="Cambria" pitchFamily="34" charset="-122"/>
                <a:cs typeface="Cambria" pitchFamily="34" charset="-120"/>
              </a:rPr>
              <a:t>The cycle doesn't end at launch</a:t>
            </a:r>
            <a:endParaRPr lang="en-US" sz="1350" dirty="0"/>
          </a:p>
        </p:txBody>
      </p:sp>
      <p:sp>
        <p:nvSpPr>
          <p:cNvPr id="34" name="Text 32"/>
          <p:cNvSpPr/>
          <p:nvPr/>
        </p:nvSpPr>
        <p:spPr>
          <a:xfrm>
            <a:off x="6976872" y="5221224"/>
            <a:ext cx="4343400" cy="731520"/>
          </a:xfrm>
          <a:prstGeom prst="rect">
            <a:avLst/>
          </a:prstGeom>
          <a:noFill/>
          <a:ln/>
        </p:spPr>
        <p:txBody>
          <a:bodyPr wrap="square" rtlCol="0" anchor="t"/>
          <a:lstStyle/>
          <a:p>
            <a:pPr marL="0" indent="0">
              <a:lnSpc>
                <a:spcPts val="1450"/>
              </a:lnSpc>
              <a:buNone/>
            </a:pPr>
            <a:r>
              <a:rPr lang="en-US" sz="1100" dirty="0">
                <a:solidFill>
                  <a:srgbClr val="3C4257"/>
                </a:solidFill>
                <a:latin typeface="Calibri" pitchFamily="34" charset="0"/>
                <a:ea typeface="Calibri" pitchFamily="34" charset="-122"/>
                <a:cs typeface="Calibri" pitchFamily="34" charset="-120"/>
              </a:rPr>
              <a:t>Beta test, gather feedback, then optimize — with backups, load balancing, and a retraining plan.</a:t>
            </a:r>
            <a:endParaRPr lang="en-US" sz="1100" dirty="0"/>
          </a:p>
        </p:txBody>
      </p:sp>
      <p:sp>
        <p:nvSpPr>
          <p:cNvPr id="35" name="Text 33"/>
          <p:cNvSpPr/>
          <p:nvPr/>
        </p:nvSpPr>
        <p:spPr>
          <a:xfrm>
            <a:off x="449179" y="6473952"/>
            <a:ext cx="8229600" cy="274320"/>
          </a:xfrm>
          <a:prstGeom prst="rect">
            <a:avLst/>
          </a:prstGeom>
          <a:noFill/>
          <a:ln/>
        </p:spPr>
        <p:txBody>
          <a:bodyPr wrap="square" rtlCol="0" anchor="ctr"/>
          <a:lstStyle/>
          <a:p>
            <a:pPr marL="0" indent="0">
              <a:buNone/>
            </a:pPr>
            <a:r>
              <a:rPr lang="en-US" sz="850" kern="0" spc="100" dirty="0">
                <a:solidFill>
                  <a:srgbClr val="8892A6"/>
                </a:solidFill>
                <a:latin typeface="Calibri" pitchFamily="34" charset="0"/>
                <a:ea typeface="Calibri" pitchFamily="34" charset="-122"/>
                <a:cs typeface="Calibri" pitchFamily="34" charset="-120"/>
              </a:rPr>
              <a:t>THE MACHINE LEARNING DEVELOPMENT LIFE CYCLE</a:t>
            </a:r>
            <a:endParaRPr lang="en-US" sz="850" dirty="0"/>
          </a:p>
        </p:txBody>
      </p:sp>
      <p:sp>
        <p:nvSpPr>
          <p:cNvPr id="36" name="Text 34"/>
          <p:cNvSpPr/>
          <p:nvPr/>
        </p:nvSpPr>
        <p:spPr>
          <a:xfrm>
            <a:off x="11274552" y="6473952"/>
            <a:ext cx="457200" cy="274320"/>
          </a:xfrm>
          <a:prstGeom prst="rect">
            <a:avLst/>
          </a:prstGeom>
          <a:noFill/>
          <a:ln/>
        </p:spPr>
        <p:txBody>
          <a:bodyPr wrap="square" rtlCol="0" anchor="ctr"/>
          <a:lstStyle/>
          <a:p>
            <a:pPr marL="0" indent="0" algn="r">
              <a:buNone/>
            </a:pPr>
            <a:r>
              <a:rPr lang="en-US" sz="850" dirty="0">
                <a:solidFill>
                  <a:srgbClr val="8892A6"/>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1161</TotalTime>
  <Words>1569</Words>
  <Application>Microsoft Office PowerPoint</Application>
  <PresentationFormat>Custom</PresentationFormat>
  <Paragraphs>206</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cp:lastModifiedBy>
  <cp:revision>6</cp:revision>
  <dcterms:created xsi:type="dcterms:W3CDTF">2026-08-22T12:08:16Z</dcterms:created>
  <dcterms:modified xsi:type="dcterms:W3CDTF">2026-08-31T02:06:27Z</dcterms:modified>
</cp:coreProperties>
</file>