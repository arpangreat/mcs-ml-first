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370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BB03B-741C-4AB8-8A63-B42A6BA63854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A4E0E-573C-4972-AAB8-BDDFD5363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00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5669280"/>
            <a:ext cx="960120" cy="0"/>
          </a:xfrm>
          <a:prstGeom prst="line">
            <a:avLst/>
          </a:prstGeom>
          <a:noFill/>
          <a:ln w="19050">
            <a:solidFill>
              <a:srgbClr val="3A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669280"/>
            <a:ext cx="960120" cy="0"/>
          </a:xfrm>
          <a:prstGeom prst="line">
            <a:avLst/>
          </a:prstGeom>
          <a:noFill/>
          <a:ln w="19050">
            <a:solidFill>
              <a:srgbClr val="3A45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5349240"/>
            <a:ext cx="640080" cy="640080"/>
          </a:xfrm>
          <a:prstGeom prst="ellipse">
            <a:avLst/>
          </a:prstGeom>
          <a:solidFill>
            <a:srgbClr val="24304F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92640" y="534924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946404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0" y="5349240"/>
            <a:ext cx="640080" cy="640080"/>
          </a:xfrm>
          <a:prstGeom prst="ellipse">
            <a:avLst/>
          </a:prstGeom>
          <a:solidFill>
            <a:srgbClr val="24304F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0" y="5349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moving from writing rules by hand to learning patterns from data — and where that shift actually pays off.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formal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E8ECF5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6309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is a field of computer science that uses statistical techniques to give computer systems the ability to learn from data — without being explicitly programmed for every scenario.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6949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learning from data. You stop writing rules for every case and let an algorithm find the pattern instead.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09560" y="1691640"/>
            <a:ext cx="3639312" cy="4114800"/>
          </a:xfrm>
          <a:prstGeom prst="roundRect">
            <a:avLst>
              <a:gd name="adj" fmla="val 3015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8388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Programming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926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separate code to handle every individual case or condition — an if/else rule for each scenario you can think of.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4434840"/>
            <a:ext cx="3108960" cy="0"/>
          </a:xfrm>
          <a:prstGeom prst="line">
            <a:avLst/>
          </a:prstGeom>
          <a:noFill/>
          <a:ln w="12700">
            <a:solidFill>
              <a:srgbClr val="2A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4617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replaces this with an algorithm that writes its own logic from examples.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CORE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logic comes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91072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291072" y="16002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C7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2958084"/>
            <a:ext cx="3657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CA311"/>
          </a:solidFill>
          <a:ln w="1651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(rules you write)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958084"/>
            <a:ext cx="3657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C7CE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author every rule. New situations need new code.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1072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E8ECF5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data)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99832" y="2958084"/>
            <a:ext cx="365760" cy="164592"/>
          </a:xfrm>
          <a:prstGeom prst="rightArrow">
            <a:avLst/>
          </a:prstGeom>
          <a:solidFill>
            <a:srgbClr val="FCA311"/>
          </a:solidFill>
          <a:ln/>
        </p:spPr>
      </p:sp>
      <p:sp>
        <p:nvSpPr>
          <p:cNvPr id="20" name="Shape 18"/>
          <p:cNvSpPr/>
          <p:nvPr/>
        </p:nvSpPr>
        <p:spPr>
          <a:xfrm>
            <a:off x="8165592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74352" y="2958084"/>
            <a:ext cx="365760" cy="164592"/>
          </a:xfrm>
          <a:prstGeom prst="rightArrow">
            <a:avLst/>
          </a:prstGeom>
          <a:solidFill>
            <a:srgbClr val="FCA31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0112" y="251460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E8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85832" y="251460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37947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writes the logic itself. New patterns in data update it automatically.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conventional software, the programmer supplies the logic. In machine learning, the data supplies it — the algorithm's job is to find the pattern connecting input to output.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model to add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0D162B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sum(a, b)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sum(a, b) {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sum(4, 7)     →  11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sum(4, 7, 2)  →  ERROR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4709160" cy="0"/>
          </a:xfrm>
          <a:prstGeom prst="line">
            <a:avLst/>
          </a:prstGeom>
          <a:noFill/>
          <a:ln w="12700">
            <a:solidFill>
              <a:srgbClr val="2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9768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fixed to exactly two numbers. Any other shape of input breaks it — you'd have to rewrite the function.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E8ECF5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learn from examples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65392" y="2423160"/>
            <a:ext cx="1463040" cy="384048"/>
          </a:xfrm>
          <a:prstGeom prst="rect">
            <a:avLst/>
          </a:prstGeom>
          <a:solidFill>
            <a:srgbClr val="14213D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423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2423160"/>
            <a:ext cx="1463040" cy="384048"/>
          </a:xfrm>
          <a:prstGeom prst="rect">
            <a:avLst/>
          </a:prstGeom>
          <a:solidFill>
            <a:srgbClr val="14213D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2423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91472" y="2423160"/>
            <a:ext cx="1463040" cy="384048"/>
          </a:xfrm>
          <a:prstGeom prst="rect">
            <a:avLst/>
          </a:prstGeom>
          <a:solidFill>
            <a:srgbClr val="14213D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91472" y="2423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65392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807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2807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91472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2807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65392" y="3191256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1912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28432" y="3191256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31912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491472" y="3191256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31912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65392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5753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28432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35753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491472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91472" y="35753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65392" y="4142232"/>
            <a:ext cx="470916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432511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told the rule — it notices the pattern (a + b = sum) on its own from enough examples.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65392" y="519379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CA311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519379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2, 4, or 10 numbers — it still knows to add them.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77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you actually use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situations where writing rules by hand stops being realistic.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0D162B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56616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never stop</a:t>
            </a:r>
            <a:endParaRPr lang="en-US" sz="2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AA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keeps shifting — spam filters vs. spammers.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32461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0D162B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56616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cases</a:t>
            </a:r>
            <a:endParaRPr lang="en-US" sz="2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enumerate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09160" y="5074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AA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variety — recognizing every dog breed by hand.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32461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0D162B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56616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58200" y="42976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hidden</a:t>
            </a:r>
            <a:endParaRPr lang="en-US" sz="2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plain sight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58200" y="5074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AA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— signals graphs alone can't surface.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that never stop changing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90372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email spam classifier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developer, you might write: if the word 'huge' appears more than three times, mark the email as spam. That works — until advertisers switch to 'massive' or 'big' instead.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patch the rule. Advertisers adapt again. You're stuck rewriting if-else logic forever, one keyword at a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640080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17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Machine Learning: the model learns spam signals directly from labeled examples. When the data shifts, the model updates — no manual rewrite required.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8120" y="1645920"/>
            <a:ext cx="3730752" cy="420624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PATCHWORK PROBLEM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22860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'huge' &gt; 3x  → spam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5292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9100" y="2852928"/>
            <a:ext cx="3162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'massive' &gt; 3x → spam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341985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4198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'big deal' → spam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3986784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9867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emoji-heavy → spam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4553712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24304F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45537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...forever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cases to enumerate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does this picture contain a dog?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breeds. Different sizes, colors, coats, poses, lighting. Writing an if-else rule to cover every visual variation of “dog” by hand simply isn't possible.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DO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children, we weren't given a rulebook for 'dog.' We were shown examples, tagged them, and our minds learned the pattern by exposure — exactly the approach machine learning takes with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7744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 texture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shape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4846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FCA31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4846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86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mix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77440" y="548640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5486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28560" y="5166360"/>
            <a:ext cx="3992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 list keeps growing. Machine learning generalizes across all of it from examples, not enumeration.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hidden from plain 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E8EC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graphs, look for patterns visible to the eye — trends, outliers, obvious correlations.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738628"/>
            <a:ext cx="301752" cy="237744"/>
          </a:xfrm>
          <a:prstGeom prst="rightArrow">
            <a:avLst/>
          </a:prstGeom>
          <a:solidFill>
            <a:srgbClr val="FCA311"/>
          </a:solidFill>
          <a:ln/>
        </p:spPr>
      </p:sp>
      <p:sp>
        <p:nvSpPr>
          <p:cNvPr id="9" name="Shape 7"/>
          <p:cNvSpPr/>
          <p:nvPr/>
        </p:nvSpPr>
        <p:spPr>
          <a:xfrm>
            <a:off x="6291072" y="169164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423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65392" y="29260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machine learning algorithm to surface patterns too subtle or high-dimensional for a graph to reveal.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908792" cy="1463040"/>
          </a:xfrm>
          <a:prstGeom prst="roundRect">
            <a:avLst>
              <a:gd name="adj" fmla="val 7500"/>
            </a:avLst>
          </a:prstGeom>
          <a:solidFill>
            <a:srgbClr val="E8EC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scanning email text visually can't reveal the words that predict spam, a machine learning model can — it extracts the pattern (e.g. 'huge' repeated often) automatically. That extraction step is data mining.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machine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“Machine learning is older than it looks — it just didn't have its breakout role until the data and hardware caught up.”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2A35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2980944"/>
            <a:ext cx="164592" cy="164592"/>
          </a:xfrm>
          <a:prstGeom prst="ellipse">
            <a:avLst/>
          </a:prstGeom>
          <a:solidFill>
            <a:srgbClr val="6B7A9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~1970s–80s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716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statistics behind ML already exist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23944" y="2980944"/>
            <a:ext cx="164592" cy="164592"/>
          </a:xfrm>
          <a:prstGeom prst="ellipse">
            <a:avLst/>
          </a:prstGeom>
          <a:solidFill>
            <a:srgbClr val="6B7A9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decades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5468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back by scarce data &amp; weak hardware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41464" y="2980944"/>
            <a:ext cx="164592" cy="164592"/>
          </a:xfrm>
          <a:prstGeom prst="ellipse">
            <a:avLst/>
          </a:prstGeom>
          <a:solidFill>
            <a:srgbClr val="6B7A9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220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+ internet: data explodes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67544" y="2980944"/>
            <a:ext cx="164592" cy="164592"/>
          </a:xfrm>
          <a:prstGeom prst="ellipse">
            <a:avLst/>
          </a:prstGeom>
          <a:solidFill>
            <a:srgbClr val="FCA311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9828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GPUs + huge data = the ML boom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07492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D162B"/>
          </a:solidFill>
          <a:ln w="12700">
            <a:solidFill>
              <a:srgbClr val="2430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30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bottlenecks broke at once: (1) data — 4B+ internet users now generate more data per year than existed in all of history before 2015. (2) hardware — phones today carry more compute than research labs had a generation ago.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CAREER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ML salaries are high — for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6642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skill enters demand (once it was Java — now it's ML).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286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professionals know it yet; companies compete for the same small pool.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9077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pushes salaries up — plain supply and demand.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5295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learn the skill over time — the pool grows.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78808"/>
            <a:ext cx="384048" cy="384048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1513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catches up to demand, and salaries normalize.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5056632" cy="3246120"/>
          </a:xfrm>
          <a:prstGeom prst="roundRect">
            <a:avLst>
              <a:gd name="adj" fmla="val 3380"/>
            </a:avLst>
          </a:prstGeom>
          <a:solidFill>
            <a:srgbClr val="E8ECF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CURVE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4343400"/>
            <a:ext cx="4480560" cy="0"/>
          </a:xfrm>
          <a:prstGeom prst="line">
            <a:avLst/>
          </a:prstGeom>
          <a:noFill/>
          <a:ln w="19050">
            <a:solidFill>
              <a:srgbClr val="C7C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377440"/>
            <a:ext cx="0" cy="1965960"/>
          </a:xfrm>
          <a:prstGeom prst="line">
            <a:avLst/>
          </a:prstGeom>
          <a:noFill/>
          <a:ln w="19050">
            <a:solidFill>
              <a:srgbClr val="C7CE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6903720" y="3977640"/>
            <a:ext cx="685800" cy="32004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589520" y="3429000"/>
            <a:ext cx="640080" cy="54864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229600" y="2788920"/>
            <a:ext cx="640080" cy="64008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8869680" y="2514600"/>
            <a:ext cx="640080" cy="27432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9509760" y="2423160"/>
            <a:ext cx="640080" cy="9144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149840" y="2377440"/>
            <a:ext cx="1005840" cy="4572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3364992"/>
            <a:ext cx="109728" cy="1097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 rot="16200000">
            <a:off x="6537960" y="30175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pool 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21208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560527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early on the curve — the scarcity premium is real right now. It won't last forever, which is exactly why learning correctly, today, matters.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8196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gives systems the ability to learn from data using statistics — instead of hand-written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9280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6872" y="18196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shift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76872" y="21488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code, you write the logic. In ML, the algorithm derives logic from labeled examples.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44728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374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37033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changing, cases too numerous to list, or patterns too subtle to graph.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2461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44728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76872" y="33741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new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76872" y="37033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is decades old; 2010s data + hardware growth is what triggered the boom.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00176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9286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are cyclical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52578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high salaries reflect scarce talent — expect normalization as more people learn ML.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91072" y="48006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5001768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76872" y="49286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algorithms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76872" y="52578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algorithms isn't enough — the full ML lifecycle matters just as much.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1155</Words>
  <Application>Microsoft Office PowerPoint</Application>
  <PresentationFormat>Custom</PresentationFormat>
  <Paragraphs>182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6</cp:revision>
  <dcterms:created xsi:type="dcterms:W3CDTF">2026-08-22T06:53:20Z</dcterms:created>
  <dcterms:modified xsi:type="dcterms:W3CDTF">2026-08-24T02:25:23Z</dcterms:modified>
</cp:coreProperties>
</file>