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0" d="100"/>
          <a:sy n="90" d="100"/>
        </p:scale>
        <p:origin x="-370" y="2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84642F-6D01-4F5B-89EB-82E4833E7E4B}" type="datetimeFigureOut">
              <a:rPr lang="en-IN" smtClean="0"/>
              <a:t>24-08-2026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01D12-7A98-4EF4-BD61-DB5944BC8C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74343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92024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8ECF5"/>
          </a:solidFill>
          <a:ln/>
        </p:spPr>
      </p:sp>
      <p:sp>
        <p:nvSpPr>
          <p:cNvPr id="3" name="Shape 1"/>
          <p:cNvSpPr/>
          <p:nvPr/>
        </p:nvSpPr>
        <p:spPr>
          <a:xfrm>
            <a:off x="8065008" y="2194560"/>
            <a:ext cx="274320" cy="274320"/>
          </a:xfrm>
          <a:prstGeom prst="ellipse">
            <a:avLst/>
          </a:prstGeom>
          <a:solidFill>
            <a:srgbClr val="3D5A99"/>
          </a:solidFill>
          <a:ln/>
        </p:spPr>
      </p:sp>
      <p:sp>
        <p:nvSpPr>
          <p:cNvPr id="4" name="Text 2"/>
          <p:cNvSpPr/>
          <p:nvPr/>
        </p:nvSpPr>
        <p:spPr>
          <a:xfrm>
            <a:off x="8458200" y="202996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58200" y="2350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at all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863840" y="297180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8ECF5"/>
          </a:solidFill>
          <a:ln/>
        </p:spPr>
      </p:sp>
      <p:sp>
        <p:nvSpPr>
          <p:cNvPr id="7" name="Shape 5"/>
          <p:cNvSpPr/>
          <p:nvPr/>
        </p:nvSpPr>
        <p:spPr>
          <a:xfrm>
            <a:off x="8065008" y="3246120"/>
            <a:ext cx="274320" cy="27432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8" name="Text 6"/>
          <p:cNvSpPr/>
          <p:nvPr/>
        </p:nvSpPr>
        <p:spPr>
          <a:xfrm>
            <a:off x="8458200" y="308152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458200" y="340156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only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863840" y="402336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8065008" y="4297680"/>
            <a:ext cx="274320" cy="274320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413308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Semi-Supervised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58200" y="44531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labeled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863840" y="5074920"/>
            <a:ext cx="3566160" cy="822960"/>
          </a:xfrm>
          <a:prstGeom prst="roundRect">
            <a:avLst>
              <a:gd name="adj" fmla="val 11111"/>
            </a:avLst>
          </a:prstGeom>
          <a:solidFill>
            <a:srgbClr val="E8EC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065008" y="5349240"/>
            <a:ext cx="274320" cy="27432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51846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458200" y="550468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labeled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86384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SUPERVISION NEEDED →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FUNDAMENTALS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94360" y="2331720"/>
            <a:ext cx="6858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Machine</a:t>
            </a:r>
            <a:endParaRPr lang="en-US" sz="42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640080" y="420624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algorithm can be sorted by one simple question: how much supervision does it actually need?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PICTURE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categories, one dividing question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much external supervision does the algorithm need to learn?”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103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8ECF5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03120"/>
            <a:ext cx="2606040" cy="128016"/>
          </a:xfrm>
          <a:prstGeom prst="roundRect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68680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both given. Learn the relationship between them.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465576" y="2103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3465576" y="2103120"/>
            <a:ext cx="2606040" cy="128016"/>
          </a:xfrm>
          <a:prstGeom prst="roundRect">
            <a:avLst/>
          </a:prstGeom>
          <a:solidFill>
            <a:srgbClr val="2E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3694176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94176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input given. Find structure or patterns with no labels at all.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91072" y="2103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8ECF5"/>
          </a:solidFill>
          <a:ln/>
        </p:spPr>
      </p:sp>
      <p:sp>
        <p:nvSpPr>
          <p:cNvPr id="15" name="Shape 13"/>
          <p:cNvSpPr/>
          <p:nvPr/>
        </p:nvSpPr>
        <p:spPr>
          <a:xfrm>
            <a:off x="6291072" y="2103120"/>
            <a:ext cx="2606040" cy="128016"/>
          </a:xfrm>
          <a:prstGeom prst="roundRect">
            <a:avLst/>
          </a:prstGeom>
          <a:solidFill>
            <a:srgbClr val="8E6FB0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Semi-Supervised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519672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little labeled data, plus a lot of unlabeled data to lean 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16568" y="2103120"/>
            <a:ext cx="2606040" cy="3931920"/>
          </a:xfrm>
          <a:prstGeom prst="roundRect">
            <a:avLst>
              <a:gd name="adj" fmla="val 4211"/>
            </a:avLst>
          </a:prstGeom>
          <a:solidFill>
            <a:srgbClr val="E8ECF5"/>
          </a:solidFill>
          <a:ln/>
        </p:spPr>
      </p:sp>
      <p:sp>
        <p:nvSpPr>
          <p:cNvPr id="19" name="Shape 17"/>
          <p:cNvSpPr/>
          <p:nvPr/>
        </p:nvSpPr>
        <p:spPr>
          <a:xfrm>
            <a:off x="9116568" y="2103120"/>
            <a:ext cx="2606040" cy="128016"/>
          </a:xfrm>
          <a:prstGeom prst="roundRect">
            <a:avLst/>
          </a:prstGeom>
          <a:solidFill>
            <a:srgbClr val="3D5A99"/>
          </a:solidFill>
          <a:ln/>
        </p:spPr>
      </p:sp>
      <p:sp>
        <p:nvSpPr>
          <p:cNvPr id="20" name="Text 18"/>
          <p:cNvSpPr/>
          <p:nvPr/>
        </p:nvSpPr>
        <p:spPr>
          <a:xfrm>
            <a:off x="9345168" y="24688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345168" y="3200400"/>
            <a:ext cx="21488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up front. An agent learns by acting and getting rewarded.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SUPERVISED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data that already has answers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9659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your dataset has both input and output columns, and your job is to learn the relationship between them so you can predict the output for new inputs — that's supervised learning.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will a student get placed?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280160" cy="411480"/>
          </a:xfrm>
          <a:prstGeom prst="rect">
            <a:avLst/>
          </a:prstGeom>
          <a:solidFill>
            <a:srgbClr val="14213D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20240" y="3840480"/>
            <a:ext cx="1280160" cy="411480"/>
          </a:xfrm>
          <a:prstGeom prst="rect">
            <a:avLst/>
          </a:prstGeom>
          <a:solidFill>
            <a:srgbClr val="14213D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840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200400" y="3840480"/>
            <a:ext cx="1554480" cy="411480"/>
          </a:xfrm>
          <a:prstGeom prst="rect">
            <a:avLst/>
          </a:prstGeom>
          <a:solidFill>
            <a:srgbClr val="14213D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384048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0080" y="425196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251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920240" y="425196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0" y="4251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00400" y="4251960"/>
            <a:ext cx="15544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425196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solidFill>
            <a:srgbClr val="F5F7FB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920240" y="4663440"/>
            <a:ext cx="1280160" cy="411480"/>
          </a:xfrm>
          <a:prstGeom prst="rect">
            <a:avLst/>
          </a:prstGeom>
          <a:solidFill>
            <a:srgbClr val="F5F7FB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4663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200400" y="4663440"/>
            <a:ext cx="1554480" cy="411480"/>
          </a:xfrm>
          <a:prstGeom prst="rect">
            <a:avLst/>
          </a:prstGeom>
          <a:solidFill>
            <a:srgbClr val="F5F7FB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0" y="466344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5074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920240" y="507492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0" y="5074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00400" y="5074920"/>
            <a:ext cx="155448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507492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305217" y="3383280"/>
            <a:ext cx="6336792" cy="2743200"/>
          </a:xfrm>
          <a:prstGeom prst="roundRect">
            <a:avLst>
              <a:gd name="adj" fmla="val 3333"/>
            </a:avLst>
          </a:prstGeom>
          <a:solidFill>
            <a:srgbClr val="E8ECF5"/>
          </a:solidFill>
          <a:ln/>
        </p:spPr>
      </p:sp>
      <p:sp>
        <p:nvSpPr>
          <p:cNvPr id="34" name="Text 32"/>
          <p:cNvSpPr/>
          <p:nvPr/>
        </p:nvSpPr>
        <p:spPr>
          <a:xfrm>
            <a:off x="5468112" y="3547872"/>
            <a:ext cx="5824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COLUMNS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68112" y="3822192"/>
            <a:ext cx="5824728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 and CGPA are the input columns — what you already know. Placement is the output (target) column — what depends on the inputs.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supervised algorithm studies this input-output relationship, then predicts placement for a brand-new student it has never seen.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SUPERVISED LEARNING</a:t>
            </a:r>
            <a:endParaRPr lang="en-US" sz="1600" b="1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flavors: regression vs. classification</a:t>
            </a:r>
            <a:endParaRPr lang="en-US" sz="3600" b="1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split comes down to one thing — what type of data is in your output column.</a:t>
            </a:r>
            <a:endParaRPr lang="en-US" sz="1600" b="1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8ECF5"/>
          </a:solidFill>
          <a:ln/>
        </p:spPr>
      </p:sp>
      <p:sp>
        <p:nvSpPr>
          <p:cNvPr id="7" name="Shape 5"/>
          <p:cNvSpPr/>
          <p:nvPr/>
        </p:nvSpPr>
        <p:spPr>
          <a:xfrm>
            <a:off x="932688" y="2258568"/>
            <a:ext cx="201168" cy="201168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21488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2400" b="1" dirty="0"/>
          </a:p>
        </p:txBody>
      </p:sp>
      <p:sp>
        <p:nvSpPr>
          <p:cNvPr id="9" name="Text 7"/>
          <p:cNvSpPr/>
          <p:nvPr/>
        </p:nvSpPr>
        <p:spPr>
          <a:xfrm>
            <a:off x="932688" y="27432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 is numerical</a:t>
            </a:r>
            <a:endParaRPr lang="en-US" sz="1600" b="1" dirty="0"/>
          </a:p>
        </p:txBody>
      </p:sp>
      <p:sp>
        <p:nvSpPr>
          <p:cNvPr id="10" name="Shape 8"/>
          <p:cNvSpPr/>
          <p:nvPr/>
        </p:nvSpPr>
        <p:spPr>
          <a:xfrm>
            <a:off x="932688" y="3392424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1" name="Text 9"/>
          <p:cNvSpPr/>
          <p:nvPr/>
        </p:nvSpPr>
        <p:spPr>
          <a:xfrm>
            <a:off x="1170432" y="322783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package (salary) from IQ + CGPA</a:t>
            </a:r>
            <a:endParaRPr lang="en-US" sz="1600" b="1" dirty="0"/>
          </a:p>
        </p:txBody>
      </p:sp>
      <p:sp>
        <p:nvSpPr>
          <p:cNvPr id="12" name="Shape 10"/>
          <p:cNvSpPr/>
          <p:nvPr/>
        </p:nvSpPr>
        <p:spPr>
          <a:xfrm>
            <a:off x="932688" y="4261104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409651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 house price</a:t>
            </a:r>
            <a:endParaRPr lang="en-US" sz="1600" b="1" dirty="0"/>
          </a:p>
        </p:txBody>
      </p:sp>
      <p:sp>
        <p:nvSpPr>
          <p:cNvPr id="14" name="Shape 12"/>
          <p:cNvSpPr/>
          <p:nvPr/>
        </p:nvSpPr>
        <p:spPr>
          <a:xfrm>
            <a:off x="932688" y="5129784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5" name="Text 13"/>
          <p:cNvSpPr/>
          <p:nvPr/>
        </p:nvSpPr>
        <p:spPr>
          <a:xfrm>
            <a:off x="1170432" y="496519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output that's a number on a continuous scale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291072" y="19659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8ECF5"/>
          </a:solidFill>
          <a:ln/>
        </p:spPr>
      </p:sp>
      <p:sp>
        <p:nvSpPr>
          <p:cNvPr id="17" name="Shape 15"/>
          <p:cNvSpPr/>
          <p:nvPr/>
        </p:nvSpPr>
        <p:spPr>
          <a:xfrm>
            <a:off x="6583680" y="2258568"/>
            <a:ext cx="201168" cy="201168"/>
          </a:xfrm>
          <a:prstGeom prst="ellipse">
            <a:avLst/>
          </a:prstGeom>
          <a:solidFill>
            <a:srgbClr val="3D5A99"/>
          </a:solidFill>
          <a:ln/>
        </p:spPr>
      </p:sp>
      <p:sp>
        <p:nvSpPr>
          <p:cNvPr id="18" name="Text 16"/>
          <p:cNvSpPr/>
          <p:nvPr/>
        </p:nvSpPr>
        <p:spPr>
          <a:xfrm>
            <a:off x="6912864" y="21488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2400" b="1" dirty="0"/>
          </a:p>
        </p:txBody>
      </p:sp>
      <p:sp>
        <p:nvSpPr>
          <p:cNvPr id="19" name="Text 17"/>
          <p:cNvSpPr/>
          <p:nvPr/>
        </p:nvSpPr>
        <p:spPr>
          <a:xfrm>
            <a:off x="6583680" y="27432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column is categorical</a:t>
            </a:r>
            <a:endParaRPr lang="en-US" sz="1600" b="1" dirty="0"/>
          </a:p>
        </p:txBody>
      </p:sp>
      <p:sp>
        <p:nvSpPr>
          <p:cNvPr id="20" name="Shape 18"/>
          <p:cNvSpPr/>
          <p:nvPr/>
        </p:nvSpPr>
        <p:spPr>
          <a:xfrm>
            <a:off x="6583680" y="3392424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1" name="Text 19"/>
          <p:cNvSpPr/>
          <p:nvPr/>
        </p:nvSpPr>
        <p:spPr>
          <a:xfrm>
            <a:off x="6821424" y="322783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this student get placed? (Yes / No)</a:t>
            </a:r>
            <a:endParaRPr lang="en-US" sz="1600" b="1" dirty="0"/>
          </a:p>
        </p:txBody>
      </p:sp>
      <p:sp>
        <p:nvSpPr>
          <p:cNvPr id="22" name="Shape 20"/>
          <p:cNvSpPr/>
          <p:nvPr/>
        </p:nvSpPr>
        <p:spPr>
          <a:xfrm>
            <a:off x="6583680" y="4261104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/>
          <p:nvPr/>
        </p:nvSpPr>
        <p:spPr>
          <a:xfrm>
            <a:off x="6821424" y="409651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email spam?</a:t>
            </a:r>
            <a:endParaRPr lang="en-US" sz="1600" b="1" dirty="0"/>
          </a:p>
        </p:txBody>
      </p:sp>
      <p:sp>
        <p:nvSpPr>
          <p:cNvPr id="24" name="Shape 22"/>
          <p:cNvSpPr/>
          <p:nvPr/>
        </p:nvSpPr>
        <p:spPr>
          <a:xfrm>
            <a:off x="6583680" y="5129784"/>
            <a:ext cx="91440" cy="914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5" name="Text 23"/>
          <p:cNvSpPr/>
          <p:nvPr/>
        </p:nvSpPr>
        <p:spPr>
          <a:xfrm>
            <a:off x="6821424" y="4965192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b="1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 it rain today? Does this image contain a dog?</a:t>
            </a:r>
            <a:endParaRPr lang="en-US" sz="1600" b="1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000" b="1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UNSUPERVISED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from data with no answers at all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away the output column entirely. Now you only have input — no labels telling the algorithm what's “right.” There's no prediction target, so the algorithm looks for structure instead.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students, minus the answer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40080" y="3840480"/>
            <a:ext cx="1280160" cy="411480"/>
          </a:xfrm>
          <a:prstGeom prst="rect">
            <a:avLst/>
          </a:prstGeom>
          <a:solidFill>
            <a:srgbClr val="14213D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840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920240" y="3840480"/>
            <a:ext cx="1280160" cy="411480"/>
          </a:xfrm>
          <a:prstGeom prst="rect">
            <a:avLst/>
          </a:prstGeom>
          <a:solidFill>
            <a:srgbClr val="14213D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38404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CGPA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425196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51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920240" y="425196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42519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7.1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solidFill>
            <a:srgbClr val="F5F7FB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663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920240" y="4663440"/>
            <a:ext cx="1280160" cy="411480"/>
          </a:xfrm>
          <a:prstGeom prst="rect">
            <a:avLst/>
          </a:prstGeom>
          <a:solidFill>
            <a:srgbClr val="F5F7FB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920240" y="46634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8.9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0080" y="507492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074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920240" y="5074920"/>
            <a:ext cx="12801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C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5074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6.3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87687" y="3467950"/>
            <a:ext cx="7525512" cy="2743200"/>
          </a:xfrm>
          <a:prstGeom prst="roundRect">
            <a:avLst>
              <a:gd name="adj" fmla="val 3333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279392" y="3547872"/>
            <a:ext cx="70134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 YOU CAN DO WITH NO LABELS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279392" y="3822192"/>
            <a:ext cx="7013448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splits into four common jobs: clustering, dimensionality reduction, anomaly detection, and association rule learning. Each finds a different kind of structure hiding in unlabeled data — covered one by one next.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UNSUPERVISED LEARNING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Clustering: grouping similar things together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11680"/>
            <a:ext cx="6309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clustering algorithm looks at unlabeled student data and finds natural groups — without ever being told what the groups should be.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880360"/>
            <a:ext cx="6309360" cy="685800"/>
          </a:xfrm>
          <a:prstGeom prst="roundRect">
            <a:avLst>
              <a:gd name="adj" fmla="val 10667"/>
            </a:avLst>
          </a:prstGeom>
          <a:solidFill>
            <a:srgbClr val="E8ECF5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3081528"/>
            <a:ext cx="274320" cy="274320"/>
          </a:xfrm>
          <a:prstGeom prst="ellipse">
            <a:avLst/>
          </a:prstGeom>
          <a:solidFill>
            <a:srgbClr val="6B7A99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29718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0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971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IQ, low CGPA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3749040"/>
            <a:ext cx="6309360" cy="685800"/>
          </a:xfrm>
          <a:prstGeom prst="roundRect">
            <a:avLst>
              <a:gd name="adj" fmla="val 10667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868680" y="3950208"/>
            <a:ext cx="274320" cy="274320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384048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IQ, high CGPA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617720"/>
            <a:ext cx="6309360" cy="685800"/>
          </a:xfrm>
          <a:prstGeom prst="roundRect">
            <a:avLst>
              <a:gd name="adj" fmla="val 10667"/>
            </a:avLst>
          </a:prstGeom>
          <a:solidFill>
            <a:srgbClr val="E8ECF5"/>
          </a:solidFill>
          <a:ln/>
        </p:spPr>
      </p:sp>
      <p:sp>
        <p:nvSpPr>
          <p:cNvPr id="15" name="Shape 13"/>
          <p:cNvSpPr/>
          <p:nvPr/>
        </p:nvSpPr>
        <p:spPr>
          <a:xfrm>
            <a:off x="868680" y="4818888"/>
            <a:ext cx="274320" cy="274320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47091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4709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IQ, low CGPA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223760" y="2011680"/>
            <a:ext cx="4325112" cy="4160520"/>
          </a:xfrm>
          <a:prstGeom prst="roundRect">
            <a:avLst>
              <a:gd name="adj" fmla="val 2198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79792" y="2176272"/>
            <a:ext cx="38130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79792" y="2450592"/>
            <a:ext cx="3813048" cy="3557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students (or customers) are grouped, you can treat each group differently — target support, marketing, or coaching by cluster instead of one-size-fits-all.</a:t>
            </a: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endParaRPr lang="en-US" sz="16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how e-commerce platforms segment customers by browsing and buying behavior, without anyone hand-labeling a single customer.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UNSUPERVISED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reduction: fewer columns, same story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2286000"/>
          </a:xfrm>
          <a:prstGeom prst="roundRect">
            <a:avLst>
              <a:gd name="adj" fmla="val 4000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4745736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datasets have hundreds or thousands of input columns. Training gets slower, and beyond a point extra columns stop adding useful information — this is called the curse of dimensionality.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172200" y="1965960"/>
            <a:ext cx="5376672" cy="2286000"/>
          </a:xfrm>
          <a:prstGeom prst="roundRect">
            <a:avLst>
              <a:gd name="adj" fmla="val 4000"/>
            </a:avLst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6428232" y="2130552"/>
            <a:ext cx="486460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EXAMPLE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28232" y="2404872"/>
            <a:ext cx="4864608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house price from “number of rooms” and “number of washrooms”? Combine both into a single new column — total area — that captures the same signal with one column instead of two.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4480560"/>
            <a:ext cx="10908792" cy="1691640"/>
          </a:xfrm>
          <a:prstGeom prst="roundRect">
            <a:avLst>
              <a:gd name="adj" fmla="val 5405"/>
            </a:avLst>
          </a:prstGeom>
          <a:solidFill>
            <a:srgbClr val="E8ECF5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46451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USED FOR: VISUALIZATION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96112" y="4919472"/>
            <a:ext cx="10396728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dataset like MNIST handwritten digits has 784 input columns (28×28 pixels) — far too many to plot. Techniques like PCA or t-SNE compress that down to 2 or 3 dimensions so you can actually see the data on a chart, with each digit's points clustering by color.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UNSUPERVISED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 &amp; association rule learning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60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algorithm learns what “normal” data looks like, then flags anything that doesn't fit — no labels needed for what “abnormal” means.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3657600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36576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defect detection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4224528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2245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4791456"/>
            <a:ext cx="47091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C7CE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791456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approval risk flags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91072" y="1965960"/>
            <a:ext cx="5257800" cy="4206240"/>
          </a:xfrm>
          <a:prstGeom prst="roundRect">
            <a:avLst>
              <a:gd name="adj" fmla="val 2609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65392" y="2194560"/>
            <a:ext cx="4709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Association rule learning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565392" y="26974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800"/>
              </a:lnSpc>
              <a:buNone/>
            </a:pPr>
            <a:r>
              <a:rPr lang="en-US" sz="1600" dirty="0">
                <a:solidFill>
                  <a:srgbClr val="C7CE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items that tend to appear together, so you can decide what belongs next to what — useful for store layout or product recommendations.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565392" y="3657600"/>
            <a:ext cx="4709160" cy="2194560"/>
          </a:xfrm>
          <a:prstGeom prst="roundRect">
            <a:avLst>
              <a:gd name="adj" fmla="val 3333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382219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WALMART STORY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766560" y="4096512"/>
            <a:ext cx="42976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ts val="1700"/>
              </a:lnSpc>
              <a:buNone/>
            </a:pPr>
            <a:r>
              <a:rPr lang="en-US" sz="160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past receipts, Walmart found that when customers bought baby diapers, they often bought beer in the same trip — an unrelated-looking pair. Placing them near each other increased sales.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SEMI-SUPERVISED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labeling everything is too expensive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10908792" cy="1234440"/>
          </a:xfrm>
          <a:prstGeom prst="roundRect">
            <a:avLst>
              <a:gd name="adj" fmla="val 7407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103967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IT SOLVES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10396728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cost real time and money — someone has to sit down and manually mark every input with its correct output. Semi-supervised learning asks: what if you only had to label a handful of points, and the rest labeled themselves?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Google Photos face grouping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886200"/>
            <a:ext cx="329184" cy="32918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8862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Photos automatically clusters photos of the same face together — without knowing anyone's name.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453128"/>
            <a:ext cx="329184" cy="32918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4531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4407408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label just one photo: “This is Dad.”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5020056"/>
            <a:ext cx="329184" cy="32918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502005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974336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photo already grouped with that face gets labeled “Dad” automatically.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5586984"/>
            <a:ext cx="329184" cy="32918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558698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5541264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once for Mum, and her whole cluster is labeled too — you never labeled each photo individually.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REINFORCEMENT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by doing, not by data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ECF5"/>
          </a:solidFill>
          <a:ln/>
        </p:spPr>
      </p:sp>
      <p:sp>
        <p:nvSpPr>
          <p:cNvPr id="6" name="Text 4"/>
          <p:cNvSpPr/>
          <p:nvPr/>
        </p:nvSpPr>
        <p:spPr>
          <a:xfrm>
            <a:off x="896112" y="213055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96112" y="2404872"/>
            <a:ext cx="4745736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There's no dataset at all up front. An agent acts inside an environment, gets rewarded or punished for each action, and gradually improves its policy — its rulebook for what to do next.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5257800" cy="2057400"/>
          </a:xfrm>
          <a:prstGeom prst="roundRect">
            <a:avLst>
              <a:gd name="adj" fmla="val 4444"/>
            </a:avLst>
          </a:prstGeom>
          <a:solidFill>
            <a:srgbClr val="E8ECF5"/>
          </a:solidFill>
          <a:ln/>
        </p:spPr>
      </p:sp>
      <p:sp>
        <p:nvSpPr>
          <p:cNvPr id="9" name="Text 7"/>
          <p:cNvSpPr/>
          <p:nvPr/>
        </p:nvSpPr>
        <p:spPr>
          <a:xfrm>
            <a:off x="896112" y="427939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HUMANS LEARN THIS WAY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96112" y="4553712"/>
            <a:ext cx="4745736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8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taught you the exact rules for college life — you tried things, made mistakes, and adjusted. Learning to drive works the same way: gradual trial, feedback, and improvement.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172200" y="1965960"/>
            <a:ext cx="5376672" cy="4206240"/>
          </a:xfrm>
          <a:prstGeom prst="roundRect">
            <a:avLst>
              <a:gd name="adj" fmla="val 2609"/>
            </a:avLst>
          </a:prstGeom>
          <a:solidFill>
            <a:srgbClr val="14213D"/>
          </a:solidFill>
          <a:ln/>
          <a:effectLst>
            <a:outerShdw blurRad="101600" dist="38100" dir="5400000" algn="bl" rotWithShape="0">
              <a:srgbClr val="1B1F3B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214884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2514600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2514600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takes an action in its environment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118104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29400" y="3118104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returns a reward or a penalty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46520" y="3721608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29400" y="37216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updates its policy based on the outcome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46520" y="4325112"/>
            <a:ext cx="4846320" cy="502920"/>
          </a:xfrm>
          <a:prstGeom prst="roundRect">
            <a:avLst>
              <a:gd name="adj" fmla="val 12727"/>
            </a:avLst>
          </a:prstGeom>
          <a:solidFill>
            <a:srgbClr val="0D162B"/>
          </a:solidFill>
          <a:ln w="9525">
            <a:solidFill>
              <a:srgbClr val="2A355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29400" y="4325112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DE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— performance improves over time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5056632"/>
            <a:ext cx="484632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50"/>
              </a:lnSpc>
              <a:buNone/>
            </a:pPr>
            <a:r>
              <a:rPr lang="en-US" sz="1130" i="1" dirty="0">
                <a:solidFill>
                  <a:srgbClr val="AAB4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Famous example: Google DeepMind's AlphaGo agent beat the reigning world Go champion 4 out of 5 games in 2016/17 — a game once thought too complex for a machine to master.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TOGETHER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type am I looking at?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these questions in order — you should always know where a problem lands.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057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7" name="Shape 5"/>
          <p:cNvSpPr/>
          <p:nvPr/>
        </p:nvSpPr>
        <p:spPr>
          <a:xfrm>
            <a:off x="868680" y="2331720"/>
            <a:ext cx="329184" cy="329184"/>
          </a:xfrm>
          <a:prstGeom prst="ellipse">
            <a:avLst/>
          </a:prstGeom>
          <a:solidFill>
            <a:srgbClr val="3D5A99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33172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371600" y="214884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dataset at all?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583680" y="2148840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Reinforcement Learning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081528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3355848"/>
            <a:ext cx="329184" cy="329184"/>
          </a:xfrm>
          <a:prstGeom prst="ellipse">
            <a:avLst/>
          </a:prstGeom>
          <a:solidFill>
            <a:srgbClr val="2E8B8B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35584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371600" y="3172968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it have an output column?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583680" y="3172968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→ Unsupervised Learning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4105656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4379976"/>
            <a:ext cx="329184" cy="329184"/>
          </a:xfrm>
          <a:prstGeom prst="ellipse">
            <a:avLst/>
          </a:prstGeom>
          <a:solidFill>
            <a:srgbClr val="8E6FB0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37997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371600" y="4197096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all rows labeled, or just a few?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583680" y="4197096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few → Semi-Supervised Learning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129784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E8ECF5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404104"/>
            <a:ext cx="329184" cy="329184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40410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71600" y="5221224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output column numerical or categorical?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83680" y="5221224"/>
            <a:ext cx="4800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→ Regression · Categorical → Classification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10908792" cy="0"/>
          </a:xfrm>
          <a:prstGeom prst="line">
            <a:avLst/>
          </a:prstGeom>
          <a:noFill/>
          <a:ln w="12700">
            <a:solidFill>
              <a:srgbClr val="DCE1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dividing question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325880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supervision does the algorithm need? That single question sorts every ML problem into one of four types.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291072" y="196596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92240" y="21671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671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976872" y="209397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Supervised needs labels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976872" y="242316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and output both given. Numerical output = regression; categorical output = classification.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640080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25880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Unsupervised finds structure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325880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input, no labels. Covers clustering, dimensionality reduction, anomaly detection, and association rules.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6291072" y="352044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92240" y="372160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3721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76872" y="364845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Semi-supervised saves effort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976872" y="397764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a few points; let structure in the unlabeled data propagate the rest, like Google Photos face grouping.</a:t>
            </a:r>
            <a:endParaRPr lang="en-US" sz="1120" dirty="0"/>
          </a:p>
        </p:txBody>
      </p:sp>
      <p:sp>
        <p:nvSpPr>
          <p:cNvPr id="25" name="Shape 23"/>
          <p:cNvSpPr/>
          <p:nvPr/>
        </p:nvSpPr>
        <p:spPr>
          <a:xfrm>
            <a:off x="640080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25880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Reinforcement learns by doing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1325880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dataset up front — an agent improves its policy through trial, reward, and penalty.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6291072" y="5074920"/>
            <a:ext cx="5257800" cy="1298448"/>
          </a:xfrm>
          <a:prstGeom prst="roundRect">
            <a:avLst>
              <a:gd name="adj" fmla="val 7042"/>
            </a:avLst>
          </a:prstGeom>
          <a:solidFill>
            <a:srgbClr val="E8EC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92240" y="52760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FCA311"/>
          </a:solidFill>
          <a:ln/>
        </p:spPr>
      </p:sp>
      <p:sp>
        <p:nvSpPr>
          <p:cNvPr id="32" name="Text 30"/>
          <p:cNvSpPr/>
          <p:nvPr/>
        </p:nvSpPr>
        <p:spPr>
          <a:xfrm>
            <a:off x="6492240" y="527608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976872" y="52029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 your problem first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6976872" y="5532120"/>
            <a:ext cx="4343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20" dirty="0">
                <a:solidFill>
                  <a:srgbClr val="3C42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picking an algorithm, always identify which of the four types you're actually solving.</a:t>
            </a:r>
            <a:endParaRPr lang="en-US" sz="112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kern="0" spc="10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MACHINE LEARNING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1385</Words>
  <Application>Microsoft Office PowerPoint</Application>
  <PresentationFormat>Custom</PresentationFormat>
  <Paragraphs>199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win</cp:lastModifiedBy>
  <cp:revision>5</cp:revision>
  <dcterms:created xsi:type="dcterms:W3CDTF">2026-08-22T10:13:59Z</dcterms:created>
  <dcterms:modified xsi:type="dcterms:W3CDTF">2026-08-24T07:27:38Z</dcterms:modified>
</cp:coreProperties>
</file>