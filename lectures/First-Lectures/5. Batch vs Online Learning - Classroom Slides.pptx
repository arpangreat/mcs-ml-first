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95" d="100"/>
          <a:sy n="95" d="100"/>
        </p:scale>
        <p:origin x="-178" y="-1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096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609600"/>
          </a:xfrm>
          <a:prstGeom prst="rect">
            <a:avLst/>
          </a:prstGeom>
        </p:spPr>
        <p:txBody>
          <a:bodyPr vert="horz" lIns="91440" tIns="45720" rIns="91440" bIns="45720" rtlCol="0"/>
          <a:lstStyle>
            <a:lvl1pPr algn="r">
              <a:defRPr sz="1200"/>
            </a:lvl1pPr>
          </a:lstStyle>
          <a:p>
            <a:fld id="{98BA6408-8AE1-4EA8-81F3-642E789A438B}" type="datetimeFigureOut">
              <a:rPr lang="en-IN" smtClean="0"/>
              <a:t>24-08-2026</a:t>
            </a:fld>
            <a:endParaRPr lang="en-IN"/>
          </a:p>
        </p:txBody>
      </p:sp>
      <p:sp>
        <p:nvSpPr>
          <p:cNvPr id="4" name="Slide Image Placeholder 3"/>
          <p:cNvSpPr>
            <a:spLocks noGrp="1" noRot="1" noChangeAspect="1"/>
          </p:cNvSpPr>
          <p:nvPr>
            <p:ph type="sldImg" idx="2"/>
          </p:nvPr>
        </p:nvSpPr>
        <p:spPr>
          <a:xfrm>
            <a:off x="-635000" y="914400"/>
            <a:ext cx="8128000" cy="4572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5791200"/>
            <a:ext cx="5486400" cy="54864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11580813"/>
            <a:ext cx="2971800" cy="6096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11580813"/>
            <a:ext cx="2971800" cy="609600"/>
          </a:xfrm>
          <a:prstGeom prst="rect">
            <a:avLst/>
          </a:prstGeom>
        </p:spPr>
        <p:txBody>
          <a:bodyPr vert="horz" lIns="91440" tIns="45720" rIns="91440" bIns="45720" rtlCol="0" anchor="b"/>
          <a:lstStyle>
            <a:lvl1pPr algn="r">
              <a:defRPr sz="1200"/>
            </a:lvl1pPr>
          </a:lstStyle>
          <a:p>
            <a:fld id="{03CA5901-09AF-4C38-A4E9-C008291453C4}" type="slidenum">
              <a:rPr lang="en-IN" smtClean="0"/>
              <a:t>‹#›</a:t>
            </a:fld>
            <a:endParaRPr lang="en-IN"/>
          </a:p>
        </p:txBody>
      </p:sp>
    </p:spTree>
    <p:extLst>
      <p:ext uri="{BB962C8B-B14F-4D97-AF65-F5344CB8AC3E}">
        <p14:creationId xmlns:p14="http://schemas.microsoft.com/office/powerpoint/2010/main" val="35222123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452360" y="2743200"/>
            <a:ext cx="1783080" cy="1005840"/>
          </a:xfrm>
          <a:prstGeom prst="roundRect">
            <a:avLst>
              <a:gd name="adj" fmla="val 9091"/>
            </a:avLst>
          </a:prstGeom>
          <a:solidFill>
            <a:srgbClr val="E8ECF5"/>
          </a:solidFill>
          <a:ln/>
        </p:spPr>
      </p:sp>
      <p:sp>
        <p:nvSpPr>
          <p:cNvPr id="3" name="Text 1"/>
          <p:cNvSpPr/>
          <p:nvPr/>
        </p:nvSpPr>
        <p:spPr>
          <a:xfrm>
            <a:off x="7452360" y="3063240"/>
            <a:ext cx="1783080" cy="365760"/>
          </a:xfrm>
          <a:prstGeom prst="rect">
            <a:avLst/>
          </a:prstGeom>
          <a:noFill/>
          <a:ln/>
        </p:spPr>
        <p:txBody>
          <a:bodyPr wrap="square" rtlCol="0" anchor="ctr"/>
          <a:lstStyle/>
          <a:p>
            <a:pPr marL="0" indent="0" algn="ctr">
              <a:buNone/>
            </a:pPr>
            <a:r>
              <a:rPr lang="en-US" sz="2000" b="1" dirty="0">
                <a:solidFill>
                  <a:srgbClr val="14213D"/>
                </a:solidFill>
                <a:latin typeface="Calibri" pitchFamily="34" charset="0"/>
                <a:ea typeface="Calibri" pitchFamily="34" charset="-122"/>
                <a:cs typeface="Calibri" pitchFamily="34" charset="-120"/>
              </a:rPr>
              <a:t>Development</a:t>
            </a:r>
            <a:endParaRPr lang="en-US" sz="2000" dirty="0"/>
          </a:p>
        </p:txBody>
      </p:sp>
      <p:sp>
        <p:nvSpPr>
          <p:cNvPr id="4" name="Shape 2"/>
          <p:cNvSpPr/>
          <p:nvPr/>
        </p:nvSpPr>
        <p:spPr>
          <a:xfrm>
            <a:off x="9326880" y="3108960"/>
            <a:ext cx="594360" cy="274320"/>
          </a:xfrm>
          <a:prstGeom prst="rightArrow">
            <a:avLst/>
          </a:prstGeom>
          <a:solidFill>
            <a:srgbClr val="FCA311"/>
          </a:solidFill>
          <a:ln/>
        </p:spPr>
      </p:sp>
      <p:sp>
        <p:nvSpPr>
          <p:cNvPr id="5" name="Shape 3"/>
          <p:cNvSpPr/>
          <p:nvPr/>
        </p:nvSpPr>
        <p:spPr>
          <a:xfrm>
            <a:off x="10012680" y="2743200"/>
            <a:ext cx="1783080" cy="1005840"/>
          </a:xfrm>
          <a:prstGeom prst="roundRect">
            <a:avLst>
              <a:gd name="adj" fmla="val 9091"/>
            </a:avLst>
          </a:prstGeom>
          <a:solidFill>
            <a:srgbClr val="14213D"/>
          </a:solidFill>
          <a:ln/>
          <a:effectLst>
            <a:outerShdw blurRad="101600" dist="38100" dir="5400000" algn="bl" rotWithShape="0">
              <a:srgbClr val="1B1F3B">
                <a:alpha val="15000"/>
              </a:srgbClr>
            </a:outerShdw>
          </a:effectLst>
        </p:spPr>
      </p:sp>
      <p:sp>
        <p:nvSpPr>
          <p:cNvPr id="6" name="Text 4"/>
          <p:cNvSpPr/>
          <p:nvPr/>
        </p:nvSpPr>
        <p:spPr>
          <a:xfrm>
            <a:off x="10012680" y="3063240"/>
            <a:ext cx="1783080" cy="36576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Production</a:t>
            </a:r>
            <a:endParaRPr lang="en-US" sz="2000" dirty="0"/>
          </a:p>
        </p:txBody>
      </p:sp>
      <p:sp>
        <p:nvSpPr>
          <p:cNvPr id="7" name="Text 5"/>
          <p:cNvSpPr/>
          <p:nvPr/>
        </p:nvSpPr>
        <p:spPr>
          <a:xfrm>
            <a:off x="640080" y="1920240"/>
            <a:ext cx="7315200" cy="365760"/>
          </a:xfrm>
          <a:prstGeom prst="rect">
            <a:avLst/>
          </a:prstGeom>
          <a:noFill/>
          <a:ln/>
        </p:spPr>
        <p:txBody>
          <a:bodyPr wrap="square" rtlCol="0" anchor="ctr"/>
          <a:lstStyle/>
          <a:p>
            <a:pPr marL="0" indent="0">
              <a:buNone/>
            </a:pPr>
            <a:r>
              <a:rPr lang="en-US" sz="1300" b="1" kern="0" spc="200" dirty="0">
                <a:solidFill>
                  <a:srgbClr val="FCA311"/>
                </a:solidFill>
                <a:latin typeface="Calibri" pitchFamily="34" charset="0"/>
                <a:ea typeface="Calibri" pitchFamily="34" charset="-122"/>
                <a:cs typeface="Calibri" pitchFamily="34" charset="-120"/>
              </a:rPr>
              <a:t>MACHINE LEARNING FUNDAMENTALS</a:t>
            </a:r>
            <a:endParaRPr lang="en-US" sz="1300" dirty="0"/>
          </a:p>
        </p:txBody>
      </p:sp>
      <p:sp>
        <p:nvSpPr>
          <p:cNvPr id="8" name="Text 6"/>
          <p:cNvSpPr/>
          <p:nvPr/>
        </p:nvSpPr>
        <p:spPr>
          <a:xfrm>
            <a:off x="594360" y="2331720"/>
            <a:ext cx="6858000" cy="1737360"/>
          </a:xfrm>
          <a:prstGeom prst="rect">
            <a:avLst/>
          </a:prstGeom>
          <a:noFill/>
          <a:ln/>
        </p:spPr>
        <p:txBody>
          <a:bodyPr wrap="square" rtlCol="0" anchor="ctr"/>
          <a:lstStyle/>
          <a:p>
            <a:pPr marL="0" indent="0">
              <a:lnSpc>
                <a:spcPts val="4600"/>
              </a:lnSpc>
              <a:buNone/>
            </a:pPr>
            <a:r>
              <a:rPr lang="en-US" sz="4200" b="1" dirty="0">
                <a:solidFill>
                  <a:srgbClr val="14213D"/>
                </a:solidFill>
                <a:latin typeface="Cambria" pitchFamily="34" charset="0"/>
                <a:ea typeface="Cambria" pitchFamily="34" charset="-122"/>
                <a:cs typeface="Cambria" pitchFamily="34" charset="-120"/>
              </a:rPr>
              <a:t>Batch vs. Online</a:t>
            </a:r>
            <a:endParaRPr lang="en-US" sz="4200" dirty="0"/>
          </a:p>
          <a:p>
            <a:pPr marL="0" indent="0">
              <a:lnSpc>
                <a:spcPts val="4600"/>
              </a:lnSpc>
              <a:buNone/>
            </a:pPr>
            <a:r>
              <a:rPr lang="en-US" sz="4200" b="1" dirty="0">
                <a:solidFill>
                  <a:srgbClr val="14213D"/>
                </a:solidFill>
                <a:latin typeface="Cambria" pitchFamily="34" charset="0"/>
                <a:ea typeface="Cambria" pitchFamily="34" charset="-122"/>
                <a:cs typeface="Cambria" pitchFamily="34" charset="-120"/>
              </a:rPr>
              <a:t>Learning</a:t>
            </a:r>
            <a:endParaRPr lang="en-US" sz="4200" dirty="0"/>
          </a:p>
        </p:txBody>
      </p:sp>
      <p:sp>
        <p:nvSpPr>
          <p:cNvPr id="9" name="Text 7"/>
          <p:cNvSpPr/>
          <p:nvPr/>
        </p:nvSpPr>
        <p:spPr>
          <a:xfrm>
            <a:off x="640080" y="4206240"/>
            <a:ext cx="6675120" cy="914400"/>
          </a:xfrm>
          <a:prstGeom prst="rect">
            <a:avLst/>
          </a:prstGeom>
          <a:noFill/>
          <a:ln/>
        </p:spPr>
        <p:txBody>
          <a:bodyPr wrap="square" rtlCol="0" anchor="ctr"/>
          <a:lstStyle/>
          <a:p>
            <a:pPr marL="0" indent="0">
              <a:lnSpc>
                <a:spcPts val="2200"/>
              </a:lnSpc>
              <a:buNone/>
            </a:pPr>
            <a:r>
              <a:rPr lang="en-US" dirty="0">
                <a:solidFill>
                  <a:srgbClr val="3C4257"/>
                </a:solidFill>
                <a:latin typeface="Calibri" pitchFamily="34" charset="0"/>
                <a:ea typeface="Calibri" pitchFamily="34" charset="-122"/>
                <a:cs typeface="Calibri" pitchFamily="34" charset="-120"/>
              </a:rPr>
              <a:t>Once a model reaches production, how does it actually get updated? That question splits machine learning into two very different approaches.</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8229600" cy="320040"/>
          </a:xfrm>
          <a:prstGeom prst="rect">
            <a:avLst/>
          </a:prstGeom>
          <a:noFill/>
          <a:ln/>
        </p:spPr>
        <p:txBody>
          <a:bodyPr wrap="square" rtlCol="0" anchor="ctr"/>
          <a:lstStyle/>
          <a:p>
            <a:pPr marL="0" indent="0">
              <a:buNone/>
            </a:pPr>
            <a:r>
              <a:rPr lang="en-US" sz="1200" b="1" kern="0" spc="200" dirty="0">
                <a:solidFill>
                  <a:srgbClr val="FCA311"/>
                </a:solidFill>
                <a:latin typeface="Calibri" pitchFamily="34" charset="0"/>
                <a:ea typeface="Calibri" pitchFamily="34" charset="-122"/>
                <a:cs typeface="Calibri" pitchFamily="34" charset="-120"/>
              </a:rPr>
              <a:t>THE CONTEXT</a:t>
            </a:r>
            <a:endParaRPr lang="en-US" sz="1200" dirty="0"/>
          </a:p>
        </p:txBody>
      </p:sp>
      <p:sp>
        <p:nvSpPr>
          <p:cNvPr id="3" name="Text 1"/>
          <p:cNvSpPr/>
          <p:nvPr/>
        </p:nvSpPr>
        <p:spPr>
          <a:xfrm>
            <a:off x="594360" y="749808"/>
            <a:ext cx="10789920" cy="640080"/>
          </a:xfrm>
          <a:prstGeom prst="rect">
            <a:avLst/>
          </a:prstGeom>
          <a:noFill/>
          <a:ln/>
        </p:spPr>
        <p:txBody>
          <a:bodyPr wrap="square" rtlCol="0" anchor="ctr"/>
          <a:lstStyle/>
          <a:p>
            <a:pPr marL="0" indent="0">
              <a:buNone/>
            </a:pPr>
            <a:r>
              <a:rPr lang="en-US" sz="2800" b="1" dirty="0">
                <a:solidFill>
                  <a:srgbClr val="14213D"/>
                </a:solidFill>
                <a:latin typeface="Cambria" pitchFamily="34" charset="0"/>
                <a:ea typeface="Cambria" pitchFamily="34" charset="-122"/>
                <a:cs typeface="Cambria" pitchFamily="34" charset="-120"/>
              </a:rPr>
              <a:t>First, what does “production” mean?</a:t>
            </a:r>
            <a:endParaRPr lang="en-US" sz="2800" dirty="0"/>
          </a:p>
        </p:txBody>
      </p:sp>
      <p:sp>
        <p:nvSpPr>
          <p:cNvPr id="4" name="Shape 2"/>
          <p:cNvSpPr/>
          <p:nvPr/>
        </p:nvSpPr>
        <p:spPr>
          <a:xfrm>
            <a:off x="640080" y="1481328"/>
            <a:ext cx="10908792" cy="0"/>
          </a:xfrm>
          <a:prstGeom prst="line">
            <a:avLst/>
          </a:prstGeom>
          <a:noFill/>
          <a:ln w="12700">
            <a:solidFill>
              <a:srgbClr val="DCE1EC"/>
            </a:solidFill>
            <a:prstDash val="solid"/>
          </a:ln>
        </p:spPr>
      </p:sp>
      <p:sp>
        <p:nvSpPr>
          <p:cNvPr id="5" name="Shape 3"/>
          <p:cNvSpPr/>
          <p:nvPr/>
        </p:nvSpPr>
        <p:spPr>
          <a:xfrm>
            <a:off x="640080" y="1965960"/>
            <a:ext cx="10908792" cy="1234440"/>
          </a:xfrm>
          <a:prstGeom prst="roundRect">
            <a:avLst>
              <a:gd name="adj" fmla="val 7407"/>
            </a:avLst>
          </a:prstGeom>
          <a:solidFill>
            <a:srgbClr val="E8ECF5"/>
          </a:solidFill>
          <a:ln/>
        </p:spPr>
      </p:sp>
      <p:sp>
        <p:nvSpPr>
          <p:cNvPr id="6" name="Text 4"/>
          <p:cNvSpPr/>
          <p:nvPr/>
        </p:nvSpPr>
        <p:spPr>
          <a:xfrm>
            <a:off x="896112" y="2130552"/>
            <a:ext cx="10396728" cy="274320"/>
          </a:xfrm>
          <a:prstGeom prst="rect">
            <a:avLst/>
          </a:prstGeom>
          <a:noFill/>
          <a:ln/>
        </p:spPr>
        <p:txBody>
          <a:bodyPr wrap="square" rtlCol="0" anchor="ctr"/>
          <a:lstStyle/>
          <a:p>
            <a:pPr marL="0" indent="0">
              <a:buNone/>
            </a:pPr>
            <a:r>
              <a:rPr lang="en-US" sz="1400" b="1" kern="0" spc="130" dirty="0">
                <a:solidFill>
                  <a:srgbClr val="FCA311"/>
                </a:solidFill>
                <a:latin typeface="Calibri" pitchFamily="34" charset="0"/>
                <a:ea typeface="Calibri" pitchFamily="34" charset="-122"/>
                <a:cs typeface="Calibri" pitchFamily="34" charset="-120"/>
              </a:rPr>
              <a:t>DEFINITION</a:t>
            </a:r>
            <a:endParaRPr lang="en-US" sz="1400" dirty="0"/>
          </a:p>
        </p:txBody>
      </p:sp>
      <p:sp>
        <p:nvSpPr>
          <p:cNvPr id="7" name="Text 5"/>
          <p:cNvSpPr/>
          <p:nvPr/>
        </p:nvSpPr>
        <p:spPr>
          <a:xfrm>
            <a:off x="896112" y="2404872"/>
            <a:ext cx="10396728" cy="630936"/>
          </a:xfrm>
          <a:prstGeom prst="rect">
            <a:avLst/>
          </a:prstGeom>
          <a:noFill/>
          <a:ln/>
        </p:spPr>
        <p:txBody>
          <a:bodyPr wrap="square" rtlCol="0" anchor="t"/>
          <a:lstStyle/>
          <a:p>
            <a:pPr marL="0" indent="0">
              <a:lnSpc>
                <a:spcPts val="1900"/>
              </a:lnSpc>
              <a:buNone/>
            </a:pPr>
            <a:r>
              <a:rPr lang="en-US" dirty="0">
                <a:solidFill>
                  <a:srgbClr val="14213D"/>
                </a:solidFill>
                <a:latin typeface="Calibri" pitchFamily="34" charset="0"/>
                <a:ea typeface="Calibri" pitchFamily="34" charset="-122"/>
                <a:cs typeface="Calibri" pitchFamily="34" charset="-120"/>
              </a:rPr>
              <a:t>Production is simply where your code actually runs to serve real users. To reach customers, your software has to run on a server with an IP address they can hit — that server is your production environment.</a:t>
            </a:r>
            <a:endParaRPr lang="en-US" dirty="0"/>
          </a:p>
        </p:txBody>
      </p:sp>
      <p:sp>
        <p:nvSpPr>
          <p:cNvPr id="8" name="Shape 6"/>
          <p:cNvSpPr/>
          <p:nvPr/>
        </p:nvSpPr>
        <p:spPr>
          <a:xfrm>
            <a:off x="640080" y="3520440"/>
            <a:ext cx="5257800" cy="2468880"/>
          </a:xfrm>
          <a:prstGeom prst="roundRect">
            <a:avLst>
              <a:gd name="adj" fmla="val 4444"/>
            </a:avLst>
          </a:prstGeom>
          <a:solidFill>
            <a:srgbClr val="E8ECF5"/>
          </a:solidFill>
          <a:ln/>
        </p:spPr>
      </p:sp>
      <p:sp>
        <p:nvSpPr>
          <p:cNvPr id="9" name="Shape 7"/>
          <p:cNvSpPr/>
          <p:nvPr/>
        </p:nvSpPr>
        <p:spPr>
          <a:xfrm>
            <a:off x="914400" y="3794760"/>
            <a:ext cx="201168" cy="201168"/>
          </a:xfrm>
          <a:prstGeom prst="ellipse">
            <a:avLst/>
          </a:prstGeom>
          <a:solidFill>
            <a:srgbClr val="6B7A99"/>
          </a:solidFill>
          <a:ln/>
        </p:spPr>
      </p:sp>
      <p:sp>
        <p:nvSpPr>
          <p:cNvPr id="10" name="Text 8"/>
          <p:cNvSpPr/>
          <p:nvPr/>
        </p:nvSpPr>
        <p:spPr>
          <a:xfrm>
            <a:off x="1234440" y="3703320"/>
            <a:ext cx="4389120" cy="457200"/>
          </a:xfrm>
          <a:prstGeom prst="rect">
            <a:avLst/>
          </a:prstGeom>
          <a:noFill/>
          <a:ln/>
        </p:spPr>
        <p:txBody>
          <a:bodyPr wrap="square" rtlCol="0" anchor="ctr"/>
          <a:lstStyle/>
          <a:p>
            <a:pPr marL="0" indent="0">
              <a:buNone/>
            </a:pPr>
            <a:r>
              <a:rPr lang="en-US" sz="2400" b="1" dirty="0">
                <a:solidFill>
                  <a:srgbClr val="14213D"/>
                </a:solidFill>
                <a:latin typeface="Cambria" pitchFamily="34" charset="0"/>
                <a:ea typeface="Cambria" pitchFamily="34" charset="-122"/>
                <a:cs typeface="Cambria" pitchFamily="34" charset="-120"/>
              </a:rPr>
              <a:t>Development environment</a:t>
            </a:r>
            <a:endParaRPr lang="en-US" sz="2400" dirty="0"/>
          </a:p>
        </p:txBody>
      </p:sp>
      <p:sp>
        <p:nvSpPr>
          <p:cNvPr id="11" name="Text 9"/>
          <p:cNvSpPr/>
          <p:nvPr/>
        </p:nvSpPr>
        <p:spPr>
          <a:xfrm>
            <a:off x="914400" y="4343400"/>
            <a:ext cx="4709160" cy="1463040"/>
          </a:xfrm>
          <a:prstGeom prst="rect">
            <a:avLst/>
          </a:prstGeom>
          <a:noFill/>
          <a:ln/>
        </p:spPr>
        <p:txBody>
          <a:bodyPr wrap="square" rtlCol="0" anchor="t"/>
          <a:lstStyle/>
          <a:p>
            <a:pPr marL="0" indent="0">
              <a:lnSpc>
                <a:spcPts val="1800"/>
              </a:lnSpc>
              <a:buNone/>
            </a:pPr>
            <a:r>
              <a:rPr lang="en-US" dirty="0">
                <a:solidFill>
                  <a:srgbClr val="3C4257"/>
                </a:solidFill>
                <a:latin typeface="Calibri" pitchFamily="34" charset="0"/>
                <a:ea typeface="Calibri" pitchFamily="34" charset="-122"/>
                <a:cs typeface="Calibri" pitchFamily="34" charset="-120"/>
              </a:rPr>
              <a:t>Where a data scientist or ML engineer builds and trains the model — typically their own machine.</a:t>
            </a:r>
            <a:endParaRPr lang="en-US" dirty="0"/>
          </a:p>
        </p:txBody>
      </p:sp>
      <p:sp>
        <p:nvSpPr>
          <p:cNvPr id="12" name="Shape 10"/>
          <p:cNvSpPr/>
          <p:nvPr/>
        </p:nvSpPr>
        <p:spPr>
          <a:xfrm>
            <a:off x="6291072" y="3520440"/>
            <a:ext cx="5257800" cy="2468880"/>
          </a:xfrm>
          <a:prstGeom prst="roundRect">
            <a:avLst>
              <a:gd name="adj" fmla="val 4444"/>
            </a:avLst>
          </a:prstGeom>
          <a:solidFill>
            <a:srgbClr val="E8ECF5"/>
          </a:solidFill>
          <a:ln/>
        </p:spPr>
      </p:sp>
      <p:sp>
        <p:nvSpPr>
          <p:cNvPr id="13" name="Shape 11"/>
          <p:cNvSpPr/>
          <p:nvPr/>
        </p:nvSpPr>
        <p:spPr>
          <a:xfrm>
            <a:off x="6565392" y="3794760"/>
            <a:ext cx="201168" cy="201168"/>
          </a:xfrm>
          <a:prstGeom prst="ellipse">
            <a:avLst/>
          </a:prstGeom>
          <a:solidFill>
            <a:srgbClr val="FCA311"/>
          </a:solidFill>
          <a:ln/>
        </p:spPr>
      </p:sp>
      <p:sp>
        <p:nvSpPr>
          <p:cNvPr id="14" name="Text 12"/>
          <p:cNvSpPr/>
          <p:nvPr/>
        </p:nvSpPr>
        <p:spPr>
          <a:xfrm>
            <a:off x="6885432" y="3703320"/>
            <a:ext cx="4389120" cy="457200"/>
          </a:xfrm>
          <a:prstGeom prst="rect">
            <a:avLst/>
          </a:prstGeom>
          <a:noFill/>
          <a:ln/>
        </p:spPr>
        <p:txBody>
          <a:bodyPr wrap="square" rtlCol="0" anchor="ctr"/>
          <a:lstStyle/>
          <a:p>
            <a:pPr marL="0" indent="0">
              <a:buNone/>
            </a:pPr>
            <a:r>
              <a:rPr lang="en-US" sz="2400" b="1" dirty="0">
                <a:solidFill>
                  <a:srgbClr val="14213D"/>
                </a:solidFill>
                <a:latin typeface="Cambria" pitchFamily="34" charset="0"/>
                <a:ea typeface="Cambria" pitchFamily="34" charset="-122"/>
                <a:cs typeface="Cambria" pitchFamily="34" charset="-120"/>
              </a:rPr>
              <a:t>Production environment</a:t>
            </a:r>
            <a:endParaRPr lang="en-US" sz="2400" dirty="0"/>
          </a:p>
        </p:txBody>
      </p:sp>
      <p:sp>
        <p:nvSpPr>
          <p:cNvPr id="15" name="Text 13"/>
          <p:cNvSpPr/>
          <p:nvPr/>
        </p:nvSpPr>
        <p:spPr>
          <a:xfrm>
            <a:off x="6565392" y="4343400"/>
            <a:ext cx="4709160" cy="1463040"/>
          </a:xfrm>
          <a:prstGeom prst="rect">
            <a:avLst/>
          </a:prstGeom>
          <a:noFill/>
          <a:ln/>
        </p:spPr>
        <p:txBody>
          <a:bodyPr wrap="square" rtlCol="0" anchor="t"/>
          <a:lstStyle/>
          <a:p>
            <a:pPr marL="0" indent="0">
              <a:lnSpc>
                <a:spcPts val="1800"/>
              </a:lnSpc>
              <a:buNone/>
            </a:pPr>
            <a:r>
              <a:rPr lang="en-US" dirty="0">
                <a:solidFill>
                  <a:srgbClr val="3C4257"/>
                </a:solidFill>
                <a:latin typeface="Calibri" pitchFamily="34" charset="0"/>
                <a:ea typeface="Calibri" pitchFamily="34" charset="-122"/>
                <a:cs typeface="Calibri" pitchFamily="34" charset="-120"/>
              </a:rPr>
              <a:t>The server the trained model is deployed to, where it actually serves real customers.</a:t>
            </a:r>
            <a:endParaRPr lang="en-US" dirty="0"/>
          </a:p>
        </p:txBody>
      </p:sp>
      <p:sp>
        <p:nvSpPr>
          <p:cNvPr id="16" name="Text 14"/>
          <p:cNvSpPr/>
          <p:nvPr/>
        </p:nvSpPr>
        <p:spPr>
          <a:xfrm>
            <a:off x="457200" y="6473952"/>
            <a:ext cx="7315200" cy="274320"/>
          </a:xfrm>
          <a:prstGeom prst="rect">
            <a:avLst/>
          </a:prstGeom>
          <a:noFill/>
          <a:ln/>
        </p:spPr>
        <p:txBody>
          <a:bodyPr wrap="square" rtlCol="0" anchor="ctr"/>
          <a:lstStyle/>
          <a:p>
            <a:pPr marL="0" indent="0">
              <a:buNone/>
            </a:pPr>
            <a:r>
              <a:rPr lang="en-US" sz="850" kern="0" spc="100" dirty="0">
                <a:solidFill>
                  <a:srgbClr val="8892A6"/>
                </a:solidFill>
                <a:latin typeface="Calibri" pitchFamily="34" charset="0"/>
                <a:ea typeface="Calibri" pitchFamily="34" charset="-122"/>
                <a:cs typeface="Calibri" pitchFamily="34" charset="-120"/>
              </a:rPr>
              <a:t>BATCH VS. ONLINE LEARNING</a:t>
            </a:r>
            <a:endParaRPr lang="en-US" sz="850" dirty="0"/>
          </a:p>
        </p:txBody>
      </p:sp>
      <p:sp>
        <p:nvSpPr>
          <p:cNvPr id="17" name="Text 15"/>
          <p:cNvSpPr/>
          <p:nvPr/>
        </p:nvSpPr>
        <p:spPr>
          <a:xfrm>
            <a:off x="11274552" y="6473952"/>
            <a:ext cx="457200" cy="274320"/>
          </a:xfrm>
          <a:prstGeom prst="rect">
            <a:avLst/>
          </a:prstGeom>
          <a:noFill/>
          <a:ln/>
        </p:spPr>
        <p:txBody>
          <a:bodyPr wrap="square" rtlCol="0" anchor="ctr"/>
          <a:lstStyle/>
          <a:p>
            <a:pPr marL="0" indent="0" algn="r">
              <a:buNone/>
            </a:pPr>
            <a:r>
              <a:rPr lang="en-US" sz="850" dirty="0">
                <a:solidFill>
                  <a:srgbClr val="8892A6"/>
                </a:solidFill>
                <a:latin typeface="Calibri" pitchFamily="34" charset="0"/>
                <a:ea typeface="Calibri" pitchFamily="34" charset="-122"/>
                <a:cs typeface="Calibri" pitchFamily="34" charset="-120"/>
              </a:rPr>
              <a:t>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8229600" cy="320040"/>
          </a:xfrm>
          <a:prstGeom prst="rect">
            <a:avLst/>
          </a:prstGeom>
          <a:noFill/>
          <a:ln/>
        </p:spPr>
        <p:txBody>
          <a:bodyPr wrap="square" rtlCol="0" anchor="ctr"/>
          <a:lstStyle/>
          <a:p>
            <a:pPr marL="0" indent="0">
              <a:buNone/>
            </a:pPr>
            <a:r>
              <a:rPr lang="en-US" sz="1200" b="1" kern="0" spc="200" dirty="0">
                <a:solidFill>
                  <a:srgbClr val="FCA311"/>
                </a:solidFill>
                <a:latin typeface="Calibri" pitchFamily="34" charset="0"/>
                <a:ea typeface="Calibri" pitchFamily="34" charset="-122"/>
                <a:cs typeface="Calibri" pitchFamily="34" charset="-120"/>
              </a:rPr>
              <a:t>THE DIVIDING QUESTION</a:t>
            </a:r>
            <a:endParaRPr lang="en-US" sz="1200" dirty="0"/>
          </a:p>
        </p:txBody>
      </p:sp>
      <p:sp>
        <p:nvSpPr>
          <p:cNvPr id="3" name="Text 1"/>
          <p:cNvSpPr/>
          <p:nvPr/>
        </p:nvSpPr>
        <p:spPr>
          <a:xfrm>
            <a:off x="594360" y="749808"/>
            <a:ext cx="10789920" cy="640080"/>
          </a:xfrm>
          <a:prstGeom prst="rect">
            <a:avLst/>
          </a:prstGeom>
          <a:noFill/>
          <a:ln/>
        </p:spPr>
        <p:txBody>
          <a:bodyPr wrap="square" rtlCol="0" anchor="ctr"/>
          <a:lstStyle/>
          <a:p>
            <a:pPr marL="0" indent="0">
              <a:buNone/>
            </a:pPr>
            <a:r>
              <a:rPr lang="en-US" sz="2800" b="1" dirty="0">
                <a:solidFill>
                  <a:srgbClr val="14213D"/>
                </a:solidFill>
                <a:latin typeface="Cambria" pitchFamily="34" charset="0"/>
                <a:ea typeface="Cambria" pitchFamily="34" charset="-122"/>
                <a:cs typeface="Cambria" pitchFamily="34" charset="-120"/>
              </a:rPr>
              <a:t>How does the model behave once it's live?</a:t>
            </a:r>
            <a:endParaRPr lang="en-US" sz="2800" dirty="0"/>
          </a:p>
        </p:txBody>
      </p:sp>
      <p:sp>
        <p:nvSpPr>
          <p:cNvPr id="4" name="Text 2"/>
          <p:cNvSpPr/>
          <p:nvPr/>
        </p:nvSpPr>
        <p:spPr>
          <a:xfrm>
            <a:off x="640080" y="1371600"/>
            <a:ext cx="10424160" cy="365760"/>
          </a:xfrm>
          <a:prstGeom prst="rect">
            <a:avLst/>
          </a:prstGeom>
          <a:noFill/>
          <a:ln/>
        </p:spPr>
        <p:txBody>
          <a:bodyPr wrap="square" rtlCol="0" anchor="ctr"/>
          <a:lstStyle/>
          <a:p>
            <a:pPr marL="0" indent="0">
              <a:buNone/>
            </a:pPr>
            <a:r>
              <a:rPr lang="en-US" sz="1600" dirty="0">
                <a:solidFill>
                  <a:srgbClr val="8892A6"/>
                </a:solidFill>
                <a:latin typeface="Calibri" pitchFamily="34" charset="0"/>
                <a:ea typeface="Calibri" pitchFamily="34" charset="-122"/>
                <a:cs typeface="Calibri" pitchFamily="34" charset="-120"/>
              </a:rPr>
              <a:t>ML software behaves differently on a server depending on how it's trained and updated — that's the real split.</a:t>
            </a:r>
            <a:endParaRPr lang="en-US" sz="1600" dirty="0"/>
          </a:p>
        </p:txBody>
      </p:sp>
      <p:sp>
        <p:nvSpPr>
          <p:cNvPr id="5" name="Shape 3"/>
          <p:cNvSpPr/>
          <p:nvPr/>
        </p:nvSpPr>
        <p:spPr>
          <a:xfrm>
            <a:off x="640080" y="1783080"/>
            <a:ext cx="10908792" cy="0"/>
          </a:xfrm>
          <a:prstGeom prst="line">
            <a:avLst/>
          </a:prstGeom>
          <a:noFill/>
          <a:ln w="12700">
            <a:solidFill>
              <a:srgbClr val="DCE1EC"/>
            </a:solidFill>
            <a:prstDash val="solid"/>
          </a:ln>
        </p:spPr>
      </p:sp>
      <p:sp>
        <p:nvSpPr>
          <p:cNvPr id="6" name="Shape 4"/>
          <p:cNvSpPr/>
          <p:nvPr/>
        </p:nvSpPr>
        <p:spPr>
          <a:xfrm>
            <a:off x="640080" y="2148840"/>
            <a:ext cx="5257800" cy="3931920"/>
          </a:xfrm>
          <a:prstGeom prst="roundRect">
            <a:avLst>
              <a:gd name="adj" fmla="val 2791"/>
            </a:avLst>
          </a:prstGeom>
          <a:solidFill>
            <a:srgbClr val="E8ECF5"/>
          </a:solidFill>
          <a:ln/>
        </p:spPr>
      </p:sp>
      <p:sp>
        <p:nvSpPr>
          <p:cNvPr id="7" name="Shape 5"/>
          <p:cNvSpPr/>
          <p:nvPr/>
        </p:nvSpPr>
        <p:spPr>
          <a:xfrm>
            <a:off x="640080" y="2148840"/>
            <a:ext cx="5257800" cy="128016"/>
          </a:xfrm>
          <a:prstGeom prst="roundRect">
            <a:avLst/>
          </a:prstGeom>
          <a:solidFill>
            <a:srgbClr val="5B6B8C"/>
          </a:solidFill>
          <a:ln/>
        </p:spPr>
      </p:sp>
      <p:sp>
        <p:nvSpPr>
          <p:cNvPr id="8" name="Text 6"/>
          <p:cNvSpPr/>
          <p:nvPr/>
        </p:nvSpPr>
        <p:spPr>
          <a:xfrm>
            <a:off x="914400" y="2514600"/>
            <a:ext cx="4709160" cy="457200"/>
          </a:xfrm>
          <a:prstGeom prst="rect">
            <a:avLst/>
          </a:prstGeom>
          <a:noFill/>
          <a:ln/>
        </p:spPr>
        <p:txBody>
          <a:bodyPr wrap="square" rtlCol="0" anchor="ctr"/>
          <a:lstStyle/>
          <a:p>
            <a:pPr marL="0" indent="0">
              <a:buNone/>
            </a:pPr>
            <a:r>
              <a:rPr lang="en-US" sz="2800" b="1" dirty="0">
                <a:solidFill>
                  <a:srgbClr val="14213D"/>
                </a:solidFill>
                <a:latin typeface="Cambria" pitchFamily="34" charset="0"/>
                <a:ea typeface="Cambria" pitchFamily="34" charset="-122"/>
                <a:cs typeface="Cambria" pitchFamily="34" charset="-120"/>
              </a:rPr>
              <a:t>Batch Learning</a:t>
            </a:r>
            <a:endParaRPr lang="en-US" sz="2800" dirty="0"/>
          </a:p>
        </p:txBody>
      </p:sp>
      <p:sp>
        <p:nvSpPr>
          <p:cNvPr id="9" name="Text 7"/>
          <p:cNvSpPr/>
          <p:nvPr/>
        </p:nvSpPr>
        <p:spPr>
          <a:xfrm>
            <a:off x="914400" y="3017520"/>
            <a:ext cx="4709160" cy="320040"/>
          </a:xfrm>
          <a:prstGeom prst="rect">
            <a:avLst/>
          </a:prstGeom>
          <a:noFill/>
          <a:ln/>
        </p:spPr>
        <p:txBody>
          <a:bodyPr wrap="square" rtlCol="0" anchor="ctr"/>
          <a:lstStyle/>
          <a:p>
            <a:pPr marL="0" indent="0">
              <a:buNone/>
            </a:pPr>
            <a:r>
              <a:rPr lang="en-US" sz="1600" i="1" dirty="0">
                <a:solidFill>
                  <a:srgbClr val="8892A6"/>
                </a:solidFill>
                <a:latin typeface="Calibri" pitchFamily="34" charset="0"/>
                <a:ea typeface="Calibri" pitchFamily="34" charset="-122"/>
                <a:cs typeface="Calibri" pitchFamily="34" charset="-120"/>
              </a:rPr>
              <a:t>“Offline learning”</a:t>
            </a:r>
            <a:endParaRPr lang="en-US" sz="1600" dirty="0"/>
          </a:p>
        </p:txBody>
      </p:sp>
      <p:sp>
        <p:nvSpPr>
          <p:cNvPr id="10" name="Text 8"/>
          <p:cNvSpPr/>
          <p:nvPr/>
        </p:nvSpPr>
        <p:spPr>
          <a:xfrm>
            <a:off x="914400" y="3520440"/>
            <a:ext cx="4709160" cy="1371600"/>
          </a:xfrm>
          <a:prstGeom prst="rect">
            <a:avLst/>
          </a:prstGeom>
          <a:noFill/>
          <a:ln/>
        </p:spPr>
        <p:txBody>
          <a:bodyPr wrap="square" rtlCol="0" anchor="t"/>
          <a:lstStyle/>
          <a:p>
            <a:pPr marL="0" indent="0">
              <a:lnSpc>
                <a:spcPts val="1900"/>
              </a:lnSpc>
              <a:buNone/>
            </a:pPr>
            <a:r>
              <a:rPr lang="en-US" sz="1600" dirty="0">
                <a:solidFill>
                  <a:srgbClr val="3C4257"/>
                </a:solidFill>
                <a:latin typeface="Calibri" pitchFamily="34" charset="0"/>
                <a:ea typeface="Calibri" pitchFamily="34" charset="-122"/>
                <a:cs typeface="Calibri" pitchFamily="34" charset="-120"/>
              </a:rPr>
              <a:t>Train on the full dataset at once, offline, then deploy a static model to production.</a:t>
            </a:r>
            <a:endParaRPr lang="en-US" sz="1600" dirty="0"/>
          </a:p>
        </p:txBody>
      </p:sp>
      <p:sp>
        <p:nvSpPr>
          <p:cNvPr id="11" name="Shape 9"/>
          <p:cNvSpPr/>
          <p:nvPr/>
        </p:nvSpPr>
        <p:spPr>
          <a:xfrm>
            <a:off x="6291072" y="2148840"/>
            <a:ext cx="5257800" cy="3931920"/>
          </a:xfrm>
          <a:prstGeom prst="roundRect">
            <a:avLst>
              <a:gd name="adj" fmla="val 2791"/>
            </a:avLst>
          </a:prstGeom>
          <a:solidFill>
            <a:srgbClr val="E8ECF5"/>
          </a:solidFill>
          <a:ln/>
        </p:spPr>
      </p:sp>
      <p:sp>
        <p:nvSpPr>
          <p:cNvPr id="12" name="Shape 10"/>
          <p:cNvSpPr/>
          <p:nvPr/>
        </p:nvSpPr>
        <p:spPr>
          <a:xfrm>
            <a:off x="6291072" y="2148840"/>
            <a:ext cx="5257800" cy="128016"/>
          </a:xfrm>
          <a:prstGeom prst="roundRect">
            <a:avLst/>
          </a:prstGeom>
          <a:solidFill>
            <a:srgbClr val="2E8B57"/>
          </a:solidFill>
          <a:ln/>
        </p:spPr>
      </p:sp>
      <p:sp>
        <p:nvSpPr>
          <p:cNvPr id="13" name="Text 11"/>
          <p:cNvSpPr/>
          <p:nvPr/>
        </p:nvSpPr>
        <p:spPr>
          <a:xfrm>
            <a:off x="6565392" y="2514600"/>
            <a:ext cx="4709160" cy="457200"/>
          </a:xfrm>
          <a:prstGeom prst="rect">
            <a:avLst/>
          </a:prstGeom>
          <a:noFill/>
          <a:ln/>
        </p:spPr>
        <p:txBody>
          <a:bodyPr wrap="square" rtlCol="0" anchor="ctr"/>
          <a:lstStyle/>
          <a:p>
            <a:pPr marL="0" indent="0">
              <a:buNone/>
            </a:pPr>
            <a:r>
              <a:rPr lang="en-US" sz="2800" b="1" dirty="0">
                <a:solidFill>
                  <a:srgbClr val="14213D"/>
                </a:solidFill>
                <a:latin typeface="Cambria" pitchFamily="34" charset="0"/>
                <a:ea typeface="Cambria" pitchFamily="34" charset="-122"/>
                <a:cs typeface="Cambria" pitchFamily="34" charset="-120"/>
              </a:rPr>
              <a:t>Online Learning</a:t>
            </a:r>
            <a:endParaRPr lang="en-US" sz="2800" dirty="0"/>
          </a:p>
        </p:txBody>
      </p:sp>
      <p:sp>
        <p:nvSpPr>
          <p:cNvPr id="14" name="Text 12"/>
          <p:cNvSpPr/>
          <p:nvPr/>
        </p:nvSpPr>
        <p:spPr>
          <a:xfrm>
            <a:off x="6565392" y="3017520"/>
            <a:ext cx="4709160" cy="320040"/>
          </a:xfrm>
          <a:prstGeom prst="rect">
            <a:avLst/>
          </a:prstGeom>
          <a:noFill/>
          <a:ln/>
        </p:spPr>
        <p:txBody>
          <a:bodyPr wrap="square" rtlCol="0" anchor="ctr"/>
          <a:lstStyle/>
          <a:p>
            <a:pPr marL="0" indent="0">
              <a:buNone/>
            </a:pPr>
            <a:r>
              <a:rPr lang="en-US" sz="1600" i="1" dirty="0">
                <a:solidFill>
                  <a:srgbClr val="8892A6"/>
                </a:solidFill>
                <a:latin typeface="Calibri" pitchFamily="34" charset="0"/>
                <a:ea typeface="Calibri" pitchFamily="34" charset="-122"/>
                <a:cs typeface="Calibri" pitchFamily="34" charset="-120"/>
              </a:rPr>
              <a:t>Trained incrementally</a:t>
            </a:r>
            <a:endParaRPr lang="en-US" sz="1600" dirty="0"/>
          </a:p>
        </p:txBody>
      </p:sp>
      <p:sp>
        <p:nvSpPr>
          <p:cNvPr id="15" name="Text 13"/>
          <p:cNvSpPr/>
          <p:nvPr/>
        </p:nvSpPr>
        <p:spPr>
          <a:xfrm>
            <a:off x="6565392" y="3520440"/>
            <a:ext cx="4709160" cy="1371600"/>
          </a:xfrm>
          <a:prstGeom prst="rect">
            <a:avLst/>
          </a:prstGeom>
          <a:noFill/>
          <a:ln/>
        </p:spPr>
        <p:txBody>
          <a:bodyPr wrap="square" rtlCol="0" anchor="t"/>
          <a:lstStyle/>
          <a:p>
            <a:pPr marL="0" indent="0">
              <a:lnSpc>
                <a:spcPts val="1900"/>
              </a:lnSpc>
              <a:buNone/>
            </a:pPr>
            <a:r>
              <a:rPr lang="en-US" sz="1600" dirty="0">
                <a:solidFill>
                  <a:srgbClr val="3C4257"/>
                </a:solidFill>
                <a:latin typeface="Calibri" pitchFamily="34" charset="0"/>
                <a:ea typeface="Calibri" pitchFamily="34" charset="-122"/>
                <a:cs typeface="Calibri" pitchFamily="34" charset="-120"/>
              </a:rPr>
              <a:t>The model keeps learning from small streams of new data even after it's live.</a:t>
            </a:r>
            <a:endParaRPr lang="en-US" sz="1600" dirty="0"/>
          </a:p>
        </p:txBody>
      </p:sp>
      <p:sp>
        <p:nvSpPr>
          <p:cNvPr id="16" name="Text 14"/>
          <p:cNvSpPr/>
          <p:nvPr/>
        </p:nvSpPr>
        <p:spPr>
          <a:xfrm>
            <a:off x="457200" y="6473952"/>
            <a:ext cx="7315200" cy="274320"/>
          </a:xfrm>
          <a:prstGeom prst="rect">
            <a:avLst/>
          </a:prstGeom>
          <a:noFill/>
          <a:ln/>
        </p:spPr>
        <p:txBody>
          <a:bodyPr wrap="square" rtlCol="0" anchor="ctr"/>
          <a:lstStyle/>
          <a:p>
            <a:pPr marL="0" indent="0">
              <a:buNone/>
            </a:pPr>
            <a:r>
              <a:rPr lang="en-US" sz="850" kern="0" spc="100" dirty="0">
                <a:solidFill>
                  <a:srgbClr val="8892A6"/>
                </a:solidFill>
                <a:latin typeface="Calibri" pitchFamily="34" charset="0"/>
                <a:ea typeface="Calibri" pitchFamily="34" charset="-122"/>
                <a:cs typeface="Calibri" pitchFamily="34" charset="-120"/>
              </a:rPr>
              <a:t>BATCH VS. ONLINE LEARNING</a:t>
            </a:r>
            <a:endParaRPr lang="en-US" sz="850" dirty="0"/>
          </a:p>
        </p:txBody>
      </p:sp>
      <p:sp>
        <p:nvSpPr>
          <p:cNvPr id="17" name="Text 15"/>
          <p:cNvSpPr/>
          <p:nvPr/>
        </p:nvSpPr>
        <p:spPr>
          <a:xfrm>
            <a:off x="11274552" y="6473952"/>
            <a:ext cx="457200" cy="274320"/>
          </a:xfrm>
          <a:prstGeom prst="rect">
            <a:avLst/>
          </a:prstGeom>
          <a:noFill/>
          <a:ln/>
        </p:spPr>
        <p:txBody>
          <a:bodyPr wrap="square" rtlCol="0" anchor="ctr"/>
          <a:lstStyle/>
          <a:p>
            <a:pPr marL="0" indent="0" algn="r">
              <a:buNone/>
            </a:pPr>
            <a:r>
              <a:rPr lang="en-US" sz="850" dirty="0">
                <a:solidFill>
                  <a:srgbClr val="8892A6"/>
                </a:solidFill>
                <a:latin typeface="Calibri" pitchFamily="34" charset="0"/>
                <a:ea typeface="Calibri" pitchFamily="34" charset="-122"/>
                <a:cs typeface="Calibri" pitchFamily="34" charset="-120"/>
              </a:rPr>
              <a:t>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8229600" cy="320040"/>
          </a:xfrm>
          <a:prstGeom prst="rect">
            <a:avLst/>
          </a:prstGeom>
          <a:noFill/>
          <a:ln/>
        </p:spPr>
        <p:txBody>
          <a:bodyPr wrap="square" rtlCol="0" anchor="ctr"/>
          <a:lstStyle/>
          <a:p>
            <a:pPr marL="0" indent="0">
              <a:buNone/>
            </a:pPr>
            <a:r>
              <a:rPr lang="en-US" sz="1200" b="1" kern="0" spc="200" dirty="0">
                <a:solidFill>
                  <a:srgbClr val="FCA311"/>
                </a:solidFill>
                <a:latin typeface="Calibri" pitchFamily="34" charset="0"/>
                <a:ea typeface="Calibri" pitchFamily="34" charset="-122"/>
                <a:cs typeface="Calibri" pitchFamily="34" charset="-120"/>
              </a:rPr>
              <a:t>01 · BATCH LEARNING</a:t>
            </a:r>
            <a:endParaRPr lang="en-US" sz="1200" dirty="0"/>
          </a:p>
        </p:txBody>
      </p:sp>
      <p:sp>
        <p:nvSpPr>
          <p:cNvPr id="3" name="Text 1"/>
          <p:cNvSpPr/>
          <p:nvPr/>
        </p:nvSpPr>
        <p:spPr>
          <a:xfrm>
            <a:off x="594360" y="749808"/>
            <a:ext cx="10789920" cy="640080"/>
          </a:xfrm>
          <a:prstGeom prst="rect">
            <a:avLst/>
          </a:prstGeom>
          <a:noFill/>
          <a:ln/>
        </p:spPr>
        <p:txBody>
          <a:bodyPr wrap="square" rtlCol="0" anchor="ctr"/>
          <a:lstStyle/>
          <a:p>
            <a:pPr marL="0" indent="0">
              <a:buNone/>
            </a:pPr>
            <a:r>
              <a:rPr lang="en-US" sz="2800" b="1" dirty="0">
                <a:solidFill>
                  <a:srgbClr val="14213D"/>
                </a:solidFill>
                <a:latin typeface="Cambria" pitchFamily="34" charset="0"/>
                <a:ea typeface="Cambria" pitchFamily="34" charset="-122"/>
                <a:cs typeface="Cambria" pitchFamily="34" charset="-120"/>
              </a:rPr>
              <a:t>Train once, on everything, then deploy</a:t>
            </a:r>
            <a:endParaRPr lang="en-US" sz="2800" dirty="0"/>
          </a:p>
        </p:txBody>
      </p:sp>
      <p:sp>
        <p:nvSpPr>
          <p:cNvPr id="4" name="Shape 2"/>
          <p:cNvSpPr/>
          <p:nvPr/>
        </p:nvSpPr>
        <p:spPr>
          <a:xfrm>
            <a:off x="640080" y="1481328"/>
            <a:ext cx="10908792" cy="0"/>
          </a:xfrm>
          <a:prstGeom prst="line">
            <a:avLst/>
          </a:prstGeom>
          <a:noFill/>
          <a:ln w="12700">
            <a:solidFill>
              <a:srgbClr val="DCE1EC"/>
            </a:solidFill>
            <a:prstDash val="solid"/>
          </a:ln>
        </p:spPr>
      </p:sp>
      <p:sp>
        <p:nvSpPr>
          <p:cNvPr id="5" name="Shape 3"/>
          <p:cNvSpPr/>
          <p:nvPr/>
        </p:nvSpPr>
        <p:spPr>
          <a:xfrm>
            <a:off x="640080" y="1965960"/>
            <a:ext cx="10908792" cy="1463040"/>
          </a:xfrm>
          <a:prstGeom prst="roundRect">
            <a:avLst>
              <a:gd name="adj" fmla="val 6250"/>
            </a:avLst>
          </a:prstGeom>
          <a:solidFill>
            <a:srgbClr val="E8ECF5"/>
          </a:solidFill>
          <a:ln/>
        </p:spPr>
      </p:sp>
      <p:sp>
        <p:nvSpPr>
          <p:cNvPr id="6" name="Text 4"/>
          <p:cNvSpPr/>
          <p:nvPr/>
        </p:nvSpPr>
        <p:spPr>
          <a:xfrm>
            <a:off x="896112" y="2130552"/>
            <a:ext cx="10396728" cy="274320"/>
          </a:xfrm>
          <a:prstGeom prst="rect">
            <a:avLst/>
          </a:prstGeom>
          <a:noFill/>
          <a:ln/>
        </p:spPr>
        <p:txBody>
          <a:bodyPr wrap="square" rtlCol="0" anchor="ctr"/>
          <a:lstStyle/>
          <a:p>
            <a:pPr marL="0" indent="0">
              <a:buNone/>
            </a:pPr>
            <a:r>
              <a:rPr lang="en-US" sz="1200" b="1" kern="0" spc="130" dirty="0">
                <a:solidFill>
                  <a:srgbClr val="FCA311"/>
                </a:solidFill>
                <a:latin typeface="Calibri" pitchFamily="34" charset="0"/>
                <a:ea typeface="Calibri" pitchFamily="34" charset="-122"/>
                <a:cs typeface="Calibri" pitchFamily="34" charset="-120"/>
              </a:rPr>
              <a:t>DEFINITION</a:t>
            </a:r>
            <a:endParaRPr lang="en-US" sz="1200" dirty="0"/>
          </a:p>
        </p:txBody>
      </p:sp>
      <p:sp>
        <p:nvSpPr>
          <p:cNvPr id="7" name="Text 5"/>
          <p:cNvSpPr/>
          <p:nvPr/>
        </p:nvSpPr>
        <p:spPr>
          <a:xfrm>
            <a:off x="896112" y="2404872"/>
            <a:ext cx="10396728" cy="859536"/>
          </a:xfrm>
          <a:prstGeom prst="rect">
            <a:avLst/>
          </a:prstGeom>
          <a:noFill/>
          <a:ln/>
        </p:spPr>
        <p:txBody>
          <a:bodyPr wrap="square" rtlCol="0" anchor="t"/>
          <a:lstStyle/>
          <a:p>
            <a:pPr marL="0" indent="0">
              <a:lnSpc>
                <a:spcPts val="1900"/>
              </a:lnSpc>
              <a:buNone/>
            </a:pPr>
            <a:r>
              <a:rPr lang="en-US" sz="1600" dirty="0">
                <a:solidFill>
                  <a:srgbClr val="14213D"/>
                </a:solidFill>
                <a:latin typeface="Calibri" pitchFamily="34" charset="0"/>
                <a:ea typeface="Calibri" pitchFamily="34" charset="-122"/>
                <a:cs typeface="Calibri" pitchFamily="34" charset="-120"/>
              </a:rPr>
              <a:t>Batch learning is the conventional way of training an ML model: you use the entire dataset in one go, rather than training on small incremental pieces. Training happens offline on the data scientist's own machine — which is why it's also called offline learning.</a:t>
            </a:r>
            <a:endParaRPr lang="en-US" sz="1600" dirty="0"/>
          </a:p>
        </p:txBody>
      </p:sp>
      <p:sp>
        <p:nvSpPr>
          <p:cNvPr id="8" name="Shape 6"/>
          <p:cNvSpPr/>
          <p:nvPr/>
        </p:nvSpPr>
        <p:spPr>
          <a:xfrm>
            <a:off x="640080" y="3703320"/>
            <a:ext cx="10908792" cy="2468880"/>
          </a:xfrm>
          <a:prstGeom prst="roundRect">
            <a:avLst>
              <a:gd name="adj" fmla="val 3704"/>
            </a:avLst>
          </a:prstGeom>
          <a:solidFill>
            <a:srgbClr val="14213D"/>
          </a:solidFill>
          <a:ln/>
          <a:effectLst>
            <a:outerShdw blurRad="101600" dist="38100" dir="5400000" algn="bl" rotWithShape="0">
              <a:srgbClr val="1B1F3B">
                <a:alpha val="15000"/>
              </a:srgbClr>
            </a:outerShdw>
          </a:effectLst>
        </p:spPr>
      </p:sp>
      <p:sp>
        <p:nvSpPr>
          <p:cNvPr id="9" name="Text 7"/>
          <p:cNvSpPr/>
          <p:nvPr/>
        </p:nvSpPr>
        <p:spPr>
          <a:xfrm>
            <a:off x="896112" y="3867912"/>
            <a:ext cx="10396728" cy="274320"/>
          </a:xfrm>
          <a:prstGeom prst="rect">
            <a:avLst/>
          </a:prstGeom>
          <a:noFill/>
          <a:ln/>
        </p:spPr>
        <p:txBody>
          <a:bodyPr wrap="square" rtlCol="0" anchor="ctr"/>
          <a:lstStyle/>
          <a:p>
            <a:pPr marL="0" indent="0">
              <a:buNone/>
            </a:pPr>
            <a:r>
              <a:rPr lang="en-US" sz="1200" b="1" kern="0" spc="130" dirty="0">
                <a:solidFill>
                  <a:srgbClr val="FCA311"/>
                </a:solidFill>
                <a:latin typeface="Calibri" pitchFamily="34" charset="0"/>
                <a:ea typeface="Calibri" pitchFamily="34" charset="-122"/>
                <a:cs typeface="Calibri" pitchFamily="34" charset="-120"/>
              </a:rPr>
              <a:t>WORKED EXAMPLE: A MOVIE RECOMMENDATION ENGINE</a:t>
            </a:r>
            <a:endParaRPr lang="en-US" sz="1200" dirty="0"/>
          </a:p>
        </p:txBody>
      </p:sp>
      <p:sp>
        <p:nvSpPr>
          <p:cNvPr id="10" name="Text 8"/>
          <p:cNvSpPr/>
          <p:nvPr/>
        </p:nvSpPr>
        <p:spPr>
          <a:xfrm>
            <a:off x="896112" y="4142232"/>
            <a:ext cx="10396728" cy="1865376"/>
          </a:xfrm>
          <a:prstGeom prst="rect">
            <a:avLst/>
          </a:prstGeom>
          <a:noFill/>
          <a:ln/>
        </p:spPr>
        <p:txBody>
          <a:bodyPr wrap="square" rtlCol="0" anchor="t"/>
          <a:lstStyle/>
          <a:p>
            <a:pPr marL="0" indent="0">
              <a:lnSpc>
                <a:spcPts val="1900"/>
              </a:lnSpc>
              <a:buNone/>
            </a:pPr>
            <a:r>
              <a:rPr lang="en-US" sz="1600" dirty="0">
                <a:solidFill>
                  <a:srgbClr val="DDE3F2"/>
                </a:solidFill>
                <a:latin typeface="Calibri" pitchFamily="34" charset="0"/>
                <a:ea typeface="Calibri" pitchFamily="34" charset="-122"/>
                <a:cs typeface="Calibri" pitchFamily="34" charset="-120"/>
              </a:rPr>
              <a:t>You train the recommendation model on your machine using all the movie and user data you currently have. Once training finishes, you test it, then hand the trained model over to the server. From then on, it runs continuously, recommending movies to every user who logs in — without learning anything further on its own.</a:t>
            </a:r>
            <a:endParaRPr lang="en-US" sz="1600" dirty="0"/>
          </a:p>
        </p:txBody>
      </p:sp>
      <p:sp>
        <p:nvSpPr>
          <p:cNvPr id="11" name="Text 9"/>
          <p:cNvSpPr/>
          <p:nvPr/>
        </p:nvSpPr>
        <p:spPr>
          <a:xfrm>
            <a:off x="457200" y="6473952"/>
            <a:ext cx="7315200" cy="274320"/>
          </a:xfrm>
          <a:prstGeom prst="rect">
            <a:avLst/>
          </a:prstGeom>
          <a:noFill/>
          <a:ln/>
        </p:spPr>
        <p:txBody>
          <a:bodyPr wrap="square" rtlCol="0" anchor="ctr"/>
          <a:lstStyle/>
          <a:p>
            <a:pPr marL="0" indent="0">
              <a:buNone/>
            </a:pPr>
            <a:r>
              <a:rPr lang="en-US" sz="850" kern="0" spc="100" dirty="0">
                <a:solidFill>
                  <a:srgbClr val="8892A6"/>
                </a:solidFill>
                <a:latin typeface="Calibri" pitchFamily="34" charset="0"/>
                <a:ea typeface="Calibri" pitchFamily="34" charset="-122"/>
                <a:cs typeface="Calibri" pitchFamily="34" charset="-120"/>
              </a:rPr>
              <a:t>BATCH VS. ONLINE LEARNING</a:t>
            </a:r>
            <a:endParaRPr lang="en-US" sz="850" dirty="0"/>
          </a:p>
        </p:txBody>
      </p:sp>
      <p:sp>
        <p:nvSpPr>
          <p:cNvPr id="12" name="Text 10"/>
          <p:cNvSpPr/>
          <p:nvPr/>
        </p:nvSpPr>
        <p:spPr>
          <a:xfrm>
            <a:off x="11274552" y="6473952"/>
            <a:ext cx="457200" cy="274320"/>
          </a:xfrm>
          <a:prstGeom prst="rect">
            <a:avLst/>
          </a:prstGeom>
          <a:noFill/>
          <a:ln/>
        </p:spPr>
        <p:txBody>
          <a:bodyPr wrap="square" rtlCol="0" anchor="ctr"/>
          <a:lstStyle/>
          <a:p>
            <a:pPr marL="0" indent="0" algn="r">
              <a:buNone/>
            </a:pPr>
            <a:r>
              <a:rPr lang="en-US" sz="850" dirty="0">
                <a:solidFill>
                  <a:srgbClr val="8892A6"/>
                </a:solidFill>
                <a:latin typeface="Calibri" pitchFamily="34" charset="0"/>
                <a:ea typeface="Calibri" pitchFamily="34" charset="-122"/>
                <a:cs typeface="Calibri" pitchFamily="34" charset="-120"/>
              </a:rPr>
              <a:t>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8229600" cy="320040"/>
          </a:xfrm>
          <a:prstGeom prst="rect">
            <a:avLst/>
          </a:prstGeom>
          <a:noFill/>
          <a:ln/>
        </p:spPr>
        <p:txBody>
          <a:bodyPr wrap="square" rtlCol="0" anchor="ctr"/>
          <a:lstStyle/>
          <a:p>
            <a:pPr marL="0" indent="0">
              <a:buNone/>
            </a:pPr>
            <a:r>
              <a:rPr lang="en-US" sz="1600" b="1" kern="0" spc="200" dirty="0">
                <a:solidFill>
                  <a:srgbClr val="FCA311"/>
                </a:solidFill>
                <a:latin typeface="Calibri" pitchFamily="34" charset="0"/>
                <a:ea typeface="Calibri" pitchFamily="34" charset="-122"/>
                <a:cs typeface="Calibri" pitchFamily="34" charset="-120"/>
              </a:rPr>
              <a:t>01 · BATCH LEARNING</a:t>
            </a:r>
            <a:endParaRPr lang="en-US" sz="1600" dirty="0"/>
          </a:p>
        </p:txBody>
      </p:sp>
      <p:sp>
        <p:nvSpPr>
          <p:cNvPr id="3" name="Text 1"/>
          <p:cNvSpPr/>
          <p:nvPr/>
        </p:nvSpPr>
        <p:spPr>
          <a:xfrm>
            <a:off x="594360" y="872896"/>
            <a:ext cx="10789920" cy="640080"/>
          </a:xfrm>
          <a:prstGeom prst="rect">
            <a:avLst/>
          </a:prstGeom>
          <a:noFill/>
          <a:ln/>
        </p:spPr>
        <p:txBody>
          <a:bodyPr wrap="square" rtlCol="0" anchor="ctr"/>
          <a:lstStyle/>
          <a:p>
            <a:pPr marL="0" indent="0">
              <a:buNone/>
            </a:pPr>
            <a:r>
              <a:rPr lang="en-US" sz="3600" b="1" dirty="0">
                <a:solidFill>
                  <a:srgbClr val="14213D"/>
                </a:solidFill>
                <a:latin typeface="Cambria" pitchFamily="34" charset="0"/>
                <a:ea typeface="Cambria" pitchFamily="34" charset="-122"/>
                <a:cs typeface="Cambria" pitchFamily="34" charset="-120"/>
              </a:rPr>
              <a:t>The problem: your model freezes, but the world doesn't</a:t>
            </a:r>
            <a:endParaRPr lang="en-US" sz="3600" dirty="0"/>
          </a:p>
        </p:txBody>
      </p:sp>
      <p:sp>
        <p:nvSpPr>
          <p:cNvPr id="4" name="Shape 2"/>
          <p:cNvSpPr/>
          <p:nvPr/>
        </p:nvSpPr>
        <p:spPr>
          <a:xfrm>
            <a:off x="640080" y="1481328"/>
            <a:ext cx="10908792" cy="0"/>
          </a:xfrm>
          <a:prstGeom prst="line">
            <a:avLst/>
          </a:prstGeom>
          <a:noFill/>
          <a:ln w="12700">
            <a:solidFill>
              <a:srgbClr val="DCE1EC"/>
            </a:solidFill>
            <a:prstDash val="solid"/>
          </a:ln>
        </p:spPr>
      </p:sp>
      <p:sp>
        <p:nvSpPr>
          <p:cNvPr id="5" name="Text 3"/>
          <p:cNvSpPr/>
          <p:nvPr/>
        </p:nvSpPr>
        <p:spPr>
          <a:xfrm>
            <a:off x="640080" y="2011680"/>
            <a:ext cx="10332720" cy="1005840"/>
          </a:xfrm>
          <a:prstGeom prst="rect">
            <a:avLst/>
          </a:prstGeom>
          <a:noFill/>
          <a:ln/>
        </p:spPr>
        <p:txBody>
          <a:bodyPr wrap="square" rtlCol="0" anchor="ctr"/>
          <a:lstStyle/>
          <a:p>
            <a:pPr marL="0" indent="0">
              <a:lnSpc>
                <a:spcPts val="1900"/>
              </a:lnSpc>
              <a:buNone/>
            </a:pPr>
            <a:r>
              <a:rPr lang="en-US" sz="1600" dirty="0">
                <a:solidFill>
                  <a:srgbClr val="3C4257"/>
                </a:solidFill>
                <a:latin typeface="Calibri" pitchFamily="34" charset="0"/>
                <a:ea typeface="Calibri" pitchFamily="34" charset="-122"/>
                <a:cs typeface="Calibri" pitchFamily="34" charset="-120"/>
              </a:rPr>
              <a:t>Once deployed, a batch-trained model is static — it keeps working off what it learned at training time. But real business scenarios keep evolving: new movies get added every week, spam techniques keep changing. A frozen model slowly falls out of date.</a:t>
            </a:r>
            <a:endParaRPr lang="en-US" sz="1600" dirty="0"/>
          </a:p>
        </p:txBody>
      </p:sp>
      <p:sp>
        <p:nvSpPr>
          <p:cNvPr id="6" name="Text 4"/>
          <p:cNvSpPr/>
          <p:nvPr/>
        </p:nvSpPr>
        <p:spPr>
          <a:xfrm>
            <a:off x="640080" y="3200400"/>
            <a:ext cx="7315200" cy="365760"/>
          </a:xfrm>
          <a:prstGeom prst="rect">
            <a:avLst/>
          </a:prstGeom>
          <a:noFill/>
          <a:ln/>
        </p:spPr>
        <p:txBody>
          <a:bodyPr wrap="square" rtlCol="0" anchor="ctr"/>
          <a:lstStyle/>
          <a:p>
            <a:pPr marL="0" indent="0">
              <a:buNone/>
            </a:pPr>
            <a:r>
              <a:rPr lang="en-US" b="1" dirty="0">
                <a:solidFill>
                  <a:srgbClr val="14213D"/>
                </a:solidFill>
                <a:latin typeface="Cambria" pitchFamily="34" charset="0"/>
                <a:ea typeface="Cambria" pitchFamily="34" charset="-122"/>
                <a:cs typeface="Cambria" pitchFamily="34" charset="-120"/>
              </a:rPr>
              <a:t>So the fix is a retraining cycle</a:t>
            </a:r>
            <a:endParaRPr lang="en-US" dirty="0"/>
          </a:p>
        </p:txBody>
      </p:sp>
      <p:sp>
        <p:nvSpPr>
          <p:cNvPr id="7" name="Shape 5"/>
          <p:cNvSpPr/>
          <p:nvPr/>
        </p:nvSpPr>
        <p:spPr>
          <a:xfrm>
            <a:off x="640080" y="3657600"/>
            <a:ext cx="2057400" cy="1005840"/>
          </a:xfrm>
          <a:prstGeom prst="roundRect">
            <a:avLst>
              <a:gd name="adj" fmla="val 9091"/>
            </a:avLst>
          </a:prstGeom>
          <a:solidFill>
            <a:srgbClr val="E8ECF5"/>
          </a:solidFill>
          <a:ln/>
        </p:spPr>
      </p:sp>
      <p:sp>
        <p:nvSpPr>
          <p:cNvPr id="8" name="Text 6"/>
          <p:cNvSpPr/>
          <p:nvPr/>
        </p:nvSpPr>
        <p:spPr>
          <a:xfrm>
            <a:off x="749808" y="3657600"/>
            <a:ext cx="1837944" cy="1005840"/>
          </a:xfrm>
          <a:prstGeom prst="rect">
            <a:avLst/>
          </a:prstGeom>
          <a:noFill/>
          <a:ln/>
        </p:spPr>
        <p:txBody>
          <a:bodyPr wrap="square" rtlCol="0" anchor="ctr"/>
          <a:lstStyle/>
          <a:p>
            <a:pPr marL="0" indent="0" algn="ctr">
              <a:lnSpc>
                <a:spcPts val="1400"/>
              </a:lnSpc>
              <a:buNone/>
            </a:pPr>
            <a:r>
              <a:rPr lang="en-US" sz="1400" dirty="0">
                <a:solidFill>
                  <a:srgbClr val="14213D"/>
                </a:solidFill>
                <a:latin typeface="Calibri" pitchFamily="34" charset="0"/>
                <a:ea typeface="Calibri" pitchFamily="34" charset="-122"/>
                <a:cs typeface="Calibri" pitchFamily="34" charset="-120"/>
              </a:rPr>
              <a:t>New data arrives</a:t>
            </a:r>
            <a:endParaRPr lang="en-US" sz="1400" dirty="0"/>
          </a:p>
        </p:txBody>
      </p:sp>
      <p:sp>
        <p:nvSpPr>
          <p:cNvPr id="9" name="Shape 7"/>
          <p:cNvSpPr/>
          <p:nvPr/>
        </p:nvSpPr>
        <p:spPr>
          <a:xfrm>
            <a:off x="2697480" y="4078224"/>
            <a:ext cx="132588" cy="164592"/>
          </a:xfrm>
          <a:prstGeom prst="rightArrow">
            <a:avLst/>
          </a:prstGeom>
          <a:solidFill>
            <a:srgbClr val="6B7A99"/>
          </a:solidFill>
          <a:ln/>
        </p:spPr>
      </p:sp>
      <p:sp>
        <p:nvSpPr>
          <p:cNvPr id="10" name="Shape 8"/>
          <p:cNvSpPr/>
          <p:nvPr/>
        </p:nvSpPr>
        <p:spPr>
          <a:xfrm>
            <a:off x="2830068" y="3657600"/>
            <a:ext cx="2057400" cy="1005840"/>
          </a:xfrm>
          <a:prstGeom prst="roundRect">
            <a:avLst>
              <a:gd name="adj" fmla="val 9091"/>
            </a:avLst>
          </a:prstGeom>
          <a:solidFill>
            <a:srgbClr val="E8ECF5"/>
          </a:solidFill>
          <a:ln/>
        </p:spPr>
      </p:sp>
      <p:sp>
        <p:nvSpPr>
          <p:cNvPr id="11" name="Text 9"/>
          <p:cNvSpPr/>
          <p:nvPr/>
        </p:nvSpPr>
        <p:spPr>
          <a:xfrm>
            <a:off x="2939796" y="3657600"/>
            <a:ext cx="1837944" cy="1005840"/>
          </a:xfrm>
          <a:prstGeom prst="rect">
            <a:avLst/>
          </a:prstGeom>
          <a:noFill/>
          <a:ln/>
        </p:spPr>
        <p:txBody>
          <a:bodyPr wrap="square" rtlCol="0" anchor="ctr"/>
          <a:lstStyle/>
          <a:p>
            <a:pPr marL="0" indent="0" algn="ctr">
              <a:lnSpc>
                <a:spcPts val="1400"/>
              </a:lnSpc>
              <a:buNone/>
            </a:pPr>
            <a:r>
              <a:rPr lang="en-US" sz="1400" dirty="0">
                <a:solidFill>
                  <a:srgbClr val="14213D"/>
                </a:solidFill>
                <a:latin typeface="Calibri" pitchFamily="34" charset="0"/>
                <a:ea typeface="Calibri" pitchFamily="34" charset="-122"/>
                <a:cs typeface="Calibri" pitchFamily="34" charset="-120"/>
              </a:rPr>
              <a:t>Combine old + new data</a:t>
            </a:r>
            <a:endParaRPr lang="en-US" sz="1400" dirty="0"/>
          </a:p>
        </p:txBody>
      </p:sp>
      <p:sp>
        <p:nvSpPr>
          <p:cNvPr id="12" name="Shape 10"/>
          <p:cNvSpPr/>
          <p:nvPr/>
        </p:nvSpPr>
        <p:spPr>
          <a:xfrm>
            <a:off x="4887468" y="4078224"/>
            <a:ext cx="132588" cy="164592"/>
          </a:xfrm>
          <a:prstGeom prst="rightArrow">
            <a:avLst/>
          </a:prstGeom>
          <a:solidFill>
            <a:srgbClr val="6B7A99"/>
          </a:solidFill>
          <a:ln/>
        </p:spPr>
      </p:sp>
      <p:sp>
        <p:nvSpPr>
          <p:cNvPr id="13" name="Shape 11"/>
          <p:cNvSpPr/>
          <p:nvPr/>
        </p:nvSpPr>
        <p:spPr>
          <a:xfrm>
            <a:off x="5020056" y="3657600"/>
            <a:ext cx="2057400" cy="1005840"/>
          </a:xfrm>
          <a:prstGeom prst="roundRect">
            <a:avLst>
              <a:gd name="adj" fmla="val 9091"/>
            </a:avLst>
          </a:prstGeom>
          <a:solidFill>
            <a:srgbClr val="FCA311"/>
          </a:solidFill>
          <a:ln/>
        </p:spPr>
      </p:sp>
      <p:sp>
        <p:nvSpPr>
          <p:cNvPr id="14" name="Text 12"/>
          <p:cNvSpPr/>
          <p:nvPr/>
        </p:nvSpPr>
        <p:spPr>
          <a:xfrm>
            <a:off x="5129784" y="3657600"/>
            <a:ext cx="1837944" cy="1005840"/>
          </a:xfrm>
          <a:prstGeom prst="rect">
            <a:avLst/>
          </a:prstGeom>
          <a:noFill/>
          <a:ln/>
        </p:spPr>
        <p:txBody>
          <a:bodyPr wrap="square" rtlCol="0" anchor="ctr"/>
          <a:lstStyle/>
          <a:p>
            <a:pPr marL="0" indent="0" algn="ctr">
              <a:lnSpc>
                <a:spcPts val="1400"/>
              </a:lnSpc>
              <a:buNone/>
            </a:pPr>
            <a:r>
              <a:rPr lang="en-US" sz="1400" b="1" dirty="0">
                <a:solidFill>
                  <a:srgbClr val="14213D"/>
                </a:solidFill>
                <a:latin typeface="Calibri" pitchFamily="34" charset="0"/>
                <a:ea typeface="Calibri" pitchFamily="34" charset="-122"/>
                <a:cs typeface="Calibri" pitchFamily="34" charset="-120"/>
              </a:rPr>
              <a:t>Retrain the model</a:t>
            </a:r>
            <a:endParaRPr lang="en-US" sz="1400" dirty="0"/>
          </a:p>
        </p:txBody>
      </p:sp>
      <p:sp>
        <p:nvSpPr>
          <p:cNvPr id="15" name="Shape 13"/>
          <p:cNvSpPr/>
          <p:nvPr/>
        </p:nvSpPr>
        <p:spPr>
          <a:xfrm>
            <a:off x="7077456" y="4078224"/>
            <a:ext cx="132588" cy="164592"/>
          </a:xfrm>
          <a:prstGeom prst="rightArrow">
            <a:avLst/>
          </a:prstGeom>
          <a:solidFill>
            <a:srgbClr val="6B7A99"/>
          </a:solidFill>
          <a:ln/>
        </p:spPr>
      </p:sp>
      <p:sp>
        <p:nvSpPr>
          <p:cNvPr id="16" name="Shape 14"/>
          <p:cNvSpPr/>
          <p:nvPr/>
        </p:nvSpPr>
        <p:spPr>
          <a:xfrm>
            <a:off x="7210044" y="3657600"/>
            <a:ext cx="2057400" cy="1005840"/>
          </a:xfrm>
          <a:prstGeom prst="roundRect">
            <a:avLst>
              <a:gd name="adj" fmla="val 9091"/>
            </a:avLst>
          </a:prstGeom>
          <a:solidFill>
            <a:srgbClr val="E8ECF5"/>
          </a:solidFill>
          <a:ln/>
        </p:spPr>
      </p:sp>
      <p:sp>
        <p:nvSpPr>
          <p:cNvPr id="17" name="Text 15"/>
          <p:cNvSpPr/>
          <p:nvPr/>
        </p:nvSpPr>
        <p:spPr>
          <a:xfrm>
            <a:off x="7319772" y="3657600"/>
            <a:ext cx="1837944" cy="1005840"/>
          </a:xfrm>
          <a:prstGeom prst="rect">
            <a:avLst/>
          </a:prstGeom>
          <a:noFill/>
          <a:ln/>
        </p:spPr>
        <p:txBody>
          <a:bodyPr wrap="square" rtlCol="0" anchor="ctr"/>
          <a:lstStyle/>
          <a:p>
            <a:pPr marL="0" indent="0" algn="ctr">
              <a:lnSpc>
                <a:spcPts val="1400"/>
              </a:lnSpc>
              <a:buNone/>
            </a:pPr>
            <a:r>
              <a:rPr lang="en-US" sz="1400" dirty="0">
                <a:solidFill>
                  <a:srgbClr val="14213D"/>
                </a:solidFill>
                <a:latin typeface="Calibri" pitchFamily="34" charset="0"/>
                <a:ea typeface="Calibri" pitchFamily="34" charset="-122"/>
                <a:cs typeface="Calibri" pitchFamily="34" charset="-120"/>
              </a:rPr>
              <a:t>Test it</a:t>
            </a:r>
            <a:endParaRPr lang="en-US" sz="1400" dirty="0"/>
          </a:p>
        </p:txBody>
      </p:sp>
      <p:sp>
        <p:nvSpPr>
          <p:cNvPr id="18" name="Shape 16"/>
          <p:cNvSpPr/>
          <p:nvPr/>
        </p:nvSpPr>
        <p:spPr>
          <a:xfrm>
            <a:off x="9267444" y="4078224"/>
            <a:ext cx="132588" cy="164592"/>
          </a:xfrm>
          <a:prstGeom prst="rightArrow">
            <a:avLst/>
          </a:prstGeom>
          <a:solidFill>
            <a:srgbClr val="6B7A99"/>
          </a:solidFill>
          <a:ln/>
        </p:spPr>
      </p:sp>
      <p:sp>
        <p:nvSpPr>
          <p:cNvPr id="19" name="Shape 17"/>
          <p:cNvSpPr/>
          <p:nvPr/>
        </p:nvSpPr>
        <p:spPr>
          <a:xfrm>
            <a:off x="9400032" y="3657600"/>
            <a:ext cx="2057400" cy="1005840"/>
          </a:xfrm>
          <a:prstGeom prst="roundRect">
            <a:avLst>
              <a:gd name="adj" fmla="val 9091"/>
            </a:avLst>
          </a:prstGeom>
          <a:solidFill>
            <a:srgbClr val="E8ECF5"/>
          </a:solidFill>
          <a:ln/>
        </p:spPr>
      </p:sp>
      <p:sp>
        <p:nvSpPr>
          <p:cNvPr id="20" name="Text 18"/>
          <p:cNvSpPr/>
          <p:nvPr/>
        </p:nvSpPr>
        <p:spPr>
          <a:xfrm>
            <a:off x="9509760" y="3657600"/>
            <a:ext cx="1837944" cy="1005840"/>
          </a:xfrm>
          <a:prstGeom prst="rect">
            <a:avLst/>
          </a:prstGeom>
          <a:noFill/>
          <a:ln/>
        </p:spPr>
        <p:txBody>
          <a:bodyPr wrap="square" rtlCol="0" anchor="ctr"/>
          <a:lstStyle/>
          <a:p>
            <a:pPr marL="0" indent="0" algn="ctr">
              <a:lnSpc>
                <a:spcPts val="1400"/>
              </a:lnSpc>
              <a:buNone/>
            </a:pPr>
            <a:r>
              <a:rPr lang="en-US" sz="1400" dirty="0">
                <a:solidFill>
                  <a:srgbClr val="14213D"/>
                </a:solidFill>
                <a:latin typeface="Calibri" pitchFamily="34" charset="0"/>
                <a:ea typeface="Calibri" pitchFamily="34" charset="-122"/>
                <a:cs typeface="Calibri" pitchFamily="34" charset="-120"/>
              </a:rPr>
              <a:t>Redeploy to the server</a:t>
            </a:r>
            <a:endParaRPr lang="en-US" sz="1400" dirty="0"/>
          </a:p>
        </p:txBody>
      </p:sp>
      <p:sp>
        <p:nvSpPr>
          <p:cNvPr id="21" name="Shape 19"/>
          <p:cNvSpPr/>
          <p:nvPr/>
        </p:nvSpPr>
        <p:spPr>
          <a:xfrm>
            <a:off x="640080" y="5029200"/>
            <a:ext cx="10908792" cy="1280160"/>
          </a:xfrm>
          <a:prstGeom prst="roundRect">
            <a:avLst>
              <a:gd name="adj" fmla="val 7143"/>
            </a:avLst>
          </a:prstGeom>
          <a:solidFill>
            <a:srgbClr val="E8ECF5"/>
          </a:solidFill>
          <a:ln/>
        </p:spPr>
      </p:sp>
      <p:sp>
        <p:nvSpPr>
          <p:cNvPr id="22" name="Text 20"/>
          <p:cNvSpPr/>
          <p:nvPr/>
        </p:nvSpPr>
        <p:spPr>
          <a:xfrm>
            <a:off x="896112" y="5193792"/>
            <a:ext cx="10396728" cy="274320"/>
          </a:xfrm>
          <a:prstGeom prst="rect">
            <a:avLst/>
          </a:prstGeom>
          <a:noFill/>
          <a:ln/>
        </p:spPr>
        <p:txBody>
          <a:bodyPr wrap="square" rtlCol="0" anchor="ctr"/>
          <a:lstStyle/>
          <a:p>
            <a:pPr marL="0" indent="0">
              <a:buNone/>
            </a:pPr>
            <a:r>
              <a:rPr lang="en-US" sz="1200" b="1" kern="0" spc="130" dirty="0">
                <a:solidFill>
                  <a:srgbClr val="FCA311"/>
                </a:solidFill>
                <a:latin typeface="Calibri" pitchFamily="34" charset="0"/>
                <a:ea typeface="Calibri" pitchFamily="34" charset="-122"/>
                <a:cs typeface="Calibri" pitchFamily="34" charset="-120"/>
              </a:rPr>
              <a:t>THIS CYCLE REPEATS ON AN “UPDATE PERIOD”</a:t>
            </a:r>
            <a:endParaRPr lang="en-US" sz="1200" dirty="0"/>
          </a:p>
        </p:txBody>
      </p:sp>
      <p:sp>
        <p:nvSpPr>
          <p:cNvPr id="23" name="Text 21"/>
          <p:cNvSpPr/>
          <p:nvPr/>
        </p:nvSpPr>
        <p:spPr>
          <a:xfrm>
            <a:off x="896112" y="5468112"/>
            <a:ext cx="10396728" cy="676656"/>
          </a:xfrm>
          <a:prstGeom prst="rect">
            <a:avLst/>
          </a:prstGeom>
          <a:noFill/>
          <a:ln/>
        </p:spPr>
        <p:txBody>
          <a:bodyPr wrap="square" rtlCol="0" anchor="t"/>
          <a:lstStyle/>
          <a:p>
            <a:pPr marL="0" indent="0">
              <a:lnSpc>
                <a:spcPts val="1800"/>
              </a:lnSpc>
              <a:buNone/>
            </a:pPr>
            <a:r>
              <a:rPr lang="en-US" sz="1600" dirty="0">
                <a:solidFill>
                  <a:srgbClr val="14213D"/>
                </a:solidFill>
                <a:latin typeface="Calibri" pitchFamily="34" charset="0"/>
                <a:ea typeface="Calibri" pitchFamily="34" charset="-122"/>
                <a:cs typeface="Calibri" pitchFamily="34" charset="-120"/>
              </a:rPr>
              <a:t>That could be every 24 hours, every week, or on some other fixed cadence — the right frequency depends on how much data you have and how fast your business scenario is changing.</a:t>
            </a:r>
            <a:endParaRPr lang="en-US" sz="1600" dirty="0"/>
          </a:p>
        </p:txBody>
      </p:sp>
      <p:sp>
        <p:nvSpPr>
          <p:cNvPr id="24" name="Text 22"/>
          <p:cNvSpPr/>
          <p:nvPr/>
        </p:nvSpPr>
        <p:spPr>
          <a:xfrm>
            <a:off x="457200" y="6473952"/>
            <a:ext cx="7315200" cy="274320"/>
          </a:xfrm>
          <a:prstGeom prst="rect">
            <a:avLst/>
          </a:prstGeom>
          <a:noFill/>
          <a:ln/>
        </p:spPr>
        <p:txBody>
          <a:bodyPr wrap="square" rtlCol="0" anchor="ctr"/>
          <a:lstStyle/>
          <a:p>
            <a:pPr marL="0" indent="0">
              <a:buNone/>
            </a:pPr>
            <a:r>
              <a:rPr lang="en-US" sz="850" kern="0" spc="100" dirty="0">
                <a:solidFill>
                  <a:srgbClr val="8892A6"/>
                </a:solidFill>
                <a:latin typeface="Calibri" pitchFamily="34" charset="0"/>
                <a:ea typeface="Calibri" pitchFamily="34" charset="-122"/>
                <a:cs typeface="Calibri" pitchFamily="34" charset="-120"/>
              </a:rPr>
              <a:t>BATCH VS. ONLINE LEARNING</a:t>
            </a:r>
            <a:endParaRPr lang="en-US" sz="850" dirty="0"/>
          </a:p>
        </p:txBody>
      </p:sp>
      <p:sp>
        <p:nvSpPr>
          <p:cNvPr id="25" name="Text 23"/>
          <p:cNvSpPr/>
          <p:nvPr/>
        </p:nvSpPr>
        <p:spPr>
          <a:xfrm>
            <a:off x="11274552" y="6473952"/>
            <a:ext cx="457200" cy="274320"/>
          </a:xfrm>
          <a:prstGeom prst="rect">
            <a:avLst/>
          </a:prstGeom>
          <a:noFill/>
          <a:ln/>
        </p:spPr>
        <p:txBody>
          <a:bodyPr wrap="square" rtlCol="0" anchor="ctr"/>
          <a:lstStyle/>
          <a:p>
            <a:pPr marL="0" indent="0" algn="r">
              <a:buNone/>
            </a:pPr>
            <a:r>
              <a:rPr lang="en-US" sz="850" dirty="0">
                <a:solidFill>
                  <a:srgbClr val="8892A6"/>
                </a:solidFill>
                <a:latin typeface="Calibri" pitchFamily="34" charset="0"/>
                <a:ea typeface="Calibri" pitchFamily="34" charset="-122"/>
                <a:cs typeface="Calibri" pitchFamily="34" charset="-120"/>
              </a:rPr>
              <a:t>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8229600" cy="320040"/>
          </a:xfrm>
          <a:prstGeom prst="rect">
            <a:avLst/>
          </a:prstGeom>
          <a:noFill/>
          <a:ln/>
        </p:spPr>
        <p:txBody>
          <a:bodyPr wrap="square" rtlCol="0" anchor="ctr"/>
          <a:lstStyle/>
          <a:p>
            <a:pPr marL="0" indent="0">
              <a:buNone/>
            </a:pPr>
            <a:r>
              <a:rPr lang="en-US" sz="1200" b="1" kern="0" spc="200" dirty="0">
                <a:solidFill>
                  <a:srgbClr val="FCA311"/>
                </a:solidFill>
                <a:latin typeface="Calibri" pitchFamily="34" charset="0"/>
                <a:ea typeface="Calibri" pitchFamily="34" charset="-122"/>
                <a:cs typeface="Calibri" pitchFamily="34" charset="-120"/>
              </a:rPr>
              <a:t>01 · BATCH LEARNING · LIMITS</a:t>
            </a:r>
            <a:endParaRPr lang="en-US" sz="1200" dirty="0"/>
          </a:p>
        </p:txBody>
      </p:sp>
      <p:sp>
        <p:nvSpPr>
          <p:cNvPr id="3" name="Text 1"/>
          <p:cNvSpPr/>
          <p:nvPr/>
        </p:nvSpPr>
        <p:spPr>
          <a:xfrm>
            <a:off x="594360" y="749808"/>
            <a:ext cx="10789920" cy="640080"/>
          </a:xfrm>
          <a:prstGeom prst="rect">
            <a:avLst/>
          </a:prstGeom>
          <a:noFill/>
          <a:ln/>
        </p:spPr>
        <p:txBody>
          <a:bodyPr wrap="square" rtlCol="0" anchor="ctr"/>
          <a:lstStyle/>
          <a:p>
            <a:pPr marL="0" indent="0">
              <a:buNone/>
            </a:pPr>
            <a:r>
              <a:rPr lang="en-US" sz="2800" b="1" dirty="0">
                <a:solidFill>
                  <a:srgbClr val="14213D"/>
                </a:solidFill>
                <a:latin typeface="Cambria" pitchFamily="34" charset="0"/>
                <a:ea typeface="Cambria" pitchFamily="34" charset="-122"/>
                <a:cs typeface="Cambria" pitchFamily="34" charset="-120"/>
              </a:rPr>
              <a:t>Disadvantage 1: it struggles with big data</a:t>
            </a:r>
            <a:endParaRPr lang="en-US" sz="2800" dirty="0"/>
          </a:p>
        </p:txBody>
      </p:sp>
      <p:sp>
        <p:nvSpPr>
          <p:cNvPr id="4" name="Shape 2"/>
          <p:cNvSpPr/>
          <p:nvPr/>
        </p:nvSpPr>
        <p:spPr>
          <a:xfrm>
            <a:off x="640080" y="1481328"/>
            <a:ext cx="10908792" cy="0"/>
          </a:xfrm>
          <a:prstGeom prst="line">
            <a:avLst/>
          </a:prstGeom>
          <a:noFill/>
          <a:ln w="12700">
            <a:solidFill>
              <a:srgbClr val="DCE1EC"/>
            </a:solidFill>
            <a:prstDash val="solid"/>
          </a:ln>
        </p:spPr>
      </p:sp>
      <p:sp>
        <p:nvSpPr>
          <p:cNvPr id="5" name="Shape 3"/>
          <p:cNvSpPr/>
          <p:nvPr/>
        </p:nvSpPr>
        <p:spPr>
          <a:xfrm>
            <a:off x="640080" y="1965960"/>
            <a:ext cx="5257800" cy="4206240"/>
          </a:xfrm>
          <a:prstGeom prst="roundRect">
            <a:avLst>
              <a:gd name="adj" fmla="val 2174"/>
            </a:avLst>
          </a:prstGeom>
          <a:solidFill>
            <a:srgbClr val="E8ECF5"/>
          </a:solidFill>
          <a:ln/>
        </p:spPr>
      </p:sp>
      <p:sp>
        <p:nvSpPr>
          <p:cNvPr id="6" name="Text 4"/>
          <p:cNvSpPr/>
          <p:nvPr/>
        </p:nvSpPr>
        <p:spPr>
          <a:xfrm>
            <a:off x="896112" y="2130552"/>
            <a:ext cx="4745736" cy="274320"/>
          </a:xfrm>
          <a:prstGeom prst="rect">
            <a:avLst/>
          </a:prstGeom>
          <a:noFill/>
          <a:ln/>
        </p:spPr>
        <p:txBody>
          <a:bodyPr wrap="square" rtlCol="0" anchor="ctr"/>
          <a:lstStyle/>
          <a:p>
            <a:pPr marL="0" indent="0">
              <a:buNone/>
            </a:pPr>
            <a:r>
              <a:rPr lang="en-US" sz="1400" b="1" kern="0" spc="130" dirty="0">
                <a:solidFill>
                  <a:srgbClr val="FCA311"/>
                </a:solidFill>
                <a:latin typeface="Calibri" pitchFamily="34" charset="0"/>
                <a:ea typeface="Calibri" pitchFamily="34" charset="-122"/>
                <a:cs typeface="Calibri" pitchFamily="34" charset="-120"/>
              </a:rPr>
              <a:t>THE ISSUE</a:t>
            </a:r>
            <a:endParaRPr lang="en-US" sz="1400" dirty="0"/>
          </a:p>
        </p:txBody>
      </p:sp>
      <p:sp>
        <p:nvSpPr>
          <p:cNvPr id="7" name="Text 5"/>
          <p:cNvSpPr/>
          <p:nvPr/>
        </p:nvSpPr>
        <p:spPr>
          <a:xfrm>
            <a:off x="896112" y="2404872"/>
            <a:ext cx="4745736" cy="3602736"/>
          </a:xfrm>
          <a:prstGeom prst="rect">
            <a:avLst/>
          </a:prstGeom>
          <a:noFill/>
          <a:ln/>
        </p:spPr>
        <p:txBody>
          <a:bodyPr wrap="square" rtlCol="0" anchor="t"/>
          <a:lstStyle/>
          <a:p>
            <a:pPr marL="0" indent="0">
              <a:lnSpc>
                <a:spcPts val="1900"/>
              </a:lnSpc>
              <a:buNone/>
            </a:pPr>
            <a:r>
              <a:rPr lang="en-US" dirty="0">
                <a:solidFill>
                  <a:srgbClr val="14213D"/>
                </a:solidFill>
                <a:latin typeface="Calibri" pitchFamily="34" charset="0"/>
                <a:ea typeface="Calibri" pitchFamily="34" charset="-122"/>
                <a:cs typeface="Calibri" pitchFamily="34" charset="-120"/>
              </a:rPr>
              <a:t>Batch learning retrains on the entire dataset every cycle. As your data keeps growing — think of a social network generating huge volumes of new content every month — that full dataset eventually gets too large for your training tools to process in one go.</a:t>
            </a:r>
            <a:endParaRPr lang="en-US" dirty="0"/>
          </a:p>
        </p:txBody>
      </p:sp>
      <p:sp>
        <p:nvSpPr>
          <p:cNvPr id="8" name="Shape 6"/>
          <p:cNvSpPr/>
          <p:nvPr/>
        </p:nvSpPr>
        <p:spPr>
          <a:xfrm>
            <a:off x="6172200" y="1965960"/>
            <a:ext cx="5376672" cy="4206240"/>
          </a:xfrm>
          <a:prstGeom prst="roundRect">
            <a:avLst>
              <a:gd name="adj" fmla="val 2174"/>
            </a:avLst>
          </a:prstGeom>
          <a:solidFill>
            <a:srgbClr val="14213D"/>
          </a:solidFill>
          <a:ln/>
          <a:effectLst>
            <a:outerShdw blurRad="101600" dist="38100" dir="5400000" algn="bl" rotWithShape="0">
              <a:srgbClr val="1B1F3B">
                <a:alpha val="15000"/>
              </a:srgbClr>
            </a:outerShdw>
          </a:effectLst>
        </p:spPr>
      </p:sp>
      <p:sp>
        <p:nvSpPr>
          <p:cNvPr id="9" name="Text 7"/>
          <p:cNvSpPr/>
          <p:nvPr/>
        </p:nvSpPr>
        <p:spPr>
          <a:xfrm>
            <a:off x="6428232" y="2130552"/>
            <a:ext cx="4864608" cy="274320"/>
          </a:xfrm>
          <a:prstGeom prst="rect">
            <a:avLst/>
          </a:prstGeom>
          <a:noFill/>
          <a:ln/>
        </p:spPr>
        <p:txBody>
          <a:bodyPr wrap="square" rtlCol="0" anchor="ctr"/>
          <a:lstStyle/>
          <a:p>
            <a:pPr marL="0" indent="0">
              <a:buNone/>
            </a:pPr>
            <a:r>
              <a:rPr lang="en-US" sz="1400" b="1" kern="0" spc="130" dirty="0">
                <a:solidFill>
                  <a:srgbClr val="FCA311"/>
                </a:solidFill>
                <a:latin typeface="Calibri" pitchFamily="34" charset="0"/>
                <a:ea typeface="Calibri" pitchFamily="34" charset="-122"/>
                <a:cs typeface="Calibri" pitchFamily="34" charset="-120"/>
              </a:rPr>
              <a:t>WHAT IT MEANS IN PRACTICE</a:t>
            </a:r>
            <a:endParaRPr lang="en-US" sz="1400" dirty="0"/>
          </a:p>
        </p:txBody>
      </p:sp>
      <p:sp>
        <p:nvSpPr>
          <p:cNvPr id="10" name="Text 8"/>
          <p:cNvSpPr/>
          <p:nvPr/>
        </p:nvSpPr>
        <p:spPr>
          <a:xfrm>
            <a:off x="6428232" y="2404872"/>
            <a:ext cx="4864608" cy="3602736"/>
          </a:xfrm>
          <a:prstGeom prst="rect">
            <a:avLst/>
          </a:prstGeom>
          <a:noFill/>
          <a:ln/>
        </p:spPr>
        <p:txBody>
          <a:bodyPr wrap="square" rtlCol="0" anchor="t"/>
          <a:lstStyle/>
          <a:p>
            <a:pPr marL="0" indent="0">
              <a:lnSpc>
                <a:spcPts val="1900"/>
              </a:lnSpc>
              <a:buNone/>
            </a:pPr>
            <a:r>
              <a:rPr lang="en-US" dirty="0">
                <a:solidFill>
                  <a:srgbClr val="DDE3F2"/>
                </a:solidFill>
                <a:latin typeface="Calibri" pitchFamily="34" charset="0"/>
                <a:ea typeface="Calibri" pitchFamily="34" charset="-122"/>
                <a:cs typeface="Calibri" pitchFamily="34" charset="-120"/>
              </a:rPr>
              <a:t>You can't just keep throwing more compute at the problem forever. If the dataset outgrows what your pipeline can chew through in a single run, the entire batch retraining approach starts to break down — which is exactly the scenario online learning is built to handle.</a:t>
            </a:r>
            <a:endParaRPr lang="en-US" dirty="0"/>
          </a:p>
        </p:txBody>
      </p:sp>
      <p:sp>
        <p:nvSpPr>
          <p:cNvPr id="11" name="Text 9"/>
          <p:cNvSpPr/>
          <p:nvPr/>
        </p:nvSpPr>
        <p:spPr>
          <a:xfrm>
            <a:off x="457200" y="6473952"/>
            <a:ext cx="7315200" cy="274320"/>
          </a:xfrm>
          <a:prstGeom prst="rect">
            <a:avLst/>
          </a:prstGeom>
          <a:noFill/>
          <a:ln/>
        </p:spPr>
        <p:txBody>
          <a:bodyPr wrap="square" rtlCol="0" anchor="ctr"/>
          <a:lstStyle/>
          <a:p>
            <a:pPr marL="0" indent="0">
              <a:buNone/>
            </a:pPr>
            <a:r>
              <a:rPr lang="en-US" sz="850" kern="0" spc="100" dirty="0">
                <a:solidFill>
                  <a:srgbClr val="8892A6"/>
                </a:solidFill>
                <a:latin typeface="Calibri" pitchFamily="34" charset="0"/>
                <a:ea typeface="Calibri" pitchFamily="34" charset="-122"/>
                <a:cs typeface="Calibri" pitchFamily="34" charset="-120"/>
              </a:rPr>
              <a:t>BATCH VS. ONLINE LEARNING</a:t>
            </a:r>
            <a:endParaRPr lang="en-US" sz="850" dirty="0"/>
          </a:p>
        </p:txBody>
      </p:sp>
      <p:sp>
        <p:nvSpPr>
          <p:cNvPr id="12" name="Text 10"/>
          <p:cNvSpPr/>
          <p:nvPr/>
        </p:nvSpPr>
        <p:spPr>
          <a:xfrm>
            <a:off x="11274552" y="6473952"/>
            <a:ext cx="457200" cy="274320"/>
          </a:xfrm>
          <a:prstGeom prst="rect">
            <a:avLst/>
          </a:prstGeom>
          <a:noFill/>
          <a:ln/>
        </p:spPr>
        <p:txBody>
          <a:bodyPr wrap="square" rtlCol="0" anchor="ctr"/>
          <a:lstStyle/>
          <a:p>
            <a:pPr marL="0" indent="0" algn="r">
              <a:buNone/>
            </a:pPr>
            <a:r>
              <a:rPr lang="en-US" sz="850" dirty="0">
                <a:solidFill>
                  <a:srgbClr val="8892A6"/>
                </a:solidFill>
                <a:latin typeface="Calibri" pitchFamily="34" charset="0"/>
                <a:ea typeface="Calibri" pitchFamily="34" charset="-122"/>
                <a:cs typeface="Calibri" pitchFamily="34" charset="-120"/>
              </a:rPr>
              <a:t>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8229600" cy="320040"/>
          </a:xfrm>
          <a:prstGeom prst="rect">
            <a:avLst/>
          </a:prstGeom>
          <a:noFill/>
          <a:ln/>
        </p:spPr>
        <p:txBody>
          <a:bodyPr wrap="square" rtlCol="0" anchor="ctr"/>
          <a:lstStyle/>
          <a:p>
            <a:pPr marL="0" indent="0">
              <a:buNone/>
            </a:pPr>
            <a:r>
              <a:rPr lang="en-US" sz="1200" b="1" kern="0" spc="200" dirty="0">
                <a:solidFill>
                  <a:srgbClr val="FCA311"/>
                </a:solidFill>
                <a:latin typeface="Calibri" pitchFamily="34" charset="0"/>
                <a:ea typeface="Calibri" pitchFamily="34" charset="-122"/>
                <a:cs typeface="Calibri" pitchFamily="34" charset="-120"/>
              </a:rPr>
              <a:t>01 · BATCH LEARNING · LIMITS</a:t>
            </a:r>
            <a:endParaRPr lang="en-US" sz="1200" dirty="0"/>
          </a:p>
        </p:txBody>
      </p:sp>
      <p:sp>
        <p:nvSpPr>
          <p:cNvPr id="3" name="Text 1"/>
          <p:cNvSpPr/>
          <p:nvPr/>
        </p:nvSpPr>
        <p:spPr>
          <a:xfrm>
            <a:off x="594360" y="749808"/>
            <a:ext cx="10789920" cy="640080"/>
          </a:xfrm>
          <a:prstGeom prst="rect">
            <a:avLst/>
          </a:prstGeom>
          <a:noFill/>
          <a:ln/>
        </p:spPr>
        <p:txBody>
          <a:bodyPr wrap="square" rtlCol="0" anchor="ctr"/>
          <a:lstStyle/>
          <a:p>
            <a:pPr marL="0" indent="0">
              <a:buNone/>
            </a:pPr>
            <a:r>
              <a:rPr lang="en-US" sz="2800" b="1" dirty="0">
                <a:solidFill>
                  <a:srgbClr val="14213D"/>
                </a:solidFill>
                <a:latin typeface="Cambria" pitchFamily="34" charset="0"/>
                <a:ea typeface="Cambria" pitchFamily="34" charset="-122"/>
                <a:cs typeface="Cambria" pitchFamily="34" charset="-120"/>
              </a:rPr>
              <a:t>Disadvantage 2: it needs a live connection back home</a:t>
            </a:r>
            <a:endParaRPr lang="en-US" sz="2800" dirty="0"/>
          </a:p>
        </p:txBody>
      </p:sp>
      <p:sp>
        <p:nvSpPr>
          <p:cNvPr id="4" name="Shape 2"/>
          <p:cNvSpPr/>
          <p:nvPr/>
        </p:nvSpPr>
        <p:spPr>
          <a:xfrm>
            <a:off x="640080" y="1481328"/>
            <a:ext cx="10908792" cy="0"/>
          </a:xfrm>
          <a:prstGeom prst="line">
            <a:avLst/>
          </a:prstGeom>
          <a:noFill/>
          <a:ln w="12700">
            <a:solidFill>
              <a:srgbClr val="DCE1EC"/>
            </a:solidFill>
            <a:prstDash val="solid"/>
          </a:ln>
        </p:spPr>
      </p:sp>
      <p:sp>
        <p:nvSpPr>
          <p:cNvPr id="5" name="Shape 3"/>
          <p:cNvSpPr/>
          <p:nvPr/>
        </p:nvSpPr>
        <p:spPr>
          <a:xfrm>
            <a:off x="640080" y="1965960"/>
            <a:ext cx="10908792" cy="1371600"/>
          </a:xfrm>
          <a:prstGeom prst="roundRect">
            <a:avLst>
              <a:gd name="adj" fmla="val 6667"/>
            </a:avLst>
          </a:prstGeom>
          <a:solidFill>
            <a:srgbClr val="E8ECF5"/>
          </a:solidFill>
          <a:ln/>
        </p:spPr>
      </p:sp>
      <p:sp>
        <p:nvSpPr>
          <p:cNvPr id="6" name="Text 4"/>
          <p:cNvSpPr/>
          <p:nvPr/>
        </p:nvSpPr>
        <p:spPr>
          <a:xfrm>
            <a:off x="896112" y="2130552"/>
            <a:ext cx="10396728" cy="274320"/>
          </a:xfrm>
          <a:prstGeom prst="rect">
            <a:avLst/>
          </a:prstGeom>
          <a:noFill/>
          <a:ln/>
        </p:spPr>
        <p:txBody>
          <a:bodyPr wrap="square" rtlCol="0" anchor="ctr"/>
          <a:lstStyle/>
          <a:p>
            <a:pPr marL="0" indent="0">
              <a:buNone/>
            </a:pPr>
            <a:r>
              <a:rPr lang="en-US" sz="1400" b="1" kern="0" spc="130" dirty="0">
                <a:solidFill>
                  <a:srgbClr val="FCA311"/>
                </a:solidFill>
                <a:latin typeface="Calibri" pitchFamily="34" charset="0"/>
                <a:ea typeface="Calibri" pitchFamily="34" charset="-122"/>
                <a:cs typeface="Calibri" pitchFamily="34" charset="-120"/>
              </a:rPr>
              <a:t>THE ISSUE</a:t>
            </a:r>
            <a:endParaRPr lang="en-US" sz="1400" dirty="0"/>
          </a:p>
        </p:txBody>
      </p:sp>
      <p:sp>
        <p:nvSpPr>
          <p:cNvPr id="7" name="Text 5"/>
          <p:cNvSpPr/>
          <p:nvPr/>
        </p:nvSpPr>
        <p:spPr>
          <a:xfrm>
            <a:off x="896112" y="2404872"/>
            <a:ext cx="10396728" cy="768096"/>
          </a:xfrm>
          <a:prstGeom prst="rect">
            <a:avLst/>
          </a:prstGeom>
          <a:noFill/>
          <a:ln/>
        </p:spPr>
        <p:txBody>
          <a:bodyPr wrap="square" rtlCol="0" anchor="t"/>
          <a:lstStyle/>
          <a:p>
            <a:pPr marL="0" indent="0">
              <a:lnSpc>
                <a:spcPts val="1900"/>
              </a:lnSpc>
              <a:buNone/>
            </a:pPr>
            <a:r>
              <a:rPr lang="en-US" dirty="0">
                <a:solidFill>
                  <a:srgbClr val="14213D"/>
                </a:solidFill>
                <a:latin typeface="Calibri" pitchFamily="34" charset="0"/>
                <a:ea typeface="Calibri" pitchFamily="34" charset="-122"/>
                <a:cs typeface="Calibri" pitchFamily="34" charset="-120"/>
              </a:rPr>
              <a:t>Retraining and redeploying means pulling the model back, training it on fresh data, and pushing it out again. That entire loop depends on connectivity — if the device running your model can't reach a server, the cycle simply can't happen.</a:t>
            </a:r>
            <a:endParaRPr lang="en-US" dirty="0"/>
          </a:p>
        </p:txBody>
      </p:sp>
      <p:sp>
        <p:nvSpPr>
          <p:cNvPr id="8" name="Shape 6"/>
          <p:cNvSpPr/>
          <p:nvPr/>
        </p:nvSpPr>
        <p:spPr>
          <a:xfrm>
            <a:off x="640080" y="3566160"/>
            <a:ext cx="10908792" cy="2606040"/>
          </a:xfrm>
          <a:prstGeom prst="roundRect">
            <a:avLst>
              <a:gd name="adj" fmla="val 3509"/>
            </a:avLst>
          </a:prstGeom>
          <a:solidFill>
            <a:srgbClr val="14213D"/>
          </a:solidFill>
          <a:ln/>
          <a:effectLst>
            <a:outerShdw blurRad="101600" dist="38100" dir="5400000" algn="bl" rotWithShape="0">
              <a:srgbClr val="1B1F3B">
                <a:alpha val="15000"/>
              </a:srgbClr>
            </a:outerShdw>
          </a:effectLst>
        </p:spPr>
      </p:sp>
      <p:sp>
        <p:nvSpPr>
          <p:cNvPr id="9" name="Text 7"/>
          <p:cNvSpPr/>
          <p:nvPr/>
        </p:nvSpPr>
        <p:spPr>
          <a:xfrm>
            <a:off x="896112" y="3730752"/>
            <a:ext cx="10396728" cy="274320"/>
          </a:xfrm>
          <a:prstGeom prst="rect">
            <a:avLst/>
          </a:prstGeom>
          <a:noFill/>
          <a:ln/>
        </p:spPr>
        <p:txBody>
          <a:bodyPr wrap="square" rtlCol="0" anchor="ctr"/>
          <a:lstStyle/>
          <a:p>
            <a:pPr marL="0" indent="0">
              <a:buNone/>
            </a:pPr>
            <a:r>
              <a:rPr lang="en-US" sz="1400" b="1" kern="0" spc="130" dirty="0">
                <a:solidFill>
                  <a:srgbClr val="FCA311"/>
                </a:solidFill>
                <a:latin typeface="Calibri" pitchFamily="34" charset="0"/>
                <a:ea typeface="Calibri" pitchFamily="34" charset="-122"/>
                <a:cs typeface="Calibri" pitchFamily="34" charset="-120"/>
              </a:rPr>
              <a:t>WORKED EXAMPLE: A REMOTE OR OFF-GRID DEVICE</a:t>
            </a:r>
            <a:endParaRPr lang="en-US" sz="1400" dirty="0"/>
          </a:p>
        </p:txBody>
      </p:sp>
      <p:sp>
        <p:nvSpPr>
          <p:cNvPr id="10" name="Text 8"/>
          <p:cNvSpPr/>
          <p:nvPr/>
        </p:nvSpPr>
        <p:spPr>
          <a:xfrm>
            <a:off x="896112" y="4005072"/>
            <a:ext cx="10396728" cy="2002536"/>
          </a:xfrm>
          <a:prstGeom prst="rect">
            <a:avLst/>
          </a:prstGeom>
          <a:noFill/>
          <a:ln/>
        </p:spPr>
        <p:txBody>
          <a:bodyPr wrap="square" rtlCol="0" anchor="t"/>
          <a:lstStyle/>
          <a:p>
            <a:pPr marL="0" indent="0">
              <a:lnSpc>
                <a:spcPts val="1900"/>
              </a:lnSpc>
              <a:buNone/>
            </a:pPr>
            <a:r>
              <a:rPr lang="en-US" dirty="0">
                <a:solidFill>
                  <a:srgbClr val="DDE3F2"/>
                </a:solidFill>
                <a:latin typeface="Calibri" pitchFamily="34" charset="0"/>
                <a:ea typeface="Calibri" pitchFamily="34" charset="-122"/>
                <a:cs typeface="Calibri" pitchFamily="34" charset="-120"/>
              </a:rPr>
              <a:t>Imagine a model running on a device with no internet access — deep in a remote location, or on hardware like a satellite or rover where connectivity is intermittent at best. Once deployed, that model is stuck with what it already knows until connectivity returns. You simply cannot pull it back, retrain it, and redeploy it on demand.</a:t>
            </a:r>
            <a:endParaRPr lang="en-US" dirty="0"/>
          </a:p>
        </p:txBody>
      </p:sp>
      <p:sp>
        <p:nvSpPr>
          <p:cNvPr id="11" name="Text 9"/>
          <p:cNvSpPr/>
          <p:nvPr/>
        </p:nvSpPr>
        <p:spPr>
          <a:xfrm>
            <a:off x="457200" y="6473952"/>
            <a:ext cx="7315200" cy="274320"/>
          </a:xfrm>
          <a:prstGeom prst="rect">
            <a:avLst/>
          </a:prstGeom>
          <a:noFill/>
          <a:ln/>
        </p:spPr>
        <p:txBody>
          <a:bodyPr wrap="square" rtlCol="0" anchor="ctr"/>
          <a:lstStyle/>
          <a:p>
            <a:pPr marL="0" indent="0">
              <a:buNone/>
            </a:pPr>
            <a:r>
              <a:rPr lang="en-US" sz="850" kern="0" spc="100" dirty="0">
                <a:solidFill>
                  <a:srgbClr val="8892A6"/>
                </a:solidFill>
                <a:latin typeface="Calibri" pitchFamily="34" charset="0"/>
                <a:ea typeface="Calibri" pitchFamily="34" charset="-122"/>
                <a:cs typeface="Calibri" pitchFamily="34" charset="-120"/>
              </a:rPr>
              <a:t>BATCH VS. ONLINE LEARNING</a:t>
            </a:r>
            <a:endParaRPr lang="en-US" sz="850" dirty="0"/>
          </a:p>
        </p:txBody>
      </p:sp>
      <p:sp>
        <p:nvSpPr>
          <p:cNvPr id="12" name="Text 10"/>
          <p:cNvSpPr/>
          <p:nvPr/>
        </p:nvSpPr>
        <p:spPr>
          <a:xfrm>
            <a:off x="11274552" y="6473952"/>
            <a:ext cx="457200" cy="274320"/>
          </a:xfrm>
          <a:prstGeom prst="rect">
            <a:avLst/>
          </a:prstGeom>
          <a:noFill/>
          <a:ln/>
        </p:spPr>
        <p:txBody>
          <a:bodyPr wrap="square" rtlCol="0" anchor="ctr"/>
          <a:lstStyle/>
          <a:p>
            <a:pPr marL="0" indent="0" algn="r">
              <a:buNone/>
            </a:pPr>
            <a:r>
              <a:rPr lang="en-US" sz="850" dirty="0">
                <a:solidFill>
                  <a:srgbClr val="8892A6"/>
                </a:solidFill>
                <a:latin typeface="Calibri" pitchFamily="34" charset="0"/>
                <a:ea typeface="Calibri" pitchFamily="34" charset="-122"/>
                <a:cs typeface="Calibri" pitchFamily="34" charset="-120"/>
              </a:rPr>
              <a:t>7</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8229600" cy="320040"/>
          </a:xfrm>
          <a:prstGeom prst="rect">
            <a:avLst/>
          </a:prstGeom>
          <a:noFill/>
          <a:ln/>
        </p:spPr>
        <p:txBody>
          <a:bodyPr wrap="square" rtlCol="0" anchor="ctr"/>
          <a:lstStyle/>
          <a:p>
            <a:pPr marL="0" indent="0">
              <a:buNone/>
            </a:pPr>
            <a:r>
              <a:rPr lang="en-US" sz="1200" b="1" kern="0" spc="200" dirty="0">
                <a:solidFill>
                  <a:srgbClr val="FCA311"/>
                </a:solidFill>
                <a:latin typeface="Calibri" pitchFamily="34" charset="0"/>
                <a:ea typeface="Calibri" pitchFamily="34" charset="-122"/>
                <a:cs typeface="Calibri" pitchFamily="34" charset="-120"/>
              </a:rPr>
              <a:t>01 · BATCH LEARNING · LIMITS</a:t>
            </a:r>
            <a:endParaRPr lang="en-US" sz="1200" dirty="0"/>
          </a:p>
        </p:txBody>
      </p:sp>
      <p:sp>
        <p:nvSpPr>
          <p:cNvPr id="3" name="Text 1"/>
          <p:cNvSpPr/>
          <p:nvPr/>
        </p:nvSpPr>
        <p:spPr>
          <a:xfrm>
            <a:off x="594360" y="749808"/>
            <a:ext cx="10789920" cy="640080"/>
          </a:xfrm>
          <a:prstGeom prst="rect">
            <a:avLst/>
          </a:prstGeom>
          <a:noFill/>
          <a:ln/>
        </p:spPr>
        <p:txBody>
          <a:bodyPr wrap="square" rtlCol="0" anchor="ctr"/>
          <a:lstStyle/>
          <a:p>
            <a:pPr marL="0" indent="0">
              <a:buNone/>
            </a:pPr>
            <a:r>
              <a:rPr lang="en-US" sz="2800" b="1" dirty="0">
                <a:solidFill>
                  <a:srgbClr val="14213D"/>
                </a:solidFill>
                <a:latin typeface="Cambria" pitchFamily="34" charset="0"/>
                <a:ea typeface="Cambria" pitchFamily="34" charset="-122"/>
                <a:cs typeface="Cambria" pitchFamily="34" charset="-120"/>
              </a:rPr>
              <a:t>Disadvantage 3: updates aren't fast enough for some content</a:t>
            </a:r>
            <a:endParaRPr lang="en-US" sz="2800" dirty="0"/>
          </a:p>
        </p:txBody>
      </p:sp>
      <p:sp>
        <p:nvSpPr>
          <p:cNvPr id="4" name="Shape 2"/>
          <p:cNvSpPr/>
          <p:nvPr/>
        </p:nvSpPr>
        <p:spPr>
          <a:xfrm>
            <a:off x="640080" y="1481328"/>
            <a:ext cx="10908792" cy="0"/>
          </a:xfrm>
          <a:prstGeom prst="line">
            <a:avLst/>
          </a:prstGeom>
          <a:noFill/>
          <a:ln w="12700">
            <a:solidFill>
              <a:srgbClr val="DCE1EC"/>
            </a:solidFill>
            <a:prstDash val="solid"/>
          </a:ln>
        </p:spPr>
      </p:sp>
      <p:sp>
        <p:nvSpPr>
          <p:cNvPr id="5" name="Shape 3"/>
          <p:cNvSpPr/>
          <p:nvPr/>
        </p:nvSpPr>
        <p:spPr>
          <a:xfrm>
            <a:off x="640080" y="1965960"/>
            <a:ext cx="10908792" cy="1234440"/>
          </a:xfrm>
          <a:prstGeom prst="roundRect">
            <a:avLst>
              <a:gd name="adj" fmla="val 7407"/>
            </a:avLst>
          </a:prstGeom>
          <a:solidFill>
            <a:srgbClr val="E8ECF5"/>
          </a:solidFill>
          <a:ln/>
        </p:spPr>
      </p:sp>
      <p:sp>
        <p:nvSpPr>
          <p:cNvPr id="6" name="Text 4"/>
          <p:cNvSpPr/>
          <p:nvPr/>
        </p:nvSpPr>
        <p:spPr>
          <a:xfrm>
            <a:off x="896112" y="2130552"/>
            <a:ext cx="10396728" cy="274320"/>
          </a:xfrm>
          <a:prstGeom prst="rect">
            <a:avLst/>
          </a:prstGeom>
          <a:noFill/>
          <a:ln/>
        </p:spPr>
        <p:txBody>
          <a:bodyPr wrap="square" rtlCol="0" anchor="ctr"/>
          <a:lstStyle/>
          <a:p>
            <a:pPr marL="0" indent="0">
              <a:buNone/>
            </a:pPr>
            <a:r>
              <a:rPr lang="en-US" sz="1200" b="1" kern="0" spc="130" dirty="0">
                <a:solidFill>
                  <a:srgbClr val="FCA311"/>
                </a:solidFill>
                <a:latin typeface="Calibri" pitchFamily="34" charset="0"/>
                <a:ea typeface="Calibri" pitchFamily="34" charset="-122"/>
                <a:cs typeface="Calibri" pitchFamily="34" charset="-120"/>
              </a:rPr>
              <a:t>THE ISSUE</a:t>
            </a:r>
            <a:endParaRPr lang="en-US" sz="1200" dirty="0"/>
          </a:p>
        </p:txBody>
      </p:sp>
      <p:sp>
        <p:nvSpPr>
          <p:cNvPr id="7" name="Text 5"/>
          <p:cNvSpPr/>
          <p:nvPr/>
        </p:nvSpPr>
        <p:spPr>
          <a:xfrm>
            <a:off x="896112" y="2404872"/>
            <a:ext cx="10607040" cy="630936"/>
          </a:xfrm>
          <a:prstGeom prst="rect">
            <a:avLst/>
          </a:prstGeom>
          <a:noFill/>
          <a:ln/>
        </p:spPr>
        <p:txBody>
          <a:bodyPr wrap="square" rtlCol="0" anchor="t"/>
          <a:lstStyle/>
          <a:p>
            <a:pPr marL="0" indent="0">
              <a:lnSpc>
                <a:spcPts val="1900"/>
              </a:lnSpc>
              <a:buNone/>
            </a:pPr>
            <a:r>
              <a:rPr lang="en-US" sz="1600" dirty="0">
                <a:solidFill>
                  <a:srgbClr val="14213D"/>
                </a:solidFill>
                <a:latin typeface="Calibri" pitchFamily="34" charset="0"/>
                <a:ea typeface="Calibri" pitchFamily="34" charset="-122"/>
                <a:cs typeface="Calibri" pitchFamily="34" charset="-120"/>
              </a:rPr>
              <a:t>Even a 24-hour update cycle isn't fast enough for everything. Some information is only valuable if it reflects what's happening right now.</a:t>
            </a:r>
            <a:endParaRPr lang="en-US" sz="1600" dirty="0"/>
          </a:p>
        </p:txBody>
      </p:sp>
      <p:sp>
        <p:nvSpPr>
          <p:cNvPr id="8" name="Shape 6"/>
          <p:cNvSpPr/>
          <p:nvPr/>
        </p:nvSpPr>
        <p:spPr>
          <a:xfrm>
            <a:off x="640080" y="3383280"/>
            <a:ext cx="10908792" cy="2788920"/>
          </a:xfrm>
          <a:prstGeom prst="roundRect">
            <a:avLst>
              <a:gd name="adj" fmla="val 3279"/>
            </a:avLst>
          </a:prstGeom>
          <a:solidFill>
            <a:srgbClr val="14213D"/>
          </a:solidFill>
          <a:ln/>
          <a:effectLst>
            <a:outerShdw blurRad="101600" dist="38100" dir="5400000" algn="bl" rotWithShape="0">
              <a:srgbClr val="1B1F3B">
                <a:alpha val="15000"/>
              </a:srgbClr>
            </a:outerShdw>
          </a:effectLst>
        </p:spPr>
      </p:sp>
      <p:sp>
        <p:nvSpPr>
          <p:cNvPr id="9" name="Text 7"/>
          <p:cNvSpPr/>
          <p:nvPr/>
        </p:nvSpPr>
        <p:spPr>
          <a:xfrm>
            <a:off x="896112" y="3547872"/>
            <a:ext cx="10396728" cy="274320"/>
          </a:xfrm>
          <a:prstGeom prst="rect">
            <a:avLst/>
          </a:prstGeom>
          <a:noFill/>
          <a:ln/>
        </p:spPr>
        <p:txBody>
          <a:bodyPr wrap="square" rtlCol="0" anchor="ctr"/>
          <a:lstStyle/>
          <a:p>
            <a:pPr marL="0" indent="0">
              <a:buNone/>
            </a:pPr>
            <a:r>
              <a:rPr lang="en-US" sz="1200" b="1" kern="0" spc="130" dirty="0">
                <a:solidFill>
                  <a:srgbClr val="FCA311"/>
                </a:solidFill>
                <a:latin typeface="Calibri" pitchFamily="34" charset="0"/>
                <a:ea typeface="Calibri" pitchFamily="34" charset="-122"/>
                <a:cs typeface="Calibri" pitchFamily="34" charset="-120"/>
              </a:rPr>
              <a:t>WORKED EXAMPLE: A TRENDING-TOPICS FEED</a:t>
            </a:r>
            <a:endParaRPr lang="en-US" sz="1200" dirty="0"/>
          </a:p>
        </p:txBody>
      </p:sp>
      <p:sp>
        <p:nvSpPr>
          <p:cNvPr id="10" name="Text 8"/>
          <p:cNvSpPr/>
          <p:nvPr/>
        </p:nvSpPr>
        <p:spPr>
          <a:xfrm>
            <a:off x="896112" y="3822192"/>
            <a:ext cx="10396728" cy="2185416"/>
          </a:xfrm>
          <a:prstGeom prst="rect">
            <a:avLst/>
          </a:prstGeom>
          <a:noFill/>
          <a:ln/>
        </p:spPr>
        <p:txBody>
          <a:bodyPr wrap="square" rtlCol="0" anchor="t"/>
          <a:lstStyle/>
          <a:p>
            <a:pPr marL="0" indent="0">
              <a:lnSpc>
                <a:spcPts val="1900"/>
              </a:lnSpc>
              <a:buNone/>
            </a:pPr>
            <a:r>
              <a:rPr lang="en-US" sz="1600" dirty="0">
                <a:solidFill>
                  <a:srgbClr val="DDE3F2"/>
                </a:solidFill>
                <a:latin typeface="Calibri" pitchFamily="34" charset="0"/>
                <a:ea typeface="Calibri" pitchFamily="34" charset="-122"/>
                <a:cs typeface="Calibri" pitchFamily="34" charset="-120"/>
              </a:rPr>
              <a:t>Say a social network's “what's trending” feed retrains every 24 hours. Breaking news breaks mid-cycle — everyone is suddenly interested, but the feed won't reflect that until the next retrain. And by the time it finally updates, that news may already be stale and no longer what people care about. For fast-moving, time-sensitive content, batch learning's update cadence is structurally too slow.</a:t>
            </a:r>
            <a:endParaRPr lang="en-US" sz="1600" dirty="0"/>
          </a:p>
        </p:txBody>
      </p:sp>
      <p:sp>
        <p:nvSpPr>
          <p:cNvPr id="11" name="Text 9"/>
          <p:cNvSpPr/>
          <p:nvPr/>
        </p:nvSpPr>
        <p:spPr>
          <a:xfrm>
            <a:off x="457200" y="6473952"/>
            <a:ext cx="7315200" cy="274320"/>
          </a:xfrm>
          <a:prstGeom prst="rect">
            <a:avLst/>
          </a:prstGeom>
          <a:noFill/>
          <a:ln/>
        </p:spPr>
        <p:txBody>
          <a:bodyPr wrap="square" rtlCol="0" anchor="ctr"/>
          <a:lstStyle/>
          <a:p>
            <a:pPr marL="0" indent="0">
              <a:buNone/>
            </a:pPr>
            <a:r>
              <a:rPr lang="en-US" sz="850" kern="0" spc="100" dirty="0">
                <a:solidFill>
                  <a:srgbClr val="8892A6"/>
                </a:solidFill>
                <a:latin typeface="Calibri" pitchFamily="34" charset="0"/>
                <a:ea typeface="Calibri" pitchFamily="34" charset="-122"/>
                <a:cs typeface="Calibri" pitchFamily="34" charset="-120"/>
              </a:rPr>
              <a:t>BATCH VS. ONLINE LEARNING</a:t>
            </a:r>
            <a:endParaRPr lang="en-US" sz="850" dirty="0"/>
          </a:p>
        </p:txBody>
      </p:sp>
      <p:sp>
        <p:nvSpPr>
          <p:cNvPr id="12" name="Text 10"/>
          <p:cNvSpPr/>
          <p:nvPr/>
        </p:nvSpPr>
        <p:spPr>
          <a:xfrm>
            <a:off x="11274552" y="6473952"/>
            <a:ext cx="457200" cy="274320"/>
          </a:xfrm>
          <a:prstGeom prst="rect">
            <a:avLst/>
          </a:prstGeom>
          <a:noFill/>
          <a:ln/>
        </p:spPr>
        <p:txBody>
          <a:bodyPr wrap="square" rtlCol="0" anchor="ctr"/>
          <a:lstStyle/>
          <a:p>
            <a:pPr marL="0" indent="0" algn="r">
              <a:buNone/>
            </a:pPr>
            <a:r>
              <a:rPr lang="en-US" sz="850" dirty="0">
                <a:solidFill>
                  <a:srgbClr val="8892A6"/>
                </a:solidFill>
                <a:latin typeface="Calibri" pitchFamily="34" charset="0"/>
                <a:ea typeface="Calibri" pitchFamily="34" charset="-122"/>
                <a:cs typeface="Calibri" pitchFamily="34" charset="-120"/>
              </a:rPr>
              <a:t>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8229600" cy="320040"/>
          </a:xfrm>
          <a:prstGeom prst="rect">
            <a:avLst/>
          </a:prstGeom>
          <a:noFill/>
          <a:ln/>
        </p:spPr>
        <p:txBody>
          <a:bodyPr wrap="square" rtlCol="0" anchor="ctr"/>
          <a:lstStyle/>
          <a:p>
            <a:pPr marL="0" indent="0">
              <a:buNone/>
            </a:pPr>
            <a:r>
              <a:rPr lang="en-US" sz="1200" b="1" kern="0" spc="200" dirty="0">
                <a:solidFill>
                  <a:srgbClr val="FCA311"/>
                </a:solidFill>
                <a:latin typeface="Calibri" pitchFamily="34" charset="0"/>
                <a:ea typeface="Calibri" pitchFamily="34" charset="-122"/>
                <a:cs typeface="Calibri" pitchFamily="34" charset="-120"/>
              </a:rPr>
              <a:t>COMING UP</a:t>
            </a:r>
            <a:endParaRPr lang="en-US" sz="1200" dirty="0"/>
          </a:p>
        </p:txBody>
      </p:sp>
      <p:sp>
        <p:nvSpPr>
          <p:cNvPr id="3" name="Text 1"/>
          <p:cNvSpPr/>
          <p:nvPr/>
        </p:nvSpPr>
        <p:spPr>
          <a:xfrm>
            <a:off x="594360" y="749808"/>
            <a:ext cx="10789920" cy="640080"/>
          </a:xfrm>
          <a:prstGeom prst="rect">
            <a:avLst/>
          </a:prstGeom>
          <a:noFill/>
          <a:ln/>
        </p:spPr>
        <p:txBody>
          <a:bodyPr wrap="square" rtlCol="0" anchor="ctr"/>
          <a:lstStyle/>
          <a:p>
            <a:pPr marL="0" indent="0">
              <a:buNone/>
            </a:pPr>
            <a:r>
              <a:rPr lang="en-US" sz="2800" b="1" dirty="0">
                <a:solidFill>
                  <a:srgbClr val="14213D"/>
                </a:solidFill>
                <a:latin typeface="Cambria" pitchFamily="34" charset="0"/>
                <a:ea typeface="Cambria" pitchFamily="34" charset="-122"/>
                <a:cs typeface="Cambria" pitchFamily="34" charset="-120"/>
              </a:rPr>
              <a:t>The alternative: online learning</a:t>
            </a:r>
            <a:endParaRPr lang="en-US" sz="2800" dirty="0"/>
          </a:p>
        </p:txBody>
      </p:sp>
      <p:sp>
        <p:nvSpPr>
          <p:cNvPr id="4" name="Shape 2"/>
          <p:cNvSpPr/>
          <p:nvPr/>
        </p:nvSpPr>
        <p:spPr>
          <a:xfrm>
            <a:off x="640080" y="1481328"/>
            <a:ext cx="10908792" cy="0"/>
          </a:xfrm>
          <a:prstGeom prst="line">
            <a:avLst/>
          </a:prstGeom>
          <a:noFill/>
          <a:ln w="12700">
            <a:solidFill>
              <a:srgbClr val="DCE1EC"/>
            </a:solidFill>
            <a:prstDash val="solid"/>
          </a:ln>
        </p:spPr>
      </p:sp>
      <p:sp>
        <p:nvSpPr>
          <p:cNvPr id="5" name="Shape 3"/>
          <p:cNvSpPr/>
          <p:nvPr/>
        </p:nvSpPr>
        <p:spPr>
          <a:xfrm>
            <a:off x="640080" y="2011680"/>
            <a:ext cx="10908792" cy="1828800"/>
          </a:xfrm>
          <a:prstGeom prst="roundRect">
            <a:avLst>
              <a:gd name="adj" fmla="val 5000"/>
            </a:avLst>
          </a:prstGeom>
          <a:solidFill>
            <a:srgbClr val="E8ECF5"/>
          </a:solidFill>
          <a:ln/>
        </p:spPr>
      </p:sp>
      <p:sp>
        <p:nvSpPr>
          <p:cNvPr id="6" name="Text 4"/>
          <p:cNvSpPr/>
          <p:nvPr/>
        </p:nvSpPr>
        <p:spPr>
          <a:xfrm>
            <a:off x="896112" y="2176272"/>
            <a:ext cx="10396728" cy="274320"/>
          </a:xfrm>
          <a:prstGeom prst="rect">
            <a:avLst/>
          </a:prstGeom>
          <a:noFill/>
          <a:ln/>
        </p:spPr>
        <p:txBody>
          <a:bodyPr wrap="square" rtlCol="0" anchor="ctr"/>
          <a:lstStyle/>
          <a:p>
            <a:pPr marL="0" indent="0">
              <a:buNone/>
            </a:pPr>
            <a:r>
              <a:rPr lang="en-US" sz="1200" b="1" kern="0" spc="130" dirty="0">
                <a:solidFill>
                  <a:srgbClr val="FCA311"/>
                </a:solidFill>
                <a:latin typeface="Calibri" pitchFamily="34" charset="0"/>
                <a:ea typeface="Calibri" pitchFamily="34" charset="-122"/>
                <a:cs typeface="Calibri" pitchFamily="34" charset="-120"/>
              </a:rPr>
              <a:t>THE CORE IDEA</a:t>
            </a:r>
            <a:endParaRPr lang="en-US" sz="1200" dirty="0"/>
          </a:p>
        </p:txBody>
      </p:sp>
      <p:sp>
        <p:nvSpPr>
          <p:cNvPr id="7" name="Text 5"/>
          <p:cNvSpPr/>
          <p:nvPr/>
        </p:nvSpPr>
        <p:spPr>
          <a:xfrm>
            <a:off x="896112" y="2450592"/>
            <a:ext cx="10396728" cy="1225296"/>
          </a:xfrm>
          <a:prstGeom prst="rect">
            <a:avLst/>
          </a:prstGeom>
          <a:noFill/>
          <a:ln/>
        </p:spPr>
        <p:txBody>
          <a:bodyPr wrap="square" rtlCol="0" anchor="t"/>
          <a:lstStyle/>
          <a:p>
            <a:pPr marL="0" indent="0">
              <a:lnSpc>
                <a:spcPts val="2000"/>
              </a:lnSpc>
              <a:buNone/>
            </a:pPr>
            <a:r>
              <a:rPr lang="en-US" dirty="0">
                <a:solidFill>
                  <a:srgbClr val="14213D"/>
                </a:solidFill>
                <a:latin typeface="Calibri" pitchFamily="34" charset="0"/>
                <a:ea typeface="Calibri" pitchFamily="34" charset="-122"/>
                <a:cs typeface="Calibri" pitchFamily="34" charset="-120"/>
              </a:rPr>
              <a:t>Instead of retraining on the full dataset in occasional batches, an online learning system updates itself incrementally, a little at a time, as new data streams in — no full retrain-and-redeploy cycle required.</a:t>
            </a:r>
            <a:endParaRPr lang="en-US" dirty="0"/>
          </a:p>
        </p:txBody>
      </p:sp>
      <p:sp>
        <p:nvSpPr>
          <p:cNvPr id="8" name="Shape 6"/>
          <p:cNvSpPr/>
          <p:nvPr/>
        </p:nvSpPr>
        <p:spPr>
          <a:xfrm>
            <a:off x="640080" y="4114800"/>
            <a:ext cx="3429000" cy="2057400"/>
          </a:xfrm>
          <a:prstGeom prst="roundRect">
            <a:avLst>
              <a:gd name="adj" fmla="val 5333"/>
            </a:avLst>
          </a:prstGeom>
          <a:solidFill>
            <a:srgbClr val="E8ECF5"/>
          </a:solidFill>
          <a:ln/>
        </p:spPr>
      </p:sp>
      <p:sp>
        <p:nvSpPr>
          <p:cNvPr id="9" name="Shape 7"/>
          <p:cNvSpPr/>
          <p:nvPr/>
        </p:nvSpPr>
        <p:spPr>
          <a:xfrm>
            <a:off x="896112" y="4370832"/>
            <a:ext cx="182880" cy="182880"/>
          </a:xfrm>
          <a:prstGeom prst="ellipse">
            <a:avLst/>
          </a:prstGeom>
          <a:solidFill>
            <a:srgbClr val="2E8B57"/>
          </a:solidFill>
          <a:ln/>
        </p:spPr>
      </p:sp>
      <p:sp>
        <p:nvSpPr>
          <p:cNvPr id="10" name="Text 8"/>
          <p:cNvSpPr/>
          <p:nvPr/>
        </p:nvSpPr>
        <p:spPr>
          <a:xfrm>
            <a:off x="896112" y="4681728"/>
            <a:ext cx="2916936" cy="411480"/>
          </a:xfrm>
          <a:prstGeom prst="rect">
            <a:avLst/>
          </a:prstGeom>
          <a:noFill/>
          <a:ln/>
        </p:spPr>
        <p:txBody>
          <a:bodyPr wrap="square" rtlCol="0" anchor="ctr"/>
          <a:lstStyle/>
          <a:p>
            <a:pPr marL="0" indent="0">
              <a:buNone/>
            </a:pPr>
            <a:r>
              <a:rPr lang="en-US" b="1" dirty="0">
                <a:solidFill>
                  <a:srgbClr val="14213D"/>
                </a:solidFill>
                <a:latin typeface="Cambria" pitchFamily="34" charset="0"/>
                <a:ea typeface="Cambria" pitchFamily="34" charset="-122"/>
                <a:cs typeface="Cambria" pitchFamily="34" charset="-120"/>
              </a:rPr>
              <a:t>Handles big data</a:t>
            </a:r>
            <a:endParaRPr lang="en-US" dirty="0"/>
          </a:p>
        </p:txBody>
      </p:sp>
      <p:sp>
        <p:nvSpPr>
          <p:cNvPr id="11" name="Text 9"/>
          <p:cNvSpPr/>
          <p:nvPr/>
        </p:nvSpPr>
        <p:spPr>
          <a:xfrm>
            <a:off x="896112" y="5120640"/>
            <a:ext cx="2916936" cy="914400"/>
          </a:xfrm>
          <a:prstGeom prst="rect">
            <a:avLst/>
          </a:prstGeom>
          <a:noFill/>
          <a:ln/>
        </p:spPr>
        <p:txBody>
          <a:bodyPr wrap="square" rtlCol="0" anchor="t"/>
          <a:lstStyle/>
          <a:p>
            <a:pPr marL="0" indent="0">
              <a:lnSpc>
                <a:spcPts val="1600"/>
              </a:lnSpc>
              <a:buNone/>
            </a:pPr>
            <a:r>
              <a:rPr lang="en-US" sz="1400" dirty="0">
                <a:solidFill>
                  <a:srgbClr val="3C4257"/>
                </a:solidFill>
                <a:latin typeface="Calibri" pitchFamily="34" charset="0"/>
                <a:ea typeface="Calibri" pitchFamily="34" charset="-122"/>
                <a:cs typeface="Calibri" pitchFamily="34" charset="-120"/>
              </a:rPr>
              <a:t>Learns from small chunks, so the dataset never has to fit in memory all at once.</a:t>
            </a:r>
            <a:endParaRPr lang="en-US" sz="1400" dirty="0"/>
          </a:p>
        </p:txBody>
      </p:sp>
      <p:sp>
        <p:nvSpPr>
          <p:cNvPr id="12" name="Shape 10"/>
          <p:cNvSpPr/>
          <p:nvPr/>
        </p:nvSpPr>
        <p:spPr>
          <a:xfrm>
            <a:off x="4379976" y="4114800"/>
            <a:ext cx="3429000" cy="2057400"/>
          </a:xfrm>
          <a:prstGeom prst="roundRect">
            <a:avLst>
              <a:gd name="adj" fmla="val 5333"/>
            </a:avLst>
          </a:prstGeom>
          <a:solidFill>
            <a:srgbClr val="E8ECF5"/>
          </a:solidFill>
          <a:ln/>
        </p:spPr>
      </p:sp>
      <p:sp>
        <p:nvSpPr>
          <p:cNvPr id="13" name="Shape 11"/>
          <p:cNvSpPr/>
          <p:nvPr/>
        </p:nvSpPr>
        <p:spPr>
          <a:xfrm>
            <a:off x="4636008" y="4370832"/>
            <a:ext cx="182880" cy="182880"/>
          </a:xfrm>
          <a:prstGeom prst="ellipse">
            <a:avLst/>
          </a:prstGeom>
          <a:solidFill>
            <a:srgbClr val="2E8B57"/>
          </a:solidFill>
          <a:ln/>
        </p:spPr>
      </p:sp>
      <p:sp>
        <p:nvSpPr>
          <p:cNvPr id="14" name="Text 12"/>
          <p:cNvSpPr/>
          <p:nvPr/>
        </p:nvSpPr>
        <p:spPr>
          <a:xfrm>
            <a:off x="4636008" y="4681728"/>
            <a:ext cx="2916936" cy="411480"/>
          </a:xfrm>
          <a:prstGeom prst="rect">
            <a:avLst/>
          </a:prstGeom>
          <a:noFill/>
          <a:ln/>
        </p:spPr>
        <p:txBody>
          <a:bodyPr wrap="square" rtlCol="0" anchor="ctr"/>
          <a:lstStyle/>
          <a:p>
            <a:pPr marL="0" indent="0">
              <a:buNone/>
            </a:pPr>
            <a:r>
              <a:rPr lang="en-US" b="1" dirty="0">
                <a:solidFill>
                  <a:srgbClr val="14213D"/>
                </a:solidFill>
                <a:latin typeface="Cambria" pitchFamily="34" charset="0"/>
                <a:ea typeface="Cambria" pitchFamily="34" charset="-122"/>
                <a:cs typeface="Cambria" pitchFamily="34" charset="-120"/>
              </a:rPr>
              <a:t>Works with limited connectivity</a:t>
            </a:r>
            <a:endParaRPr lang="en-US" dirty="0"/>
          </a:p>
        </p:txBody>
      </p:sp>
      <p:sp>
        <p:nvSpPr>
          <p:cNvPr id="15" name="Text 13"/>
          <p:cNvSpPr/>
          <p:nvPr/>
        </p:nvSpPr>
        <p:spPr>
          <a:xfrm>
            <a:off x="4636008" y="5120640"/>
            <a:ext cx="2916936" cy="914400"/>
          </a:xfrm>
          <a:prstGeom prst="rect">
            <a:avLst/>
          </a:prstGeom>
          <a:noFill/>
          <a:ln/>
        </p:spPr>
        <p:txBody>
          <a:bodyPr wrap="square" rtlCol="0" anchor="t"/>
          <a:lstStyle/>
          <a:p>
            <a:pPr marL="0" indent="0">
              <a:lnSpc>
                <a:spcPts val="1600"/>
              </a:lnSpc>
              <a:buNone/>
            </a:pPr>
            <a:r>
              <a:rPr lang="en-US" sz="1400" dirty="0">
                <a:solidFill>
                  <a:srgbClr val="3C4257"/>
                </a:solidFill>
                <a:latin typeface="Calibri" pitchFamily="34" charset="0"/>
                <a:ea typeface="Calibri" pitchFamily="34" charset="-122"/>
                <a:cs typeface="Calibri" pitchFamily="34" charset="-120"/>
              </a:rPr>
              <a:t>Updates happen locally and incrementally, without a full redeploy loop.</a:t>
            </a:r>
            <a:endParaRPr lang="en-US" sz="1400" dirty="0"/>
          </a:p>
        </p:txBody>
      </p:sp>
      <p:sp>
        <p:nvSpPr>
          <p:cNvPr id="16" name="Shape 14"/>
          <p:cNvSpPr/>
          <p:nvPr/>
        </p:nvSpPr>
        <p:spPr>
          <a:xfrm>
            <a:off x="8119872" y="4114800"/>
            <a:ext cx="3429000" cy="2057400"/>
          </a:xfrm>
          <a:prstGeom prst="roundRect">
            <a:avLst>
              <a:gd name="adj" fmla="val 5333"/>
            </a:avLst>
          </a:prstGeom>
          <a:solidFill>
            <a:srgbClr val="E8ECF5"/>
          </a:solidFill>
          <a:ln/>
        </p:spPr>
      </p:sp>
      <p:sp>
        <p:nvSpPr>
          <p:cNvPr id="17" name="Shape 15"/>
          <p:cNvSpPr/>
          <p:nvPr/>
        </p:nvSpPr>
        <p:spPr>
          <a:xfrm>
            <a:off x="8375904" y="4370832"/>
            <a:ext cx="182880" cy="182880"/>
          </a:xfrm>
          <a:prstGeom prst="ellipse">
            <a:avLst/>
          </a:prstGeom>
          <a:solidFill>
            <a:srgbClr val="2E8B57"/>
          </a:solidFill>
          <a:ln/>
        </p:spPr>
      </p:sp>
      <p:sp>
        <p:nvSpPr>
          <p:cNvPr id="18" name="Text 16"/>
          <p:cNvSpPr/>
          <p:nvPr/>
        </p:nvSpPr>
        <p:spPr>
          <a:xfrm>
            <a:off x="8375904" y="4681728"/>
            <a:ext cx="2916936" cy="411480"/>
          </a:xfrm>
          <a:prstGeom prst="rect">
            <a:avLst/>
          </a:prstGeom>
          <a:noFill/>
          <a:ln/>
        </p:spPr>
        <p:txBody>
          <a:bodyPr wrap="square" rtlCol="0" anchor="ctr"/>
          <a:lstStyle/>
          <a:p>
            <a:pPr marL="0" indent="0">
              <a:buNone/>
            </a:pPr>
            <a:r>
              <a:rPr lang="en-US" b="1" dirty="0">
                <a:solidFill>
                  <a:srgbClr val="14213D"/>
                </a:solidFill>
                <a:latin typeface="Cambria" pitchFamily="34" charset="0"/>
                <a:ea typeface="Cambria" pitchFamily="34" charset="-122"/>
                <a:cs typeface="Cambria" pitchFamily="34" charset="-120"/>
              </a:rPr>
              <a:t>Stays current</a:t>
            </a:r>
            <a:endParaRPr lang="en-US" dirty="0"/>
          </a:p>
        </p:txBody>
      </p:sp>
      <p:sp>
        <p:nvSpPr>
          <p:cNvPr id="19" name="Text 17"/>
          <p:cNvSpPr/>
          <p:nvPr/>
        </p:nvSpPr>
        <p:spPr>
          <a:xfrm>
            <a:off x="8375904" y="5120640"/>
            <a:ext cx="2916936" cy="914400"/>
          </a:xfrm>
          <a:prstGeom prst="rect">
            <a:avLst/>
          </a:prstGeom>
          <a:noFill/>
          <a:ln/>
        </p:spPr>
        <p:txBody>
          <a:bodyPr wrap="square" rtlCol="0" anchor="t"/>
          <a:lstStyle/>
          <a:p>
            <a:pPr marL="0" indent="0">
              <a:lnSpc>
                <a:spcPts val="1600"/>
              </a:lnSpc>
              <a:buNone/>
            </a:pPr>
            <a:r>
              <a:rPr lang="en-US" sz="1400" dirty="0">
                <a:solidFill>
                  <a:srgbClr val="3C4257"/>
                </a:solidFill>
                <a:latin typeface="Calibri" pitchFamily="34" charset="0"/>
                <a:ea typeface="Calibri" pitchFamily="34" charset="-122"/>
                <a:cs typeface="Calibri" pitchFamily="34" charset="-120"/>
              </a:rPr>
              <a:t>Adjusts to new data far faster than a fixed update period ever could.</a:t>
            </a:r>
            <a:endParaRPr lang="en-US" sz="1400" dirty="0"/>
          </a:p>
        </p:txBody>
      </p:sp>
      <p:sp>
        <p:nvSpPr>
          <p:cNvPr id="20" name="Text 18"/>
          <p:cNvSpPr/>
          <p:nvPr/>
        </p:nvSpPr>
        <p:spPr>
          <a:xfrm>
            <a:off x="457200" y="6473952"/>
            <a:ext cx="7315200" cy="274320"/>
          </a:xfrm>
          <a:prstGeom prst="rect">
            <a:avLst/>
          </a:prstGeom>
          <a:noFill/>
          <a:ln/>
        </p:spPr>
        <p:txBody>
          <a:bodyPr wrap="square" rtlCol="0" anchor="ctr"/>
          <a:lstStyle/>
          <a:p>
            <a:pPr marL="0" indent="0">
              <a:buNone/>
            </a:pPr>
            <a:r>
              <a:rPr lang="en-US" sz="850" kern="0" spc="100" dirty="0">
                <a:solidFill>
                  <a:srgbClr val="8892A6"/>
                </a:solidFill>
                <a:latin typeface="Calibri" pitchFamily="34" charset="0"/>
                <a:ea typeface="Calibri" pitchFamily="34" charset="-122"/>
                <a:cs typeface="Calibri" pitchFamily="34" charset="-120"/>
              </a:rPr>
              <a:t>BATCH VS. ONLINE LEARNING</a:t>
            </a:r>
            <a:endParaRPr lang="en-US" sz="850" dirty="0"/>
          </a:p>
        </p:txBody>
      </p:sp>
      <p:sp>
        <p:nvSpPr>
          <p:cNvPr id="21" name="Text 19"/>
          <p:cNvSpPr/>
          <p:nvPr/>
        </p:nvSpPr>
        <p:spPr>
          <a:xfrm>
            <a:off x="11274552" y="6473952"/>
            <a:ext cx="457200" cy="274320"/>
          </a:xfrm>
          <a:prstGeom prst="rect">
            <a:avLst/>
          </a:prstGeom>
          <a:noFill/>
          <a:ln/>
        </p:spPr>
        <p:txBody>
          <a:bodyPr wrap="square" rtlCol="0" anchor="ctr"/>
          <a:lstStyle/>
          <a:p>
            <a:pPr marL="0" indent="0" algn="r">
              <a:buNone/>
            </a:pPr>
            <a:r>
              <a:rPr lang="en-US" sz="850" dirty="0">
                <a:solidFill>
                  <a:srgbClr val="8892A6"/>
                </a:solidFill>
                <a:latin typeface="Calibri" pitchFamily="34" charset="0"/>
                <a:ea typeface="Calibri" pitchFamily="34" charset="-122"/>
                <a:cs typeface="Calibri" pitchFamily="34" charset="-120"/>
              </a:rPr>
              <a:t>9</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8229600" cy="320040"/>
          </a:xfrm>
          <a:prstGeom prst="rect">
            <a:avLst/>
          </a:prstGeom>
          <a:noFill/>
          <a:ln/>
        </p:spPr>
        <p:txBody>
          <a:bodyPr wrap="square" rtlCol="0" anchor="ctr"/>
          <a:lstStyle/>
          <a:p>
            <a:pPr marL="0" indent="0">
              <a:buNone/>
            </a:pPr>
            <a:r>
              <a:rPr lang="en-US" sz="1200" b="1" kern="0" spc="200" dirty="0">
                <a:solidFill>
                  <a:srgbClr val="FCA311"/>
                </a:solidFill>
                <a:latin typeface="Calibri" pitchFamily="34" charset="0"/>
                <a:ea typeface="Calibri" pitchFamily="34" charset="-122"/>
                <a:cs typeface="Calibri" pitchFamily="34" charset="-120"/>
              </a:rPr>
              <a:t>SUMMARY</a:t>
            </a:r>
            <a:endParaRPr lang="en-US" sz="1200" dirty="0"/>
          </a:p>
        </p:txBody>
      </p:sp>
      <p:sp>
        <p:nvSpPr>
          <p:cNvPr id="3" name="Text 1"/>
          <p:cNvSpPr/>
          <p:nvPr/>
        </p:nvSpPr>
        <p:spPr>
          <a:xfrm>
            <a:off x="594360" y="749808"/>
            <a:ext cx="10789920" cy="640080"/>
          </a:xfrm>
          <a:prstGeom prst="rect">
            <a:avLst/>
          </a:prstGeom>
          <a:noFill/>
          <a:ln/>
        </p:spPr>
        <p:txBody>
          <a:bodyPr wrap="square" rtlCol="0" anchor="ctr"/>
          <a:lstStyle/>
          <a:p>
            <a:pPr marL="0" indent="0">
              <a:buNone/>
            </a:pPr>
            <a:r>
              <a:rPr lang="en-US" sz="2800" b="1" dirty="0">
                <a:solidFill>
                  <a:srgbClr val="14213D"/>
                </a:solidFill>
                <a:latin typeface="Cambria" pitchFamily="34" charset="0"/>
                <a:ea typeface="Cambria" pitchFamily="34" charset="-122"/>
                <a:cs typeface="Cambria" pitchFamily="34" charset="-120"/>
              </a:rPr>
              <a:t>Key takeaways</a:t>
            </a:r>
            <a:endParaRPr lang="en-US" sz="2800" dirty="0"/>
          </a:p>
        </p:txBody>
      </p:sp>
      <p:sp>
        <p:nvSpPr>
          <p:cNvPr id="4" name="Shape 2"/>
          <p:cNvSpPr/>
          <p:nvPr/>
        </p:nvSpPr>
        <p:spPr>
          <a:xfrm>
            <a:off x="640080" y="1481328"/>
            <a:ext cx="10908792" cy="0"/>
          </a:xfrm>
          <a:prstGeom prst="line">
            <a:avLst/>
          </a:prstGeom>
          <a:noFill/>
          <a:ln w="12700">
            <a:solidFill>
              <a:srgbClr val="DCE1EC"/>
            </a:solidFill>
            <a:prstDash val="solid"/>
          </a:ln>
        </p:spPr>
      </p:sp>
      <p:sp>
        <p:nvSpPr>
          <p:cNvPr id="5" name="Shape 3"/>
          <p:cNvSpPr/>
          <p:nvPr/>
        </p:nvSpPr>
        <p:spPr>
          <a:xfrm>
            <a:off x="640080" y="1965960"/>
            <a:ext cx="5257800" cy="1298448"/>
          </a:xfrm>
          <a:prstGeom prst="roundRect">
            <a:avLst>
              <a:gd name="adj" fmla="val 7042"/>
            </a:avLst>
          </a:prstGeom>
          <a:solidFill>
            <a:srgbClr val="E8ECF5"/>
          </a:solidFill>
          <a:ln/>
        </p:spPr>
      </p:sp>
      <p:sp>
        <p:nvSpPr>
          <p:cNvPr id="6" name="Shape 4"/>
          <p:cNvSpPr/>
          <p:nvPr/>
        </p:nvSpPr>
        <p:spPr>
          <a:xfrm>
            <a:off x="841248" y="2167128"/>
            <a:ext cx="365760" cy="365760"/>
          </a:xfrm>
          <a:prstGeom prst="roundRect">
            <a:avLst>
              <a:gd name="adj" fmla="val 20000"/>
            </a:avLst>
          </a:prstGeom>
          <a:solidFill>
            <a:srgbClr val="FCA311"/>
          </a:solidFill>
          <a:ln/>
        </p:spPr>
      </p:sp>
      <p:sp>
        <p:nvSpPr>
          <p:cNvPr id="7" name="Text 5"/>
          <p:cNvSpPr/>
          <p:nvPr/>
        </p:nvSpPr>
        <p:spPr>
          <a:xfrm>
            <a:off x="841248" y="2167128"/>
            <a:ext cx="365760" cy="365760"/>
          </a:xfrm>
          <a:prstGeom prst="rect">
            <a:avLst/>
          </a:prstGeom>
          <a:noFill/>
          <a:ln/>
        </p:spPr>
        <p:txBody>
          <a:bodyPr wrap="square" rtlCol="0" anchor="ctr"/>
          <a:lstStyle/>
          <a:p>
            <a:pPr marL="0" indent="0" algn="ctr">
              <a:buNone/>
            </a:pPr>
            <a:r>
              <a:rPr lang="en-US" sz="1200" b="1" dirty="0">
                <a:solidFill>
                  <a:srgbClr val="14213D"/>
                </a:solidFill>
                <a:latin typeface="Calibri" pitchFamily="34" charset="0"/>
                <a:ea typeface="Calibri" pitchFamily="34" charset="-122"/>
                <a:cs typeface="Calibri" pitchFamily="34" charset="-120"/>
              </a:rPr>
              <a:t>1</a:t>
            </a:r>
            <a:endParaRPr lang="en-US" sz="1200" dirty="0"/>
          </a:p>
        </p:txBody>
      </p:sp>
      <p:sp>
        <p:nvSpPr>
          <p:cNvPr id="8" name="Text 6"/>
          <p:cNvSpPr/>
          <p:nvPr/>
        </p:nvSpPr>
        <p:spPr>
          <a:xfrm>
            <a:off x="1325880" y="2093976"/>
            <a:ext cx="4343400" cy="320040"/>
          </a:xfrm>
          <a:prstGeom prst="rect">
            <a:avLst/>
          </a:prstGeom>
          <a:noFill/>
          <a:ln/>
        </p:spPr>
        <p:txBody>
          <a:bodyPr wrap="square" rtlCol="0" anchor="ctr"/>
          <a:lstStyle/>
          <a:p>
            <a:pPr marL="0" indent="0">
              <a:buNone/>
            </a:pPr>
            <a:r>
              <a:rPr lang="en-US" sz="1400" b="1" dirty="0">
                <a:solidFill>
                  <a:srgbClr val="14213D"/>
                </a:solidFill>
                <a:latin typeface="Cambria" pitchFamily="34" charset="0"/>
                <a:ea typeface="Cambria" pitchFamily="34" charset="-122"/>
                <a:cs typeface="Cambria" pitchFamily="34" charset="-120"/>
              </a:rPr>
              <a:t>Production = where code runs</a:t>
            </a:r>
            <a:endParaRPr lang="en-US" sz="1400" dirty="0"/>
          </a:p>
        </p:txBody>
      </p:sp>
      <p:sp>
        <p:nvSpPr>
          <p:cNvPr id="9" name="Text 7"/>
          <p:cNvSpPr/>
          <p:nvPr/>
        </p:nvSpPr>
        <p:spPr>
          <a:xfrm>
            <a:off x="1325880" y="2423160"/>
            <a:ext cx="4343400" cy="777240"/>
          </a:xfrm>
          <a:prstGeom prst="rect">
            <a:avLst/>
          </a:prstGeom>
          <a:noFill/>
          <a:ln/>
        </p:spPr>
        <p:txBody>
          <a:bodyPr wrap="square" rtlCol="0" anchor="ctr"/>
          <a:lstStyle/>
          <a:p>
            <a:pPr marL="0" indent="0">
              <a:lnSpc>
                <a:spcPts val="1500"/>
              </a:lnSpc>
              <a:buNone/>
            </a:pPr>
            <a:r>
              <a:rPr lang="en-US" sz="1120" dirty="0">
                <a:solidFill>
                  <a:srgbClr val="3C4257"/>
                </a:solidFill>
                <a:latin typeface="Calibri" pitchFamily="34" charset="0"/>
                <a:ea typeface="Calibri" pitchFamily="34" charset="-122"/>
                <a:cs typeface="Calibri" pitchFamily="34" charset="-120"/>
              </a:rPr>
              <a:t>The server your customers actually reach — different from the development machine where a model is built.</a:t>
            </a:r>
            <a:endParaRPr lang="en-US" sz="1120" dirty="0"/>
          </a:p>
        </p:txBody>
      </p:sp>
      <p:sp>
        <p:nvSpPr>
          <p:cNvPr id="10" name="Shape 8"/>
          <p:cNvSpPr/>
          <p:nvPr/>
        </p:nvSpPr>
        <p:spPr>
          <a:xfrm>
            <a:off x="6291072" y="1965960"/>
            <a:ext cx="5257800" cy="1298448"/>
          </a:xfrm>
          <a:prstGeom prst="roundRect">
            <a:avLst>
              <a:gd name="adj" fmla="val 7042"/>
            </a:avLst>
          </a:prstGeom>
          <a:solidFill>
            <a:srgbClr val="E8ECF5"/>
          </a:solidFill>
          <a:ln/>
        </p:spPr>
      </p:sp>
      <p:sp>
        <p:nvSpPr>
          <p:cNvPr id="11" name="Shape 9"/>
          <p:cNvSpPr/>
          <p:nvPr/>
        </p:nvSpPr>
        <p:spPr>
          <a:xfrm>
            <a:off x="6492240" y="2167128"/>
            <a:ext cx="365760" cy="365760"/>
          </a:xfrm>
          <a:prstGeom prst="roundRect">
            <a:avLst>
              <a:gd name="adj" fmla="val 20000"/>
            </a:avLst>
          </a:prstGeom>
          <a:solidFill>
            <a:srgbClr val="FCA311"/>
          </a:solidFill>
          <a:ln/>
        </p:spPr>
      </p:sp>
      <p:sp>
        <p:nvSpPr>
          <p:cNvPr id="12" name="Text 10"/>
          <p:cNvSpPr/>
          <p:nvPr/>
        </p:nvSpPr>
        <p:spPr>
          <a:xfrm>
            <a:off x="6492240" y="2167128"/>
            <a:ext cx="365760" cy="365760"/>
          </a:xfrm>
          <a:prstGeom prst="rect">
            <a:avLst/>
          </a:prstGeom>
          <a:noFill/>
          <a:ln/>
        </p:spPr>
        <p:txBody>
          <a:bodyPr wrap="square" rtlCol="0" anchor="ctr"/>
          <a:lstStyle/>
          <a:p>
            <a:pPr marL="0" indent="0" algn="ctr">
              <a:buNone/>
            </a:pPr>
            <a:r>
              <a:rPr lang="en-US" sz="1200" b="1" dirty="0">
                <a:solidFill>
                  <a:srgbClr val="14213D"/>
                </a:solidFill>
                <a:latin typeface="Calibri" pitchFamily="34" charset="0"/>
                <a:ea typeface="Calibri" pitchFamily="34" charset="-122"/>
                <a:cs typeface="Calibri" pitchFamily="34" charset="-120"/>
              </a:rPr>
              <a:t>2</a:t>
            </a:r>
            <a:endParaRPr lang="en-US" sz="1200" dirty="0"/>
          </a:p>
        </p:txBody>
      </p:sp>
      <p:sp>
        <p:nvSpPr>
          <p:cNvPr id="13" name="Text 11"/>
          <p:cNvSpPr/>
          <p:nvPr/>
        </p:nvSpPr>
        <p:spPr>
          <a:xfrm>
            <a:off x="6976872" y="2093976"/>
            <a:ext cx="4343400" cy="320040"/>
          </a:xfrm>
          <a:prstGeom prst="rect">
            <a:avLst/>
          </a:prstGeom>
          <a:noFill/>
          <a:ln/>
        </p:spPr>
        <p:txBody>
          <a:bodyPr wrap="square" rtlCol="0" anchor="ctr"/>
          <a:lstStyle/>
          <a:p>
            <a:pPr marL="0" indent="0">
              <a:buNone/>
            </a:pPr>
            <a:r>
              <a:rPr lang="en-US" sz="1400" b="1" dirty="0">
                <a:solidFill>
                  <a:srgbClr val="14213D"/>
                </a:solidFill>
                <a:latin typeface="Cambria" pitchFamily="34" charset="0"/>
                <a:ea typeface="Cambria" pitchFamily="34" charset="-122"/>
                <a:cs typeface="Cambria" pitchFamily="34" charset="-120"/>
              </a:rPr>
              <a:t>Batch learning trains on everything</a:t>
            </a:r>
            <a:endParaRPr lang="en-US" sz="1400" dirty="0"/>
          </a:p>
        </p:txBody>
      </p:sp>
      <p:sp>
        <p:nvSpPr>
          <p:cNvPr id="14" name="Text 12"/>
          <p:cNvSpPr/>
          <p:nvPr/>
        </p:nvSpPr>
        <p:spPr>
          <a:xfrm>
            <a:off x="6976872" y="2423160"/>
            <a:ext cx="4343400" cy="777240"/>
          </a:xfrm>
          <a:prstGeom prst="rect">
            <a:avLst/>
          </a:prstGeom>
          <a:noFill/>
          <a:ln/>
        </p:spPr>
        <p:txBody>
          <a:bodyPr wrap="square" rtlCol="0" anchor="ctr"/>
          <a:lstStyle/>
          <a:p>
            <a:pPr marL="0" indent="0">
              <a:lnSpc>
                <a:spcPts val="1500"/>
              </a:lnSpc>
              <a:buNone/>
            </a:pPr>
            <a:r>
              <a:rPr lang="en-US" sz="1120" dirty="0">
                <a:solidFill>
                  <a:srgbClr val="3C4257"/>
                </a:solidFill>
                <a:latin typeface="Calibri" pitchFamily="34" charset="0"/>
                <a:ea typeface="Calibri" pitchFamily="34" charset="-122"/>
                <a:cs typeface="Calibri" pitchFamily="34" charset="-120"/>
              </a:rPr>
              <a:t>The full dataset, offline, all at once. Also called offline learning.</a:t>
            </a:r>
            <a:endParaRPr lang="en-US" sz="1120" dirty="0"/>
          </a:p>
        </p:txBody>
      </p:sp>
      <p:sp>
        <p:nvSpPr>
          <p:cNvPr id="15" name="Shape 13"/>
          <p:cNvSpPr/>
          <p:nvPr/>
        </p:nvSpPr>
        <p:spPr>
          <a:xfrm>
            <a:off x="640080" y="3520440"/>
            <a:ext cx="5257800" cy="1298448"/>
          </a:xfrm>
          <a:prstGeom prst="roundRect">
            <a:avLst>
              <a:gd name="adj" fmla="val 7042"/>
            </a:avLst>
          </a:prstGeom>
          <a:solidFill>
            <a:srgbClr val="E8ECF5"/>
          </a:solidFill>
          <a:ln/>
        </p:spPr>
      </p:sp>
      <p:sp>
        <p:nvSpPr>
          <p:cNvPr id="16" name="Shape 14"/>
          <p:cNvSpPr/>
          <p:nvPr/>
        </p:nvSpPr>
        <p:spPr>
          <a:xfrm>
            <a:off x="841248" y="3721608"/>
            <a:ext cx="365760" cy="365760"/>
          </a:xfrm>
          <a:prstGeom prst="roundRect">
            <a:avLst>
              <a:gd name="adj" fmla="val 20000"/>
            </a:avLst>
          </a:prstGeom>
          <a:solidFill>
            <a:srgbClr val="FCA311"/>
          </a:solidFill>
          <a:ln/>
        </p:spPr>
      </p:sp>
      <p:sp>
        <p:nvSpPr>
          <p:cNvPr id="17" name="Text 15"/>
          <p:cNvSpPr/>
          <p:nvPr/>
        </p:nvSpPr>
        <p:spPr>
          <a:xfrm>
            <a:off x="841248" y="3721608"/>
            <a:ext cx="365760" cy="365760"/>
          </a:xfrm>
          <a:prstGeom prst="rect">
            <a:avLst/>
          </a:prstGeom>
          <a:noFill/>
          <a:ln/>
        </p:spPr>
        <p:txBody>
          <a:bodyPr wrap="square" rtlCol="0" anchor="ctr"/>
          <a:lstStyle/>
          <a:p>
            <a:pPr marL="0" indent="0" algn="ctr">
              <a:buNone/>
            </a:pPr>
            <a:r>
              <a:rPr lang="en-US" sz="1200" b="1" dirty="0">
                <a:solidFill>
                  <a:srgbClr val="14213D"/>
                </a:solidFill>
                <a:latin typeface="Calibri" pitchFamily="34" charset="0"/>
                <a:ea typeface="Calibri" pitchFamily="34" charset="-122"/>
                <a:cs typeface="Calibri" pitchFamily="34" charset="-120"/>
              </a:rPr>
              <a:t>3</a:t>
            </a:r>
            <a:endParaRPr lang="en-US" sz="1200" dirty="0"/>
          </a:p>
        </p:txBody>
      </p:sp>
      <p:sp>
        <p:nvSpPr>
          <p:cNvPr id="18" name="Text 16"/>
          <p:cNvSpPr/>
          <p:nvPr/>
        </p:nvSpPr>
        <p:spPr>
          <a:xfrm>
            <a:off x="1325880" y="3648456"/>
            <a:ext cx="4343400" cy="320040"/>
          </a:xfrm>
          <a:prstGeom prst="rect">
            <a:avLst/>
          </a:prstGeom>
          <a:noFill/>
          <a:ln/>
        </p:spPr>
        <p:txBody>
          <a:bodyPr wrap="square" rtlCol="0" anchor="ctr"/>
          <a:lstStyle/>
          <a:p>
            <a:pPr marL="0" indent="0">
              <a:buNone/>
            </a:pPr>
            <a:r>
              <a:rPr lang="en-US" sz="1400" b="1" dirty="0">
                <a:solidFill>
                  <a:srgbClr val="14213D"/>
                </a:solidFill>
                <a:latin typeface="Cambria" pitchFamily="34" charset="0"/>
                <a:ea typeface="Cambria" pitchFamily="34" charset="-122"/>
                <a:cs typeface="Cambria" pitchFamily="34" charset="-120"/>
              </a:rPr>
              <a:t>Deployed models go static</a:t>
            </a:r>
            <a:endParaRPr lang="en-US" sz="1400" dirty="0"/>
          </a:p>
        </p:txBody>
      </p:sp>
      <p:sp>
        <p:nvSpPr>
          <p:cNvPr id="19" name="Text 17"/>
          <p:cNvSpPr/>
          <p:nvPr/>
        </p:nvSpPr>
        <p:spPr>
          <a:xfrm>
            <a:off x="1325880" y="3977640"/>
            <a:ext cx="4343400" cy="777240"/>
          </a:xfrm>
          <a:prstGeom prst="rect">
            <a:avLst/>
          </a:prstGeom>
          <a:noFill/>
          <a:ln/>
        </p:spPr>
        <p:txBody>
          <a:bodyPr wrap="square" rtlCol="0" anchor="ctr"/>
          <a:lstStyle/>
          <a:p>
            <a:pPr marL="0" indent="0">
              <a:lnSpc>
                <a:spcPts val="1500"/>
              </a:lnSpc>
              <a:buNone/>
            </a:pPr>
            <a:r>
              <a:rPr lang="en-US" sz="1120" dirty="0">
                <a:solidFill>
                  <a:srgbClr val="3C4257"/>
                </a:solidFill>
                <a:latin typeface="Calibri" pitchFamily="34" charset="0"/>
                <a:ea typeface="Calibri" pitchFamily="34" charset="-122"/>
                <a:cs typeface="Calibri" pitchFamily="34" charset="-120"/>
              </a:rPr>
              <a:t>A batch-trained model doesn't learn anything new on its own once it's live.</a:t>
            </a:r>
            <a:endParaRPr lang="en-US" sz="1120" dirty="0"/>
          </a:p>
        </p:txBody>
      </p:sp>
      <p:sp>
        <p:nvSpPr>
          <p:cNvPr id="20" name="Shape 18"/>
          <p:cNvSpPr/>
          <p:nvPr/>
        </p:nvSpPr>
        <p:spPr>
          <a:xfrm>
            <a:off x="6291072" y="3520440"/>
            <a:ext cx="5257800" cy="1298448"/>
          </a:xfrm>
          <a:prstGeom prst="roundRect">
            <a:avLst>
              <a:gd name="adj" fmla="val 7042"/>
            </a:avLst>
          </a:prstGeom>
          <a:solidFill>
            <a:srgbClr val="E8ECF5"/>
          </a:solidFill>
          <a:ln/>
        </p:spPr>
      </p:sp>
      <p:sp>
        <p:nvSpPr>
          <p:cNvPr id="21" name="Shape 19"/>
          <p:cNvSpPr/>
          <p:nvPr/>
        </p:nvSpPr>
        <p:spPr>
          <a:xfrm>
            <a:off x="6492240" y="3721608"/>
            <a:ext cx="365760" cy="365760"/>
          </a:xfrm>
          <a:prstGeom prst="roundRect">
            <a:avLst>
              <a:gd name="adj" fmla="val 20000"/>
            </a:avLst>
          </a:prstGeom>
          <a:solidFill>
            <a:srgbClr val="FCA311"/>
          </a:solidFill>
          <a:ln/>
        </p:spPr>
      </p:sp>
      <p:sp>
        <p:nvSpPr>
          <p:cNvPr id="22" name="Text 20"/>
          <p:cNvSpPr/>
          <p:nvPr/>
        </p:nvSpPr>
        <p:spPr>
          <a:xfrm>
            <a:off x="6492240" y="3721608"/>
            <a:ext cx="365760" cy="365760"/>
          </a:xfrm>
          <a:prstGeom prst="rect">
            <a:avLst/>
          </a:prstGeom>
          <a:noFill/>
          <a:ln/>
        </p:spPr>
        <p:txBody>
          <a:bodyPr wrap="square" rtlCol="0" anchor="ctr"/>
          <a:lstStyle/>
          <a:p>
            <a:pPr marL="0" indent="0" algn="ctr">
              <a:buNone/>
            </a:pPr>
            <a:r>
              <a:rPr lang="en-US" sz="1200" b="1" dirty="0">
                <a:solidFill>
                  <a:srgbClr val="14213D"/>
                </a:solidFill>
                <a:latin typeface="Calibri" pitchFamily="34" charset="0"/>
                <a:ea typeface="Calibri" pitchFamily="34" charset="-122"/>
                <a:cs typeface="Calibri" pitchFamily="34" charset="-120"/>
              </a:rPr>
              <a:t>4</a:t>
            </a:r>
            <a:endParaRPr lang="en-US" sz="1200" dirty="0"/>
          </a:p>
        </p:txBody>
      </p:sp>
      <p:sp>
        <p:nvSpPr>
          <p:cNvPr id="23" name="Text 21"/>
          <p:cNvSpPr/>
          <p:nvPr/>
        </p:nvSpPr>
        <p:spPr>
          <a:xfrm>
            <a:off x="6976872" y="3648456"/>
            <a:ext cx="4343400" cy="320040"/>
          </a:xfrm>
          <a:prstGeom prst="rect">
            <a:avLst/>
          </a:prstGeom>
          <a:noFill/>
          <a:ln/>
        </p:spPr>
        <p:txBody>
          <a:bodyPr wrap="square" rtlCol="0" anchor="ctr"/>
          <a:lstStyle/>
          <a:p>
            <a:pPr marL="0" indent="0">
              <a:buNone/>
            </a:pPr>
            <a:r>
              <a:rPr lang="en-US" sz="1400" b="1" dirty="0">
                <a:solidFill>
                  <a:srgbClr val="14213D"/>
                </a:solidFill>
                <a:latin typeface="Cambria" pitchFamily="34" charset="0"/>
                <a:ea typeface="Cambria" pitchFamily="34" charset="-122"/>
                <a:cs typeface="Cambria" pitchFamily="34" charset="-120"/>
              </a:rPr>
              <a:t>Retraining is a repeating cycle</a:t>
            </a:r>
            <a:endParaRPr lang="en-US" sz="1400" dirty="0"/>
          </a:p>
        </p:txBody>
      </p:sp>
      <p:sp>
        <p:nvSpPr>
          <p:cNvPr id="24" name="Text 22"/>
          <p:cNvSpPr/>
          <p:nvPr/>
        </p:nvSpPr>
        <p:spPr>
          <a:xfrm>
            <a:off x="6976872" y="3977640"/>
            <a:ext cx="4343400" cy="777240"/>
          </a:xfrm>
          <a:prstGeom prst="rect">
            <a:avLst/>
          </a:prstGeom>
          <a:noFill/>
          <a:ln/>
        </p:spPr>
        <p:txBody>
          <a:bodyPr wrap="square" rtlCol="0" anchor="ctr"/>
          <a:lstStyle/>
          <a:p>
            <a:pPr marL="0" indent="0">
              <a:lnSpc>
                <a:spcPts val="1500"/>
              </a:lnSpc>
              <a:buNone/>
            </a:pPr>
            <a:r>
              <a:rPr lang="en-US" sz="1120" dirty="0">
                <a:solidFill>
                  <a:srgbClr val="3C4257"/>
                </a:solidFill>
                <a:latin typeface="Calibri" pitchFamily="34" charset="0"/>
                <a:ea typeface="Calibri" pitchFamily="34" charset="-122"/>
                <a:cs typeface="Calibri" pitchFamily="34" charset="-120"/>
              </a:rPr>
              <a:t>New + old data → retrain → test → redeploy, on some fixed update period.</a:t>
            </a:r>
            <a:endParaRPr lang="en-US" sz="1120" dirty="0"/>
          </a:p>
        </p:txBody>
      </p:sp>
      <p:sp>
        <p:nvSpPr>
          <p:cNvPr id="25" name="Shape 23"/>
          <p:cNvSpPr/>
          <p:nvPr/>
        </p:nvSpPr>
        <p:spPr>
          <a:xfrm>
            <a:off x="640080" y="5074920"/>
            <a:ext cx="5257800" cy="1298448"/>
          </a:xfrm>
          <a:prstGeom prst="roundRect">
            <a:avLst>
              <a:gd name="adj" fmla="val 7042"/>
            </a:avLst>
          </a:prstGeom>
          <a:solidFill>
            <a:srgbClr val="E8ECF5"/>
          </a:solidFill>
          <a:ln/>
        </p:spPr>
      </p:sp>
      <p:sp>
        <p:nvSpPr>
          <p:cNvPr id="26" name="Shape 24"/>
          <p:cNvSpPr/>
          <p:nvPr/>
        </p:nvSpPr>
        <p:spPr>
          <a:xfrm>
            <a:off x="841248" y="5276088"/>
            <a:ext cx="365760" cy="365760"/>
          </a:xfrm>
          <a:prstGeom prst="roundRect">
            <a:avLst>
              <a:gd name="adj" fmla="val 20000"/>
            </a:avLst>
          </a:prstGeom>
          <a:solidFill>
            <a:srgbClr val="FCA311"/>
          </a:solidFill>
          <a:ln/>
        </p:spPr>
      </p:sp>
      <p:sp>
        <p:nvSpPr>
          <p:cNvPr id="27" name="Text 25"/>
          <p:cNvSpPr/>
          <p:nvPr/>
        </p:nvSpPr>
        <p:spPr>
          <a:xfrm>
            <a:off x="841248" y="5276088"/>
            <a:ext cx="365760" cy="365760"/>
          </a:xfrm>
          <a:prstGeom prst="rect">
            <a:avLst/>
          </a:prstGeom>
          <a:noFill/>
          <a:ln/>
        </p:spPr>
        <p:txBody>
          <a:bodyPr wrap="square" rtlCol="0" anchor="ctr"/>
          <a:lstStyle/>
          <a:p>
            <a:pPr marL="0" indent="0" algn="ctr">
              <a:buNone/>
            </a:pPr>
            <a:r>
              <a:rPr lang="en-US" sz="1200" b="1" dirty="0">
                <a:solidFill>
                  <a:srgbClr val="14213D"/>
                </a:solidFill>
                <a:latin typeface="Calibri" pitchFamily="34" charset="0"/>
                <a:ea typeface="Calibri" pitchFamily="34" charset="-122"/>
                <a:cs typeface="Calibri" pitchFamily="34" charset="-120"/>
              </a:rPr>
              <a:t>5</a:t>
            </a:r>
            <a:endParaRPr lang="en-US" sz="1200" dirty="0"/>
          </a:p>
        </p:txBody>
      </p:sp>
      <p:sp>
        <p:nvSpPr>
          <p:cNvPr id="28" name="Text 26"/>
          <p:cNvSpPr/>
          <p:nvPr/>
        </p:nvSpPr>
        <p:spPr>
          <a:xfrm>
            <a:off x="1325880" y="5202936"/>
            <a:ext cx="4343400" cy="320040"/>
          </a:xfrm>
          <a:prstGeom prst="rect">
            <a:avLst/>
          </a:prstGeom>
          <a:noFill/>
          <a:ln/>
        </p:spPr>
        <p:txBody>
          <a:bodyPr wrap="square" rtlCol="0" anchor="ctr"/>
          <a:lstStyle/>
          <a:p>
            <a:pPr marL="0" indent="0">
              <a:buNone/>
            </a:pPr>
            <a:r>
              <a:rPr lang="en-US" sz="1400" b="1" dirty="0">
                <a:solidFill>
                  <a:srgbClr val="14213D"/>
                </a:solidFill>
                <a:latin typeface="Cambria" pitchFamily="34" charset="0"/>
                <a:ea typeface="Cambria" pitchFamily="34" charset="-122"/>
                <a:cs typeface="Cambria" pitchFamily="34" charset="-120"/>
              </a:rPr>
              <a:t>Three real limits</a:t>
            </a:r>
            <a:endParaRPr lang="en-US" sz="1400" dirty="0"/>
          </a:p>
        </p:txBody>
      </p:sp>
      <p:sp>
        <p:nvSpPr>
          <p:cNvPr id="29" name="Text 27"/>
          <p:cNvSpPr/>
          <p:nvPr/>
        </p:nvSpPr>
        <p:spPr>
          <a:xfrm>
            <a:off x="1325880" y="5532120"/>
            <a:ext cx="4343400" cy="777240"/>
          </a:xfrm>
          <a:prstGeom prst="rect">
            <a:avLst/>
          </a:prstGeom>
          <a:noFill/>
          <a:ln/>
        </p:spPr>
        <p:txBody>
          <a:bodyPr wrap="square" rtlCol="0" anchor="ctr"/>
          <a:lstStyle/>
          <a:p>
            <a:pPr marL="0" indent="0">
              <a:lnSpc>
                <a:spcPts val="1500"/>
              </a:lnSpc>
              <a:buNone/>
            </a:pPr>
            <a:r>
              <a:rPr lang="en-US" sz="1120" dirty="0">
                <a:solidFill>
                  <a:srgbClr val="3C4257"/>
                </a:solidFill>
                <a:latin typeface="Calibri" pitchFamily="34" charset="0"/>
                <a:ea typeface="Calibri" pitchFamily="34" charset="-122"/>
                <a:cs typeface="Calibri" pitchFamily="34" charset="-120"/>
              </a:rPr>
              <a:t>Struggles with very large data, needs connectivity to retrain, and can't keep up with fast-moving content.</a:t>
            </a:r>
            <a:endParaRPr lang="en-US" sz="1120" dirty="0"/>
          </a:p>
        </p:txBody>
      </p:sp>
      <p:sp>
        <p:nvSpPr>
          <p:cNvPr id="30" name="Shape 28"/>
          <p:cNvSpPr/>
          <p:nvPr/>
        </p:nvSpPr>
        <p:spPr>
          <a:xfrm>
            <a:off x="6291072" y="5074920"/>
            <a:ext cx="5257800" cy="1298448"/>
          </a:xfrm>
          <a:prstGeom prst="roundRect">
            <a:avLst>
              <a:gd name="adj" fmla="val 7042"/>
            </a:avLst>
          </a:prstGeom>
          <a:solidFill>
            <a:srgbClr val="E8ECF5"/>
          </a:solidFill>
          <a:ln/>
        </p:spPr>
      </p:sp>
      <p:sp>
        <p:nvSpPr>
          <p:cNvPr id="31" name="Shape 29"/>
          <p:cNvSpPr/>
          <p:nvPr/>
        </p:nvSpPr>
        <p:spPr>
          <a:xfrm>
            <a:off x="6492240" y="5276088"/>
            <a:ext cx="365760" cy="365760"/>
          </a:xfrm>
          <a:prstGeom prst="roundRect">
            <a:avLst>
              <a:gd name="adj" fmla="val 20000"/>
            </a:avLst>
          </a:prstGeom>
          <a:solidFill>
            <a:srgbClr val="FCA311"/>
          </a:solidFill>
          <a:ln/>
        </p:spPr>
      </p:sp>
      <p:sp>
        <p:nvSpPr>
          <p:cNvPr id="32" name="Text 30"/>
          <p:cNvSpPr/>
          <p:nvPr/>
        </p:nvSpPr>
        <p:spPr>
          <a:xfrm>
            <a:off x="6492240" y="5276088"/>
            <a:ext cx="365760" cy="365760"/>
          </a:xfrm>
          <a:prstGeom prst="rect">
            <a:avLst/>
          </a:prstGeom>
          <a:noFill/>
          <a:ln/>
        </p:spPr>
        <p:txBody>
          <a:bodyPr wrap="square" rtlCol="0" anchor="ctr"/>
          <a:lstStyle/>
          <a:p>
            <a:pPr marL="0" indent="0" algn="ctr">
              <a:buNone/>
            </a:pPr>
            <a:r>
              <a:rPr lang="en-US" sz="1200" b="1" dirty="0">
                <a:solidFill>
                  <a:srgbClr val="14213D"/>
                </a:solidFill>
                <a:latin typeface="Calibri" pitchFamily="34" charset="0"/>
                <a:ea typeface="Calibri" pitchFamily="34" charset="-122"/>
                <a:cs typeface="Calibri" pitchFamily="34" charset="-120"/>
              </a:rPr>
              <a:t>6</a:t>
            </a:r>
            <a:endParaRPr lang="en-US" sz="1200" dirty="0"/>
          </a:p>
        </p:txBody>
      </p:sp>
      <p:sp>
        <p:nvSpPr>
          <p:cNvPr id="33" name="Text 31"/>
          <p:cNvSpPr/>
          <p:nvPr/>
        </p:nvSpPr>
        <p:spPr>
          <a:xfrm>
            <a:off x="6976872" y="5202936"/>
            <a:ext cx="4343400" cy="320040"/>
          </a:xfrm>
          <a:prstGeom prst="rect">
            <a:avLst/>
          </a:prstGeom>
          <a:noFill/>
          <a:ln/>
        </p:spPr>
        <p:txBody>
          <a:bodyPr wrap="square" rtlCol="0" anchor="ctr"/>
          <a:lstStyle/>
          <a:p>
            <a:pPr marL="0" indent="0">
              <a:buNone/>
            </a:pPr>
            <a:r>
              <a:rPr lang="en-US" sz="1400" b="1" dirty="0">
                <a:solidFill>
                  <a:srgbClr val="14213D"/>
                </a:solidFill>
                <a:latin typeface="Cambria" pitchFamily="34" charset="0"/>
                <a:ea typeface="Cambria" pitchFamily="34" charset="-122"/>
                <a:cs typeface="Cambria" pitchFamily="34" charset="-120"/>
              </a:rPr>
              <a:t>Online learning is the alternative</a:t>
            </a:r>
            <a:endParaRPr lang="en-US" sz="1400" dirty="0"/>
          </a:p>
        </p:txBody>
      </p:sp>
      <p:sp>
        <p:nvSpPr>
          <p:cNvPr id="34" name="Text 32"/>
          <p:cNvSpPr/>
          <p:nvPr/>
        </p:nvSpPr>
        <p:spPr>
          <a:xfrm>
            <a:off x="6976872" y="5532120"/>
            <a:ext cx="4343400" cy="777240"/>
          </a:xfrm>
          <a:prstGeom prst="rect">
            <a:avLst/>
          </a:prstGeom>
          <a:noFill/>
          <a:ln/>
        </p:spPr>
        <p:txBody>
          <a:bodyPr wrap="square" rtlCol="0" anchor="ctr"/>
          <a:lstStyle/>
          <a:p>
            <a:pPr marL="0" indent="0">
              <a:lnSpc>
                <a:spcPts val="1500"/>
              </a:lnSpc>
              <a:buNone/>
            </a:pPr>
            <a:r>
              <a:rPr lang="en-US" sz="1120" dirty="0">
                <a:solidFill>
                  <a:srgbClr val="3C4257"/>
                </a:solidFill>
                <a:latin typeface="Calibri" pitchFamily="34" charset="0"/>
                <a:ea typeface="Calibri" pitchFamily="34" charset="-122"/>
                <a:cs typeface="Calibri" pitchFamily="34" charset="-120"/>
              </a:rPr>
              <a:t>Learns incrementally from streaming data instead of retraining in batches — covered next.</a:t>
            </a:r>
            <a:endParaRPr lang="en-US" sz="1120" dirty="0"/>
          </a:p>
        </p:txBody>
      </p:sp>
      <p:sp>
        <p:nvSpPr>
          <p:cNvPr id="35" name="Text 33"/>
          <p:cNvSpPr/>
          <p:nvPr/>
        </p:nvSpPr>
        <p:spPr>
          <a:xfrm>
            <a:off x="457200" y="6473952"/>
            <a:ext cx="7315200" cy="274320"/>
          </a:xfrm>
          <a:prstGeom prst="rect">
            <a:avLst/>
          </a:prstGeom>
          <a:noFill/>
          <a:ln/>
        </p:spPr>
        <p:txBody>
          <a:bodyPr wrap="square" rtlCol="0" anchor="ctr"/>
          <a:lstStyle/>
          <a:p>
            <a:pPr marL="0" indent="0">
              <a:buNone/>
            </a:pPr>
            <a:r>
              <a:rPr lang="en-US" sz="850" kern="0" spc="100" dirty="0">
                <a:solidFill>
                  <a:srgbClr val="8892A6"/>
                </a:solidFill>
                <a:latin typeface="Calibri" pitchFamily="34" charset="0"/>
                <a:ea typeface="Calibri" pitchFamily="34" charset="-122"/>
                <a:cs typeface="Calibri" pitchFamily="34" charset="-120"/>
              </a:rPr>
              <a:t>BATCH VS. ONLINE LEARNING</a:t>
            </a:r>
            <a:endParaRPr lang="en-US" sz="850" dirty="0"/>
          </a:p>
        </p:txBody>
      </p:sp>
      <p:sp>
        <p:nvSpPr>
          <p:cNvPr id="36" name="Text 34"/>
          <p:cNvSpPr/>
          <p:nvPr/>
        </p:nvSpPr>
        <p:spPr>
          <a:xfrm>
            <a:off x="11274552" y="6473952"/>
            <a:ext cx="457200" cy="274320"/>
          </a:xfrm>
          <a:prstGeom prst="rect">
            <a:avLst/>
          </a:prstGeom>
          <a:noFill/>
          <a:ln/>
        </p:spPr>
        <p:txBody>
          <a:bodyPr wrap="square" rtlCol="0" anchor="ctr"/>
          <a:lstStyle/>
          <a:p>
            <a:pPr marL="0" indent="0" algn="r">
              <a:buNone/>
            </a:pPr>
            <a:r>
              <a:rPr lang="en-US" sz="850" dirty="0">
                <a:solidFill>
                  <a:srgbClr val="8892A6"/>
                </a:solidFill>
                <a:latin typeface="Calibri" pitchFamily="34" charset="0"/>
                <a:ea typeface="Calibri" pitchFamily="34" charset="-122"/>
                <a:cs typeface="Calibri" pitchFamily="34" charset="-120"/>
              </a:rPr>
              <a:t>10</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91</TotalTime>
  <Words>1131</Words>
  <Application>Microsoft Office PowerPoint</Application>
  <PresentationFormat>Custom</PresentationFormat>
  <Paragraphs>116</Paragraphs>
  <Slides>10</Slides>
  <Notes>10</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win</cp:lastModifiedBy>
  <cp:revision>3</cp:revision>
  <dcterms:created xsi:type="dcterms:W3CDTF">2026-08-22T10:55:25Z</dcterms:created>
  <dcterms:modified xsi:type="dcterms:W3CDTF">2026-08-24T09:01:18Z</dcterms:modified>
</cp:coreProperties>
</file>