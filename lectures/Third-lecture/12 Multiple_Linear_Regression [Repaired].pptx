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9" r:id="rId15"/>
    <p:sldId id="269" r:id="rId16"/>
    <p:sldId id="280" r:id="rId17"/>
    <p:sldId id="270" r:id="rId18"/>
    <p:sldId id="271" r:id="rId19"/>
    <p:sldId id="281" r:id="rId20"/>
    <p:sldId id="272" r:id="rId21"/>
    <p:sldId id="282" r:id="rId22"/>
    <p:sldId id="273" r:id="rId23"/>
    <p:sldId id="274" r:id="rId24"/>
    <p:sldId id="275" r:id="rId25"/>
    <p:sldId id="276" r:id="rId26"/>
    <p:sldId id="277"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14" y="5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7899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4A"/>
        </a:solidFill>
        <a:effectLst/>
      </p:bgPr>
    </p:bg>
    <p:spTree>
      <p:nvGrpSpPr>
        <p:cNvPr id="1" name=""/>
        <p:cNvGrpSpPr/>
        <p:nvPr/>
      </p:nvGrpSpPr>
      <p:grpSpPr>
        <a:xfrm>
          <a:off x="0" y="0"/>
          <a:ext cx="0" cy="0"/>
          <a:chOff x="0" y="0"/>
          <a:chExt cx="0" cy="0"/>
        </a:xfrm>
      </p:grpSpPr>
      <p:sp>
        <p:nvSpPr>
          <p:cNvPr id="2" name="Shape 0"/>
          <p:cNvSpPr/>
          <p:nvPr/>
        </p:nvSpPr>
        <p:spPr>
          <a:xfrm>
            <a:off x="9692640" y="-1097280"/>
            <a:ext cx="3840480" cy="3840480"/>
          </a:xfrm>
          <a:prstGeom prst="ellipse">
            <a:avLst/>
          </a:prstGeom>
          <a:solidFill>
            <a:srgbClr val="0F3A5F"/>
          </a:solidFill>
          <a:ln/>
        </p:spPr>
      </p:sp>
      <p:sp>
        <p:nvSpPr>
          <p:cNvPr id="3" name="Shape 1"/>
          <p:cNvSpPr/>
          <p:nvPr/>
        </p:nvSpPr>
        <p:spPr>
          <a:xfrm>
            <a:off x="10789920" y="4389120"/>
            <a:ext cx="2377440" cy="2377440"/>
          </a:xfrm>
          <a:prstGeom prst="ellipse">
            <a:avLst/>
          </a:prstGeom>
          <a:solidFill>
            <a:srgbClr val="0F3A5F"/>
          </a:solidFill>
          <a:ln/>
        </p:spPr>
      </p:sp>
      <p:sp>
        <p:nvSpPr>
          <p:cNvPr id="4" name="Shape 2"/>
          <p:cNvSpPr/>
          <p:nvPr/>
        </p:nvSpPr>
        <p:spPr>
          <a:xfrm>
            <a:off x="-914400" y="4846320"/>
            <a:ext cx="3108960" cy="3108960"/>
          </a:xfrm>
          <a:prstGeom prst="ellipse">
            <a:avLst/>
          </a:prstGeom>
          <a:solidFill>
            <a:srgbClr val="0F3A5F"/>
          </a:solidFill>
          <a:ln/>
        </p:spPr>
      </p:sp>
      <p:sp>
        <p:nvSpPr>
          <p:cNvPr id="5" name="Shape 3"/>
          <p:cNvSpPr/>
          <p:nvPr/>
        </p:nvSpPr>
        <p:spPr>
          <a:xfrm>
            <a:off x="548640" y="1234440"/>
            <a:ext cx="2834640" cy="411480"/>
          </a:xfrm>
          <a:prstGeom prst="roundRect">
            <a:avLst>
              <a:gd name="adj" fmla="val 17778"/>
            </a:avLst>
          </a:prstGeom>
          <a:solidFill>
            <a:srgbClr val="13416B"/>
          </a:solidFill>
          <a:ln/>
        </p:spPr>
      </p:sp>
      <p:sp>
        <p:nvSpPr>
          <p:cNvPr id="6" name="Text 4"/>
          <p:cNvSpPr/>
          <p:nvPr/>
        </p:nvSpPr>
        <p:spPr>
          <a:xfrm>
            <a:off x="548640" y="1234440"/>
            <a:ext cx="2834640" cy="411480"/>
          </a:xfrm>
          <a:prstGeom prst="rect">
            <a:avLst/>
          </a:prstGeom>
          <a:noFill/>
          <a:ln/>
        </p:spPr>
        <p:txBody>
          <a:bodyPr wrap="square" rtlCol="0" anchor="ctr"/>
          <a:lstStyle/>
          <a:p>
            <a:pPr marL="0" indent="0" algn="ctr">
              <a:buNone/>
            </a:pPr>
            <a:r>
              <a:rPr lang="en-US" sz="1100" b="1" kern="0" spc="100" dirty="0">
                <a:solidFill>
                  <a:srgbClr val="F2A93B"/>
                </a:solidFill>
                <a:latin typeface="Calibri" pitchFamily="34" charset="0"/>
                <a:ea typeface="Calibri" pitchFamily="34" charset="-122"/>
                <a:cs typeface="Calibri" pitchFamily="34" charset="-120"/>
              </a:rPr>
              <a:t>MACHINE LEARNING  ·  REGRESSION</a:t>
            </a:r>
            <a:endParaRPr lang="en-US" sz="1100" dirty="0"/>
          </a:p>
        </p:txBody>
      </p:sp>
      <p:sp>
        <p:nvSpPr>
          <p:cNvPr id="7" name="Text 5"/>
          <p:cNvSpPr/>
          <p:nvPr/>
        </p:nvSpPr>
        <p:spPr>
          <a:xfrm>
            <a:off x="548640" y="1828800"/>
            <a:ext cx="8686800" cy="2194560"/>
          </a:xfrm>
          <a:prstGeom prst="rect">
            <a:avLst/>
          </a:prstGeom>
          <a:noFill/>
          <a:ln/>
        </p:spPr>
        <p:txBody>
          <a:bodyPr wrap="square" rtlCol="0" anchor="ctr"/>
          <a:lstStyle/>
          <a:p>
            <a:pPr marL="0" indent="0">
              <a:lnSpc>
                <a:spcPts val="5800"/>
              </a:lnSpc>
              <a:buNone/>
            </a:pPr>
            <a:r>
              <a:rPr lang="en-US" sz="5400" b="1" dirty="0">
                <a:solidFill>
                  <a:srgbClr val="FFFFFF"/>
                </a:solidFill>
                <a:latin typeface="Cambria" pitchFamily="34" charset="0"/>
                <a:ea typeface="Cambria" pitchFamily="34" charset="-122"/>
                <a:cs typeface="Cambria" pitchFamily="34" charset="-120"/>
              </a:rPr>
              <a:t>Multiple Linear</a:t>
            </a:r>
            <a:endParaRPr lang="en-US" sz="5400" dirty="0"/>
          </a:p>
          <a:p>
            <a:pPr marL="0" indent="0">
              <a:lnSpc>
                <a:spcPts val="5800"/>
              </a:lnSpc>
              <a:buNone/>
            </a:pPr>
            <a:r>
              <a:rPr lang="en-US" sz="5400" b="1" dirty="0">
                <a:solidFill>
                  <a:srgbClr val="FFFFFF"/>
                </a:solidFill>
                <a:latin typeface="Cambria" pitchFamily="34" charset="0"/>
                <a:ea typeface="Cambria" pitchFamily="34" charset="-122"/>
                <a:cs typeface="Cambria" pitchFamily="34" charset="-120"/>
              </a:rPr>
              <a:t>Regression</a:t>
            </a:r>
            <a:endParaRPr lang="en-US" sz="5400" dirty="0"/>
          </a:p>
        </p:txBody>
      </p:sp>
      <p:sp>
        <p:nvSpPr>
          <p:cNvPr id="8" name="Text 6"/>
          <p:cNvSpPr/>
          <p:nvPr/>
        </p:nvSpPr>
        <p:spPr>
          <a:xfrm>
            <a:off x="548640" y="3977640"/>
            <a:ext cx="7863840" cy="822960"/>
          </a:xfrm>
          <a:prstGeom prst="rect">
            <a:avLst/>
          </a:prstGeom>
          <a:noFill/>
          <a:ln/>
        </p:spPr>
        <p:txBody>
          <a:bodyPr wrap="square" rtlCol="0" anchor="ctr"/>
          <a:lstStyle/>
          <a:p>
            <a:pPr marL="0" indent="0">
              <a:buNone/>
            </a:pPr>
            <a:r>
              <a:rPr lang="en-US" sz="1550" i="1" dirty="0">
                <a:solidFill>
                  <a:srgbClr val="C9DCE6"/>
                </a:solidFill>
                <a:latin typeface="Calibri" pitchFamily="34" charset="0"/>
                <a:ea typeface="Calibri" pitchFamily="34" charset="-122"/>
                <a:cs typeface="Calibri" pitchFamily="34" charset="-120"/>
              </a:rPr>
              <a:t>From a single best-fit line to a best-fit hyperplane — plus model quality, multicollinearity, and categorical predictors.</a:t>
            </a:r>
            <a:endParaRPr lang="en-US" sz="1550" dirty="0"/>
          </a:p>
        </p:txBody>
      </p:sp>
      <p:sp>
        <p:nvSpPr>
          <p:cNvPr id="9" name="Shape 7"/>
          <p:cNvSpPr/>
          <p:nvPr/>
        </p:nvSpPr>
        <p:spPr>
          <a:xfrm>
            <a:off x="548640" y="5074920"/>
            <a:ext cx="5120640" cy="685800"/>
          </a:xfrm>
          <a:prstGeom prst="roundRect">
            <a:avLst>
              <a:gd name="adj" fmla="val 13333"/>
            </a:avLst>
          </a:prstGeom>
          <a:solidFill>
            <a:srgbClr val="0F3A5F"/>
          </a:solidFill>
          <a:ln w="12700">
            <a:solidFill>
              <a:srgbClr val="1C7293"/>
            </a:solidFill>
            <a:prstDash val="solid"/>
          </a:ln>
        </p:spPr>
      </p:sp>
      <p:sp>
        <p:nvSpPr>
          <p:cNvPr id="10" name="Text 8"/>
          <p:cNvSpPr/>
          <p:nvPr/>
        </p:nvSpPr>
        <p:spPr>
          <a:xfrm>
            <a:off x="548640" y="5074920"/>
            <a:ext cx="5120640" cy="685800"/>
          </a:xfrm>
          <a:prstGeom prst="rect">
            <a:avLst/>
          </a:prstGeom>
          <a:noFill/>
          <a:ln/>
        </p:spPr>
        <p:txBody>
          <a:bodyPr wrap="square" rtlCol="0" anchor="ctr"/>
          <a:lstStyle/>
          <a:p>
            <a:pPr marL="0" indent="0" algn="ctr">
              <a:buNone/>
            </a:pPr>
            <a:r>
              <a:rPr lang="en-US" sz="2000" b="1" dirty="0">
                <a:solidFill>
                  <a:srgbClr val="FFFFFF"/>
                </a:solidFill>
                <a:latin typeface="Courier New" pitchFamily="34" charset="0"/>
                <a:ea typeface="Courier New" pitchFamily="34" charset="-122"/>
                <a:cs typeface="Courier New" pitchFamily="34" charset="-120"/>
              </a:rPr>
              <a:t>y = β₀ + β₁x₁ + β₂x₂ + … + βₙxₙ</a:t>
            </a:r>
            <a:endParaRPr lang="en-US" sz="2000" dirty="0"/>
          </a:p>
        </p:txBody>
      </p:sp>
      <p:sp>
        <p:nvSpPr>
          <p:cNvPr id="11" name="Text 9"/>
          <p:cNvSpPr/>
          <p:nvPr/>
        </p:nvSpPr>
        <p:spPr>
          <a:xfrm>
            <a:off x="548640" y="6172200"/>
            <a:ext cx="9144000" cy="365760"/>
          </a:xfrm>
          <a:prstGeom prst="rect">
            <a:avLst/>
          </a:prstGeom>
          <a:noFill/>
          <a:ln/>
        </p:spPr>
        <p:txBody>
          <a:bodyPr wrap="square" rtlCol="0" anchor="ctr"/>
          <a:lstStyle/>
          <a:p>
            <a:pPr marL="0" indent="0">
              <a:buNone/>
            </a:pPr>
            <a:r>
              <a:rPr lang="en-US" sz="1100" dirty="0">
                <a:solidFill>
                  <a:srgbClr val="7C93A3"/>
                </a:solidFill>
                <a:latin typeface="Calibri" pitchFamily="34" charset="0"/>
                <a:ea typeface="Calibri" pitchFamily="34" charset="-122"/>
                <a:cs typeface="Calibri" pitchFamily="34" charset="-120"/>
              </a:rPr>
              <a:t>Classroom Lecture Deck  ·  Full session: from fundamentals to multicollinearity</a:t>
            </a:r>
            <a:endParaRPr lang="en-US" sz="11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365760"/>
          </a:xfrm>
          <a:prstGeom prst="roundRect">
            <a:avLst>
              <a:gd name="adj" fmla="val 20000"/>
            </a:avLst>
          </a:prstGeom>
          <a:solidFill>
            <a:srgbClr val="E5F0F4"/>
          </a:solidFill>
          <a:ln/>
        </p:spPr>
      </p:sp>
      <p:sp>
        <p:nvSpPr>
          <p:cNvPr id="3" name="Text 1"/>
          <p:cNvSpPr/>
          <p:nvPr/>
        </p:nvSpPr>
        <p:spPr>
          <a:xfrm>
            <a:off x="457200" y="411480"/>
            <a:ext cx="2103120" cy="365760"/>
          </a:xfrm>
          <a:prstGeom prst="rect">
            <a:avLst/>
          </a:prstGeom>
          <a:noFill/>
          <a:ln/>
        </p:spPr>
        <p:txBody>
          <a:bodyPr wrap="square" rtlCol="0" anchor="ctr"/>
          <a:lstStyle/>
          <a:p>
            <a:pPr marL="0" indent="0" algn="ctr">
              <a:buNone/>
            </a:pPr>
            <a:r>
              <a:rPr lang="en-US" sz="1100" b="1" kern="0" spc="100" dirty="0">
                <a:solidFill>
                  <a:srgbClr val="065A82"/>
                </a:solidFill>
                <a:latin typeface="Calibri" pitchFamily="34" charset="0"/>
                <a:ea typeface="Calibri" pitchFamily="34" charset="-122"/>
                <a:cs typeface="Calibri" pitchFamily="34" charset="-120"/>
              </a:rPr>
              <a:t>RECAP</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3000" b="1" dirty="0">
                <a:solidFill>
                  <a:srgbClr val="0B2A4A"/>
                </a:solidFill>
                <a:latin typeface="Cambria" pitchFamily="34" charset="0"/>
                <a:ea typeface="Cambria" pitchFamily="34" charset="-122"/>
                <a:cs typeface="Cambria" pitchFamily="34" charset="-120"/>
              </a:rPr>
              <a:t>Before We Start: Three Types of Linear Regression</a:t>
            </a:r>
            <a:endParaRPr lang="en-US" sz="3000" dirty="0"/>
          </a:p>
        </p:txBody>
      </p:sp>
      <p:sp>
        <p:nvSpPr>
          <p:cNvPr id="5" name="Text 3"/>
          <p:cNvSpPr/>
          <p:nvPr/>
        </p:nvSpPr>
        <p:spPr>
          <a:xfrm>
            <a:off x="457200" y="1508760"/>
            <a:ext cx="11247120" cy="457200"/>
          </a:xfrm>
          <a:prstGeom prst="rect">
            <a:avLst/>
          </a:prstGeom>
          <a:noFill/>
          <a:ln/>
        </p:spPr>
        <p:txBody>
          <a:bodyPr wrap="square" rtlCol="0" anchor="ctr"/>
          <a:lstStyle/>
          <a:p>
            <a:pPr marL="0" indent="0">
              <a:buNone/>
            </a:pPr>
            <a:r>
              <a:rPr lang="en-US" sz="1400" dirty="0">
                <a:solidFill>
                  <a:srgbClr val="5C6B73"/>
                </a:solidFill>
                <a:latin typeface="Calibri" pitchFamily="34" charset="0"/>
                <a:ea typeface="Calibri" pitchFamily="34" charset="-122"/>
                <a:cs typeface="Calibri" pitchFamily="34" charset="-120"/>
              </a:rPr>
              <a:t>Last class we defined linear regression and looked closely at the simplest case. Here's where multiple regression fits in.</a:t>
            </a:r>
            <a:endParaRPr lang="en-US" sz="1400" dirty="0"/>
          </a:p>
        </p:txBody>
      </p:sp>
      <p:sp>
        <p:nvSpPr>
          <p:cNvPr id="6" name="Shape 4"/>
          <p:cNvSpPr/>
          <p:nvPr/>
        </p:nvSpPr>
        <p:spPr>
          <a:xfrm>
            <a:off x="457200" y="2240280"/>
            <a:ext cx="3566160" cy="3749040"/>
          </a:xfrm>
          <a:prstGeom prst="roundRect">
            <a:avLst>
              <a:gd name="adj" fmla="val 2564"/>
            </a:avLst>
          </a:prstGeom>
          <a:solidFill>
            <a:srgbClr val="FFFFFF"/>
          </a:solidFill>
          <a:ln w="12700">
            <a:solidFill>
              <a:srgbClr val="D7E2E6"/>
            </a:solidFill>
            <a:prstDash val="solid"/>
          </a:ln>
          <a:effectLst>
            <a:outerShdw blurRad="101600" dist="38100" dir="5400000" algn="bl" rotWithShape="0">
              <a:srgbClr val="1A1A2E">
                <a:alpha val="12000"/>
              </a:srgbClr>
            </a:outerShdw>
          </a:effectLst>
        </p:spPr>
      </p:sp>
      <p:sp>
        <p:nvSpPr>
          <p:cNvPr id="7" name="Shape 5"/>
          <p:cNvSpPr/>
          <p:nvPr/>
        </p:nvSpPr>
        <p:spPr>
          <a:xfrm>
            <a:off x="777240" y="2560320"/>
            <a:ext cx="594360" cy="594360"/>
          </a:xfrm>
          <a:prstGeom prst="ellipse">
            <a:avLst/>
          </a:prstGeom>
          <a:solidFill>
            <a:srgbClr val="E5F0F4"/>
          </a:solidFill>
          <a:ln/>
        </p:spPr>
      </p:sp>
      <p:sp>
        <p:nvSpPr>
          <p:cNvPr id="8" name="Text 6"/>
          <p:cNvSpPr/>
          <p:nvPr/>
        </p:nvSpPr>
        <p:spPr>
          <a:xfrm>
            <a:off x="777240" y="2560320"/>
            <a:ext cx="594360" cy="594360"/>
          </a:xfrm>
          <a:prstGeom prst="rect">
            <a:avLst/>
          </a:prstGeom>
          <a:noFill/>
          <a:ln/>
        </p:spPr>
        <p:txBody>
          <a:bodyPr wrap="square" rtlCol="0" anchor="ctr"/>
          <a:lstStyle/>
          <a:p>
            <a:pPr marL="0" indent="0" algn="ctr">
              <a:buNone/>
            </a:pPr>
            <a:r>
              <a:rPr lang="en-US" sz="2200" b="1" dirty="0">
                <a:solidFill>
                  <a:srgbClr val="065A82"/>
                </a:solidFill>
                <a:latin typeface="Calibri" pitchFamily="34" charset="0"/>
                <a:ea typeface="Calibri" pitchFamily="34" charset="-122"/>
                <a:cs typeface="Calibri" pitchFamily="34" charset="-120"/>
              </a:rPr>
              <a:t>1</a:t>
            </a:r>
            <a:endParaRPr lang="en-US" sz="2200" dirty="0"/>
          </a:p>
        </p:txBody>
      </p:sp>
      <p:sp>
        <p:nvSpPr>
          <p:cNvPr id="9" name="Text 7"/>
          <p:cNvSpPr/>
          <p:nvPr/>
        </p:nvSpPr>
        <p:spPr>
          <a:xfrm>
            <a:off x="731520" y="3291840"/>
            <a:ext cx="3017520" cy="777240"/>
          </a:xfrm>
          <a:prstGeom prst="rect">
            <a:avLst/>
          </a:prstGeom>
          <a:noFill/>
          <a:ln/>
        </p:spPr>
        <p:txBody>
          <a:bodyPr wrap="square" rtlCol="0" anchor="ctr"/>
          <a:lstStyle/>
          <a:p>
            <a:pPr marL="0" indent="0">
              <a:lnSpc>
                <a:spcPts val="2000"/>
              </a:lnSpc>
              <a:buNone/>
            </a:pPr>
            <a:r>
              <a:rPr lang="en-US" sz="1800" b="1" dirty="0">
                <a:solidFill>
                  <a:srgbClr val="0B2A4A"/>
                </a:solidFill>
                <a:latin typeface="Cambria" pitchFamily="34" charset="0"/>
                <a:ea typeface="Cambria" pitchFamily="34" charset="-122"/>
                <a:cs typeface="Cambria" pitchFamily="34" charset="-120"/>
              </a:rPr>
              <a:t>Simple Linear</a:t>
            </a:r>
            <a:endParaRPr lang="en-US" sz="1800" dirty="0"/>
          </a:p>
          <a:p>
            <a:pPr marL="0" indent="0">
              <a:lnSpc>
                <a:spcPts val="2000"/>
              </a:lnSpc>
              <a:buNone/>
            </a:pPr>
            <a:r>
              <a:rPr lang="en-US" sz="1800" b="1" dirty="0">
                <a:solidFill>
                  <a:srgbClr val="0B2A4A"/>
                </a:solidFill>
                <a:latin typeface="Cambria" pitchFamily="34" charset="0"/>
                <a:ea typeface="Cambria" pitchFamily="34" charset="-122"/>
                <a:cs typeface="Cambria" pitchFamily="34" charset="-120"/>
              </a:rPr>
              <a:t>Regression</a:t>
            </a:r>
            <a:endParaRPr lang="en-US" sz="1800" dirty="0"/>
          </a:p>
        </p:txBody>
      </p:sp>
      <p:sp>
        <p:nvSpPr>
          <p:cNvPr id="10" name="Text 8"/>
          <p:cNvSpPr/>
          <p:nvPr/>
        </p:nvSpPr>
        <p:spPr>
          <a:xfrm>
            <a:off x="731520" y="4114800"/>
            <a:ext cx="3017520" cy="1097280"/>
          </a:xfrm>
          <a:prstGeom prst="rect">
            <a:avLst/>
          </a:prstGeom>
          <a:noFill/>
          <a:ln/>
        </p:spPr>
        <p:txBody>
          <a:bodyPr wrap="square" rtlCol="0" anchor="ctr"/>
          <a:lstStyle/>
          <a:p>
            <a:pPr marL="0" indent="0">
              <a:lnSpc>
                <a:spcPts val="1600"/>
              </a:lnSpc>
              <a:buNone/>
            </a:pPr>
            <a:r>
              <a:rPr lang="en-US" sz="1250" dirty="0">
                <a:solidFill>
                  <a:srgbClr val="5C6B73"/>
                </a:solidFill>
                <a:latin typeface="Calibri" pitchFamily="34" charset="0"/>
                <a:ea typeface="Calibri" pitchFamily="34" charset="-122"/>
                <a:cs typeface="Calibri" pitchFamily="34" charset="-120"/>
              </a:rPr>
              <a:t>One input column, one output column. Fit a straight best-fit line.</a:t>
            </a:r>
            <a:endParaRPr lang="en-US" sz="1250" dirty="0"/>
          </a:p>
        </p:txBody>
      </p:sp>
      <p:sp>
        <p:nvSpPr>
          <p:cNvPr id="11" name="Shape 9"/>
          <p:cNvSpPr/>
          <p:nvPr/>
        </p:nvSpPr>
        <p:spPr>
          <a:xfrm>
            <a:off x="731520" y="5303520"/>
            <a:ext cx="3017520" cy="502920"/>
          </a:xfrm>
          <a:prstGeom prst="roundRect">
            <a:avLst>
              <a:gd name="adj" fmla="val 10909"/>
            </a:avLst>
          </a:prstGeom>
          <a:solidFill>
            <a:srgbClr val="F0F5F6"/>
          </a:solidFill>
          <a:ln/>
        </p:spPr>
      </p:sp>
      <p:sp>
        <p:nvSpPr>
          <p:cNvPr id="12" name="Text 10"/>
          <p:cNvSpPr/>
          <p:nvPr/>
        </p:nvSpPr>
        <p:spPr>
          <a:xfrm>
            <a:off x="731520" y="5303520"/>
            <a:ext cx="3017520" cy="502920"/>
          </a:xfrm>
          <a:prstGeom prst="rect">
            <a:avLst/>
          </a:prstGeom>
          <a:noFill/>
          <a:ln/>
        </p:spPr>
        <p:txBody>
          <a:bodyPr wrap="square" rtlCol="0" anchor="ctr"/>
          <a:lstStyle/>
          <a:p>
            <a:pPr marL="0" indent="0" algn="ctr">
              <a:buNone/>
            </a:pPr>
            <a:r>
              <a:rPr lang="en-US" sz="1300" b="1" dirty="0">
                <a:solidFill>
                  <a:srgbClr val="065A82"/>
                </a:solidFill>
                <a:latin typeface="Courier New" pitchFamily="34" charset="0"/>
                <a:ea typeface="Courier New" pitchFamily="34" charset="-122"/>
                <a:cs typeface="Courier New" pitchFamily="34" charset="-120"/>
              </a:rPr>
              <a:t>y = mx + b</a:t>
            </a:r>
            <a:endParaRPr lang="en-US" sz="1300" dirty="0"/>
          </a:p>
        </p:txBody>
      </p:sp>
      <p:sp>
        <p:nvSpPr>
          <p:cNvPr id="13" name="Shape 11"/>
          <p:cNvSpPr/>
          <p:nvPr/>
        </p:nvSpPr>
        <p:spPr>
          <a:xfrm>
            <a:off x="4343400" y="2240280"/>
            <a:ext cx="3566160" cy="3749040"/>
          </a:xfrm>
          <a:prstGeom prst="roundRect">
            <a:avLst>
              <a:gd name="adj" fmla="val 2564"/>
            </a:avLst>
          </a:prstGeom>
          <a:solidFill>
            <a:srgbClr val="065A82"/>
          </a:solidFill>
          <a:ln w="12700">
            <a:solidFill>
              <a:srgbClr val="065A82"/>
            </a:solidFill>
            <a:prstDash val="solid"/>
          </a:ln>
          <a:effectLst>
            <a:outerShdw blurRad="101600" dist="38100" dir="5400000" algn="bl" rotWithShape="0">
              <a:srgbClr val="1A1A2E">
                <a:alpha val="12000"/>
              </a:srgbClr>
            </a:outerShdw>
          </a:effectLst>
        </p:spPr>
      </p:sp>
      <p:sp>
        <p:nvSpPr>
          <p:cNvPr id="14" name="Shape 12"/>
          <p:cNvSpPr/>
          <p:nvPr/>
        </p:nvSpPr>
        <p:spPr>
          <a:xfrm>
            <a:off x="4663440" y="2560320"/>
            <a:ext cx="594360" cy="594360"/>
          </a:xfrm>
          <a:prstGeom prst="ellipse">
            <a:avLst/>
          </a:prstGeom>
          <a:solidFill>
            <a:srgbClr val="F2A93B"/>
          </a:solidFill>
          <a:ln/>
        </p:spPr>
      </p:sp>
      <p:sp>
        <p:nvSpPr>
          <p:cNvPr id="15" name="Text 13"/>
          <p:cNvSpPr/>
          <p:nvPr/>
        </p:nvSpPr>
        <p:spPr>
          <a:xfrm>
            <a:off x="4663440" y="2560320"/>
            <a:ext cx="594360" cy="594360"/>
          </a:xfrm>
          <a:prstGeom prst="rect">
            <a:avLst/>
          </a:prstGeom>
          <a:noFill/>
          <a:ln/>
        </p:spPr>
        <p:txBody>
          <a:bodyPr wrap="square" rtlCol="0" anchor="ctr"/>
          <a:lstStyle/>
          <a:p>
            <a:pPr marL="0" indent="0" algn="ctr">
              <a:buNone/>
            </a:pPr>
            <a:r>
              <a:rPr lang="en-US" sz="2200" b="1" dirty="0">
                <a:solidFill>
                  <a:srgbClr val="0B2A4A"/>
                </a:solidFill>
                <a:latin typeface="Calibri" pitchFamily="34" charset="0"/>
                <a:ea typeface="Calibri" pitchFamily="34" charset="-122"/>
                <a:cs typeface="Calibri" pitchFamily="34" charset="-120"/>
              </a:rPr>
              <a:t>2</a:t>
            </a:r>
            <a:endParaRPr lang="en-US" sz="2200" dirty="0"/>
          </a:p>
        </p:txBody>
      </p:sp>
      <p:sp>
        <p:nvSpPr>
          <p:cNvPr id="16" name="Text 14"/>
          <p:cNvSpPr/>
          <p:nvPr/>
        </p:nvSpPr>
        <p:spPr>
          <a:xfrm>
            <a:off x="4617720" y="3291840"/>
            <a:ext cx="3017520" cy="777240"/>
          </a:xfrm>
          <a:prstGeom prst="rect">
            <a:avLst/>
          </a:prstGeom>
          <a:noFill/>
          <a:ln/>
        </p:spPr>
        <p:txBody>
          <a:bodyPr wrap="square" rtlCol="0" anchor="ctr"/>
          <a:lstStyle/>
          <a:p>
            <a:pPr marL="0" indent="0">
              <a:lnSpc>
                <a:spcPts val="2000"/>
              </a:lnSpc>
              <a:buNone/>
            </a:pPr>
            <a:r>
              <a:rPr lang="en-US" sz="1800" b="1" dirty="0">
                <a:solidFill>
                  <a:srgbClr val="FFFFFF"/>
                </a:solidFill>
                <a:latin typeface="Cambria" pitchFamily="34" charset="0"/>
                <a:ea typeface="Cambria" pitchFamily="34" charset="-122"/>
                <a:cs typeface="Cambria" pitchFamily="34" charset="-120"/>
              </a:rPr>
              <a:t>Multiple Linear</a:t>
            </a:r>
            <a:endParaRPr lang="en-US" sz="1800" dirty="0"/>
          </a:p>
          <a:p>
            <a:pPr marL="0" indent="0">
              <a:lnSpc>
                <a:spcPts val="2000"/>
              </a:lnSpc>
              <a:buNone/>
            </a:pPr>
            <a:r>
              <a:rPr lang="en-US" sz="1800" b="1" dirty="0">
                <a:solidFill>
                  <a:srgbClr val="FFFFFF"/>
                </a:solidFill>
                <a:latin typeface="Cambria" pitchFamily="34" charset="0"/>
                <a:ea typeface="Cambria" pitchFamily="34" charset="-122"/>
                <a:cs typeface="Cambria" pitchFamily="34" charset="-120"/>
              </a:rPr>
              <a:t>Regression</a:t>
            </a:r>
            <a:endParaRPr lang="en-US" sz="1800" dirty="0"/>
          </a:p>
        </p:txBody>
      </p:sp>
      <p:sp>
        <p:nvSpPr>
          <p:cNvPr id="17" name="Text 15"/>
          <p:cNvSpPr/>
          <p:nvPr/>
        </p:nvSpPr>
        <p:spPr>
          <a:xfrm>
            <a:off x="4617720" y="4114800"/>
            <a:ext cx="3017520" cy="1097280"/>
          </a:xfrm>
          <a:prstGeom prst="rect">
            <a:avLst/>
          </a:prstGeom>
          <a:noFill/>
          <a:ln/>
        </p:spPr>
        <p:txBody>
          <a:bodyPr wrap="square" rtlCol="0" anchor="ctr"/>
          <a:lstStyle/>
          <a:p>
            <a:pPr marL="0" indent="0">
              <a:lnSpc>
                <a:spcPts val="1600"/>
              </a:lnSpc>
              <a:buNone/>
            </a:pPr>
            <a:r>
              <a:rPr lang="en-US" sz="1250" dirty="0">
                <a:solidFill>
                  <a:srgbClr val="DCEAF1"/>
                </a:solidFill>
                <a:latin typeface="Calibri" pitchFamily="34" charset="0"/>
                <a:ea typeface="Calibri" pitchFamily="34" charset="-122"/>
                <a:cs typeface="Calibri" pitchFamily="34" charset="-120"/>
              </a:rPr>
              <a:t>Two or more input columns, one output column. Today's topic.</a:t>
            </a:r>
            <a:endParaRPr lang="en-US" sz="1250" dirty="0"/>
          </a:p>
        </p:txBody>
      </p:sp>
      <p:sp>
        <p:nvSpPr>
          <p:cNvPr id="18" name="Shape 16"/>
          <p:cNvSpPr/>
          <p:nvPr/>
        </p:nvSpPr>
        <p:spPr>
          <a:xfrm>
            <a:off x="4617720" y="5303520"/>
            <a:ext cx="3017520" cy="502920"/>
          </a:xfrm>
          <a:prstGeom prst="roundRect">
            <a:avLst>
              <a:gd name="adj" fmla="val 10909"/>
            </a:avLst>
          </a:prstGeom>
          <a:solidFill>
            <a:srgbClr val="0A4A6B"/>
          </a:solidFill>
          <a:ln/>
        </p:spPr>
      </p:sp>
      <p:sp>
        <p:nvSpPr>
          <p:cNvPr id="19" name="Text 17"/>
          <p:cNvSpPr/>
          <p:nvPr/>
        </p:nvSpPr>
        <p:spPr>
          <a:xfrm>
            <a:off x="4617720" y="5303520"/>
            <a:ext cx="3017520" cy="502920"/>
          </a:xfrm>
          <a:prstGeom prst="rect">
            <a:avLst/>
          </a:prstGeom>
          <a:noFill/>
          <a:ln/>
        </p:spPr>
        <p:txBody>
          <a:bodyPr wrap="square" rtlCol="0" anchor="ctr"/>
          <a:lstStyle/>
          <a:p>
            <a:pPr marL="0" indent="0" algn="ctr">
              <a:buNone/>
            </a:pPr>
            <a:r>
              <a:rPr lang="en-US" sz="1300" b="1" dirty="0">
                <a:solidFill>
                  <a:srgbClr val="F2A93B"/>
                </a:solidFill>
                <a:latin typeface="Courier New" pitchFamily="34" charset="0"/>
                <a:ea typeface="Courier New" pitchFamily="34" charset="-122"/>
                <a:cs typeface="Courier New" pitchFamily="34" charset="-120"/>
              </a:rPr>
              <a:t>y = β₀+β₁x₁+β₂x₂</a:t>
            </a:r>
            <a:endParaRPr lang="en-US" sz="1300" dirty="0"/>
          </a:p>
        </p:txBody>
      </p:sp>
      <p:sp>
        <p:nvSpPr>
          <p:cNvPr id="20" name="Text 18"/>
          <p:cNvSpPr/>
          <p:nvPr/>
        </p:nvSpPr>
        <p:spPr>
          <a:xfrm>
            <a:off x="4617720" y="1892808"/>
            <a:ext cx="3017520" cy="274320"/>
          </a:xfrm>
          <a:prstGeom prst="rect">
            <a:avLst/>
          </a:prstGeom>
          <a:noFill/>
          <a:ln/>
        </p:spPr>
        <p:txBody>
          <a:bodyPr wrap="square" rtlCol="0" anchor="ctr"/>
          <a:lstStyle/>
          <a:p>
            <a:pPr marL="0" indent="0" algn="ctr">
              <a:buNone/>
            </a:pPr>
            <a:r>
              <a:rPr lang="en-US" sz="1000" b="1" dirty="0">
                <a:solidFill>
                  <a:srgbClr val="065A82"/>
                </a:solidFill>
                <a:latin typeface="Calibri" pitchFamily="34" charset="0"/>
                <a:ea typeface="Calibri" pitchFamily="34" charset="-122"/>
                <a:cs typeface="Calibri" pitchFamily="34" charset="-120"/>
              </a:rPr>
              <a:t>▲ TODAY</a:t>
            </a:r>
            <a:endParaRPr lang="en-US" sz="1000" dirty="0"/>
          </a:p>
        </p:txBody>
      </p:sp>
      <p:sp>
        <p:nvSpPr>
          <p:cNvPr id="21" name="Shape 19"/>
          <p:cNvSpPr/>
          <p:nvPr/>
        </p:nvSpPr>
        <p:spPr>
          <a:xfrm>
            <a:off x="8229600" y="2240280"/>
            <a:ext cx="3566160" cy="3749040"/>
          </a:xfrm>
          <a:prstGeom prst="roundRect">
            <a:avLst>
              <a:gd name="adj" fmla="val 2564"/>
            </a:avLst>
          </a:prstGeom>
          <a:solidFill>
            <a:srgbClr val="FFFFFF"/>
          </a:solidFill>
          <a:ln w="12700">
            <a:solidFill>
              <a:srgbClr val="D7E2E6"/>
            </a:solidFill>
            <a:prstDash val="solid"/>
          </a:ln>
          <a:effectLst>
            <a:outerShdw blurRad="101600" dist="38100" dir="5400000" algn="bl" rotWithShape="0">
              <a:srgbClr val="1A1A2E">
                <a:alpha val="12000"/>
              </a:srgbClr>
            </a:outerShdw>
          </a:effectLst>
        </p:spPr>
      </p:sp>
      <p:sp>
        <p:nvSpPr>
          <p:cNvPr id="22" name="Shape 20"/>
          <p:cNvSpPr/>
          <p:nvPr/>
        </p:nvSpPr>
        <p:spPr>
          <a:xfrm>
            <a:off x="8549640" y="2560320"/>
            <a:ext cx="594360" cy="594360"/>
          </a:xfrm>
          <a:prstGeom prst="ellipse">
            <a:avLst/>
          </a:prstGeom>
          <a:solidFill>
            <a:srgbClr val="E5F0F4"/>
          </a:solidFill>
          <a:ln/>
        </p:spPr>
      </p:sp>
      <p:sp>
        <p:nvSpPr>
          <p:cNvPr id="23" name="Text 21"/>
          <p:cNvSpPr/>
          <p:nvPr/>
        </p:nvSpPr>
        <p:spPr>
          <a:xfrm>
            <a:off x="8549640" y="2560320"/>
            <a:ext cx="594360" cy="594360"/>
          </a:xfrm>
          <a:prstGeom prst="rect">
            <a:avLst/>
          </a:prstGeom>
          <a:noFill/>
          <a:ln/>
        </p:spPr>
        <p:txBody>
          <a:bodyPr wrap="square" rtlCol="0" anchor="ctr"/>
          <a:lstStyle/>
          <a:p>
            <a:pPr marL="0" indent="0" algn="ctr">
              <a:buNone/>
            </a:pPr>
            <a:r>
              <a:rPr lang="en-US" sz="2200" b="1" dirty="0">
                <a:solidFill>
                  <a:srgbClr val="065A82"/>
                </a:solidFill>
                <a:latin typeface="Calibri" pitchFamily="34" charset="0"/>
                <a:ea typeface="Calibri" pitchFamily="34" charset="-122"/>
                <a:cs typeface="Calibri" pitchFamily="34" charset="-120"/>
              </a:rPr>
              <a:t>3</a:t>
            </a:r>
            <a:endParaRPr lang="en-US" sz="2200" dirty="0"/>
          </a:p>
        </p:txBody>
      </p:sp>
      <p:sp>
        <p:nvSpPr>
          <p:cNvPr id="24" name="Text 22"/>
          <p:cNvSpPr/>
          <p:nvPr/>
        </p:nvSpPr>
        <p:spPr>
          <a:xfrm>
            <a:off x="8503920" y="3291840"/>
            <a:ext cx="3017520" cy="777240"/>
          </a:xfrm>
          <a:prstGeom prst="rect">
            <a:avLst/>
          </a:prstGeom>
          <a:noFill/>
          <a:ln/>
        </p:spPr>
        <p:txBody>
          <a:bodyPr wrap="square" rtlCol="0" anchor="ctr"/>
          <a:lstStyle/>
          <a:p>
            <a:pPr marL="0" indent="0">
              <a:lnSpc>
                <a:spcPts val="2000"/>
              </a:lnSpc>
              <a:buNone/>
            </a:pPr>
            <a:r>
              <a:rPr lang="en-US" sz="1800" b="1" dirty="0">
                <a:solidFill>
                  <a:srgbClr val="0B2A4A"/>
                </a:solidFill>
                <a:latin typeface="Cambria" pitchFamily="34" charset="0"/>
                <a:ea typeface="Cambria" pitchFamily="34" charset="-122"/>
                <a:cs typeface="Cambria" pitchFamily="34" charset="-120"/>
              </a:rPr>
              <a:t>Polynomial</a:t>
            </a:r>
            <a:endParaRPr lang="en-US" sz="1800" dirty="0"/>
          </a:p>
          <a:p>
            <a:pPr marL="0" indent="0">
              <a:lnSpc>
                <a:spcPts val="2000"/>
              </a:lnSpc>
              <a:buNone/>
            </a:pPr>
            <a:r>
              <a:rPr lang="en-US" sz="1800" b="1" dirty="0">
                <a:solidFill>
                  <a:srgbClr val="0B2A4A"/>
                </a:solidFill>
                <a:latin typeface="Cambria" pitchFamily="34" charset="0"/>
                <a:ea typeface="Cambria" pitchFamily="34" charset="-122"/>
                <a:cs typeface="Cambria" pitchFamily="34" charset="-120"/>
              </a:rPr>
              <a:t>Regression</a:t>
            </a:r>
            <a:endParaRPr lang="en-US" sz="1800" dirty="0"/>
          </a:p>
        </p:txBody>
      </p:sp>
      <p:sp>
        <p:nvSpPr>
          <p:cNvPr id="25" name="Text 23"/>
          <p:cNvSpPr/>
          <p:nvPr/>
        </p:nvSpPr>
        <p:spPr>
          <a:xfrm>
            <a:off x="8503920" y="4114800"/>
            <a:ext cx="3017520" cy="1097280"/>
          </a:xfrm>
          <a:prstGeom prst="rect">
            <a:avLst/>
          </a:prstGeom>
          <a:noFill/>
          <a:ln/>
        </p:spPr>
        <p:txBody>
          <a:bodyPr wrap="square" rtlCol="0" anchor="ctr"/>
          <a:lstStyle/>
          <a:p>
            <a:pPr marL="0" indent="0">
              <a:lnSpc>
                <a:spcPts val="1600"/>
              </a:lnSpc>
              <a:buNone/>
            </a:pPr>
            <a:r>
              <a:rPr lang="en-US" sz="1250" dirty="0">
                <a:solidFill>
                  <a:srgbClr val="5C6B73"/>
                </a:solidFill>
                <a:latin typeface="Calibri" pitchFamily="34" charset="0"/>
                <a:ea typeface="Calibri" pitchFamily="34" charset="-122"/>
                <a:cs typeface="Calibri" pitchFamily="34" charset="-120"/>
              </a:rPr>
              <a:t>Curved (non-linear) relationship between inputs and output.</a:t>
            </a:r>
            <a:endParaRPr lang="en-US" sz="1250" dirty="0"/>
          </a:p>
        </p:txBody>
      </p:sp>
      <p:sp>
        <p:nvSpPr>
          <p:cNvPr id="26" name="Shape 24"/>
          <p:cNvSpPr/>
          <p:nvPr/>
        </p:nvSpPr>
        <p:spPr>
          <a:xfrm>
            <a:off x="8503920" y="5303520"/>
            <a:ext cx="3017520" cy="502920"/>
          </a:xfrm>
          <a:prstGeom prst="roundRect">
            <a:avLst>
              <a:gd name="adj" fmla="val 10909"/>
            </a:avLst>
          </a:prstGeom>
          <a:solidFill>
            <a:srgbClr val="F0F5F6"/>
          </a:solidFill>
          <a:ln/>
        </p:spPr>
      </p:sp>
      <p:sp>
        <p:nvSpPr>
          <p:cNvPr id="27" name="Text 25"/>
          <p:cNvSpPr/>
          <p:nvPr/>
        </p:nvSpPr>
        <p:spPr>
          <a:xfrm>
            <a:off x="8503920" y="5303520"/>
            <a:ext cx="3017520" cy="502920"/>
          </a:xfrm>
          <a:prstGeom prst="rect">
            <a:avLst/>
          </a:prstGeom>
          <a:noFill/>
          <a:ln/>
        </p:spPr>
        <p:txBody>
          <a:bodyPr wrap="square" rtlCol="0" anchor="ctr"/>
          <a:lstStyle/>
          <a:p>
            <a:pPr marL="0" indent="0" algn="ctr">
              <a:buNone/>
            </a:pPr>
            <a:r>
              <a:rPr lang="en-US" sz="1300" b="1" dirty="0">
                <a:solidFill>
                  <a:srgbClr val="065A82"/>
                </a:solidFill>
                <a:latin typeface="Courier New" pitchFamily="34" charset="0"/>
                <a:ea typeface="Courier New" pitchFamily="34" charset="-122"/>
                <a:cs typeface="Courier New" pitchFamily="34" charset="-120"/>
              </a:rPr>
              <a:t>y = β₀+β₁x+β₂x²</a:t>
            </a:r>
            <a:endParaRPr lang="en-US" sz="1300" dirty="0"/>
          </a:p>
        </p:txBody>
      </p:sp>
      <p:sp>
        <p:nvSpPr>
          <p:cNvPr id="28" name="Text 26"/>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5C6B73"/>
                </a:solidFill>
                <a:latin typeface="Calibri" pitchFamily="34" charset="0"/>
                <a:ea typeface="Calibri" pitchFamily="34" charset="-122"/>
                <a:cs typeface="Calibri" pitchFamily="34" charset="-120"/>
              </a:rPr>
              <a:t>Multiple Linear Regression</a:t>
            </a:r>
            <a:endParaRPr lang="en-US" sz="900" dirty="0"/>
          </a:p>
        </p:txBody>
      </p:sp>
      <p:sp>
        <p:nvSpPr>
          <p:cNvPr id="29" name="Text 2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2</a:t>
            </a:r>
            <a:endParaRPr lang="en-US" sz="9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365760"/>
          </a:xfrm>
          <a:prstGeom prst="roundRect">
            <a:avLst>
              <a:gd name="adj" fmla="val 20000"/>
            </a:avLst>
          </a:prstGeom>
          <a:solidFill>
            <a:srgbClr val="E5F0F4"/>
          </a:solidFill>
          <a:ln/>
        </p:spPr>
      </p:sp>
      <p:sp>
        <p:nvSpPr>
          <p:cNvPr id="3" name="Text 1"/>
          <p:cNvSpPr/>
          <p:nvPr/>
        </p:nvSpPr>
        <p:spPr>
          <a:xfrm>
            <a:off x="457200" y="411480"/>
            <a:ext cx="2103120" cy="365760"/>
          </a:xfrm>
          <a:prstGeom prst="rect">
            <a:avLst/>
          </a:prstGeom>
          <a:noFill/>
          <a:ln/>
        </p:spPr>
        <p:txBody>
          <a:bodyPr wrap="square" rtlCol="0" anchor="ctr"/>
          <a:lstStyle/>
          <a:p>
            <a:pPr marL="0" indent="0" algn="ctr">
              <a:buNone/>
            </a:pPr>
            <a:r>
              <a:rPr lang="en-US" sz="1100" b="1" kern="0" spc="100" dirty="0">
                <a:solidFill>
                  <a:srgbClr val="065A82"/>
                </a:solidFill>
                <a:latin typeface="Calibri" pitchFamily="34" charset="0"/>
                <a:ea typeface="Calibri" pitchFamily="34" charset="-122"/>
                <a:cs typeface="Calibri" pitchFamily="34" charset="-120"/>
              </a:rPr>
              <a:t>RECAP</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3000" b="1" dirty="0">
                <a:solidFill>
                  <a:srgbClr val="0B2A4A"/>
                </a:solidFill>
                <a:latin typeface="Cambria" pitchFamily="34" charset="0"/>
                <a:ea typeface="Cambria" pitchFamily="34" charset="-122"/>
                <a:cs typeface="Cambria" pitchFamily="34" charset="-120"/>
              </a:rPr>
              <a:t>Simple Linear Regression, in One Picture</a:t>
            </a:r>
            <a:endParaRPr lang="en-US" sz="3000" dirty="0"/>
          </a:p>
        </p:txBody>
      </p:sp>
      <p:sp>
        <p:nvSpPr>
          <p:cNvPr id="5" name="Text 3"/>
          <p:cNvSpPr/>
          <p:nvPr/>
        </p:nvSpPr>
        <p:spPr>
          <a:xfrm>
            <a:off x="457200" y="1600200"/>
            <a:ext cx="5120640" cy="4206240"/>
          </a:xfrm>
          <a:prstGeom prst="rect">
            <a:avLst/>
          </a:prstGeom>
          <a:noFill/>
          <a:ln/>
        </p:spPr>
        <p:txBody>
          <a:bodyPr wrap="square" rtlCol="0" anchor="ctr"/>
          <a:lstStyle/>
          <a:p>
            <a:pPr marL="0" indent="0">
              <a:lnSpc>
                <a:spcPts val="2000"/>
              </a:lnSpc>
              <a:buNone/>
            </a:pPr>
            <a:r>
              <a:rPr lang="en-US" sz="1500" b="1" dirty="0">
                <a:solidFill>
                  <a:srgbClr val="0B2A4A"/>
                </a:solidFill>
                <a:latin typeface="Calibri" pitchFamily="34" charset="0"/>
                <a:ea typeface="Calibri" pitchFamily="34" charset="-122"/>
                <a:cs typeface="Calibri" pitchFamily="34" charset="-120"/>
              </a:rPr>
              <a:t>One input, one output
</a:t>
            </a:r>
            <a:r>
              <a:rPr lang="en-US" sz="1300" dirty="0">
                <a:solidFill>
                  <a:srgbClr val="5C6B73"/>
                </a:solidFill>
                <a:latin typeface="Calibri" pitchFamily="34" charset="0"/>
                <a:ea typeface="Calibri" pitchFamily="34" charset="-122"/>
                <a:cs typeface="Calibri" pitchFamily="34" charset="-120"/>
              </a:rPr>
              <a:t>e.g. CGPA → Package (LPA). Plot the data as points on an X-Y graph.
</a:t>
            </a:r>
            <a:r>
              <a:rPr lang="en-US" sz="1500" b="1" dirty="0">
                <a:solidFill>
                  <a:srgbClr val="0B2A4A"/>
                </a:solidFill>
                <a:latin typeface="Calibri" pitchFamily="34" charset="0"/>
                <a:ea typeface="Calibri" pitchFamily="34" charset="-122"/>
                <a:cs typeface="Calibri" pitchFamily="34" charset="-120"/>
              </a:rPr>
              <a:t>Draw the best-fit line
</a:t>
            </a:r>
            <a:r>
              <a:rPr lang="en-US" sz="1300" dirty="0">
                <a:solidFill>
                  <a:srgbClr val="5C6B73"/>
                </a:solidFill>
                <a:latin typeface="Calibri" pitchFamily="34" charset="0"/>
                <a:ea typeface="Calibri" pitchFamily="34" charset="-122"/>
                <a:cs typeface="Calibri" pitchFamily="34" charset="-120"/>
              </a:rPr>
              <a:t>The line that passes as close as possible to every point is the regression line.
</a:t>
            </a:r>
            <a:r>
              <a:rPr lang="en-US" sz="1500" b="1" dirty="0">
                <a:solidFill>
                  <a:srgbClr val="0B2A4A"/>
                </a:solidFill>
                <a:latin typeface="Calibri" pitchFamily="34" charset="0"/>
                <a:ea typeface="Calibri" pitchFamily="34" charset="-122"/>
                <a:cs typeface="Calibri" pitchFamily="34" charset="-120"/>
              </a:rPr>
              <a:t>Find its equation
</a:t>
            </a:r>
            <a:r>
              <a:rPr lang="en-US" sz="1300" dirty="0">
                <a:solidFill>
                  <a:srgbClr val="5C6B73"/>
                </a:solidFill>
                <a:latin typeface="Calibri" pitchFamily="34" charset="0"/>
                <a:ea typeface="Calibri" pitchFamily="34" charset="-122"/>
                <a:cs typeface="Calibri" pitchFamily="34" charset="-120"/>
              </a:rPr>
              <a:t>Every straight line can be written as y = mx + b, where m is the slope and b is the intercept.</a:t>
            </a:r>
            <a:endParaRPr lang="en-US" sz="1500" dirty="0"/>
          </a:p>
        </p:txBody>
      </p:sp>
      <p:sp>
        <p:nvSpPr>
          <p:cNvPr id="6" name="Shape 4"/>
          <p:cNvSpPr/>
          <p:nvPr/>
        </p:nvSpPr>
        <p:spPr>
          <a:xfrm>
            <a:off x="457200" y="5623560"/>
            <a:ext cx="5120640" cy="640080"/>
          </a:xfrm>
          <a:prstGeom prst="roundRect">
            <a:avLst>
              <a:gd name="adj" fmla="val 11429"/>
            </a:avLst>
          </a:prstGeom>
          <a:solidFill>
            <a:srgbClr val="E5F0F4"/>
          </a:solidFill>
          <a:ln/>
        </p:spPr>
      </p:sp>
      <p:sp>
        <p:nvSpPr>
          <p:cNvPr id="7" name="Text 5"/>
          <p:cNvSpPr/>
          <p:nvPr/>
        </p:nvSpPr>
        <p:spPr>
          <a:xfrm>
            <a:off x="457200" y="5623560"/>
            <a:ext cx="5120640" cy="640080"/>
          </a:xfrm>
          <a:prstGeom prst="rect">
            <a:avLst/>
          </a:prstGeom>
          <a:noFill/>
          <a:ln/>
        </p:spPr>
        <p:txBody>
          <a:bodyPr wrap="square" rtlCol="0" anchor="ctr"/>
          <a:lstStyle/>
          <a:p>
            <a:pPr marL="0" indent="0" algn="ctr">
              <a:buNone/>
            </a:pPr>
            <a:r>
              <a:rPr lang="en-US" sz="2200" b="1" dirty="0">
                <a:solidFill>
                  <a:srgbClr val="065A82"/>
                </a:solidFill>
                <a:latin typeface="Courier New" pitchFamily="34" charset="0"/>
                <a:ea typeface="Courier New" pitchFamily="34" charset="-122"/>
                <a:cs typeface="Courier New" pitchFamily="34" charset="-120"/>
              </a:rPr>
              <a:t>y = mx + b</a:t>
            </a:r>
            <a:endParaRPr lang="en-US" sz="2200" dirty="0"/>
          </a:p>
        </p:txBody>
      </p:sp>
      <p:sp>
        <p:nvSpPr>
          <p:cNvPr id="8" name="Shape 6"/>
          <p:cNvSpPr/>
          <p:nvPr/>
        </p:nvSpPr>
        <p:spPr>
          <a:xfrm>
            <a:off x="6035040" y="1600200"/>
            <a:ext cx="5669280" cy="4663440"/>
          </a:xfrm>
          <a:prstGeom prst="roundRect">
            <a:avLst>
              <a:gd name="adj" fmla="val 1569"/>
            </a:avLst>
          </a:prstGeom>
          <a:solidFill>
            <a:srgbClr val="FFFFFF"/>
          </a:solidFill>
          <a:ln w="12700">
            <a:solidFill>
              <a:srgbClr val="D7E2E6"/>
            </a:solidFill>
            <a:prstDash val="solid"/>
          </a:ln>
        </p:spPr>
      </p:sp>
      <p:sp>
        <p:nvSpPr>
          <p:cNvPr id="9" name="Shape 7"/>
          <p:cNvSpPr/>
          <p:nvPr/>
        </p:nvSpPr>
        <p:spPr>
          <a:xfrm>
            <a:off x="6583680" y="5715000"/>
            <a:ext cx="4663440" cy="0"/>
          </a:xfrm>
          <a:prstGeom prst="line">
            <a:avLst/>
          </a:prstGeom>
          <a:noFill/>
          <a:ln w="19050">
            <a:solidFill>
              <a:srgbClr val="5C6B73"/>
            </a:solidFill>
            <a:prstDash val="solid"/>
          </a:ln>
        </p:spPr>
      </p:sp>
      <p:sp>
        <p:nvSpPr>
          <p:cNvPr id="10" name="Shape 8"/>
          <p:cNvSpPr/>
          <p:nvPr/>
        </p:nvSpPr>
        <p:spPr>
          <a:xfrm>
            <a:off x="6583680" y="2057400"/>
            <a:ext cx="0" cy="3657600"/>
          </a:xfrm>
          <a:prstGeom prst="line">
            <a:avLst/>
          </a:prstGeom>
          <a:noFill/>
          <a:ln w="19050">
            <a:solidFill>
              <a:srgbClr val="5C6B73"/>
            </a:solidFill>
            <a:prstDash val="solid"/>
          </a:ln>
        </p:spPr>
      </p:sp>
      <p:sp>
        <p:nvSpPr>
          <p:cNvPr id="11" name="Text 9"/>
          <p:cNvSpPr/>
          <p:nvPr/>
        </p:nvSpPr>
        <p:spPr>
          <a:xfrm>
            <a:off x="9966960" y="5788152"/>
            <a:ext cx="1280160" cy="274320"/>
          </a:xfrm>
          <a:prstGeom prst="rect">
            <a:avLst/>
          </a:prstGeom>
          <a:noFill/>
          <a:ln/>
        </p:spPr>
        <p:txBody>
          <a:bodyPr wrap="square" rtlCol="0" anchor="ctr"/>
          <a:lstStyle/>
          <a:p>
            <a:pPr marL="0" indent="0">
              <a:buNone/>
            </a:pPr>
            <a:r>
              <a:rPr lang="en-US" sz="1100" dirty="0">
                <a:solidFill>
                  <a:srgbClr val="5C6B73"/>
                </a:solidFill>
                <a:latin typeface="Calibri" pitchFamily="34" charset="0"/>
                <a:ea typeface="Calibri" pitchFamily="34" charset="-122"/>
                <a:cs typeface="Calibri" pitchFamily="34" charset="-120"/>
              </a:rPr>
              <a:t>CGPA →</a:t>
            </a:r>
            <a:endParaRPr lang="en-US" sz="1100" dirty="0"/>
          </a:p>
        </p:txBody>
      </p:sp>
      <p:sp>
        <p:nvSpPr>
          <p:cNvPr id="12" name="Text 10"/>
          <p:cNvSpPr/>
          <p:nvPr/>
        </p:nvSpPr>
        <p:spPr>
          <a:xfrm>
            <a:off x="6080760" y="2011680"/>
            <a:ext cx="1097280" cy="274320"/>
          </a:xfrm>
          <a:prstGeom prst="rect">
            <a:avLst/>
          </a:prstGeom>
          <a:noFill/>
          <a:ln/>
        </p:spPr>
        <p:txBody>
          <a:bodyPr wrap="square" rtlCol="0" anchor="ctr"/>
          <a:lstStyle/>
          <a:p>
            <a:pPr marL="0" indent="0">
              <a:buNone/>
            </a:pPr>
            <a:r>
              <a:rPr lang="en-US" sz="1100" dirty="0">
                <a:solidFill>
                  <a:srgbClr val="5C6B73"/>
                </a:solidFill>
                <a:latin typeface="Calibri" pitchFamily="34" charset="0"/>
                <a:ea typeface="Calibri" pitchFamily="34" charset="-122"/>
                <a:cs typeface="Calibri" pitchFamily="34" charset="-120"/>
              </a:rPr>
              <a:t>Package</a:t>
            </a:r>
            <a:endParaRPr lang="en-US" sz="1100" dirty="0"/>
          </a:p>
        </p:txBody>
      </p:sp>
      <p:sp>
        <p:nvSpPr>
          <p:cNvPr id="13" name="Shape 11"/>
          <p:cNvSpPr/>
          <p:nvPr/>
        </p:nvSpPr>
        <p:spPr>
          <a:xfrm>
            <a:off x="7228332" y="4855464"/>
            <a:ext cx="109728" cy="109728"/>
          </a:xfrm>
          <a:prstGeom prst="ellipse">
            <a:avLst/>
          </a:prstGeom>
          <a:solidFill>
            <a:srgbClr val="1C7293"/>
          </a:solidFill>
          <a:ln/>
        </p:spPr>
      </p:sp>
      <p:sp>
        <p:nvSpPr>
          <p:cNvPr id="14" name="Shape 12"/>
          <p:cNvSpPr/>
          <p:nvPr/>
        </p:nvSpPr>
        <p:spPr>
          <a:xfrm>
            <a:off x="7834579" y="4562856"/>
            <a:ext cx="109728" cy="109728"/>
          </a:xfrm>
          <a:prstGeom prst="ellipse">
            <a:avLst/>
          </a:prstGeom>
          <a:solidFill>
            <a:srgbClr val="1C7293"/>
          </a:solidFill>
          <a:ln/>
        </p:spPr>
      </p:sp>
      <p:sp>
        <p:nvSpPr>
          <p:cNvPr id="15" name="Shape 13"/>
          <p:cNvSpPr/>
          <p:nvPr/>
        </p:nvSpPr>
        <p:spPr>
          <a:xfrm>
            <a:off x="8067751" y="3977640"/>
            <a:ext cx="109728" cy="109728"/>
          </a:xfrm>
          <a:prstGeom prst="ellipse">
            <a:avLst/>
          </a:prstGeom>
          <a:solidFill>
            <a:srgbClr val="1C7293"/>
          </a:solidFill>
          <a:ln/>
        </p:spPr>
      </p:sp>
      <p:sp>
        <p:nvSpPr>
          <p:cNvPr id="16" name="Shape 14"/>
          <p:cNvSpPr/>
          <p:nvPr/>
        </p:nvSpPr>
        <p:spPr>
          <a:xfrm>
            <a:off x="8673998" y="4197096"/>
            <a:ext cx="109728" cy="109728"/>
          </a:xfrm>
          <a:prstGeom prst="ellipse">
            <a:avLst/>
          </a:prstGeom>
          <a:solidFill>
            <a:srgbClr val="1C7293"/>
          </a:solidFill>
          <a:ln/>
        </p:spPr>
      </p:sp>
      <p:sp>
        <p:nvSpPr>
          <p:cNvPr id="17" name="Shape 15"/>
          <p:cNvSpPr/>
          <p:nvPr/>
        </p:nvSpPr>
        <p:spPr>
          <a:xfrm>
            <a:off x="8953805" y="3538728"/>
            <a:ext cx="109728" cy="109728"/>
          </a:xfrm>
          <a:prstGeom prst="ellipse">
            <a:avLst/>
          </a:prstGeom>
          <a:solidFill>
            <a:srgbClr val="1C7293"/>
          </a:solidFill>
          <a:ln/>
        </p:spPr>
      </p:sp>
      <p:sp>
        <p:nvSpPr>
          <p:cNvPr id="18" name="Shape 16"/>
          <p:cNvSpPr/>
          <p:nvPr/>
        </p:nvSpPr>
        <p:spPr>
          <a:xfrm>
            <a:off x="9326880" y="3831336"/>
            <a:ext cx="109728" cy="109728"/>
          </a:xfrm>
          <a:prstGeom prst="ellipse">
            <a:avLst/>
          </a:prstGeom>
          <a:solidFill>
            <a:srgbClr val="1C7293"/>
          </a:solidFill>
          <a:ln/>
        </p:spPr>
      </p:sp>
      <p:sp>
        <p:nvSpPr>
          <p:cNvPr id="19" name="Shape 17"/>
          <p:cNvSpPr/>
          <p:nvPr/>
        </p:nvSpPr>
        <p:spPr>
          <a:xfrm>
            <a:off x="9699955" y="3099816"/>
            <a:ext cx="109728" cy="109728"/>
          </a:xfrm>
          <a:prstGeom prst="ellipse">
            <a:avLst/>
          </a:prstGeom>
          <a:solidFill>
            <a:srgbClr val="1C7293"/>
          </a:solidFill>
          <a:ln/>
        </p:spPr>
      </p:sp>
      <p:sp>
        <p:nvSpPr>
          <p:cNvPr id="20" name="Shape 18"/>
          <p:cNvSpPr/>
          <p:nvPr/>
        </p:nvSpPr>
        <p:spPr>
          <a:xfrm>
            <a:off x="9979762" y="3465576"/>
            <a:ext cx="109728" cy="109728"/>
          </a:xfrm>
          <a:prstGeom prst="ellipse">
            <a:avLst/>
          </a:prstGeom>
          <a:solidFill>
            <a:srgbClr val="1C7293"/>
          </a:solidFill>
          <a:ln/>
        </p:spPr>
      </p:sp>
      <p:sp>
        <p:nvSpPr>
          <p:cNvPr id="21" name="Shape 19"/>
          <p:cNvSpPr/>
          <p:nvPr/>
        </p:nvSpPr>
        <p:spPr>
          <a:xfrm>
            <a:off x="10399471" y="2660904"/>
            <a:ext cx="109728" cy="109728"/>
          </a:xfrm>
          <a:prstGeom prst="ellipse">
            <a:avLst/>
          </a:prstGeom>
          <a:solidFill>
            <a:srgbClr val="1C7293"/>
          </a:solidFill>
          <a:ln/>
        </p:spPr>
      </p:sp>
      <p:sp>
        <p:nvSpPr>
          <p:cNvPr id="22" name="Shape 20"/>
          <p:cNvSpPr/>
          <p:nvPr/>
        </p:nvSpPr>
        <p:spPr>
          <a:xfrm>
            <a:off x="10725912" y="2807208"/>
            <a:ext cx="109728" cy="109728"/>
          </a:xfrm>
          <a:prstGeom prst="ellipse">
            <a:avLst/>
          </a:prstGeom>
          <a:solidFill>
            <a:srgbClr val="1C7293"/>
          </a:solidFill>
          <a:ln/>
        </p:spPr>
      </p:sp>
      <p:sp>
        <p:nvSpPr>
          <p:cNvPr id="23" name="Shape 21"/>
          <p:cNvSpPr/>
          <p:nvPr/>
        </p:nvSpPr>
        <p:spPr>
          <a:xfrm>
            <a:off x="6816852" y="5276088"/>
            <a:ext cx="3963924" cy="0"/>
          </a:xfrm>
          <a:prstGeom prst="line">
            <a:avLst/>
          </a:prstGeom>
          <a:noFill/>
          <a:ln w="38100">
            <a:solidFill>
              <a:srgbClr val="F2A93B"/>
            </a:solidFill>
            <a:prstDash val="solid"/>
          </a:ln>
        </p:spPr>
      </p:sp>
      <p:sp>
        <p:nvSpPr>
          <p:cNvPr id="24" name="Text 22"/>
          <p:cNvSpPr/>
          <p:nvPr/>
        </p:nvSpPr>
        <p:spPr>
          <a:xfrm>
            <a:off x="9148572" y="2606040"/>
            <a:ext cx="1645920" cy="274320"/>
          </a:xfrm>
          <a:prstGeom prst="rect">
            <a:avLst/>
          </a:prstGeom>
          <a:noFill/>
          <a:ln/>
        </p:spPr>
        <p:txBody>
          <a:bodyPr wrap="square" rtlCol="0" anchor="ctr"/>
          <a:lstStyle/>
          <a:p>
            <a:pPr marL="0" indent="0">
              <a:buNone/>
            </a:pPr>
            <a:r>
              <a:rPr lang="en-US" sz="1100" b="1" dirty="0">
                <a:solidFill>
                  <a:srgbClr val="F2A93B"/>
                </a:solidFill>
                <a:latin typeface="Calibri" pitchFamily="34" charset="0"/>
                <a:ea typeface="Calibri" pitchFamily="34" charset="-122"/>
                <a:cs typeface="Calibri" pitchFamily="34" charset="-120"/>
              </a:rPr>
              <a:t>Best-fit line</a:t>
            </a:r>
            <a:endParaRPr lang="en-US" sz="1100" dirty="0"/>
          </a:p>
        </p:txBody>
      </p:sp>
      <p:sp>
        <p:nvSpPr>
          <p:cNvPr id="25" name="Text 23"/>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5C6B73"/>
                </a:solidFill>
                <a:latin typeface="Calibri" pitchFamily="34" charset="0"/>
                <a:ea typeface="Calibri" pitchFamily="34" charset="-122"/>
                <a:cs typeface="Calibri" pitchFamily="34" charset="-120"/>
              </a:rPr>
              <a:t>Multiple Linear Regression</a:t>
            </a:r>
            <a:endParaRPr lang="en-US" sz="900" dirty="0"/>
          </a:p>
        </p:txBody>
      </p:sp>
      <p:sp>
        <p:nvSpPr>
          <p:cNvPr id="26" name="Text 2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3</a:t>
            </a:r>
            <a:endParaRPr lang="en-US" sz="9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365760"/>
          </a:xfrm>
          <a:prstGeom prst="roundRect">
            <a:avLst>
              <a:gd name="adj" fmla="val 20000"/>
            </a:avLst>
          </a:prstGeom>
          <a:solidFill>
            <a:srgbClr val="E5F0F4"/>
          </a:solidFill>
          <a:ln/>
        </p:spPr>
      </p:sp>
      <p:sp>
        <p:nvSpPr>
          <p:cNvPr id="3" name="Text 1"/>
          <p:cNvSpPr/>
          <p:nvPr/>
        </p:nvSpPr>
        <p:spPr>
          <a:xfrm>
            <a:off x="457200" y="411480"/>
            <a:ext cx="2103120" cy="365760"/>
          </a:xfrm>
          <a:prstGeom prst="rect">
            <a:avLst/>
          </a:prstGeom>
          <a:noFill/>
          <a:ln/>
        </p:spPr>
        <p:txBody>
          <a:bodyPr wrap="square" rtlCol="0" anchor="ctr"/>
          <a:lstStyle/>
          <a:p>
            <a:pPr marL="0" indent="0" algn="ctr">
              <a:buNone/>
            </a:pPr>
            <a:r>
              <a:rPr lang="en-US" sz="1100" b="1" kern="0" spc="100" dirty="0">
                <a:solidFill>
                  <a:srgbClr val="065A82"/>
                </a:solidFill>
                <a:latin typeface="Calibri" pitchFamily="34" charset="0"/>
                <a:ea typeface="Calibri" pitchFamily="34" charset="-122"/>
                <a:cs typeface="Calibri" pitchFamily="34" charset="-120"/>
              </a:rPr>
              <a:t>NEW CONCEPT</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3000" b="1" dirty="0">
                <a:solidFill>
                  <a:srgbClr val="0B2A4A"/>
                </a:solidFill>
                <a:latin typeface="Cambria" pitchFamily="34" charset="0"/>
                <a:ea typeface="Cambria" pitchFamily="34" charset="-122"/>
                <a:cs typeface="Cambria" pitchFamily="34" charset="-120"/>
              </a:rPr>
              <a:t>What Is Multiple Linear Regression?</a:t>
            </a:r>
            <a:endParaRPr lang="en-US" sz="3000" dirty="0"/>
          </a:p>
        </p:txBody>
      </p:sp>
      <p:sp>
        <p:nvSpPr>
          <p:cNvPr id="5" name="Text 3"/>
          <p:cNvSpPr/>
          <p:nvPr/>
        </p:nvSpPr>
        <p:spPr>
          <a:xfrm>
            <a:off x="457200" y="1508760"/>
            <a:ext cx="11247120" cy="822960"/>
          </a:xfrm>
          <a:prstGeom prst="rect">
            <a:avLst/>
          </a:prstGeom>
          <a:noFill/>
          <a:ln/>
        </p:spPr>
        <p:txBody>
          <a:bodyPr wrap="square" rtlCol="0" anchor="ctr"/>
          <a:lstStyle/>
          <a:p>
            <a:pPr marL="0" indent="0">
              <a:lnSpc>
                <a:spcPts val="1900"/>
              </a:lnSpc>
              <a:buNone/>
            </a:pPr>
            <a:r>
              <a:rPr lang="en-US" sz="1450" dirty="0">
                <a:solidFill>
                  <a:srgbClr val="17232E"/>
                </a:solidFill>
                <a:latin typeface="Calibri" pitchFamily="34" charset="0"/>
                <a:ea typeface="Calibri" pitchFamily="34" charset="-122"/>
                <a:cs typeface="Calibri" pitchFamily="34" charset="-120"/>
              </a:rPr>
              <a:t>Multiple Linear Regression (MLR) is simply an extension of simple linear regression: it's used when your dataset has more than one input (independent) column predicting a single output (dependent) column.</a:t>
            </a:r>
            <a:endParaRPr lang="en-US" sz="1450" dirty="0"/>
          </a:p>
        </p:txBody>
      </p:sp>
      <p:sp>
        <p:nvSpPr>
          <p:cNvPr id="6" name="Shape 4"/>
          <p:cNvSpPr/>
          <p:nvPr/>
        </p:nvSpPr>
        <p:spPr>
          <a:xfrm>
            <a:off x="457200" y="2514600"/>
            <a:ext cx="6675120" cy="3566160"/>
          </a:xfrm>
          <a:prstGeom prst="roundRect">
            <a:avLst>
              <a:gd name="adj" fmla="val 2564"/>
            </a:avLst>
          </a:prstGeom>
          <a:solidFill>
            <a:srgbClr val="FFFFFF"/>
          </a:solidFill>
          <a:ln w="12700">
            <a:solidFill>
              <a:srgbClr val="D7E2E6"/>
            </a:solidFill>
            <a:prstDash val="solid"/>
          </a:ln>
          <a:effectLst>
            <a:outerShdw blurRad="76200" dist="25400" dir="5400000" algn="bl" rotWithShape="0">
              <a:srgbClr val="1A1A2E">
                <a:alpha val="10000"/>
              </a:srgbClr>
            </a:outerShdw>
          </a:effectLst>
        </p:spPr>
      </p:sp>
      <p:sp>
        <p:nvSpPr>
          <p:cNvPr id="7" name="Text 5"/>
          <p:cNvSpPr/>
          <p:nvPr/>
        </p:nvSpPr>
        <p:spPr>
          <a:xfrm>
            <a:off x="777240" y="2743200"/>
            <a:ext cx="6035040" cy="365760"/>
          </a:xfrm>
          <a:prstGeom prst="rect">
            <a:avLst/>
          </a:prstGeom>
          <a:noFill/>
          <a:ln/>
        </p:spPr>
        <p:txBody>
          <a:bodyPr wrap="square" rtlCol="0" anchor="ctr"/>
          <a:lstStyle/>
          <a:p>
            <a:pPr marL="0" indent="0">
              <a:buNone/>
            </a:pPr>
            <a:r>
              <a:rPr lang="en-US" sz="1600" b="1" dirty="0">
                <a:solidFill>
                  <a:srgbClr val="0B2A4A"/>
                </a:solidFill>
                <a:latin typeface="Cambria" pitchFamily="34" charset="0"/>
                <a:ea typeface="Cambria" pitchFamily="34" charset="-122"/>
                <a:cs typeface="Cambria" pitchFamily="34" charset="-120"/>
              </a:rPr>
              <a:t>Worked Example</a:t>
            </a:r>
            <a:endParaRPr lang="en-US" sz="1600" dirty="0"/>
          </a:p>
        </p:txBody>
      </p:sp>
      <p:sp>
        <p:nvSpPr>
          <p:cNvPr id="8" name="Shape 6"/>
          <p:cNvSpPr/>
          <p:nvPr/>
        </p:nvSpPr>
        <p:spPr>
          <a:xfrm>
            <a:off x="777240" y="3246120"/>
            <a:ext cx="1508760" cy="457200"/>
          </a:xfrm>
          <a:prstGeom prst="rect">
            <a:avLst/>
          </a:prstGeom>
          <a:solidFill>
            <a:srgbClr val="065A82"/>
          </a:solidFill>
          <a:ln w="6350">
            <a:solidFill>
              <a:srgbClr val="FFFFFF"/>
            </a:solidFill>
            <a:prstDash val="solid"/>
          </a:ln>
        </p:spPr>
      </p:sp>
      <p:sp>
        <p:nvSpPr>
          <p:cNvPr id="9" name="Text 7"/>
          <p:cNvSpPr/>
          <p:nvPr/>
        </p:nvSpPr>
        <p:spPr>
          <a:xfrm>
            <a:off x="777240" y="3246120"/>
            <a:ext cx="150876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CGPA (x₁)</a:t>
            </a:r>
            <a:endParaRPr lang="en-US" sz="1150" dirty="0"/>
          </a:p>
        </p:txBody>
      </p:sp>
      <p:sp>
        <p:nvSpPr>
          <p:cNvPr id="10" name="Shape 8"/>
          <p:cNvSpPr/>
          <p:nvPr/>
        </p:nvSpPr>
        <p:spPr>
          <a:xfrm>
            <a:off x="2286000" y="3246120"/>
            <a:ext cx="1508760" cy="457200"/>
          </a:xfrm>
          <a:prstGeom prst="rect">
            <a:avLst/>
          </a:prstGeom>
          <a:solidFill>
            <a:srgbClr val="065A82"/>
          </a:solidFill>
          <a:ln w="6350">
            <a:solidFill>
              <a:srgbClr val="FFFFFF"/>
            </a:solidFill>
            <a:prstDash val="solid"/>
          </a:ln>
        </p:spPr>
      </p:sp>
      <p:sp>
        <p:nvSpPr>
          <p:cNvPr id="11" name="Text 9"/>
          <p:cNvSpPr/>
          <p:nvPr/>
        </p:nvSpPr>
        <p:spPr>
          <a:xfrm>
            <a:off x="2286000" y="3246120"/>
            <a:ext cx="150876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IQ (x₂)</a:t>
            </a:r>
            <a:endParaRPr lang="en-US" sz="1150" dirty="0"/>
          </a:p>
        </p:txBody>
      </p:sp>
      <p:sp>
        <p:nvSpPr>
          <p:cNvPr id="12" name="Shape 10"/>
          <p:cNvSpPr/>
          <p:nvPr/>
        </p:nvSpPr>
        <p:spPr>
          <a:xfrm>
            <a:off x="3794760" y="3246120"/>
            <a:ext cx="1508760" cy="457200"/>
          </a:xfrm>
          <a:prstGeom prst="rect">
            <a:avLst/>
          </a:prstGeom>
          <a:solidFill>
            <a:srgbClr val="065A82"/>
          </a:solidFill>
          <a:ln w="6350">
            <a:solidFill>
              <a:srgbClr val="FFFFFF"/>
            </a:solidFill>
            <a:prstDash val="solid"/>
          </a:ln>
        </p:spPr>
      </p:sp>
      <p:sp>
        <p:nvSpPr>
          <p:cNvPr id="13" name="Text 11"/>
          <p:cNvSpPr/>
          <p:nvPr/>
        </p:nvSpPr>
        <p:spPr>
          <a:xfrm>
            <a:off x="3794760" y="3246120"/>
            <a:ext cx="150876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Gender (x₃)</a:t>
            </a:r>
            <a:endParaRPr lang="en-US" sz="1150" dirty="0"/>
          </a:p>
        </p:txBody>
      </p:sp>
      <p:sp>
        <p:nvSpPr>
          <p:cNvPr id="14" name="Shape 12"/>
          <p:cNvSpPr/>
          <p:nvPr/>
        </p:nvSpPr>
        <p:spPr>
          <a:xfrm>
            <a:off x="5303520" y="3246120"/>
            <a:ext cx="1508760" cy="457200"/>
          </a:xfrm>
          <a:prstGeom prst="rect">
            <a:avLst/>
          </a:prstGeom>
          <a:solidFill>
            <a:srgbClr val="065A82"/>
          </a:solidFill>
          <a:ln w="6350">
            <a:solidFill>
              <a:srgbClr val="FFFFFF"/>
            </a:solidFill>
            <a:prstDash val="solid"/>
          </a:ln>
        </p:spPr>
      </p:sp>
      <p:sp>
        <p:nvSpPr>
          <p:cNvPr id="15" name="Text 13"/>
          <p:cNvSpPr/>
          <p:nvPr/>
        </p:nvSpPr>
        <p:spPr>
          <a:xfrm>
            <a:off x="5303520" y="3246120"/>
            <a:ext cx="1508760" cy="45720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Package (y)</a:t>
            </a:r>
            <a:endParaRPr lang="en-US" sz="1150" dirty="0"/>
          </a:p>
        </p:txBody>
      </p:sp>
      <p:sp>
        <p:nvSpPr>
          <p:cNvPr id="16" name="Shape 14"/>
          <p:cNvSpPr/>
          <p:nvPr/>
        </p:nvSpPr>
        <p:spPr>
          <a:xfrm>
            <a:off x="777240" y="3703320"/>
            <a:ext cx="1508760" cy="457200"/>
          </a:xfrm>
          <a:prstGeom prst="rect">
            <a:avLst/>
          </a:prstGeom>
          <a:solidFill>
            <a:srgbClr val="F0F5F6"/>
          </a:solidFill>
          <a:ln w="6350">
            <a:solidFill>
              <a:srgbClr val="D7E2E6"/>
            </a:solidFill>
            <a:prstDash val="solid"/>
          </a:ln>
        </p:spPr>
      </p:sp>
      <p:sp>
        <p:nvSpPr>
          <p:cNvPr id="17" name="Text 15"/>
          <p:cNvSpPr/>
          <p:nvPr/>
        </p:nvSpPr>
        <p:spPr>
          <a:xfrm>
            <a:off x="777240" y="3703320"/>
            <a:ext cx="1508760" cy="457200"/>
          </a:xfrm>
          <a:prstGeom prst="rect">
            <a:avLst/>
          </a:prstGeom>
          <a:noFill/>
          <a:ln/>
        </p:spPr>
        <p:txBody>
          <a:bodyPr wrap="square" rtlCol="0" anchor="ctr"/>
          <a:lstStyle/>
          <a:p>
            <a:pPr marL="0" indent="0" algn="ctr">
              <a:buNone/>
            </a:pPr>
            <a:r>
              <a:rPr lang="en-US" sz="1150" dirty="0">
                <a:solidFill>
                  <a:srgbClr val="17232E"/>
                </a:solidFill>
                <a:latin typeface="Calibri" pitchFamily="34" charset="0"/>
                <a:ea typeface="Calibri" pitchFamily="34" charset="-122"/>
                <a:cs typeface="Calibri" pitchFamily="34" charset="-120"/>
              </a:rPr>
              <a:t>8.1</a:t>
            </a:r>
            <a:endParaRPr lang="en-US" sz="1150" dirty="0"/>
          </a:p>
        </p:txBody>
      </p:sp>
      <p:sp>
        <p:nvSpPr>
          <p:cNvPr id="18" name="Shape 16"/>
          <p:cNvSpPr/>
          <p:nvPr/>
        </p:nvSpPr>
        <p:spPr>
          <a:xfrm>
            <a:off x="2286000" y="3703320"/>
            <a:ext cx="1508760" cy="457200"/>
          </a:xfrm>
          <a:prstGeom prst="rect">
            <a:avLst/>
          </a:prstGeom>
          <a:solidFill>
            <a:srgbClr val="F0F5F6"/>
          </a:solidFill>
          <a:ln w="6350">
            <a:solidFill>
              <a:srgbClr val="D7E2E6"/>
            </a:solidFill>
            <a:prstDash val="solid"/>
          </a:ln>
        </p:spPr>
      </p:sp>
      <p:sp>
        <p:nvSpPr>
          <p:cNvPr id="19" name="Text 17"/>
          <p:cNvSpPr/>
          <p:nvPr/>
        </p:nvSpPr>
        <p:spPr>
          <a:xfrm>
            <a:off x="2286000" y="3703320"/>
            <a:ext cx="1508760" cy="457200"/>
          </a:xfrm>
          <a:prstGeom prst="rect">
            <a:avLst/>
          </a:prstGeom>
          <a:noFill/>
          <a:ln/>
        </p:spPr>
        <p:txBody>
          <a:bodyPr wrap="square" rtlCol="0" anchor="ctr"/>
          <a:lstStyle/>
          <a:p>
            <a:pPr marL="0" indent="0" algn="ctr">
              <a:buNone/>
            </a:pPr>
            <a:r>
              <a:rPr lang="en-US" sz="1150" dirty="0">
                <a:solidFill>
                  <a:srgbClr val="17232E"/>
                </a:solidFill>
                <a:latin typeface="Calibri" pitchFamily="34" charset="0"/>
                <a:ea typeface="Calibri" pitchFamily="34" charset="-122"/>
                <a:cs typeface="Calibri" pitchFamily="34" charset="-120"/>
              </a:rPr>
              <a:t>112</a:t>
            </a:r>
            <a:endParaRPr lang="en-US" sz="1150" dirty="0"/>
          </a:p>
        </p:txBody>
      </p:sp>
      <p:sp>
        <p:nvSpPr>
          <p:cNvPr id="20" name="Shape 18"/>
          <p:cNvSpPr/>
          <p:nvPr/>
        </p:nvSpPr>
        <p:spPr>
          <a:xfrm>
            <a:off x="3794760" y="3703320"/>
            <a:ext cx="1508760" cy="457200"/>
          </a:xfrm>
          <a:prstGeom prst="rect">
            <a:avLst/>
          </a:prstGeom>
          <a:solidFill>
            <a:srgbClr val="F0F5F6"/>
          </a:solidFill>
          <a:ln w="6350">
            <a:solidFill>
              <a:srgbClr val="D7E2E6"/>
            </a:solidFill>
            <a:prstDash val="solid"/>
          </a:ln>
        </p:spPr>
      </p:sp>
      <p:sp>
        <p:nvSpPr>
          <p:cNvPr id="21" name="Text 19"/>
          <p:cNvSpPr/>
          <p:nvPr/>
        </p:nvSpPr>
        <p:spPr>
          <a:xfrm>
            <a:off x="3794760" y="3703320"/>
            <a:ext cx="1508760" cy="457200"/>
          </a:xfrm>
          <a:prstGeom prst="rect">
            <a:avLst/>
          </a:prstGeom>
          <a:noFill/>
          <a:ln/>
        </p:spPr>
        <p:txBody>
          <a:bodyPr wrap="square" rtlCol="0" anchor="ctr"/>
          <a:lstStyle/>
          <a:p>
            <a:pPr marL="0" indent="0" algn="ctr">
              <a:buNone/>
            </a:pPr>
            <a:r>
              <a:rPr lang="en-US" sz="1150" dirty="0">
                <a:solidFill>
                  <a:srgbClr val="17232E"/>
                </a:solidFill>
                <a:latin typeface="Calibri" pitchFamily="34" charset="0"/>
                <a:ea typeface="Calibri" pitchFamily="34" charset="-122"/>
                <a:cs typeface="Calibri" pitchFamily="34" charset="-120"/>
              </a:rPr>
              <a:t>M</a:t>
            </a:r>
            <a:endParaRPr lang="en-US" sz="1150" dirty="0"/>
          </a:p>
        </p:txBody>
      </p:sp>
      <p:sp>
        <p:nvSpPr>
          <p:cNvPr id="22" name="Shape 20"/>
          <p:cNvSpPr/>
          <p:nvPr/>
        </p:nvSpPr>
        <p:spPr>
          <a:xfrm>
            <a:off x="5303520" y="3703320"/>
            <a:ext cx="1508760" cy="457200"/>
          </a:xfrm>
          <a:prstGeom prst="rect">
            <a:avLst/>
          </a:prstGeom>
          <a:solidFill>
            <a:srgbClr val="F0F5F6"/>
          </a:solidFill>
          <a:ln w="6350">
            <a:solidFill>
              <a:srgbClr val="D7E2E6"/>
            </a:solidFill>
            <a:prstDash val="solid"/>
          </a:ln>
        </p:spPr>
      </p:sp>
      <p:sp>
        <p:nvSpPr>
          <p:cNvPr id="23" name="Text 21"/>
          <p:cNvSpPr/>
          <p:nvPr/>
        </p:nvSpPr>
        <p:spPr>
          <a:xfrm>
            <a:off x="5303520" y="3703320"/>
            <a:ext cx="1508760" cy="457200"/>
          </a:xfrm>
          <a:prstGeom prst="rect">
            <a:avLst/>
          </a:prstGeom>
          <a:noFill/>
          <a:ln/>
        </p:spPr>
        <p:txBody>
          <a:bodyPr wrap="square" rtlCol="0" anchor="ctr"/>
          <a:lstStyle/>
          <a:p>
            <a:pPr marL="0" indent="0" algn="ctr">
              <a:buNone/>
            </a:pPr>
            <a:r>
              <a:rPr lang="en-US" sz="1150" dirty="0">
                <a:solidFill>
                  <a:srgbClr val="17232E"/>
                </a:solidFill>
                <a:latin typeface="Calibri" pitchFamily="34" charset="0"/>
                <a:ea typeface="Calibri" pitchFamily="34" charset="-122"/>
                <a:cs typeface="Calibri" pitchFamily="34" charset="-120"/>
              </a:rPr>
              <a:t>7.2 LPA</a:t>
            </a:r>
            <a:endParaRPr lang="en-US" sz="1150" dirty="0"/>
          </a:p>
        </p:txBody>
      </p:sp>
      <p:sp>
        <p:nvSpPr>
          <p:cNvPr id="24" name="Shape 22"/>
          <p:cNvSpPr/>
          <p:nvPr/>
        </p:nvSpPr>
        <p:spPr>
          <a:xfrm>
            <a:off x="777240" y="4160520"/>
            <a:ext cx="1508760" cy="457200"/>
          </a:xfrm>
          <a:prstGeom prst="rect">
            <a:avLst/>
          </a:prstGeom>
          <a:solidFill>
            <a:srgbClr val="FFFFFF"/>
          </a:solidFill>
          <a:ln w="6350">
            <a:solidFill>
              <a:srgbClr val="D7E2E6"/>
            </a:solidFill>
            <a:prstDash val="solid"/>
          </a:ln>
        </p:spPr>
      </p:sp>
      <p:sp>
        <p:nvSpPr>
          <p:cNvPr id="25" name="Text 23"/>
          <p:cNvSpPr/>
          <p:nvPr/>
        </p:nvSpPr>
        <p:spPr>
          <a:xfrm>
            <a:off x="777240" y="4160520"/>
            <a:ext cx="1508760" cy="457200"/>
          </a:xfrm>
          <a:prstGeom prst="rect">
            <a:avLst/>
          </a:prstGeom>
          <a:noFill/>
          <a:ln/>
        </p:spPr>
        <p:txBody>
          <a:bodyPr wrap="square" rtlCol="0" anchor="ctr"/>
          <a:lstStyle/>
          <a:p>
            <a:pPr marL="0" indent="0" algn="ctr">
              <a:buNone/>
            </a:pPr>
            <a:r>
              <a:rPr lang="en-US" sz="1150" dirty="0">
                <a:solidFill>
                  <a:srgbClr val="17232E"/>
                </a:solidFill>
                <a:latin typeface="Calibri" pitchFamily="34" charset="0"/>
                <a:ea typeface="Calibri" pitchFamily="34" charset="-122"/>
                <a:cs typeface="Calibri" pitchFamily="34" charset="-120"/>
              </a:rPr>
              <a:t>7.4</a:t>
            </a:r>
            <a:endParaRPr lang="en-US" sz="1150" dirty="0"/>
          </a:p>
        </p:txBody>
      </p:sp>
      <p:sp>
        <p:nvSpPr>
          <p:cNvPr id="26" name="Shape 24"/>
          <p:cNvSpPr/>
          <p:nvPr/>
        </p:nvSpPr>
        <p:spPr>
          <a:xfrm>
            <a:off x="2286000" y="4160520"/>
            <a:ext cx="1508760" cy="457200"/>
          </a:xfrm>
          <a:prstGeom prst="rect">
            <a:avLst/>
          </a:prstGeom>
          <a:solidFill>
            <a:srgbClr val="FFFFFF"/>
          </a:solidFill>
          <a:ln w="6350">
            <a:solidFill>
              <a:srgbClr val="D7E2E6"/>
            </a:solidFill>
            <a:prstDash val="solid"/>
          </a:ln>
        </p:spPr>
      </p:sp>
      <p:sp>
        <p:nvSpPr>
          <p:cNvPr id="27" name="Text 25"/>
          <p:cNvSpPr/>
          <p:nvPr/>
        </p:nvSpPr>
        <p:spPr>
          <a:xfrm>
            <a:off x="2286000" y="4160520"/>
            <a:ext cx="1508760" cy="457200"/>
          </a:xfrm>
          <a:prstGeom prst="rect">
            <a:avLst/>
          </a:prstGeom>
          <a:noFill/>
          <a:ln/>
        </p:spPr>
        <p:txBody>
          <a:bodyPr wrap="square" rtlCol="0" anchor="ctr"/>
          <a:lstStyle/>
          <a:p>
            <a:pPr marL="0" indent="0" algn="ctr">
              <a:buNone/>
            </a:pPr>
            <a:r>
              <a:rPr lang="en-US" sz="1150" dirty="0">
                <a:solidFill>
                  <a:srgbClr val="17232E"/>
                </a:solidFill>
                <a:latin typeface="Calibri" pitchFamily="34" charset="0"/>
                <a:ea typeface="Calibri" pitchFamily="34" charset="-122"/>
                <a:cs typeface="Calibri" pitchFamily="34" charset="-120"/>
              </a:rPr>
              <a:t>98</a:t>
            </a:r>
            <a:endParaRPr lang="en-US" sz="1150" dirty="0"/>
          </a:p>
        </p:txBody>
      </p:sp>
      <p:sp>
        <p:nvSpPr>
          <p:cNvPr id="28" name="Shape 26"/>
          <p:cNvSpPr/>
          <p:nvPr/>
        </p:nvSpPr>
        <p:spPr>
          <a:xfrm>
            <a:off x="3794760" y="4160520"/>
            <a:ext cx="1508760" cy="457200"/>
          </a:xfrm>
          <a:prstGeom prst="rect">
            <a:avLst/>
          </a:prstGeom>
          <a:solidFill>
            <a:srgbClr val="FFFFFF"/>
          </a:solidFill>
          <a:ln w="6350">
            <a:solidFill>
              <a:srgbClr val="D7E2E6"/>
            </a:solidFill>
            <a:prstDash val="solid"/>
          </a:ln>
        </p:spPr>
      </p:sp>
      <p:sp>
        <p:nvSpPr>
          <p:cNvPr id="29" name="Text 27"/>
          <p:cNvSpPr/>
          <p:nvPr/>
        </p:nvSpPr>
        <p:spPr>
          <a:xfrm>
            <a:off x="3794760" y="4160520"/>
            <a:ext cx="1508760" cy="457200"/>
          </a:xfrm>
          <a:prstGeom prst="rect">
            <a:avLst/>
          </a:prstGeom>
          <a:noFill/>
          <a:ln/>
        </p:spPr>
        <p:txBody>
          <a:bodyPr wrap="square" rtlCol="0" anchor="ctr"/>
          <a:lstStyle/>
          <a:p>
            <a:pPr marL="0" indent="0" algn="ctr">
              <a:buNone/>
            </a:pPr>
            <a:r>
              <a:rPr lang="en-US" sz="1150" dirty="0">
                <a:solidFill>
                  <a:srgbClr val="17232E"/>
                </a:solidFill>
                <a:latin typeface="Calibri" pitchFamily="34" charset="0"/>
                <a:ea typeface="Calibri" pitchFamily="34" charset="-122"/>
                <a:cs typeface="Calibri" pitchFamily="34" charset="-120"/>
              </a:rPr>
              <a:t>F</a:t>
            </a:r>
            <a:endParaRPr lang="en-US" sz="1150" dirty="0"/>
          </a:p>
        </p:txBody>
      </p:sp>
      <p:sp>
        <p:nvSpPr>
          <p:cNvPr id="30" name="Shape 28"/>
          <p:cNvSpPr/>
          <p:nvPr/>
        </p:nvSpPr>
        <p:spPr>
          <a:xfrm>
            <a:off x="5303520" y="4160520"/>
            <a:ext cx="1508760" cy="457200"/>
          </a:xfrm>
          <a:prstGeom prst="rect">
            <a:avLst/>
          </a:prstGeom>
          <a:solidFill>
            <a:srgbClr val="FFFFFF"/>
          </a:solidFill>
          <a:ln w="6350">
            <a:solidFill>
              <a:srgbClr val="D7E2E6"/>
            </a:solidFill>
            <a:prstDash val="solid"/>
          </a:ln>
        </p:spPr>
      </p:sp>
      <p:sp>
        <p:nvSpPr>
          <p:cNvPr id="31" name="Text 29"/>
          <p:cNvSpPr/>
          <p:nvPr/>
        </p:nvSpPr>
        <p:spPr>
          <a:xfrm>
            <a:off x="5303520" y="4160520"/>
            <a:ext cx="1508760" cy="457200"/>
          </a:xfrm>
          <a:prstGeom prst="rect">
            <a:avLst/>
          </a:prstGeom>
          <a:noFill/>
          <a:ln/>
        </p:spPr>
        <p:txBody>
          <a:bodyPr wrap="square" rtlCol="0" anchor="ctr"/>
          <a:lstStyle/>
          <a:p>
            <a:pPr marL="0" indent="0" algn="ctr">
              <a:buNone/>
            </a:pPr>
            <a:r>
              <a:rPr lang="en-US" sz="1150" dirty="0">
                <a:solidFill>
                  <a:srgbClr val="17232E"/>
                </a:solidFill>
                <a:latin typeface="Calibri" pitchFamily="34" charset="0"/>
                <a:ea typeface="Calibri" pitchFamily="34" charset="-122"/>
                <a:cs typeface="Calibri" pitchFamily="34" charset="-120"/>
              </a:rPr>
              <a:t>5.6 LPA</a:t>
            </a:r>
            <a:endParaRPr lang="en-US" sz="1150" dirty="0"/>
          </a:p>
        </p:txBody>
      </p:sp>
      <p:sp>
        <p:nvSpPr>
          <p:cNvPr id="32" name="Shape 30"/>
          <p:cNvSpPr/>
          <p:nvPr/>
        </p:nvSpPr>
        <p:spPr>
          <a:xfrm>
            <a:off x="777240" y="4617720"/>
            <a:ext cx="1508760" cy="457200"/>
          </a:xfrm>
          <a:prstGeom prst="rect">
            <a:avLst/>
          </a:prstGeom>
          <a:solidFill>
            <a:srgbClr val="F0F5F6"/>
          </a:solidFill>
          <a:ln w="6350">
            <a:solidFill>
              <a:srgbClr val="D7E2E6"/>
            </a:solidFill>
            <a:prstDash val="solid"/>
          </a:ln>
        </p:spPr>
      </p:sp>
      <p:sp>
        <p:nvSpPr>
          <p:cNvPr id="33" name="Text 31"/>
          <p:cNvSpPr/>
          <p:nvPr/>
        </p:nvSpPr>
        <p:spPr>
          <a:xfrm>
            <a:off x="777240" y="4617720"/>
            <a:ext cx="1508760" cy="457200"/>
          </a:xfrm>
          <a:prstGeom prst="rect">
            <a:avLst/>
          </a:prstGeom>
          <a:noFill/>
          <a:ln/>
        </p:spPr>
        <p:txBody>
          <a:bodyPr wrap="square" rtlCol="0" anchor="ctr"/>
          <a:lstStyle/>
          <a:p>
            <a:pPr marL="0" indent="0" algn="ctr">
              <a:buNone/>
            </a:pPr>
            <a:r>
              <a:rPr lang="en-US" sz="1150" dirty="0">
                <a:solidFill>
                  <a:srgbClr val="17232E"/>
                </a:solidFill>
                <a:latin typeface="Calibri" pitchFamily="34" charset="0"/>
                <a:ea typeface="Calibri" pitchFamily="34" charset="-122"/>
                <a:cs typeface="Calibri" pitchFamily="34" charset="-120"/>
              </a:rPr>
              <a:t>9.0</a:t>
            </a:r>
            <a:endParaRPr lang="en-US" sz="1150" dirty="0"/>
          </a:p>
        </p:txBody>
      </p:sp>
      <p:sp>
        <p:nvSpPr>
          <p:cNvPr id="34" name="Shape 32"/>
          <p:cNvSpPr/>
          <p:nvPr/>
        </p:nvSpPr>
        <p:spPr>
          <a:xfrm>
            <a:off x="2286000" y="4617720"/>
            <a:ext cx="1508760" cy="457200"/>
          </a:xfrm>
          <a:prstGeom prst="rect">
            <a:avLst/>
          </a:prstGeom>
          <a:solidFill>
            <a:srgbClr val="F0F5F6"/>
          </a:solidFill>
          <a:ln w="6350">
            <a:solidFill>
              <a:srgbClr val="D7E2E6"/>
            </a:solidFill>
            <a:prstDash val="solid"/>
          </a:ln>
        </p:spPr>
      </p:sp>
      <p:sp>
        <p:nvSpPr>
          <p:cNvPr id="35" name="Text 33"/>
          <p:cNvSpPr/>
          <p:nvPr/>
        </p:nvSpPr>
        <p:spPr>
          <a:xfrm>
            <a:off x="2286000" y="4617720"/>
            <a:ext cx="1508760" cy="457200"/>
          </a:xfrm>
          <a:prstGeom prst="rect">
            <a:avLst/>
          </a:prstGeom>
          <a:noFill/>
          <a:ln/>
        </p:spPr>
        <p:txBody>
          <a:bodyPr wrap="square" rtlCol="0" anchor="ctr"/>
          <a:lstStyle/>
          <a:p>
            <a:pPr marL="0" indent="0" algn="ctr">
              <a:buNone/>
            </a:pPr>
            <a:r>
              <a:rPr lang="en-US" sz="1150" dirty="0">
                <a:solidFill>
                  <a:srgbClr val="17232E"/>
                </a:solidFill>
                <a:latin typeface="Calibri" pitchFamily="34" charset="0"/>
                <a:ea typeface="Calibri" pitchFamily="34" charset="-122"/>
                <a:cs typeface="Calibri" pitchFamily="34" charset="-120"/>
              </a:rPr>
              <a:t>121</a:t>
            </a:r>
            <a:endParaRPr lang="en-US" sz="1150" dirty="0"/>
          </a:p>
        </p:txBody>
      </p:sp>
      <p:sp>
        <p:nvSpPr>
          <p:cNvPr id="36" name="Shape 34"/>
          <p:cNvSpPr/>
          <p:nvPr/>
        </p:nvSpPr>
        <p:spPr>
          <a:xfrm>
            <a:off x="3794760" y="4617720"/>
            <a:ext cx="1508760" cy="457200"/>
          </a:xfrm>
          <a:prstGeom prst="rect">
            <a:avLst/>
          </a:prstGeom>
          <a:solidFill>
            <a:srgbClr val="F0F5F6"/>
          </a:solidFill>
          <a:ln w="6350">
            <a:solidFill>
              <a:srgbClr val="D7E2E6"/>
            </a:solidFill>
            <a:prstDash val="solid"/>
          </a:ln>
        </p:spPr>
      </p:sp>
      <p:sp>
        <p:nvSpPr>
          <p:cNvPr id="37" name="Text 35"/>
          <p:cNvSpPr/>
          <p:nvPr/>
        </p:nvSpPr>
        <p:spPr>
          <a:xfrm>
            <a:off x="3794760" y="4617720"/>
            <a:ext cx="1508760" cy="457200"/>
          </a:xfrm>
          <a:prstGeom prst="rect">
            <a:avLst/>
          </a:prstGeom>
          <a:noFill/>
          <a:ln/>
        </p:spPr>
        <p:txBody>
          <a:bodyPr wrap="square" rtlCol="0" anchor="ctr"/>
          <a:lstStyle/>
          <a:p>
            <a:pPr marL="0" indent="0" algn="ctr">
              <a:buNone/>
            </a:pPr>
            <a:r>
              <a:rPr lang="en-US" sz="1150" dirty="0">
                <a:solidFill>
                  <a:srgbClr val="17232E"/>
                </a:solidFill>
                <a:latin typeface="Calibri" pitchFamily="34" charset="0"/>
                <a:ea typeface="Calibri" pitchFamily="34" charset="-122"/>
                <a:cs typeface="Calibri" pitchFamily="34" charset="-120"/>
              </a:rPr>
              <a:t>F</a:t>
            </a:r>
            <a:endParaRPr lang="en-US" sz="1150" dirty="0"/>
          </a:p>
        </p:txBody>
      </p:sp>
      <p:sp>
        <p:nvSpPr>
          <p:cNvPr id="38" name="Shape 36"/>
          <p:cNvSpPr/>
          <p:nvPr/>
        </p:nvSpPr>
        <p:spPr>
          <a:xfrm>
            <a:off x="5303520" y="4617720"/>
            <a:ext cx="1508760" cy="457200"/>
          </a:xfrm>
          <a:prstGeom prst="rect">
            <a:avLst/>
          </a:prstGeom>
          <a:solidFill>
            <a:srgbClr val="F0F5F6"/>
          </a:solidFill>
          <a:ln w="6350">
            <a:solidFill>
              <a:srgbClr val="D7E2E6"/>
            </a:solidFill>
            <a:prstDash val="solid"/>
          </a:ln>
        </p:spPr>
      </p:sp>
      <p:sp>
        <p:nvSpPr>
          <p:cNvPr id="39" name="Text 37"/>
          <p:cNvSpPr/>
          <p:nvPr/>
        </p:nvSpPr>
        <p:spPr>
          <a:xfrm>
            <a:off x="5303520" y="4617720"/>
            <a:ext cx="1508760" cy="457200"/>
          </a:xfrm>
          <a:prstGeom prst="rect">
            <a:avLst/>
          </a:prstGeom>
          <a:noFill/>
          <a:ln/>
        </p:spPr>
        <p:txBody>
          <a:bodyPr wrap="square" rtlCol="0" anchor="ctr"/>
          <a:lstStyle/>
          <a:p>
            <a:pPr marL="0" indent="0" algn="ctr">
              <a:buNone/>
            </a:pPr>
            <a:r>
              <a:rPr lang="en-US" sz="1150" dirty="0">
                <a:solidFill>
                  <a:srgbClr val="17232E"/>
                </a:solidFill>
                <a:latin typeface="Calibri" pitchFamily="34" charset="0"/>
                <a:ea typeface="Calibri" pitchFamily="34" charset="-122"/>
                <a:cs typeface="Calibri" pitchFamily="34" charset="-120"/>
              </a:rPr>
              <a:t>9.8 LPA</a:t>
            </a:r>
            <a:endParaRPr lang="en-US" sz="1150" dirty="0"/>
          </a:p>
        </p:txBody>
      </p:sp>
      <p:sp>
        <p:nvSpPr>
          <p:cNvPr id="40" name="Shape 38"/>
          <p:cNvSpPr/>
          <p:nvPr/>
        </p:nvSpPr>
        <p:spPr>
          <a:xfrm>
            <a:off x="777240" y="5074920"/>
            <a:ext cx="1508760" cy="457200"/>
          </a:xfrm>
          <a:prstGeom prst="rect">
            <a:avLst/>
          </a:prstGeom>
          <a:solidFill>
            <a:srgbClr val="FFFFFF"/>
          </a:solidFill>
          <a:ln w="6350">
            <a:solidFill>
              <a:srgbClr val="D7E2E6"/>
            </a:solidFill>
            <a:prstDash val="solid"/>
          </a:ln>
        </p:spPr>
      </p:sp>
      <p:sp>
        <p:nvSpPr>
          <p:cNvPr id="41" name="Text 39"/>
          <p:cNvSpPr/>
          <p:nvPr/>
        </p:nvSpPr>
        <p:spPr>
          <a:xfrm>
            <a:off x="777240" y="5074920"/>
            <a:ext cx="1508760" cy="457200"/>
          </a:xfrm>
          <a:prstGeom prst="rect">
            <a:avLst/>
          </a:prstGeom>
          <a:noFill/>
          <a:ln/>
        </p:spPr>
        <p:txBody>
          <a:bodyPr wrap="square" rtlCol="0" anchor="ctr"/>
          <a:lstStyle/>
          <a:p>
            <a:pPr marL="0" indent="0" algn="ctr">
              <a:buNone/>
            </a:pPr>
            <a:r>
              <a:rPr lang="en-US" sz="1150" dirty="0">
                <a:solidFill>
                  <a:srgbClr val="17232E"/>
                </a:solidFill>
                <a:latin typeface="Calibri" pitchFamily="34" charset="0"/>
                <a:ea typeface="Calibri" pitchFamily="34" charset="-122"/>
                <a:cs typeface="Calibri" pitchFamily="34" charset="-120"/>
              </a:rPr>
              <a:t>6.8</a:t>
            </a:r>
            <a:endParaRPr lang="en-US" sz="1150" dirty="0"/>
          </a:p>
        </p:txBody>
      </p:sp>
      <p:sp>
        <p:nvSpPr>
          <p:cNvPr id="42" name="Shape 40"/>
          <p:cNvSpPr/>
          <p:nvPr/>
        </p:nvSpPr>
        <p:spPr>
          <a:xfrm>
            <a:off x="2286000" y="5074920"/>
            <a:ext cx="1508760" cy="457200"/>
          </a:xfrm>
          <a:prstGeom prst="rect">
            <a:avLst/>
          </a:prstGeom>
          <a:solidFill>
            <a:srgbClr val="FFFFFF"/>
          </a:solidFill>
          <a:ln w="6350">
            <a:solidFill>
              <a:srgbClr val="D7E2E6"/>
            </a:solidFill>
            <a:prstDash val="solid"/>
          </a:ln>
        </p:spPr>
      </p:sp>
      <p:sp>
        <p:nvSpPr>
          <p:cNvPr id="43" name="Text 41"/>
          <p:cNvSpPr/>
          <p:nvPr/>
        </p:nvSpPr>
        <p:spPr>
          <a:xfrm>
            <a:off x="2286000" y="5074920"/>
            <a:ext cx="1508760" cy="457200"/>
          </a:xfrm>
          <a:prstGeom prst="rect">
            <a:avLst/>
          </a:prstGeom>
          <a:noFill/>
          <a:ln/>
        </p:spPr>
        <p:txBody>
          <a:bodyPr wrap="square" rtlCol="0" anchor="ctr"/>
          <a:lstStyle/>
          <a:p>
            <a:pPr marL="0" indent="0" algn="ctr">
              <a:buNone/>
            </a:pPr>
            <a:r>
              <a:rPr lang="en-US" sz="1150" dirty="0">
                <a:solidFill>
                  <a:srgbClr val="17232E"/>
                </a:solidFill>
                <a:latin typeface="Calibri" pitchFamily="34" charset="0"/>
                <a:ea typeface="Calibri" pitchFamily="34" charset="-122"/>
                <a:cs typeface="Calibri" pitchFamily="34" charset="-120"/>
              </a:rPr>
              <a:t>105</a:t>
            </a:r>
            <a:endParaRPr lang="en-US" sz="1150" dirty="0"/>
          </a:p>
        </p:txBody>
      </p:sp>
      <p:sp>
        <p:nvSpPr>
          <p:cNvPr id="44" name="Shape 42"/>
          <p:cNvSpPr/>
          <p:nvPr/>
        </p:nvSpPr>
        <p:spPr>
          <a:xfrm>
            <a:off x="3794760" y="5074920"/>
            <a:ext cx="1508760" cy="457200"/>
          </a:xfrm>
          <a:prstGeom prst="rect">
            <a:avLst/>
          </a:prstGeom>
          <a:solidFill>
            <a:srgbClr val="FFFFFF"/>
          </a:solidFill>
          <a:ln w="6350">
            <a:solidFill>
              <a:srgbClr val="D7E2E6"/>
            </a:solidFill>
            <a:prstDash val="solid"/>
          </a:ln>
        </p:spPr>
      </p:sp>
      <p:sp>
        <p:nvSpPr>
          <p:cNvPr id="45" name="Text 43"/>
          <p:cNvSpPr/>
          <p:nvPr/>
        </p:nvSpPr>
        <p:spPr>
          <a:xfrm>
            <a:off x="3794760" y="5074920"/>
            <a:ext cx="1508760" cy="457200"/>
          </a:xfrm>
          <a:prstGeom prst="rect">
            <a:avLst/>
          </a:prstGeom>
          <a:noFill/>
          <a:ln/>
        </p:spPr>
        <p:txBody>
          <a:bodyPr wrap="square" rtlCol="0" anchor="ctr"/>
          <a:lstStyle/>
          <a:p>
            <a:pPr marL="0" indent="0" algn="ctr">
              <a:buNone/>
            </a:pPr>
            <a:r>
              <a:rPr lang="en-US" sz="1150" dirty="0">
                <a:solidFill>
                  <a:srgbClr val="17232E"/>
                </a:solidFill>
                <a:latin typeface="Calibri" pitchFamily="34" charset="0"/>
                <a:ea typeface="Calibri" pitchFamily="34" charset="-122"/>
                <a:cs typeface="Calibri" pitchFamily="34" charset="-120"/>
              </a:rPr>
              <a:t>M</a:t>
            </a:r>
            <a:endParaRPr lang="en-US" sz="1150" dirty="0"/>
          </a:p>
        </p:txBody>
      </p:sp>
      <p:sp>
        <p:nvSpPr>
          <p:cNvPr id="46" name="Shape 44"/>
          <p:cNvSpPr/>
          <p:nvPr/>
        </p:nvSpPr>
        <p:spPr>
          <a:xfrm>
            <a:off x="5303520" y="5074920"/>
            <a:ext cx="1508760" cy="457200"/>
          </a:xfrm>
          <a:prstGeom prst="rect">
            <a:avLst/>
          </a:prstGeom>
          <a:solidFill>
            <a:srgbClr val="FFFFFF"/>
          </a:solidFill>
          <a:ln w="6350">
            <a:solidFill>
              <a:srgbClr val="D7E2E6"/>
            </a:solidFill>
            <a:prstDash val="solid"/>
          </a:ln>
        </p:spPr>
      </p:sp>
      <p:sp>
        <p:nvSpPr>
          <p:cNvPr id="47" name="Text 45"/>
          <p:cNvSpPr/>
          <p:nvPr/>
        </p:nvSpPr>
        <p:spPr>
          <a:xfrm>
            <a:off x="5303520" y="5074920"/>
            <a:ext cx="1508760" cy="457200"/>
          </a:xfrm>
          <a:prstGeom prst="rect">
            <a:avLst/>
          </a:prstGeom>
          <a:noFill/>
          <a:ln/>
        </p:spPr>
        <p:txBody>
          <a:bodyPr wrap="square" rtlCol="0" anchor="ctr"/>
          <a:lstStyle/>
          <a:p>
            <a:pPr marL="0" indent="0" algn="ctr">
              <a:buNone/>
            </a:pPr>
            <a:r>
              <a:rPr lang="en-US" sz="1150" dirty="0">
                <a:solidFill>
                  <a:srgbClr val="17232E"/>
                </a:solidFill>
                <a:latin typeface="Calibri" pitchFamily="34" charset="0"/>
                <a:ea typeface="Calibri" pitchFamily="34" charset="-122"/>
                <a:cs typeface="Calibri" pitchFamily="34" charset="-120"/>
              </a:rPr>
              <a:t>4.9 LPA</a:t>
            </a:r>
            <a:endParaRPr lang="en-US" sz="1150" dirty="0"/>
          </a:p>
        </p:txBody>
      </p:sp>
      <p:sp>
        <p:nvSpPr>
          <p:cNvPr id="48" name="Text 46"/>
          <p:cNvSpPr/>
          <p:nvPr/>
        </p:nvSpPr>
        <p:spPr>
          <a:xfrm>
            <a:off x="777240" y="5577840"/>
            <a:ext cx="6035040" cy="365760"/>
          </a:xfrm>
          <a:prstGeom prst="rect">
            <a:avLst/>
          </a:prstGeom>
          <a:noFill/>
          <a:ln/>
        </p:spPr>
        <p:txBody>
          <a:bodyPr wrap="square" rtlCol="0" anchor="ctr"/>
          <a:lstStyle/>
          <a:p>
            <a:pPr marL="0" indent="0">
              <a:buNone/>
            </a:pPr>
            <a:r>
              <a:rPr lang="en-US" sz="1100" i="1" dirty="0">
                <a:solidFill>
                  <a:srgbClr val="5C6B73"/>
                </a:solidFill>
                <a:latin typeface="Calibri" pitchFamily="34" charset="0"/>
                <a:ea typeface="Calibri" pitchFamily="34" charset="-122"/>
                <a:cs typeface="Calibri" pitchFamily="34" charset="-120"/>
              </a:rPr>
              <a:t>3 input columns (independent variables)  +  1 output column (dependent variable)</a:t>
            </a:r>
            <a:endParaRPr lang="en-US" sz="1100" dirty="0"/>
          </a:p>
        </p:txBody>
      </p:sp>
      <p:sp>
        <p:nvSpPr>
          <p:cNvPr id="49" name="Shape 47"/>
          <p:cNvSpPr/>
          <p:nvPr/>
        </p:nvSpPr>
        <p:spPr>
          <a:xfrm>
            <a:off x="7406640" y="2514600"/>
            <a:ext cx="4297680" cy="3566160"/>
          </a:xfrm>
          <a:prstGeom prst="roundRect">
            <a:avLst>
              <a:gd name="adj" fmla="val 2564"/>
            </a:avLst>
          </a:prstGeom>
          <a:solidFill>
            <a:srgbClr val="0B2A4A"/>
          </a:solidFill>
          <a:ln/>
        </p:spPr>
      </p:sp>
      <p:sp>
        <p:nvSpPr>
          <p:cNvPr id="50" name="Text 48"/>
          <p:cNvSpPr/>
          <p:nvPr/>
        </p:nvSpPr>
        <p:spPr>
          <a:xfrm>
            <a:off x="7726680" y="2788920"/>
            <a:ext cx="3657600" cy="274320"/>
          </a:xfrm>
          <a:prstGeom prst="rect">
            <a:avLst/>
          </a:prstGeom>
          <a:noFill/>
          <a:ln/>
        </p:spPr>
        <p:txBody>
          <a:bodyPr wrap="square" rtlCol="0" anchor="ctr"/>
          <a:lstStyle/>
          <a:p>
            <a:pPr marL="0" indent="0">
              <a:buNone/>
            </a:pPr>
            <a:r>
              <a:rPr lang="en-US" sz="1100" b="1" kern="0" spc="100" dirty="0">
                <a:solidFill>
                  <a:srgbClr val="F2A93B"/>
                </a:solidFill>
                <a:latin typeface="Calibri" pitchFamily="34" charset="0"/>
                <a:ea typeface="Calibri" pitchFamily="34" charset="-122"/>
                <a:cs typeface="Calibri" pitchFamily="34" charset="-120"/>
              </a:rPr>
              <a:t>KEY IDEA</a:t>
            </a:r>
            <a:endParaRPr lang="en-US" sz="1100" dirty="0"/>
          </a:p>
        </p:txBody>
      </p:sp>
      <p:sp>
        <p:nvSpPr>
          <p:cNvPr id="51" name="Text 49"/>
          <p:cNvSpPr/>
          <p:nvPr/>
        </p:nvSpPr>
        <p:spPr>
          <a:xfrm>
            <a:off x="7726680" y="3200400"/>
            <a:ext cx="3657600" cy="1554480"/>
          </a:xfrm>
          <a:prstGeom prst="rect">
            <a:avLst/>
          </a:prstGeom>
          <a:noFill/>
          <a:ln/>
        </p:spPr>
        <p:txBody>
          <a:bodyPr wrap="square" rtlCol="0" anchor="ctr"/>
          <a:lstStyle/>
          <a:p>
            <a:pPr marL="0" indent="0">
              <a:lnSpc>
                <a:spcPts val="1800"/>
              </a:lnSpc>
              <a:buNone/>
            </a:pPr>
            <a:r>
              <a:rPr lang="en-US" sz="1350" dirty="0">
                <a:solidFill>
                  <a:srgbClr val="DCEAF1"/>
                </a:solidFill>
                <a:latin typeface="Calibri" pitchFamily="34" charset="0"/>
                <a:ea typeface="Calibri" pitchFamily="34" charset="-122"/>
                <a:cs typeface="Calibri" pitchFamily="34" charset="-120"/>
              </a:rPr>
              <a:t>If your real-world dataset has one output but several input columns — which is the most common case — you must use Multiple Linear Regression, not Simple Linear Regression.</a:t>
            </a:r>
            <a:endParaRPr lang="en-US" sz="1350" dirty="0"/>
          </a:p>
        </p:txBody>
      </p:sp>
      <p:sp>
        <p:nvSpPr>
          <p:cNvPr id="52" name="Shape 50"/>
          <p:cNvSpPr/>
          <p:nvPr/>
        </p:nvSpPr>
        <p:spPr>
          <a:xfrm>
            <a:off x="7726680" y="4846320"/>
            <a:ext cx="3657600" cy="0"/>
          </a:xfrm>
          <a:prstGeom prst="line">
            <a:avLst/>
          </a:prstGeom>
          <a:noFill/>
          <a:ln w="12700">
            <a:solidFill>
              <a:srgbClr val="2C5578"/>
            </a:solidFill>
            <a:prstDash val="solid"/>
          </a:ln>
        </p:spPr>
      </p:sp>
      <p:sp>
        <p:nvSpPr>
          <p:cNvPr id="53" name="Text 51"/>
          <p:cNvSpPr/>
          <p:nvPr/>
        </p:nvSpPr>
        <p:spPr>
          <a:xfrm>
            <a:off x="7726680" y="5029200"/>
            <a:ext cx="3657600" cy="960120"/>
          </a:xfrm>
          <a:prstGeom prst="rect">
            <a:avLst/>
          </a:prstGeom>
          <a:noFill/>
          <a:ln/>
        </p:spPr>
        <p:txBody>
          <a:bodyPr wrap="square" rtlCol="0" anchor="ctr"/>
          <a:lstStyle/>
          <a:p>
            <a:pPr marL="0" indent="0">
              <a:lnSpc>
                <a:spcPts val="1600"/>
              </a:lnSpc>
              <a:buNone/>
            </a:pPr>
            <a:r>
              <a:rPr lang="en-US" sz="1200" i="1" dirty="0">
                <a:solidFill>
                  <a:srgbClr val="9FBBCB"/>
                </a:solidFill>
                <a:latin typeface="Calibri" pitchFamily="34" charset="0"/>
                <a:ea typeface="Calibri" pitchFamily="34" charset="-122"/>
                <a:cs typeface="Calibri" pitchFamily="34" charset="-120"/>
              </a:rPr>
              <a:t>Why learn simple regression first, then?</a:t>
            </a:r>
            <a:endParaRPr lang="en-US" sz="1200" dirty="0"/>
          </a:p>
          <a:p>
            <a:pPr marL="0" indent="0">
              <a:lnSpc>
                <a:spcPts val="1600"/>
              </a:lnSpc>
              <a:buNone/>
            </a:pPr>
            <a:r>
              <a:rPr lang="en-US" sz="1200" i="1" dirty="0">
                <a:solidFill>
                  <a:srgbClr val="9FBBCB"/>
                </a:solidFill>
                <a:latin typeface="Calibri" pitchFamily="34" charset="0"/>
                <a:ea typeface="Calibri" pitchFamily="34" charset="-122"/>
                <a:cs typeface="Calibri" pitchFamily="34" charset="-120"/>
              </a:rPr>
              <a:t>Because everything you learned there — best-fit line, slope, intercept, error — generalizes directly into multiple regression.</a:t>
            </a:r>
            <a:endParaRPr lang="en-US" sz="1200" dirty="0"/>
          </a:p>
        </p:txBody>
      </p:sp>
      <p:sp>
        <p:nvSpPr>
          <p:cNvPr id="54" name="Text 52"/>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5C6B73"/>
                </a:solidFill>
                <a:latin typeface="Calibri" pitchFamily="34" charset="0"/>
                <a:ea typeface="Calibri" pitchFamily="34" charset="-122"/>
                <a:cs typeface="Calibri" pitchFamily="34" charset="-120"/>
              </a:rPr>
              <a:t>Multiple Linear Regression</a:t>
            </a:r>
            <a:endParaRPr lang="en-US" sz="900" dirty="0"/>
          </a:p>
        </p:txBody>
      </p:sp>
      <p:sp>
        <p:nvSpPr>
          <p:cNvPr id="55" name="Text 5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4</a:t>
            </a:r>
            <a:endParaRPr lang="en-US" sz="9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365760"/>
          </a:xfrm>
          <a:prstGeom prst="roundRect">
            <a:avLst>
              <a:gd name="adj" fmla="val 20000"/>
            </a:avLst>
          </a:prstGeom>
          <a:solidFill>
            <a:srgbClr val="E5F0F4"/>
          </a:solidFill>
          <a:ln/>
        </p:spPr>
      </p:sp>
      <p:sp>
        <p:nvSpPr>
          <p:cNvPr id="3" name="Text 1"/>
          <p:cNvSpPr/>
          <p:nvPr/>
        </p:nvSpPr>
        <p:spPr>
          <a:xfrm>
            <a:off x="457200" y="411480"/>
            <a:ext cx="2103120" cy="365760"/>
          </a:xfrm>
          <a:prstGeom prst="rect">
            <a:avLst/>
          </a:prstGeom>
          <a:noFill/>
          <a:ln/>
        </p:spPr>
        <p:txBody>
          <a:bodyPr wrap="square" rtlCol="0" anchor="ctr"/>
          <a:lstStyle/>
          <a:p>
            <a:pPr marL="0" indent="0" algn="ctr">
              <a:buNone/>
            </a:pPr>
            <a:r>
              <a:rPr lang="en-US" sz="1100" b="1" kern="0" spc="100" dirty="0">
                <a:solidFill>
                  <a:srgbClr val="065A82"/>
                </a:solidFill>
                <a:latin typeface="Calibri" pitchFamily="34" charset="0"/>
                <a:ea typeface="Calibri" pitchFamily="34" charset="-122"/>
                <a:cs typeface="Calibri" pitchFamily="34" charset="-120"/>
              </a:rPr>
              <a:t>VISUALIZING</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3000" b="1" dirty="0">
                <a:solidFill>
                  <a:srgbClr val="0B2A4A"/>
                </a:solidFill>
                <a:latin typeface="Cambria" pitchFamily="34" charset="0"/>
                <a:ea typeface="Cambria" pitchFamily="34" charset="-122"/>
                <a:cs typeface="Cambria" pitchFamily="34" charset="-120"/>
              </a:rPr>
              <a:t>Two Inputs? Now You Need a 3D Plot</a:t>
            </a:r>
            <a:endParaRPr lang="en-US" sz="3000" dirty="0"/>
          </a:p>
        </p:txBody>
      </p:sp>
      <p:sp>
        <p:nvSpPr>
          <p:cNvPr id="5" name="Text 3"/>
          <p:cNvSpPr/>
          <p:nvPr/>
        </p:nvSpPr>
        <p:spPr>
          <a:xfrm>
            <a:off x="457200" y="1508760"/>
            <a:ext cx="5212080" cy="1463040"/>
          </a:xfrm>
          <a:prstGeom prst="rect">
            <a:avLst/>
          </a:prstGeom>
          <a:noFill/>
          <a:ln/>
        </p:spPr>
        <p:txBody>
          <a:bodyPr wrap="square" rtlCol="0" anchor="ctr"/>
          <a:lstStyle/>
          <a:p>
            <a:pPr marL="0" indent="0">
              <a:lnSpc>
                <a:spcPts val="1900"/>
              </a:lnSpc>
              <a:buNone/>
            </a:pPr>
            <a:r>
              <a:rPr lang="en-US" sz="1400" dirty="0">
                <a:solidFill>
                  <a:srgbClr val="17232E"/>
                </a:solidFill>
                <a:latin typeface="Calibri" pitchFamily="34" charset="0"/>
                <a:ea typeface="Calibri" pitchFamily="34" charset="-122"/>
                <a:cs typeface="Calibri" pitchFamily="34" charset="-120"/>
              </a:rPr>
              <a:t>With one input (CGPA) and one output (Package), a 2D scatter plot worked. Add a second input (IQ), and you now have three axes to plot at once — CGPA, IQ, and Package.</a:t>
            </a:r>
            <a:endParaRPr lang="en-US" sz="1400" dirty="0"/>
          </a:p>
        </p:txBody>
      </p:sp>
      <p:sp>
        <p:nvSpPr>
          <p:cNvPr id="6" name="Shape 4"/>
          <p:cNvSpPr/>
          <p:nvPr/>
        </p:nvSpPr>
        <p:spPr>
          <a:xfrm>
            <a:off x="457200" y="3063240"/>
            <a:ext cx="320040" cy="320040"/>
          </a:xfrm>
          <a:prstGeom prst="ellipse">
            <a:avLst/>
          </a:prstGeom>
          <a:solidFill>
            <a:srgbClr val="E5F0F4"/>
          </a:solidFill>
          <a:ln/>
        </p:spPr>
      </p:sp>
      <p:sp>
        <p:nvSpPr>
          <p:cNvPr id="7" name="Text 5"/>
          <p:cNvSpPr/>
          <p:nvPr/>
        </p:nvSpPr>
        <p:spPr>
          <a:xfrm>
            <a:off x="457200" y="3063240"/>
            <a:ext cx="320040" cy="320040"/>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914400" y="3035808"/>
            <a:ext cx="4572000" cy="365760"/>
          </a:xfrm>
          <a:prstGeom prst="rect">
            <a:avLst/>
          </a:prstGeom>
          <a:noFill/>
          <a:ln/>
        </p:spPr>
        <p:txBody>
          <a:bodyPr wrap="square" rtlCol="0" anchor="ctr"/>
          <a:lstStyle/>
          <a:p>
            <a:pPr marL="0" indent="0">
              <a:buNone/>
            </a:pPr>
            <a:r>
              <a:rPr lang="en-US" sz="1400" dirty="0">
                <a:solidFill>
                  <a:srgbClr val="0B2A4A"/>
                </a:solidFill>
                <a:latin typeface="Calibri" pitchFamily="34" charset="0"/>
                <a:ea typeface="Calibri" pitchFamily="34" charset="-122"/>
                <a:cs typeface="Calibri" pitchFamily="34" charset="-120"/>
              </a:rPr>
              <a:t>x-axis = CGPA (x₁)</a:t>
            </a:r>
            <a:endParaRPr lang="en-US" sz="1400" dirty="0"/>
          </a:p>
        </p:txBody>
      </p:sp>
      <p:sp>
        <p:nvSpPr>
          <p:cNvPr id="9" name="Shape 7"/>
          <p:cNvSpPr/>
          <p:nvPr/>
        </p:nvSpPr>
        <p:spPr>
          <a:xfrm>
            <a:off x="457200" y="3566160"/>
            <a:ext cx="320040" cy="320040"/>
          </a:xfrm>
          <a:prstGeom prst="ellipse">
            <a:avLst/>
          </a:prstGeom>
          <a:solidFill>
            <a:srgbClr val="E5F0F4"/>
          </a:solidFill>
          <a:ln/>
        </p:spPr>
      </p:sp>
      <p:sp>
        <p:nvSpPr>
          <p:cNvPr id="10" name="Text 8"/>
          <p:cNvSpPr/>
          <p:nvPr/>
        </p:nvSpPr>
        <p:spPr>
          <a:xfrm>
            <a:off x="457200" y="3566160"/>
            <a:ext cx="320040" cy="320040"/>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914400" y="3538728"/>
            <a:ext cx="4572000" cy="365760"/>
          </a:xfrm>
          <a:prstGeom prst="rect">
            <a:avLst/>
          </a:prstGeom>
          <a:noFill/>
          <a:ln/>
        </p:spPr>
        <p:txBody>
          <a:bodyPr wrap="square" rtlCol="0" anchor="ctr"/>
          <a:lstStyle/>
          <a:p>
            <a:pPr marL="0" indent="0">
              <a:buNone/>
            </a:pPr>
            <a:r>
              <a:rPr lang="en-US" sz="1400" dirty="0">
                <a:solidFill>
                  <a:srgbClr val="0B2A4A"/>
                </a:solidFill>
                <a:latin typeface="Calibri" pitchFamily="34" charset="0"/>
                <a:ea typeface="Calibri" pitchFamily="34" charset="-122"/>
                <a:cs typeface="Calibri" pitchFamily="34" charset="-120"/>
              </a:rPr>
              <a:t>y-axis = IQ (x₂)</a:t>
            </a:r>
            <a:endParaRPr lang="en-US" sz="1400" dirty="0"/>
          </a:p>
        </p:txBody>
      </p:sp>
      <p:sp>
        <p:nvSpPr>
          <p:cNvPr id="12" name="Shape 10"/>
          <p:cNvSpPr/>
          <p:nvPr/>
        </p:nvSpPr>
        <p:spPr>
          <a:xfrm>
            <a:off x="457200" y="4069080"/>
            <a:ext cx="320040" cy="320040"/>
          </a:xfrm>
          <a:prstGeom prst="ellipse">
            <a:avLst/>
          </a:prstGeom>
          <a:solidFill>
            <a:srgbClr val="E5F0F4"/>
          </a:solidFill>
          <a:ln/>
        </p:spPr>
      </p:sp>
      <p:sp>
        <p:nvSpPr>
          <p:cNvPr id="13" name="Text 11"/>
          <p:cNvSpPr/>
          <p:nvPr/>
        </p:nvSpPr>
        <p:spPr>
          <a:xfrm>
            <a:off x="457200" y="4069080"/>
            <a:ext cx="320040" cy="320040"/>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a:t>
            </a:r>
            <a:endParaRPr lang="en-US" sz="1600" dirty="0"/>
          </a:p>
        </p:txBody>
      </p:sp>
      <p:sp>
        <p:nvSpPr>
          <p:cNvPr id="14" name="Text 12"/>
          <p:cNvSpPr/>
          <p:nvPr/>
        </p:nvSpPr>
        <p:spPr>
          <a:xfrm>
            <a:off x="914400" y="4041648"/>
            <a:ext cx="4572000" cy="365760"/>
          </a:xfrm>
          <a:prstGeom prst="rect">
            <a:avLst/>
          </a:prstGeom>
          <a:noFill/>
          <a:ln/>
        </p:spPr>
        <p:txBody>
          <a:bodyPr wrap="square" rtlCol="0" anchor="ctr"/>
          <a:lstStyle/>
          <a:p>
            <a:pPr marL="0" indent="0">
              <a:buNone/>
            </a:pPr>
            <a:r>
              <a:rPr lang="en-US" sz="1400" dirty="0">
                <a:solidFill>
                  <a:srgbClr val="0B2A4A"/>
                </a:solidFill>
                <a:latin typeface="Calibri" pitchFamily="34" charset="0"/>
                <a:ea typeface="Calibri" pitchFamily="34" charset="-122"/>
                <a:cs typeface="Calibri" pitchFamily="34" charset="-120"/>
              </a:rPr>
              <a:t>z-axis = Package (y) — the output</a:t>
            </a:r>
            <a:endParaRPr lang="en-US" sz="1400" dirty="0"/>
          </a:p>
        </p:txBody>
      </p:sp>
      <p:sp>
        <p:nvSpPr>
          <p:cNvPr id="15" name="Shape 13"/>
          <p:cNvSpPr/>
          <p:nvPr/>
        </p:nvSpPr>
        <p:spPr>
          <a:xfrm>
            <a:off x="457200" y="4709160"/>
            <a:ext cx="5212080" cy="1005840"/>
          </a:xfrm>
          <a:prstGeom prst="roundRect">
            <a:avLst>
              <a:gd name="adj" fmla="val 7273"/>
            </a:avLst>
          </a:prstGeom>
          <a:solidFill>
            <a:srgbClr val="FFF3E0"/>
          </a:solidFill>
          <a:ln w="12700">
            <a:solidFill>
              <a:srgbClr val="F2A93B"/>
            </a:solidFill>
            <a:prstDash val="solid"/>
          </a:ln>
        </p:spPr>
      </p:sp>
      <p:sp>
        <p:nvSpPr>
          <p:cNvPr id="16" name="Text 14"/>
          <p:cNvSpPr/>
          <p:nvPr/>
        </p:nvSpPr>
        <p:spPr>
          <a:xfrm>
            <a:off x="640080" y="4709160"/>
            <a:ext cx="4846320" cy="1005840"/>
          </a:xfrm>
          <a:prstGeom prst="rect">
            <a:avLst/>
          </a:prstGeom>
          <a:noFill/>
          <a:ln/>
        </p:spPr>
        <p:txBody>
          <a:bodyPr wrap="square" rtlCol="0" anchor="ctr"/>
          <a:lstStyle/>
          <a:p>
            <a:pPr marL="0" indent="0">
              <a:buNone/>
            </a:pPr>
            <a:r>
              <a:rPr lang="en-US" sz="1250" i="1" dirty="0">
                <a:solidFill>
                  <a:srgbClr val="8A5A17"/>
                </a:solidFill>
                <a:latin typeface="Calibri" pitchFamily="34" charset="0"/>
                <a:ea typeface="Calibri" pitchFamily="34" charset="-122"/>
                <a:cs typeface="Calibri" pitchFamily="34" charset="-120"/>
              </a:rPr>
              <a:t>Beyond 3 inputs, we can no longer draw the data at all — but the same mathematical idea still applies, we just can't see it.</a:t>
            </a:r>
            <a:endParaRPr lang="en-US" sz="1250" dirty="0"/>
          </a:p>
        </p:txBody>
      </p:sp>
      <p:sp>
        <p:nvSpPr>
          <p:cNvPr id="17" name="Shape 15"/>
          <p:cNvSpPr/>
          <p:nvPr/>
        </p:nvSpPr>
        <p:spPr>
          <a:xfrm>
            <a:off x="6035040" y="1508760"/>
            <a:ext cx="5669280" cy="4937760"/>
          </a:xfrm>
          <a:prstGeom prst="roundRect">
            <a:avLst>
              <a:gd name="adj" fmla="val 1481"/>
            </a:avLst>
          </a:prstGeom>
          <a:solidFill>
            <a:srgbClr val="0B2A4A"/>
          </a:solidFill>
          <a:ln/>
        </p:spPr>
      </p:sp>
      <p:sp>
        <p:nvSpPr>
          <p:cNvPr id="18" name="Shape 16"/>
          <p:cNvSpPr/>
          <p:nvPr/>
        </p:nvSpPr>
        <p:spPr>
          <a:xfrm>
            <a:off x="7772400" y="5074920"/>
            <a:ext cx="0" cy="0"/>
          </a:xfrm>
          <a:prstGeom prst="line">
            <a:avLst/>
          </a:prstGeom>
          <a:noFill/>
          <a:ln w="25400">
            <a:solidFill>
              <a:srgbClr val="FFFFFF"/>
            </a:solidFill>
            <a:prstDash val="solid"/>
            <a:tailEnd type="triangle"/>
          </a:ln>
        </p:spPr>
      </p:sp>
      <p:sp>
        <p:nvSpPr>
          <p:cNvPr id="19" name="Text 17"/>
          <p:cNvSpPr/>
          <p:nvPr/>
        </p:nvSpPr>
        <p:spPr>
          <a:xfrm>
            <a:off x="6583680" y="1874520"/>
            <a:ext cx="1645920" cy="27432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Package (y)</a:t>
            </a:r>
            <a:endParaRPr lang="en-US" sz="1000" dirty="0"/>
          </a:p>
        </p:txBody>
      </p:sp>
      <p:sp>
        <p:nvSpPr>
          <p:cNvPr id="20" name="Shape 18"/>
          <p:cNvSpPr/>
          <p:nvPr/>
        </p:nvSpPr>
        <p:spPr>
          <a:xfrm>
            <a:off x="7772400" y="5074920"/>
            <a:ext cx="3383280" cy="0"/>
          </a:xfrm>
          <a:prstGeom prst="line">
            <a:avLst/>
          </a:prstGeom>
          <a:noFill/>
          <a:ln w="25400">
            <a:solidFill>
              <a:srgbClr val="FFFFFF"/>
            </a:solidFill>
            <a:prstDash val="solid"/>
            <a:tailEnd type="triangle"/>
          </a:ln>
        </p:spPr>
      </p:sp>
      <p:sp>
        <p:nvSpPr>
          <p:cNvPr id="21" name="Text 19"/>
          <p:cNvSpPr/>
          <p:nvPr/>
        </p:nvSpPr>
        <p:spPr>
          <a:xfrm>
            <a:off x="10652760" y="4937760"/>
            <a:ext cx="1463040" cy="27432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CGPA (x₁)</a:t>
            </a:r>
            <a:endParaRPr lang="en-US" sz="1000" dirty="0"/>
          </a:p>
        </p:txBody>
      </p:sp>
      <p:sp>
        <p:nvSpPr>
          <p:cNvPr id="22" name="Shape 20"/>
          <p:cNvSpPr/>
          <p:nvPr/>
        </p:nvSpPr>
        <p:spPr>
          <a:xfrm>
            <a:off x="7772400" y="5074920"/>
            <a:ext cx="0" cy="502920"/>
          </a:xfrm>
          <a:prstGeom prst="line">
            <a:avLst/>
          </a:prstGeom>
          <a:noFill/>
          <a:ln w="25400">
            <a:solidFill>
              <a:srgbClr val="FFFFFF"/>
            </a:solidFill>
            <a:prstDash val="solid"/>
            <a:tailEnd type="triangle"/>
          </a:ln>
        </p:spPr>
      </p:sp>
      <p:sp>
        <p:nvSpPr>
          <p:cNvPr id="23" name="Text 21"/>
          <p:cNvSpPr/>
          <p:nvPr/>
        </p:nvSpPr>
        <p:spPr>
          <a:xfrm>
            <a:off x="6812280" y="5623560"/>
            <a:ext cx="1188720" cy="274320"/>
          </a:xfrm>
          <a:prstGeom prst="rect">
            <a:avLst/>
          </a:prstGeom>
          <a:noFill/>
          <a:ln/>
        </p:spPr>
        <p:txBody>
          <a:bodyPr wrap="square" rtlCol="0" anchor="ctr"/>
          <a:lstStyle/>
          <a:p>
            <a:pPr marL="0" indent="0">
              <a:buNone/>
            </a:pPr>
            <a:r>
              <a:rPr lang="en-US" sz="1000" dirty="0">
                <a:solidFill>
                  <a:srgbClr val="CADCFC"/>
                </a:solidFill>
                <a:latin typeface="Calibri" pitchFamily="34" charset="0"/>
                <a:ea typeface="Calibri" pitchFamily="34" charset="-122"/>
                <a:cs typeface="Calibri" pitchFamily="34" charset="-120"/>
              </a:rPr>
              <a:t>IQ (x₂)</a:t>
            </a:r>
            <a:endParaRPr lang="en-US" sz="1000" dirty="0"/>
          </a:p>
        </p:txBody>
      </p:sp>
      <p:sp>
        <p:nvSpPr>
          <p:cNvPr id="24" name="Shape 22"/>
          <p:cNvSpPr/>
          <p:nvPr/>
        </p:nvSpPr>
        <p:spPr>
          <a:xfrm>
            <a:off x="8266176" y="3922776"/>
            <a:ext cx="118872" cy="118872"/>
          </a:xfrm>
          <a:prstGeom prst="ellipse">
            <a:avLst/>
          </a:prstGeom>
          <a:solidFill>
            <a:srgbClr val="F2A93B"/>
          </a:solidFill>
          <a:ln w="6350">
            <a:solidFill>
              <a:srgbClr val="FFFFFF"/>
            </a:solidFill>
            <a:prstDash val="solid"/>
          </a:ln>
        </p:spPr>
      </p:sp>
      <p:sp>
        <p:nvSpPr>
          <p:cNvPr id="25" name="Shape 23"/>
          <p:cNvSpPr/>
          <p:nvPr/>
        </p:nvSpPr>
        <p:spPr>
          <a:xfrm>
            <a:off x="8906256" y="3282696"/>
            <a:ext cx="118872" cy="118872"/>
          </a:xfrm>
          <a:prstGeom prst="ellipse">
            <a:avLst/>
          </a:prstGeom>
          <a:solidFill>
            <a:srgbClr val="F2A93B"/>
          </a:solidFill>
          <a:ln w="6350">
            <a:solidFill>
              <a:srgbClr val="FFFFFF"/>
            </a:solidFill>
            <a:prstDash val="solid"/>
          </a:ln>
        </p:spPr>
      </p:sp>
      <p:sp>
        <p:nvSpPr>
          <p:cNvPr id="26" name="Shape 24"/>
          <p:cNvSpPr/>
          <p:nvPr/>
        </p:nvSpPr>
        <p:spPr>
          <a:xfrm>
            <a:off x="9546336" y="3739896"/>
            <a:ext cx="118872" cy="118872"/>
          </a:xfrm>
          <a:prstGeom prst="ellipse">
            <a:avLst/>
          </a:prstGeom>
          <a:solidFill>
            <a:srgbClr val="F2A93B"/>
          </a:solidFill>
          <a:ln w="6350">
            <a:solidFill>
              <a:srgbClr val="FFFFFF"/>
            </a:solidFill>
            <a:prstDash val="solid"/>
          </a:ln>
        </p:spPr>
      </p:sp>
      <p:sp>
        <p:nvSpPr>
          <p:cNvPr id="27" name="Shape 25"/>
          <p:cNvSpPr/>
          <p:nvPr/>
        </p:nvSpPr>
        <p:spPr>
          <a:xfrm>
            <a:off x="7991856" y="2825496"/>
            <a:ext cx="118872" cy="118872"/>
          </a:xfrm>
          <a:prstGeom prst="ellipse">
            <a:avLst/>
          </a:prstGeom>
          <a:solidFill>
            <a:srgbClr val="F2A93B"/>
          </a:solidFill>
          <a:ln w="6350">
            <a:solidFill>
              <a:srgbClr val="FFFFFF"/>
            </a:solidFill>
            <a:prstDash val="solid"/>
          </a:ln>
        </p:spPr>
      </p:sp>
      <p:sp>
        <p:nvSpPr>
          <p:cNvPr id="28" name="Shape 26"/>
          <p:cNvSpPr/>
          <p:nvPr/>
        </p:nvSpPr>
        <p:spPr>
          <a:xfrm>
            <a:off x="9272016" y="2551176"/>
            <a:ext cx="118872" cy="118872"/>
          </a:xfrm>
          <a:prstGeom prst="ellipse">
            <a:avLst/>
          </a:prstGeom>
          <a:solidFill>
            <a:srgbClr val="F2A93B"/>
          </a:solidFill>
          <a:ln w="6350">
            <a:solidFill>
              <a:srgbClr val="FFFFFF"/>
            </a:solidFill>
            <a:prstDash val="solid"/>
          </a:ln>
        </p:spPr>
      </p:sp>
      <p:sp>
        <p:nvSpPr>
          <p:cNvPr id="29" name="Shape 27"/>
          <p:cNvSpPr/>
          <p:nvPr/>
        </p:nvSpPr>
        <p:spPr>
          <a:xfrm>
            <a:off x="10094976" y="3008376"/>
            <a:ext cx="118872" cy="118872"/>
          </a:xfrm>
          <a:prstGeom prst="ellipse">
            <a:avLst/>
          </a:prstGeom>
          <a:solidFill>
            <a:srgbClr val="F2A93B"/>
          </a:solidFill>
          <a:ln w="6350">
            <a:solidFill>
              <a:srgbClr val="FFFFFF"/>
            </a:solidFill>
            <a:prstDash val="solid"/>
          </a:ln>
        </p:spPr>
      </p:sp>
      <p:sp>
        <p:nvSpPr>
          <p:cNvPr id="30" name="Shape 28"/>
          <p:cNvSpPr/>
          <p:nvPr/>
        </p:nvSpPr>
        <p:spPr>
          <a:xfrm>
            <a:off x="7351776" y="3557016"/>
            <a:ext cx="118872" cy="118872"/>
          </a:xfrm>
          <a:prstGeom prst="ellipse">
            <a:avLst/>
          </a:prstGeom>
          <a:solidFill>
            <a:srgbClr val="F2A93B"/>
          </a:solidFill>
          <a:ln w="6350">
            <a:solidFill>
              <a:srgbClr val="FFFFFF"/>
            </a:solidFill>
            <a:prstDash val="solid"/>
          </a:ln>
        </p:spPr>
      </p:sp>
      <p:sp>
        <p:nvSpPr>
          <p:cNvPr id="31" name="Shape 29"/>
          <p:cNvSpPr/>
          <p:nvPr/>
        </p:nvSpPr>
        <p:spPr>
          <a:xfrm>
            <a:off x="8540496" y="2368296"/>
            <a:ext cx="118872" cy="118872"/>
          </a:xfrm>
          <a:prstGeom prst="ellipse">
            <a:avLst/>
          </a:prstGeom>
          <a:solidFill>
            <a:srgbClr val="F2A93B"/>
          </a:solidFill>
          <a:ln w="6350">
            <a:solidFill>
              <a:srgbClr val="FFFFFF"/>
            </a:solidFill>
            <a:prstDash val="solid"/>
          </a:ln>
        </p:spPr>
      </p:sp>
      <p:sp>
        <p:nvSpPr>
          <p:cNvPr id="32" name="Shape 30"/>
          <p:cNvSpPr/>
          <p:nvPr/>
        </p:nvSpPr>
        <p:spPr>
          <a:xfrm>
            <a:off x="6894576" y="4197096"/>
            <a:ext cx="118872" cy="118872"/>
          </a:xfrm>
          <a:prstGeom prst="ellipse">
            <a:avLst/>
          </a:prstGeom>
          <a:solidFill>
            <a:srgbClr val="F2A93B"/>
          </a:solidFill>
          <a:ln w="6350">
            <a:solidFill>
              <a:srgbClr val="FFFFFF"/>
            </a:solidFill>
            <a:prstDash val="solid"/>
          </a:ln>
        </p:spPr>
      </p:sp>
      <p:sp>
        <p:nvSpPr>
          <p:cNvPr id="33" name="Shape 31"/>
          <p:cNvSpPr/>
          <p:nvPr/>
        </p:nvSpPr>
        <p:spPr>
          <a:xfrm>
            <a:off x="9637776" y="2185416"/>
            <a:ext cx="118872" cy="118872"/>
          </a:xfrm>
          <a:prstGeom prst="ellipse">
            <a:avLst/>
          </a:prstGeom>
          <a:solidFill>
            <a:srgbClr val="F2A93B"/>
          </a:solidFill>
          <a:ln w="6350">
            <a:solidFill>
              <a:srgbClr val="FFFFFF"/>
            </a:solidFill>
            <a:prstDash val="solid"/>
          </a:ln>
        </p:spPr>
      </p:sp>
      <p:sp>
        <p:nvSpPr>
          <p:cNvPr id="34" name="Text 32"/>
          <p:cNvSpPr/>
          <p:nvPr/>
        </p:nvSpPr>
        <p:spPr>
          <a:xfrm>
            <a:off x="6400800" y="6099048"/>
            <a:ext cx="4937760" cy="274320"/>
          </a:xfrm>
          <a:prstGeom prst="rect">
            <a:avLst/>
          </a:prstGeom>
          <a:noFill/>
          <a:ln/>
        </p:spPr>
        <p:txBody>
          <a:bodyPr wrap="square" rtlCol="0" anchor="ctr"/>
          <a:lstStyle/>
          <a:p>
            <a:pPr marL="0" indent="0">
              <a:buNone/>
            </a:pPr>
            <a:r>
              <a:rPr lang="en-US" sz="1050" i="1" dirty="0">
                <a:solidFill>
                  <a:srgbClr val="8FA6B3"/>
                </a:solidFill>
                <a:latin typeface="Calibri" pitchFamily="34" charset="0"/>
                <a:ea typeface="Calibri" pitchFamily="34" charset="-122"/>
                <a:cs typeface="Calibri" pitchFamily="34" charset="-120"/>
              </a:rPr>
              <a:t>Each point = one student (CGPA, IQ, Package)</a:t>
            </a:r>
            <a:endParaRPr lang="en-US" sz="1050" dirty="0"/>
          </a:p>
        </p:txBody>
      </p:sp>
      <p:sp>
        <p:nvSpPr>
          <p:cNvPr id="35" name="Text 33"/>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5C6B73"/>
                </a:solidFill>
                <a:latin typeface="Calibri" pitchFamily="34" charset="0"/>
                <a:ea typeface="Calibri" pitchFamily="34" charset="-122"/>
                <a:cs typeface="Calibri" pitchFamily="34" charset="-120"/>
              </a:rPr>
              <a:t>Multiple Linear Regression</a:t>
            </a:r>
            <a:endParaRPr lang="en-US" sz="900" dirty="0"/>
          </a:p>
        </p:txBody>
      </p:sp>
      <p:sp>
        <p:nvSpPr>
          <p:cNvPr id="36" name="Text 3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5</a:t>
            </a:r>
            <a:endParaRPr lang="en-US" sz="9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A4A"/>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365760"/>
          </a:xfrm>
          <a:prstGeom prst="roundRect">
            <a:avLst>
              <a:gd name="adj" fmla="val 20000"/>
            </a:avLst>
          </a:prstGeom>
          <a:solidFill>
            <a:srgbClr val="13416B"/>
          </a:solidFill>
          <a:ln/>
        </p:spPr>
      </p:sp>
      <p:sp>
        <p:nvSpPr>
          <p:cNvPr id="3" name="Text 1"/>
          <p:cNvSpPr/>
          <p:nvPr/>
        </p:nvSpPr>
        <p:spPr>
          <a:xfrm>
            <a:off x="457200" y="411480"/>
            <a:ext cx="2103120" cy="365760"/>
          </a:xfrm>
          <a:prstGeom prst="rect">
            <a:avLst/>
          </a:prstGeom>
          <a:noFill/>
          <a:ln/>
        </p:spPr>
        <p:txBody>
          <a:bodyPr wrap="square" rtlCol="0" anchor="ctr"/>
          <a:lstStyle/>
          <a:p>
            <a:pPr marL="0" indent="0" algn="ctr">
              <a:buNone/>
            </a:pPr>
            <a:r>
              <a:rPr lang="en-US" sz="1100" b="1" kern="0" spc="100" dirty="0">
                <a:solidFill>
                  <a:srgbClr val="F2A93B"/>
                </a:solidFill>
                <a:latin typeface="Calibri" pitchFamily="34" charset="0"/>
                <a:ea typeface="Calibri" pitchFamily="34" charset="-122"/>
                <a:cs typeface="Calibri" pitchFamily="34" charset="-120"/>
              </a:rPr>
              <a:t>CORE CONCEPT</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 Line Becomes a Plane Becomes a Hyperplane</a:t>
            </a:r>
            <a:endParaRPr lang="en-US" sz="3000" dirty="0"/>
          </a:p>
        </p:txBody>
      </p:sp>
      <p:sp>
        <p:nvSpPr>
          <p:cNvPr id="5" name="Text 3"/>
          <p:cNvSpPr/>
          <p:nvPr/>
        </p:nvSpPr>
        <p:spPr>
          <a:xfrm>
            <a:off x="457200" y="1554480"/>
            <a:ext cx="11247120" cy="685800"/>
          </a:xfrm>
          <a:prstGeom prst="rect">
            <a:avLst/>
          </a:prstGeom>
          <a:noFill/>
          <a:ln/>
        </p:spPr>
        <p:txBody>
          <a:bodyPr wrap="square" rtlCol="0" anchor="ctr"/>
          <a:lstStyle/>
          <a:p>
            <a:pPr marL="0" indent="0">
              <a:lnSpc>
                <a:spcPts val="1900"/>
              </a:lnSpc>
              <a:buNone/>
            </a:pPr>
            <a:r>
              <a:rPr lang="en-US" sz="1450" dirty="0">
                <a:solidFill>
                  <a:srgbClr val="D6E4EC"/>
                </a:solidFill>
                <a:latin typeface="Calibri" pitchFamily="34" charset="0"/>
                <a:ea typeface="Calibri" pitchFamily="34" charset="-122"/>
                <a:cs typeface="Calibri" pitchFamily="34" charset="-120"/>
              </a:rPr>
              <a:t>In simple regression we drew a best-fit LINE. In 3D (two inputs), the equivalent best-fit surface is a PLANE. Beyond 3 dimensions, that generalized surface is called a HYPERPLANE.</a:t>
            </a:r>
            <a:endParaRPr lang="en-US" sz="1450" dirty="0"/>
          </a:p>
        </p:txBody>
      </p:sp>
      <p:sp>
        <p:nvSpPr>
          <p:cNvPr id="6" name="Shape 4"/>
          <p:cNvSpPr/>
          <p:nvPr/>
        </p:nvSpPr>
        <p:spPr>
          <a:xfrm>
            <a:off x="457200" y="2514600"/>
            <a:ext cx="3566160" cy="3383280"/>
          </a:xfrm>
          <a:prstGeom prst="roundRect">
            <a:avLst>
              <a:gd name="adj" fmla="val 2703"/>
            </a:avLst>
          </a:prstGeom>
          <a:solidFill>
            <a:srgbClr val="0F3A5F"/>
          </a:solidFill>
          <a:ln w="12700">
            <a:solidFill>
              <a:srgbClr val="1E4F73"/>
            </a:solidFill>
            <a:prstDash val="solid"/>
          </a:ln>
        </p:spPr>
      </p:sp>
      <p:sp>
        <p:nvSpPr>
          <p:cNvPr id="7" name="Shape 5"/>
          <p:cNvSpPr/>
          <p:nvPr/>
        </p:nvSpPr>
        <p:spPr>
          <a:xfrm>
            <a:off x="1874520" y="2834640"/>
            <a:ext cx="731520" cy="731520"/>
          </a:xfrm>
          <a:prstGeom prst="ellipse">
            <a:avLst/>
          </a:prstGeom>
          <a:solidFill>
            <a:srgbClr val="1C7293"/>
          </a:solidFill>
          <a:ln/>
        </p:spPr>
      </p:sp>
      <p:sp>
        <p:nvSpPr>
          <p:cNvPr id="8" name="Text 6"/>
          <p:cNvSpPr/>
          <p:nvPr/>
        </p:nvSpPr>
        <p:spPr>
          <a:xfrm>
            <a:off x="1874520" y="2834640"/>
            <a:ext cx="731520" cy="73152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9" name="Text 7"/>
          <p:cNvSpPr/>
          <p:nvPr/>
        </p:nvSpPr>
        <p:spPr>
          <a:xfrm>
            <a:off x="731520" y="3749040"/>
            <a:ext cx="3017520" cy="320040"/>
          </a:xfrm>
          <a:prstGeom prst="rect">
            <a:avLst/>
          </a:prstGeom>
          <a:noFill/>
          <a:ln/>
        </p:spPr>
        <p:txBody>
          <a:bodyPr wrap="square" rtlCol="0" anchor="ctr"/>
          <a:lstStyle/>
          <a:p>
            <a:pPr marL="0" indent="0" algn="ctr">
              <a:buNone/>
            </a:pPr>
            <a:r>
              <a:rPr lang="en-US" sz="1200" b="1" kern="0" spc="100" dirty="0">
                <a:solidFill>
                  <a:srgbClr val="F2A93B"/>
                </a:solidFill>
                <a:latin typeface="Calibri" pitchFamily="34" charset="0"/>
                <a:ea typeface="Calibri" pitchFamily="34" charset="-122"/>
                <a:cs typeface="Calibri" pitchFamily="34" charset="-120"/>
              </a:rPr>
              <a:t>1 Input</a:t>
            </a:r>
            <a:endParaRPr lang="en-US" sz="1200" dirty="0"/>
          </a:p>
        </p:txBody>
      </p:sp>
      <p:sp>
        <p:nvSpPr>
          <p:cNvPr id="10" name="Text 8"/>
          <p:cNvSpPr/>
          <p:nvPr/>
        </p:nvSpPr>
        <p:spPr>
          <a:xfrm>
            <a:off x="731520" y="4114800"/>
            <a:ext cx="30175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Best-fit LINE</a:t>
            </a:r>
            <a:endParaRPr lang="en-US" sz="1800" dirty="0"/>
          </a:p>
        </p:txBody>
      </p:sp>
      <p:sp>
        <p:nvSpPr>
          <p:cNvPr id="11" name="Text 9"/>
          <p:cNvSpPr/>
          <p:nvPr/>
        </p:nvSpPr>
        <p:spPr>
          <a:xfrm>
            <a:off x="731520" y="4709160"/>
            <a:ext cx="3017520" cy="1005840"/>
          </a:xfrm>
          <a:prstGeom prst="rect">
            <a:avLst/>
          </a:prstGeom>
          <a:noFill/>
          <a:ln/>
        </p:spPr>
        <p:txBody>
          <a:bodyPr wrap="square" rtlCol="0" anchor="ctr"/>
          <a:lstStyle/>
          <a:p>
            <a:pPr marL="0" indent="0" algn="ctr">
              <a:lnSpc>
                <a:spcPts val="1600"/>
              </a:lnSpc>
              <a:buNone/>
            </a:pPr>
            <a:r>
              <a:rPr lang="en-US" sz="1250" dirty="0">
                <a:solidFill>
                  <a:srgbClr val="B9CEDA"/>
                </a:solidFill>
                <a:latin typeface="Calibri" pitchFamily="34" charset="0"/>
                <a:ea typeface="Calibri" pitchFamily="34" charset="-122"/>
                <a:cs typeface="Calibri" pitchFamily="34" charset="-120"/>
              </a:rPr>
              <a:t>2D space — x and y axes.</a:t>
            </a:r>
            <a:endParaRPr lang="en-US" sz="1250" dirty="0"/>
          </a:p>
        </p:txBody>
      </p:sp>
      <p:sp>
        <p:nvSpPr>
          <p:cNvPr id="12" name="Shape 10"/>
          <p:cNvSpPr/>
          <p:nvPr/>
        </p:nvSpPr>
        <p:spPr>
          <a:xfrm>
            <a:off x="4343400" y="2514600"/>
            <a:ext cx="3566160" cy="3383280"/>
          </a:xfrm>
          <a:prstGeom prst="roundRect">
            <a:avLst>
              <a:gd name="adj" fmla="val 2703"/>
            </a:avLst>
          </a:prstGeom>
          <a:solidFill>
            <a:srgbClr val="0F3A5F"/>
          </a:solidFill>
          <a:ln w="12700">
            <a:solidFill>
              <a:srgbClr val="1E4F73"/>
            </a:solidFill>
            <a:prstDash val="solid"/>
          </a:ln>
        </p:spPr>
      </p:sp>
      <p:sp>
        <p:nvSpPr>
          <p:cNvPr id="13" name="Shape 11"/>
          <p:cNvSpPr/>
          <p:nvPr/>
        </p:nvSpPr>
        <p:spPr>
          <a:xfrm>
            <a:off x="5760720" y="2834640"/>
            <a:ext cx="731520" cy="731520"/>
          </a:xfrm>
          <a:prstGeom prst="ellipse">
            <a:avLst/>
          </a:prstGeom>
          <a:solidFill>
            <a:srgbClr val="1C7293"/>
          </a:solidFill>
          <a:ln/>
        </p:spPr>
      </p:sp>
      <p:sp>
        <p:nvSpPr>
          <p:cNvPr id="14" name="Text 12"/>
          <p:cNvSpPr/>
          <p:nvPr/>
        </p:nvSpPr>
        <p:spPr>
          <a:xfrm>
            <a:off x="5760720" y="2834640"/>
            <a:ext cx="731520" cy="73152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5" name="Text 13"/>
          <p:cNvSpPr/>
          <p:nvPr/>
        </p:nvSpPr>
        <p:spPr>
          <a:xfrm>
            <a:off x="4617720" y="3749040"/>
            <a:ext cx="3017520" cy="320040"/>
          </a:xfrm>
          <a:prstGeom prst="rect">
            <a:avLst/>
          </a:prstGeom>
          <a:noFill/>
          <a:ln/>
        </p:spPr>
        <p:txBody>
          <a:bodyPr wrap="square" rtlCol="0" anchor="ctr"/>
          <a:lstStyle/>
          <a:p>
            <a:pPr marL="0" indent="0" algn="ctr">
              <a:buNone/>
            </a:pPr>
            <a:r>
              <a:rPr lang="en-US" sz="1200" b="1" kern="0" spc="100" dirty="0">
                <a:solidFill>
                  <a:srgbClr val="F2A93B"/>
                </a:solidFill>
                <a:latin typeface="Calibri" pitchFamily="34" charset="0"/>
                <a:ea typeface="Calibri" pitchFamily="34" charset="-122"/>
                <a:cs typeface="Calibri" pitchFamily="34" charset="-120"/>
              </a:rPr>
              <a:t>2 Inputs</a:t>
            </a:r>
            <a:endParaRPr lang="en-US" sz="1200" dirty="0"/>
          </a:p>
        </p:txBody>
      </p:sp>
      <p:sp>
        <p:nvSpPr>
          <p:cNvPr id="16" name="Text 14"/>
          <p:cNvSpPr/>
          <p:nvPr/>
        </p:nvSpPr>
        <p:spPr>
          <a:xfrm>
            <a:off x="4617720" y="4114800"/>
            <a:ext cx="30175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Best-fit PLANE</a:t>
            </a:r>
            <a:endParaRPr lang="en-US" sz="1800" dirty="0"/>
          </a:p>
        </p:txBody>
      </p:sp>
      <p:sp>
        <p:nvSpPr>
          <p:cNvPr id="17" name="Text 15"/>
          <p:cNvSpPr/>
          <p:nvPr/>
        </p:nvSpPr>
        <p:spPr>
          <a:xfrm>
            <a:off x="4617720" y="4709160"/>
            <a:ext cx="3017520" cy="1005840"/>
          </a:xfrm>
          <a:prstGeom prst="rect">
            <a:avLst/>
          </a:prstGeom>
          <a:noFill/>
          <a:ln/>
        </p:spPr>
        <p:txBody>
          <a:bodyPr wrap="square" rtlCol="0" anchor="ctr"/>
          <a:lstStyle/>
          <a:p>
            <a:pPr marL="0" indent="0" algn="ctr">
              <a:lnSpc>
                <a:spcPts val="1600"/>
              </a:lnSpc>
              <a:buNone/>
            </a:pPr>
            <a:r>
              <a:rPr lang="en-US" sz="1250" dirty="0">
                <a:solidFill>
                  <a:srgbClr val="B9CEDA"/>
                </a:solidFill>
                <a:latin typeface="Calibri" pitchFamily="34" charset="0"/>
                <a:ea typeface="Calibri" pitchFamily="34" charset="-122"/>
                <a:cs typeface="Calibri" pitchFamily="34" charset="-120"/>
              </a:rPr>
              <a:t>3D space — x₁, x₂ and y axes.</a:t>
            </a:r>
            <a:endParaRPr lang="en-US" sz="1250" dirty="0"/>
          </a:p>
        </p:txBody>
      </p:sp>
      <p:sp>
        <p:nvSpPr>
          <p:cNvPr id="18" name="Shape 16"/>
          <p:cNvSpPr/>
          <p:nvPr/>
        </p:nvSpPr>
        <p:spPr>
          <a:xfrm>
            <a:off x="8229600" y="2514600"/>
            <a:ext cx="3566160" cy="3383280"/>
          </a:xfrm>
          <a:prstGeom prst="roundRect">
            <a:avLst>
              <a:gd name="adj" fmla="val 2703"/>
            </a:avLst>
          </a:prstGeom>
          <a:solidFill>
            <a:srgbClr val="0F3A5F"/>
          </a:solidFill>
          <a:ln w="12700">
            <a:solidFill>
              <a:srgbClr val="1E4F73"/>
            </a:solidFill>
            <a:prstDash val="solid"/>
          </a:ln>
        </p:spPr>
      </p:sp>
      <p:sp>
        <p:nvSpPr>
          <p:cNvPr id="19" name="Shape 17"/>
          <p:cNvSpPr/>
          <p:nvPr/>
        </p:nvSpPr>
        <p:spPr>
          <a:xfrm>
            <a:off x="9646920" y="2834640"/>
            <a:ext cx="731520" cy="731520"/>
          </a:xfrm>
          <a:prstGeom prst="ellipse">
            <a:avLst/>
          </a:prstGeom>
          <a:solidFill>
            <a:srgbClr val="1C7293"/>
          </a:solidFill>
          <a:ln/>
        </p:spPr>
      </p:sp>
      <p:sp>
        <p:nvSpPr>
          <p:cNvPr id="20" name="Text 18"/>
          <p:cNvSpPr/>
          <p:nvPr/>
        </p:nvSpPr>
        <p:spPr>
          <a:xfrm>
            <a:off x="9646920" y="2834640"/>
            <a:ext cx="731520" cy="73152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21" name="Text 19"/>
          <p:cNvSpPr/>
          <p:nvPr/>
        </p:nvSpPr>
        <p:spPr>
          <a:xfrm>
            <a:off x="8503920" y="3749040"/>
            <a:ext cx="3017520" cy="320040"/>
          </a:xfrm>
          <a:prstGeom prst="rect">
            <a:avLst/>
          </a:prstGeom>
          <a:noFill/>
          <a:ln/>
        </p:spPr>
        <p:txBody>
          <a:bodyPr wrap="square" rtlCol="0" anchor="ctr"/>
          <a:lstStyle/>
          <a:p>
            <a:pPr marL="0" indent="0" algn="ctr">
              <a:buNone/>
            </a:pPr>
            <a:r>
              <a:rPr lang="en-US" sz="1200" b="1" kern="0" spc="100" dirty="0">
                <a:solidFill>
                  <a:srgbClr val="F2A93B"/>
                </a:solidFill>
                <a:latin typeface="Calibri" pitchFamily="34" charset="0"/>
                <a:ea typeface="Calibri" pitchFamily="34" charset="-122"/>
                <a:cs typeface="Calibri" pitchFamily="34" charset="-120"/>
              </a:rPr>
              <a:t>3+ Inputs</a:t>
            </a:r>
            <a:endParaRPr lang="en-US" sz="1200" dirty="0"/>
          </a:p>
        </p:txBody>
      </p:sp>
      <p:sp>
        <p:nvSpPr>
          <p:cNvPr id="22" name="Text 20"/>
          <p:cNvSpPr/>
          <p:nvPr/>
        </p:nvSpPr>
        <p:spPr>
          <a:xfrm>
            <a:off x="8503920" y="4114800"/>
            <a:ext cx="3017520" cy="50292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Best-fit HYPERPLANE</a:t>
            </a:r>
            <a:endParaRPr lang="en-US" sz="1800" dirty="0"/>
          </a:p>
        </p:txBody>
      </p:sp>
      <p:sp>
        <p:nvSpPr>
          <p:cNvPr id="23" name="Text 21"/>
          <p:cNvSpPr/>
          <p:nvPr/>
        </p:nvSpPr>
        <p:spPr>
          <a:xfrm>
            <a:off x="8503920" y="4709160"/>
            <a:ext cx="3017520" cy="1005840"/>
          </a:xfrm>
          <a:prstGeom prst="rect">
            <a:avLst/>
          </a:prstGeom>
          <a:noFill/>
          <a:ln/>
        </p:spPr>
        <p:txBody>
          <a:bodyPr wrap="square" rtlCol="0" anchor="ctr"/>
          <a:lstStyle/>
          <a:p>
            <a:pPr marL="0" indent="0" algn="ctr">
              <a:lnSpc>
                <a:spcPts val="1600"/>
              </a:lnSpc>
              <a:buNone/>
            </a:pPr>
            <a:r>
              <a:rPr lang="en-US" sz="1250" dirty="0">
                <a:solidFill>
                  <a:srgbClr val="B9CEDA"/>
                </a:solidFill>
                <a:latin typeface="Calibri" pitchFamily="34" charset="0"/>
                <a:ea typeface="Calibri" pitchFamily="34" charset="-122"/>
                <a:cs typeface="Calibri" pitchFamily="34" charset="-120"/>
              </a:rPr>
              <a:t>n-D space — cannot be drawn, but the math still works.</a:t>
            </a:r>
            <a:endParaRPr lang="en-US" sz="1250" dirty="0"/>
          </a:p>
        </p:txBody>
      </p:sp>
      <p:sp>
        <p:nvSpPr>
          <p:cNvPr id="24" name="Text 22"/>
          <p:cNvSpPr/>
          <p:nvPr/>
        </p:nvSpPr>
        <p:spPr>
          <a:xfrm>
            <a:off x="457200" y="6080760"/>
            <a:ext cx="11247120" cy="365760"/>
          </a:xfrm>
          <a:prstGeom prst="rect">
            <a:avLst/>
          </a:prstGeom>
          <a:noFill/>
          <a:ln/>
        </p:spPr>
        <p:txBody>
          <a:bodyPr wrap="square" rtlCol="0" anchor="ctr"/>
          <a:lstStyle/>
          <a:p>
            <a:pPr marL="0" indent="0" algn="ctr">
              <a:buNone/>
            </a:pPr>
            <a:r>
              <a:rPr lang="en-US" sz="1250" i="1" dirty="0">
                <a:solidFill>
                  <a:srgbClr val="8FA6B3"/>
                </a:solidFill>
                <a:latin typeface="Calibri" pitchFamily="34" charset="0"/>
                <a:ea typeface="Calibri" pitchFamily="34" charset="-122"/>
                <a:cs typeface="Calibri" pitchFamily="34" charset="-120"/>
              </a:rPr>
              <a:t>The goal is always the same: draw the surface that passes as close as possible to every data point — minimizing the total distance (error).</a:t>
            </a:r>
            <a:endParaRPr lang="en-US" sz="1250" dirty="0"/>
          </a:p>
        </p:txBody>
      </p:sp>
      <p:sp>
        <p:nvSpPr>
          <p:cNvPr id="25" name="Text 23"/>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8FA6B3"/>
                </a:solidFill>
                <a:latin typeface="Calibri" pitchFamily="34" charset="0"/>
                <a:ea typeface="Calibri" pitchFamily="34" charset="-122"/>
                <a:cs typeface="Calibri" pitchFamily="34" charset="-120"/>
              </a:rPr>
              <a:t>Multiple Linear Regression</a:t>
            </a:r>
            <a:endParaRPr lang="en-US" sz="900" dirty="0"/>
          </a:p>
        </p:txBody>
      </p:sp>
      <p:sp>
        <p:nvSpPr>
          <p:cNvPr id="26" name="Text 2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8FA6B3"/>
                </a:solidFill>
                <a:latin typeface="Calibri" pitchFamily="34" charset="0"/>
                <a:ea typeface="Calibri" pitchFamily="34" charset="-122"/>
                <a:cs typeface="Calibri" pitchFamily="34" charset="-120"/>
              </a:rPr>
              <a:t>6</a:t>
            </a:r>
            <a:endParaRPr lang="en-US" sz="9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365760"/>
          </a:xfrm>
          <a:prstGeom prst="roundRect">
            <a:avLst>
              <a:gd name="adj" fmla="val 20000"/>
            </a:avLst>
          </a:prstGeom>
          <a:solidFill>
            <a:srgbClr val="E5F0F4"/>
          </a:solidFill>
          <a:ln/>
        </p:spPr>
      </p:sp>
      <p:sp>
        <p:nvSpPr>
          <p:cNvPr id="3" name="Text 1"/>
          <p:cNvSpPr/>
          <p:nvPr/>
        </p:nvSpPr>
        <p:spPr>
          <a:xfrm>
            <a:off x="457200" y="411480"/>
            <a:ext cx="2103120" cy="365760"/>
          </a:xfrm>
          <a:prstGeom prst="rect">
            <a:avLst/>
          </a:prstGeom>
          <a:noFill/>
          <a:ln/>
        </p:spPr>
        <p:txBody>
          <a:bodyPr wrap="square" rtlCol="0" anchor="ctr"/>
          <a:lstStyle/>
          <a:p>
            <a:pPr marL="0" indent="0" algn="ctr">
              <a:buNone/>
            </a:pPr>
            <a:r>
              <a:rPr lang="en-US" sz="1100" b="1" kern="0" spc="100" dirty="0">
                <a:solidFill>
                  <a:srgbClr val="065A82"/>
                </a:solidFill>
                <a:latin typeface="Calibri" pitchFamily="34" charset="0"/>
                <a:ea typeface="Calibri" pitchFamily="34" charset="-122"/>
                <a:cs typeface="Calibri" pitchFamily="34" charset="-120"/>
              </a:rPr>
              <a:t>THE MATH</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3000" b="1" dirty="0">
                <a:solidFill>
                  <a:srgbClr val="0B2A4A"/>
                </a:solidFill>
                <a:latin typeface="Cambria" pitchFamily="34" charset="0"/>
                <a:ea typeface="Cambria" pitchFamily="34" charset="-122"/>
                <a:cs typeface="Cambria" pitchFamily="34" charset="-120"/>
              </a:rPr>
              <a:t>Deriving the Equation, Step by Step</a:t>
            </a:r>
            <a:endParaRPr lang="en-US" sz="3000" dirty="0"/>
          </a:p>
        </p:txBody>
      </p:sp>
      <p:sp>
        <p:nvSpPr>
          <p:cNvPr id="5" name="Shape 3"/>
          <p:cNvSpPr/>
          <p:nvPr/>
        </p:nvSpPr>
        <p:spPr>
          <a:xfrm>
            <a:off x="457200" y="1691640"/>
            <a:ext cx="11247120" cy="868680"/>
          </a:xfrm>
          <a:prstGeom prst="roundRect">
            <a:avLst>
              <a:gd name="adj" fmla="val 8421"/>
            </a:avLst>
          </a:prstGeom>
          <a:solidFill>
            <a:srgbClr val="FFFFFF"/>
          </a:solidFill>
          <a:ln w="12700">
            <a:solidFill>
              <a:srgbClr val="D7E2E6"/>
            </a:solidFill>
            <a:prstDash val="solid"/>
          </a:ln>
        </p:spPr>
      </p:sp>
      <p:sp>
        <p:nvSpPr>
          <p:cNvPr id="6" name="Shape 4"/>
          <p:cNvSpPr/>
          <p:nvPr/>
        </p:nvSpPr>
        <p:spPr>
          <a:xfrm>
            <a:off x="685800" y="1851660"/>
            <a:ext cx="548640" cy="548640"/>
          </a:xfrm>
          <a:prstGeom prst="ellipse">
            <a:avLst/>
          </a:prstGeom>
          <a:solidFill>
            <a:srgbClr val="065A82"/>
          </a:solidFill>
          <a:ln/>
        </p:spPr>
      </p:sp>
      <p:sp>
        <p:nvSpPr>
          <p:cNvPr id="7" name="Text 5"/>
          <p:cNvSpPr/>
          <p:nvPr/>
        </p:nvSpPr>
        <p:spPr>
          <a:xfrm>
            <a:off x="685800" y="1851660"/>
            <a:ext cx="548640" cy="5486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508760" y="1691640"/>
            <a:ext cx="5852160" cy="868680"/>
          </a:xfrm>
          <a:prstGeom prst="rect">
            <a:avLst/>
          </a:prstGeom>
          <a:noFill/>
          <a:ln/>
        </p:spPr>
        <p:txBody>
          <a:bodyPr wrap="square" rtlCol="0" anchor="ctr"/>
          <a:lstStyle/>
          <a:p>
            <a:pPr marL="0" indent="0">
              <a:buNone/>
            </a:pPr>
            <a:r>
              <a:rPr lang="en-US" sz="1450" dirty="0">
                <a:solidFill>
                  <a:srgbClr val="0B2A4A"/>
                </a:solidFill>
                <a:latin typeface="Calibri" pitchFamily="34" charset="0"/>
                <a:ea typeface="Calibri" pitchFamily="34" charset="-122"/>
                <a:cs typeface="Calibri" pitchFamily="34" charset="-120"/>
              </a:rPr>
              <a:t>Start with the simple regression line</a:t>
            </a:r>
            <a:endParaRPr lang="en-US" sz="1450" dirty="0"/>
          </a:p>
        </p:txBody>
      </p:sp>
      <p:sp>
        <p:nvSpPr>
          <p:cNvPr id="9" name="Shape 7"/>
          <p:cNvSpPr/>
          <p:nvPr/>
        </p:nvSpPr>
        <p:spPr>
          <a:xfrm>
            <a:off x="7498080" y="1810512"/>
            <a:ext cx="3977640" cy="630936"/>
          </a:xfrm>
          <a:prstGeom prst="roundRect">
            <a:avLst>
              <a:gd name="adj" fmla="val 8696"/>
            </a:avLst>
          </a:prstGeom>
          <a:solidFill>
            <a:srgbClr val="E5F0F4"/>
          </a:solidFill>
          <a:ln/>
        </p:spPr>
      </p:sp>
      <p:sp>
        <p:nvSpPr>
          <p:cNvPr id="10" name="Text 8"/>
          <p:cNvSpPr/>
          <p:nvPr/>
        </p:nvSpPr>
        <p:spPr>
          <a:xfrm>
            <a:off x="7498080" y="1810512"/>
            <a:ext cx="3977640" cy="630936"/>
          </a:xfrm>
          <a:prstGeom prst="rect">
            <a:avLst/>
          </a:prstGeom>
          <a:noFill/>
          <a:ln/>
        </p:spPr>
        <p:txBody>
          <a:bodyPr wrap="square" rtlCol="0" anchor="ctr"/>
          <a:lstStyle/>
          <a:p>
            <a:pPr marL="0" indent="0" algn="ctr">
              <a:buNone/>
            </a:pPr>
            <a:r>
              <a:rPr lang="en-US" sz="1500" b="1" dirty="0">
                <a:solidFill>
                  <a:srgbClr val="065A82"/>
                </a:solidFill>
                <a:latin typeface="Courier New" pitchFamily="34" charset="0"/>
                <a:ea typeface="Courier New" pitchFamily="34" charset="-122"/>
                <a:cs typeface="Courier New" pitchFamily="34" charset="-120"/>
              </a:rPr>
              <a:t>y = mx + b</a:t>
            </a:r>
            <a:endParaRPr lang="en-US" sz="1500" dirty="0"/>
          </a:p>
        </p:txBody>
      </p:sp>
      <p:sp>
        <p:nvSpPr>
          <p:cNvPr id="11" name="Shape 9"/>
          <p:cNvSpPr/>
          <p:nvPr/>
        </p:nvSpPr>
        <p:spPr>
          <a:xfrm>
            <a:off x="905256" y="2542032"/>
            <a:ext cx="109728" cy="109728"/>
          </a:xfrm>
          <a:prstGeom prst="ellipse">
            <a:avLst/>
          </a:prstGeom>
          <a:solidFill>
            <a:srgbClr val="1C7293"/>
          </a:solidFill>
          <a:ln/>
        </p:spPr>
      </p:sp>
      <p:sp>
        <p:nvSpPr>
          <p:cNvPr id="12" name="Shape 10"/>
          <p:cNvSpPr/>
          <p:nvPr/>
        </p:nvSpPr>
        <p:spPr>
          <a:xfrm>
            <a:off x="457200" y="2743200"/>
            <a:ext cx="11247120" cy="868680"/>
          </a:xfrm>
          <a:prstGeom prst="roundRect">
            <a:avLst>
              <a:gd name="adj" fmla="val 8421"/>
            </a:avLst>
          </a:prstGeom>
          <a:solidFill>
            <a:srgbClr val="FFFFFF"/>
          </a:solidFill>
          <a:ln w="12700">
            <a:solidFill>
              <a:srgbClr val="D7E2E6"/>
            </a:solidFill>
            <a:prstDash val="solid"/>
          </a:ln>
        </p:spPr>
      </p:sp>
      <p:sp>
        <p:nvSpPr>
          <p:cNvPr id="13" name="Shape 11"/>
          <p:cNvSpPr/>
          <p:nvPr/>
        </p:nvSpPr>
        <p:spPr>
          <a:xfrm>
            <a:off x="685800" y="2903220"/>
            <a:ext cx="548640" cy="548640"/>
          </a:xfrm>
          <a:prstGeom prst="ellipse">
            <a:avLst/>
          </a:prstGeom>
          <a:solidFill>
            <a:srgbClr val="065A82"/>
          </a:solidFill>
          <a:ln/>
        </p:spPr>
      </p:sp>
      <p:sp>
        <p:nvSpPr>
          <p:cNvPr id="14" name="Text 12"/>
          <p:cNvSpPr/>
          <p:nvPr/>
        </p:nvSpPr>
        <p:spPr>
          <a:xfrm>
            <a:off x="685800" y="2903220"/>
            <a:ext cx="548640" cy="5486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3"/>
          <p:cNvSpPr/>
          <p:nvPr/>
        </p:nvSpPr>
        <p:spPr>
          <a:xfrm>
            <a:off x="1508760" y="2743200"/>
            <a:ext cx="5852160" cy="868680"/>
          </a:xfrm>
          <a:prstGeom prst="rect">
            <a:avLst/>
          </a:prstGeom>
          <a:noFill/>
          <a:ln/>
        </p:spPr>
        <p:txBody>
          <a:bodyPr wrap="square" rtlCol="0" anchor="ctr"/>
          <a:lstStyle/>
          <a:p>
            <a:pPr marL="0" indent="0">
              <a:buNone/>
            </a:pPr>
            <a:r>
              <a:rPr lang="en-US" sz="1450" dirty="0">
                <a:solidFill>
                  <a:srgbClr val="0B2A4A"/>
                </a:solidFill>
                <a:latin typeface="Calibri" pitchFamily="34" charset="0"/>
                <a:ea typeface="Calibri" pitchFamily="34" charset="-122"/>
                <a:cs typeface="Calibri" pitchFamily="34" charset="-120"/>
              </a:rPr>
              <a:t>Rename for consistency (β notation)</a:t>
            </a:r>
            <a:endParaRPr lang="en-US" sz="1450" dirty="0"/>
          </a:p>
        </p:txBody>
      </p:sp>
      <p:sp>
        <p:nvSpPr>
          <p:cNvPr id="16" name="Shape 14"/>
          <p:cNvSpPr/>
          <p:nvPr/>
        </p:nvSpPr>
        <p:spPr>
          <a:xfrm>
            <a:off x="7498080" y="2862072"/>
            <a:ext cx="3977640" cy="630936"/>
          </a:xfrm>
          <a:prstGeom prst="roundRect">
            <a:avLst>
              <a:gd name="adj" fmla="val 8696"/>
            </a:avLst>
          </a:prstGeom>
          <a:solidFill>
            <a:srgbClr val="E5F0F4"/>
          </a:solidFill>
          <a:ln/>
        </p:spPr>
      </p:sp>
      <p:sp>
        <p:nvSpPr>
          <p:cNvPr id="17" name="Text 15"/>
          <p:cNvSpPr/>
          <p:nvPr/>
        </p:nvSpPr>
        <p:spPr>
          <a:xfrm>
            <a:off x="7498080" y="2862072"/>
            <a:ext cx="3977640" cy="630936"/>
          </a:xfrm>
          <a:prstGeom prst="rect">
            <a:avLst/>
          </a:prstGeom>
          <a:noFill/>
          <a:ln/>
        </p:spPr>
        <p:txBody>
          <a:bodyPr wrap="square" rtlCol="0" anchor="ctr"/>
          <a:lstStyle/>
          <a:p>
            <a:pPr marL="0" indent="0" algn="ctr">
              <a:buNone/>
            </a:pPr>
            <a:r>
              <a:rPr lang="en-US" sz="1500" b="1" dirty="0">
                <a:solidFill>
                  <a:srgbClr val="065A82"/>
                </a:solidFill>
                <a:latin typeface="Courier New" pitchFamily="34" charset="0"/>
                <a:ea typeface="Courier New" pitchFamily="34" charset="-122"/>
                <a:cs typeface="Courier New" pitchFamily="34" charset="-120"/>
              </a:rPr>
              <a:t>y = β₁x₁ + β₀</a:t>
            </a:r>
            <a:endParaRPr lang="en-US" sz="1500" dirty="0"/>
          </a:p>
        </p:txBody>
      </p:sp>
      <p:sp>
        <p:nvSpPr>
          <p:cNvPr id="18" name="Shape 16"/>
          <p:cNvSpPr/>
          <p:nvPr/>
        </p:nvSpPr>
        <p:spPr>
          <a:xfrm>
            <a:off x="905256" y="3593592"/>
            <a:ext cx="109728" cy="109728"/>
          </a:xfrm>
          <a:prstGeom prst="ellipse">
            <a:avLst/>
          </a:prstGeom>
          <a:solidFill>
            <a:srgbClr val="1C7293"/>
          </a:solidFill>
          <a:ln/>
        </p:spPr>
      </p:sp>
      <p:sp>
        <p:nvSpPr>
          <p:cNvPr id="19" name="Shape 17"/>
          <p:cNvSpPr/>
          <p:nvPr/>
        </p:nvSpPr>
        <p:spPr>
          <a:xfrm>
            <a:off x="457200" y="3794760"/>
            <a:ext cx="11247120" cy="868680"/>
          </a:xfrm>
          <a:prstGeom prst="roundRect">
            <a:avLst>
              <a:gd name="adj" fmla="val 8421"/>
            </a:avLst>
          </a:prstGeom>
          <a:solidFill>
            <a:srgbClr val="FFFFFF"/>
          </a:solidFill>
          <a:ln w="12700">
            <a:solidFill>
              <a:srgbClr val="D7E2E6"/>
            </a:solidFill>
            <a:prstDash val="solid"/>
          </a:ln>
        </p:spPr>
      </p:sp>
      <p:sp>
        <p:nvSpPr>
          <p:cNvPr id="20" name="Shape 18"/>
          <p:cNvSpPr/>
          <p:nvPr/>
        </p:nvSpPr>
        <p:spPr>
          <a:xfrm>
            <a:off x="685800" y="3954780"/>
            <a:ext cx="548640" cy="548640"/>
          </a:xfrm>
          <a:prstGeom prst="ellipse">
            <a:avLst/>
          </a:prstGeom>
          <a:solidFill>
            <a:srgbClr val="065A82"/>
          </a:solidFill>
          <a:ln/>
        </p:spPr>
      </p:sp>
      <p:sp>
        <p:nvSpPr>
          <p:cNvPr id="21" name="Text 19"/>
          <p:cNvSpPr/>
          <p:nvPr/>
        </p:nvSpPr>
        <p:spPr>
          <a:xfrm>
            <a:off x="685800" y="3954780"/>
            <a:ext cx="548640" cy="5486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Text 20"/>
          <p:cNvSpPr/>
          <p:nvPr/>
        </p:nvSpPr>
        <p:spPr>
          <a:xfrm>
            <a:off x="1508760" y="3794760"/>
            <a:ext cx="5852160" cy="868680"/>
          </a:xfrm>
          <a:prstGeom prst="rect">
            <a:avLst/>
          </a:prstGeom>
          <a:noFill/>
          <a:ln/>
        </p:spPr>
        <p:txBody>
          <a:bodyPr wrap="square" rtlCol="0" anchor="ctr"/>
          <a:lstStyle/>
          <a:p>
            <a:pPr marL="0" indent="0">
              <a:buNone/>
            </a:pPr>
            <a:r>
              <a:rPr lang="en-US" sz="1450" dirty="0">
                <a:solidFill>
                  <a:srgbClr val="0B2A4A"/>
                </a:solidFill>
                <a:latin typeface="Calibri" pitchFamily="34" charset="0"/>
                <a:ea typeface="Calibri" pitchFamily="34" charset="-122"/>
                <a:cs typeface="Calibri" pitchFamily="34" charset="-120"/>
              </a:rPr>
              <a:t>Add a second input for a plane</a:t>
            </a:r>
            <a:endParaRPr lang="en-US" sz="1450" dirty="0"/>
          </a:p>
        </p:txBody>
      </p:sp>
      <p:sp>
        <p:nvSpPr>
          <p:cNvPr id="23" name="Shape 21"/>
          <p:cNvSpPr/>
          <p:nvPr/>
        </p:nvSpPr>
        <p:spPr>
          <a:xfrm>
            <a:off x="7498080" y="3913632"/>
            <a:ext cx="3977640" cy="630936"/>
          </a:xfrm>
          <a:prstGeom prst="roundRect">
            <a:avLst>
              <a:gd name="adj" fmla="val 8696"/>
            </a:avLst>
          </a:prstGeom>
          <a:solidFill>
            <a:srgbClr val="E5F0F4"/>
          </a:solidFill>
          <a:ln/>
        </p:spPr>
      </p:sp>
      <p:sp>
        <p:nvSpPr>
          <p:cNvPr id="24" name="Text 22"/>
          <p:cNvSpPr/>
          <p:nvPr/>
        </p:nvSpPr>
        <p:spPr>
          <a:xfrm>
            <a:off x="7498080" y="3913632"/>
            <a:ext cx="3977640" cy="630936"/>
          </a:xfrm>
          <a:prstGeom prst="rect">
            <a:avLst/>
          </a:prstGeom>
          <a:noFill/>
          <a:ln/>
        </p:spPr>
        <p:txBody>
          <a:bodyPr wrap="square" rtlCol="0" anchor="ctr"/>
          <a:lstStyle/>
          <a:p>
            <a:pPr marL="0" indent="0" algn="ctr">
              <a:buNone/>
            </a:pPr>
            <a:r>
              <a:rPr lang="en-US" sz="1500" b="1" dirty="0">
                <a:solidFill>
                  <a:srgbClr val="065A82"/>
                </a:solidFill>
                <a:latin typeface="Courier New" pitchFamily="34" charset="0"/>
                <a:ea typeface="Courier New" pitchFamily="34" charset="-122"/>
                <a:cs typeface="Courier New" pitchFamily="34" charset="-120"/>
              </a:rPr>
              <a:t>y = β₀ + β₁x₁ + β₂x₂</a:t>
            </a:r>
            <a:endParaRPr lang="en-US" sz="1500" dirty="0"/>
          </a:p>
        </p:txBody>
      </p:sp>
      <p:sp>
        <p:nvSpPr>
          <p:cNvPr id="25" name="Shape 23"/>
          <p:cNvSpPr/>
          <p:nvPr/>
        </p:nvSpPr>
        <p:spPr>
          <a:xfrm>
            <a:off x="905256" y="4645152"/>
            <a:ext cx="109728" cy="109728"/>
          </a:xfrm>
          <a:prstGeom prst="ellipse">
            <a:avLst/>
          </a:prstGeom>
          <a:solidFill>
            <a:srgbClr val="1C7293"/>
          </a:solidFill>
          <a:ln/>
        </p:spPr>
      </p:sp>
      <p:sp>
        <p:nvSpPr>
          <p:cNvPr id="26" name="Shape 24"/>
          <p:cNvSpPr/>
          <p:nvPr/>
        </p:nvSpPr>
        <p:spPr>
          <a:xfrm>
            <a:off x="457200" y="4846320"/>
            <a:ext cx="11247120" cy="868680"/>
          </a:xfrm>
          <a:prstGeom prst="roundRect">
            <a:avLst>
              <a:gd name="adj" fmla="val 8421"/>
            </a:avLst>
          </a:prstGeom>
          <a:solidFill>
            <a:srgbClr val="FFFFFF"/>
          </a:solidFill>
          <a:ln w="12700">
            <a:solidFill>
              <a:srgbClr val="D7E2E6"/>
            </a:solidFill>
            <a:prstDash val="solid"/>
          </a:ln>
        </p:spPr>
      </p:sp>
      <p:sp>
        <p:nvSpPr>
          <p:cNvPr id="27" name="Shape 25"/>
          <p:cNvSpPr/>
          <p:nvPr/>
        </p:nvSpPr>
        <p:spPr>
          <a:xfrm>
            <a:off x="685800" y="5006340"/>
            <a:ext cx="548640" cy="548640"/>
          </a:xfrm>
          <a:prstGeom prst="ellipse">
            <a:avLst/>
          </a:prstGeom>
          <a:solidFill>
            <a:srgbClr val="065A82"/>
          </a:solidFill>
          <a:ln/>
        </p:spPr>
      </p:sp>
      <p:sp>
        <p:nvSpPr>
          <p:cNvPr id="28" name="Text 26"/>
          <p:cNvSpPr/>
          <p:nvPr/>
        </p:nvSpPr>
        <p:spPr>
          <a:xfrm>
            <a:off x="685800" y="5006340"/>
            <a:ext cx="548640" cy="548640"/>
          </a:xfrm>
          <a:prstGeom prst="rect">
            <a:avLst/>
          </a:prstGeom>
          <a:noFill/>
          <a:ln/>
        </p:spPr>
        <p:txBody>
          <a:bodyPr wrap="square"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Text 27"/>
          <p:cNvSpPr/>
          <p:nvPr/>
        </p:nvSpPr>
        <p:spPr>
          <a:xfrm>
            <a:off x="1508760" y="4846320"/>
            <a:ext cx="5852160" cy="868680"/>
          </a:xfrm>
          <a:prstGeom prst="rect">
            <a:avLst/>
          </a:prstGeom>
          <a:noFill/>
          <a:ln/>
        </p:spPr>
        <p:txBody>
          <a:bodyPr wrap="square" rtlCol="0" anchor="ctr"/>
          <a:lstStyle/>
          <a:p>
            <a:pPr marL="0" indent="0">
              <a:buNone/>
            </a:pPr>
            <a:r>
              <a:rPr lang="en-US" sz="1450" b="1" dirty="0">
                <a:solidFill>
                  <a:srgbClr val="0B2A4A"/>
                </a:solidFill>
                <a:latin typeface="Calibri" pitchFamily="34" charset="0"/>
                <a:ea typeface="Calibri" pitchFamily="34" charset="-122"/>
                <a:cs typeface="Calibri" pitchFamily="34" charset="-120"/>
              </a:rPr>
              <a:t>Add a third input for 4D</a:t>
            </a:r>
            <a:endParaRPr lang="en-US" sz="1450" dirty="0"/>
          </a:p>
        </p:txBody>
      </p:sp>
      <p:sp>
        <p:nvSpPr>
          <p:cNvPr id="30" name="Shape 28"/>
          <p:cNvSpPr/>
          <p:nvPr/>
        </p:nvSpPr>
        <p:spPr>
          <a:xfrm>
            <a:off x="7498080" y="4965192"/>
            <a:ext cx="3977640" cy="630936"/>
          </a:xfrm>
          <a:prstGeom prst="roundRect">
            <a:avLst>
              <a:gd name="adj" fmla="val 8696"/>
            </a:avLst>
          </a:prstGeom>
          <a:solidFill>
            <a:srgbClr val="E5F0F4"/>
          </a:solidFill>
          <a:ln/>
        </p:spPr>
      </p:sp>
      <p:sp>
        <p:nvSpPr>
          <p:cNvPr id="31" name="Text 29"/>
          <p:cNvSpPr/>
          <p:nvPr/>
        </p:nvSpPr>
        <p:spPr>
          <a:xfrm>
            <a:off x="7498080" y="4965192"/>
            <a:ext cx="3977640" cy="630936"/>
          </a:xfrm>
          <a:prstGeom prst="rect">
            <a:avLst/>
          </a:prstGeom>
          <a:noFill/>
          <a:ln/>
        </p:spPr>
        <p:txBody>
          <a:bodyPr wrap="square" rtlCol="0" anchor="ctr"/>
          <a:lstStyle/>
          <a:p>
            <a:pPr marL="0" indent="0" algn="ctr">
              <a:buNone/>
            </a:pPr>
            <a:r>
              <a:rPr lang="en-US" sz="1500" b="1" dirty="0">
                <a:solidFill>
                  <a:srgbClr val="065A82"/>
                </a:solidFill>
                <a:latin typeface="Courier New" pitchFamily="34" charset="0"/>
                <a:ea typeface="Courier New" pitchFamily="34" charset="-122"/>
                <a:cs typeface="Courier New" pitchFamily="34" charset="-120"/>
              </a:rPr>
              <a:t>y = β₀ + β₁x₁ + β₂x₂ + β₃x₃</a:t>
            </a:r>
            <a:endParaRPr lang="en-US" sz="1500" dirty="0"/>
          </a:p>
        </p:txBody>
      </p:sp>
      <p:sp>
        <p:nvSpPr>
          <p:cNvPr id="32" name="Text 30"/>
          <p:cNvSpPr/>
          <p:nvPr/>
        </p:nvSpPr>
        <p:spPr>
          <a:xfrm>
            <a:off x="457200" y="5943600"/>
            <a:ext cx="11247120" cy="365760"/>
          </a:xfrm>
          <a:prstGeom prst="rect">
            <a:avLst/>
          </a:prstGeom>
          <a:noFill/>
          <a:ln/>
        </p:spPr>
        <p:txBody>
          <a:bodyPr wrap="square" rtlCol="0" anchor="ctr"/>
          <a:lstStyle/>
          <a:p>
            <a:pPr marL="0" indent="0" algn="ctr">
              <a:buNone/>
            </a:pPr>
            <a:r>
              <a:rPr lang="en-US" sz="1300" i="1" dirty="0">
                <a:solidFill>
                  <a:srgbClr val="5C6B73"/>
                </a:solidFill>
                <a:latin typeface="Calibri" pitchFamily="34" charset="0"/>
                <a:ea typeface="Calibri" pitchFamily="34" charset="-122"/>
                <a:cs typeface="Calibri" pitchFamily="34" charset="-120"/>
              </a:rPr>
              <a:t>Each additional input column simply adds one more “β×x” term to the equation.</a:t>
            </a:r>
            <a:endParaRPr lang="en-US" sz="1300" dirty="0"/>
          </a:p>
        </p:txBody>
      </p:sp>
      <p:sp>
        <p:nvSpPr>
          <p:cNvPr id="33" name="Text 31"/>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5C6B73"/>
                </a:solidFill>
                <a:latin typeface="Calibri" pitchFamily="34" charset="0"/>
                <a:ea typeface="Calibri" pitchFamily="34" charset="-122"/>
                <a:cs typeface="Calibri" pitchFamily="34" charset="-120"/>
              </a:rPr>
              <a:t>Multiple Linear Regression</a:t>
            </a:r>
            <a:endParaRPr lang="en-US" sz="900" dirty="0"/>
          </a:p>
        </p:txBody>
      </p:sp>
      <p:sp>
        <p:nvSpPr>
          <p:cNvPr id="34" name="Text 32"/>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7</a:t>
            </a:r>
            <a:endParaRPr lang="en-US" sz="9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A4A"/>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365760"/>
          </a:xfrm>
          <a:prstGeom prst="roundRect">
            <a:avLst>
              <a:gd name="adj" fmla="val 20000"/>
            </a:avLst>
          </a:prstGeom>
          <a:solidFill>
            <a:srgbClr val="13416B"/>
          </a:solidFill>
          <a:ln/>
        </p:spPr>
      </p:sp>
      <p:sp>
        <p:nvSpPr>
          <p:cNvPr id="3" name="Text 1"/>
          <p:cNvSpPr/>
          <p:nvPr/>
        </p:nvSpPr>
        <p:spPr>
          <a:xfrm>
            <a:off x="457200" y="411480"/>
            <a:ext cx="2103120" cy="365760"/>
          </a:xfrm>
          <a:prstGeom prst="rect">
            <a:avLst/>
          </a:prstGeom>
          <a:noFill/>
          <a:ln/>
        </p:spPr>
        <p:txBody>
          <a:bodyPr wrap="square" rtlCol="0" anchor="ctr"/>
          <a:lstStyle/>
          <a:p>
            <a:pPr marL="0" indent="0" algn="ctr">
              <a:buNone/>
            </a:pPr>
            <a:r>
              <a:rPr lang="en-US" sz="1100" b="1" kern="0" spc="100" dirty="0">
                <a:solidFill>
                  <a:srgbClr val="F2A93B"/>
                </a:solidFill>
                <a:latin typeface="Calibri" pitchFamily="34" charset="0"/>
                <a:ea typeface="Calibri" pitchFamily="34" charset="-122"/>
                <a:cs typeface="Calibri" pitchFamily="34" charset="-120"/>
              </a:rPr>
              <a:t>GENERALIZATION</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General Equation for n Input Columns</a:t>
            </a:r>
            <a:endParaRPr lang="en-US" sz="3000" dirty="0"/>
          </a:p>
        </p:txBody>
      </p:sp>
      <p:sp>
        <p:nvSpPr>
          <p:cNvPr id="5" name="Shape 3"/>
          <p:cNvSpPr/>
          <p:nvPr/>
        </p:nvSpPr>
        <p:spPr>
          <a:xfrm>
            <a:off x="1737360" y="1554480"/>
            <a:ext cx="8686800" cy="960120"/>
          </a:xfrm>
          <a:prstGeom prst="roundRect">
            <a:avLst>
              <a:gd name="adj" fmla="val 9524"/>
            </a:avLst>
          </a:prstGeom>
          <a:solidFill>
            <a:srgbClr val="0F3A5F"/>
          </a:solidFill>
          <a:ln w="19050">
            <a:solidFill>
              <a:srgbClr val="1C7293"/>
            </a:solidFill>
            <a:prstDash val="solid"/>
          </a:ln>
        </p:spPr>
      </p:sp>
      <p:sp>
        <p:nvSpPr>
          <p:cNvPr id="6" name="Text 4"/>
          <p:cNvSpPr/>
          <p:nvPr/>
        </p:nvSpPr>
        <p:spPr>
          <a:xfrm>
            <a:off x="1737360" y="1554480"/>
            <a:ext cx="8686800" cy="960120"/>
          </a:xfrm>
          <a:prstGeom prst="rect">
            <a:avLst/>
          </a:prstGeom>
          <a:noFill/>
          <a:ln/>
        </p:spPr>
        <p:txBody>
          <a:bodyPr wrap="square" rtlCol="0" anchor="ctr"/>
          <a:lstStyle/>
          <a:p>
            <a:pPr marL="0" indent="0" algn="ctr">
              <a:buNone/>
            </a:pPr>
            <a:r>
              <a:rPr lang="en-US" sz="2200" b="1" dirty="0">
                <a:solidFill>
                  <a:srgbClr val="FFFFFF"/>
                </a:solidFill>
                <a:latin typeface="Courier New" pitchFamily="34" charset="0"/>
                <a:ea typeface="Courier New" pitchFamily="34" charset="-122"/>
                <a:cs typeface="Courier New" pitchFamily="34" charset="-120"/>
              </a:rPr>
              <a:t>y = β₀ + β₁x₁ + β₂x₂ + β₃x₃ + … + βₙxₙ</a:t>
            </a:r>
            <a:endParaRPr lang="en-US" sz="2200" dirty="0"/>
          </a:p>
        </p:txBody>
      </p:sp>
      <p:sp>
        <p:nvSpPr>
          <p:cNvPr id="7" name="Text 5"/>
          <p:cNvSpPr/>
          <p:nvPr/>
        </p:nvSpPr>
        <p:spPr>
          <a:xfrm>
            <a:off x="457200" y="2697480"/>
            <a:ext cx="11247120" cy="320040"/>
          </a:xfrm>
          <a:prstGeom prst="rect">
            <a:avLst/>
          </a:prstGeom>
          <a:noFill/>
          <a:ln/>
        </p:spPr>
        <p:txBody>
          <a:bodyPr wrap="square" rtlCol="0" anchor="ctr"/>
          <a:lstStyle/>
          <a:p>
            <a:pPr marL="0" indent="0">
              <a:buNone/>
            </a:pPr>
            <a:r>
              <a:rPr lang="en-US" sz="1350" b="1" dirty="0">
                <a:solidFill>
                  <a:srgbClr val="F2A93B"/>
                </a:solidFill>
                <a:latin typeface="Calibri" pitchFamily="34" charset="0"/>
                <a:ea typeface="Calibri" pitchFamily="34" charset="-122"/>
                <a:cs typeface="Calibri" pitchFamily="34" charset="-120"/>
              </a:rPr>
              <a:t>Written as a matrix multiplication — for one row of data</a:t>
            </a:r>
            <a:endParaRPr lang="en-US" sz="1350" dirty="0"/>
          </a:p>
        </p:txBody>
      </p:sp>
      <p:sp>
        <p:nvSpPr>
          <p:cNvPr id="8" name="Shape 6"/>
          <p:cNvSpPr/>
          <p:nvPr/>
        </p:nvSpPr>
        <p:spPr>
          <a:xfrm>
            <a:off x="548640" y="3767328"/>
            <a:ext cx="0" cy="603504"/>
          </a:xfrm>
          <a:prstGeom prst="line">
            <a:avLst/>
          </a:prstGeom>
          <a:noFill/>
          <a:ln w="19050">
            <a:solidFill>
              <a:srgbClr val="9FBBCB"/>
            </a:solidFill>
            <a:prstDash val="solid"/>
          </a:ln>
        </p:spPr>
      </p:sp>
      <p:sp>
        <p:nvSpPr>
          <p:cNvPr id="9" name="Shape 7"/>
          <p:cNvSpPr/>
          <p:nvPr/>
        </p:nvSpPr>
        <p:spPr>
          <a:xfrm>
            <a:off x="548640" y="3767328"/>
            <a:ext cx="109728" cy="0"/>
          </a:xfrm>
          <a:prstGeom prst="line">
            <a:avLst/>
          </a:prstGeom>
          <a:noFill/>
          <a:ln w="19050">
            <a:solidFill>
              <a:srgbClr val="9FBBCB"/>
            </a:solidFill>
            <a:prstDash val="solid"/>
          </a:ln>
        </p:spPr>
      </p:sp>
      <p:sp>
        <p:nvSpPr>
          <p:cNvPr id="10" name="Shape 8"/>
          <p:cNvSpPr/>
          <p:nvPr/>
        </p:nvSpPr>
        <p:spPr>
          <a:xfrm>
            <a:off x="548640" y="4370832"/>
            <a:ext cx="109728" cy="0"/>
          </a:xfrm>
          <a:prstGeom prst="line">
            <a:avLst/>
          </a:prstGeom>
          <a:noFill/>
          <a:ln w="19050">
            <a:solidFill>
              <a:srgbClr val="9FBBCB"/>
            </a:solidFill>
            <a:prstDash val="solid"/>
          </a:ln>
        </p:spPr>
      </p:sp>
      <p:sp>
        <p:nvSpPr>
          <p:cNvPr id="11" name="Text 9"/>
          <p:cNvSpPr/>
          <p:nvPr/>
        </p:nvSpPr>
        <p:spPr>
          <a:xfrm>
            <a:off x="685800" y="3813048"/>
            <a:ext cx="777240" cy="512064"/>
          </a:xfrm>
          <a:prstGeom prst="rect">
            <a:avLst/>
          </a:prstGeom>
          <a:noFill/>
          <a:ln/>
        </p:spPr>
        <p:txBody>
          <a:bodyPr wrap="square"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1</a:t>
            </a:r>
            <a:endParaRPr lang="en-US" sz="1500" dirty="0"/>
          </a:p>
        </p:txBody>
      </p:sp>
      <p:sp>
        <p:nvSpPr>
          <p:cNvPr id="12" name="Text 10"/>
          <p:cNvSpPr/>
          <p:nvPr/>
        </p:nvSpPr>
        <p:spPr>
          <a:xfrm>
            <a:off x="1463040" y="3813048"/>
            <a:ext cx="777240" cy="512064"/>
          </a:xfrm>
          <a:prstGeom prst="rect">
            <a:avLst/>
          </a:prstGeom>
          <a:noFill/>
          <a:ln/>
        </p:spPr>
        <p:txBody>
          <a:bodyPr wrap="square"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x₁</a:t>
            </a:r>
            <a:endParaRPr lang="en-US" sz="1500" dirty="0"/>
          </a:p>
        </p:txBody>
      </p:sp>
      <p:sp>
        <p:nvSpPr>
          <p:cNvPr id="13" name="Text 11"/>
          <p:cNvSpPr/>
          <p:nvPr/>
        </p:nvSpPr>
        <p:spPr>
          <a:xfrm>
            <a:off x="2240280" y="3813048"/>
            <a:ext cx="777240" cy="512064"/>
          </a:xfrm>
          <a:prstGeom prst="rect">
            <a:avLst/>
          </a:prstGeom>
          <a:noFill/>
          <a:ln/>
        </p:spPr>
        <p:txBody>
          <a:bodyPr wrap="square"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x₂</a:t>
            </a:r>
            <a:endParaRPr lang="en-US" sz="1500" dirty="0"/>
          </a:p>
        </p:txBody>
      </p:sp>
      <p:sp>
        <p:nvSpPr>
          <p:cNvPr id="14" name="Text 12"/>
          <p:cNvSpPr/>
          <p:nvPr/>
        </p:nvSpPr>
        <p:spPr>
          <a:xfrm>
            <a:off x="3017520" y="3813048"/>
            <a:ext cx="777240" cy="512064"/>
          </a:xfrm>
          <a:prstGeom prst="rect">
            <a:avLst/>
          </a:prstGeom>
          <a:noFill/>
          <a:ln/>
        </p:spPr>
        <p:txBody>
          <a:bodyPr wrap="square"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a:t>
            </a:r>
            <a:endParaRPr lang="en-US" sz="1500" dirty="0"/>
          </a:p>
        </p:txBody>
      </p:sp>
      <p:sp>
        <p:nvSpPr>
          <p:cNvPr id="15" name="Text 13"/>
          <p:cNvSpPr/>
          <p:nvPr/>
        </p:nvSpPr>
        <p:spPr>
          <a:xfrm>
            <a:off x="3794760" y="3813048"/>
            <a:ext cx="777240" cy="512064"/>
          </a:xfrm>
          <a:prstGeom prst="rect">
            <a:avLst/>
          </a:prstGeom>
          <a:noFill/>
          <a:ln/>
        </p:spPr>
        <p:txBody>
          <a:bodyPr wrap="square"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xₙ</a:t>
            </a:r>
            <a:endParaRPr lang="en-US" sz="1500" dirty="0"/>
          </a:p>
        </p:txBody>
      </p:sp>
      <p:sp>
        <p:nvSpPr>
          <p:cNvPr id="16" name="Shape 14"/>
          <p:cNvSpPr/>
          <p:nvPr/>
        </p:nvSpPr>
        <p:spPr>
          <a:xfrm>
            <a:off x="4663440" y="3767328"/>
            <a:ext cx="0" cy="603504"/>
          </a:xfrm>
          <a:prstGeom prst="line">
            <a:avLst/>
          </a:prstGeom>
          <a:noFill/>
          <a:ln w="19050">
            <a:solidFill>
              <a:srgbClr val="9FBBCB"/>
            </a:solidFill>
            <a:prstDash val="solid"/>
          </a:ln>
        </p:spPr>
      </p:sp>
      <p:sp>
        <p:nvSpPr>
          <p:cNvPr id="17" name="Shape 15"/>
          <p:cNvSpPr/>
          <p:nvPr/>
        </p:nvSpPr>
        <p:spPr>
          <a:xfrm>
            <a:off x="4553712" y="3767328"/>
            <a:ext cx="109728" cy="0"/>
          </a:xfrm>
          <a:prstGeom prst="line">
            <a:avLst/>
          </a:prstGeom>
          <a:noFill/>
          <a:ln w="19050">
            <a:solidFill>
              <a:srgbClr val="9FBBCB"/>
            </a:solidFill>
            <a:prstDash val="solid"/>
          </a:ln>
        </p:spPr>
      </p:sp>
      <p:sp>
        <p:nvSpPr>
          <p:cNvPr id="18" name="Shape 16"/>
          <p:cNvSpPr/>
          <p:nvPr/>
        </p:nvSpPr>
        <p:spPr>
          <a:xfrm>
            <a:off x="4553712" y="4370832"/>
            <a:ext cx="109728" cy="0"/>
          </a:xfrm>
          <a:prstGeom prst="line">
            <a:avLst/>
          </a:prstGeom>
          <a:noFill/>
          <a:ln w="19050">
            <a:solidFill>
              <a:srgbClr val="9FBBCB"/>
            </a:solidFill>
            <a:prstDash val="solid"/>
          </a:ln>
        </p:spPr>
      </p:sp>
      <p:sp>
        <p:nvSpPr>
          <p:cNvPr id="19" name="Text 17"/>
          <p:cNvSpPr/>
          <p:nvPr/>
        </p:nvSpPr>
        <p:spPr>
          <a:xfrm>
            <a:off x="548640" y="4379976"/>
            <a:ext cx="4114800" cy="320040"/>
          </a:xfrm>
          <a:prstGeom prst="rect">
            <a:avLst/>
          </a:prstGeom>
          <a:noFill/>
          <a:ln/>
        </p:spPr>
        <p:txBody>
          <a:bodyPr wrap="square" rtlCol="0" anchor="ctr"/>
          <a:lstStyle/>
          <a:p>
            <a:pPr marL="0" indent="0" algn="ctr">
              <a:buNone/>
            </a:pPr>
            <a:r>
              <a:rPr lang="en-US" sz="950" i="1" dirty="0">
                <a:solidFill>
                  <a:srgbClr val="8FA6B3"/>
                </a:solidFill>
                <a:latin typeface="Calibri" pitchFamily="34" charset="0"/>
                <a:ea typeface="Calibri" pitchFamily="34" charset="-122"/>
                <a:cs typeface="Calibri" pitchFamily="34" charset="-120"/>
              </a:rPr>
              <a:t>row of X (features, with a leading 1 for the bias)</a:t>
            </a:r>
            <a:endParaRPr lang="en-US" sz="950" dirty="0"/>
          </a:p>
        </p:txBody>
      </p:sp>
      <p:sp>
        <p:nvSpPr>
          <p:cNvPr id="20" name="Text 18"/>
          <p:cNvSpPr/>
          <p:nvPr/>
        </p:nvSpPr>
        <p:spPr>
          <a:xfrm>
            <a:off x="4892040" y="3063240"/>
            <a:ext cx="274320" cy="2011680"/>
          </a:xfrm>
          <a:prstGeom prst="rect">
            <a:avLst/>
          </a:prstGeom>
          <a:noFill/>
          <a:ln/>
        </p:spPr>
        <p:txBody>
          <a:bodyPr wrap="square" rtlCol="0" anchor="ctr"/>
          <a:lstStyle/>
          <a:p>
            <a:pPr marL="0" indent="0" algn="ctr">
              <a:buNone/>
            </a:pPr>
            <a:r>
              <a:rPr lang="en-US" sz="2600" b="1" dirty="0">
                <a:solidFill>
                  <a:srgbClr val="F2A93B"/>
                </a:solidFill>
                <a:latin typeface="Calibri" pitchFamily="34" charset="0"/>
                <a:ea typeface="Calibri" pitchFamily="34" charset="-122"/>
                <a:cs typeface="Calibri" pitchFamily="34" charset="-120"/>
              </a:rPr>
              <a:t>·</a:t>
            </a:r>
            <a:endParaRPr lang="en-US" sz="2600" dirty="0"/>
          </a:p>
        </p:txBody>
      </p:sp>
      <p:sp>
        <p:nvSpPr>
          <p:cNvPr id="21" name="Shape 19"/>
          <p:cNvSpPr/>
          <p:nvPr/>
        </p:nvSpPr>
        <p:spPr>
          <a:xfrm>
            <a:off x="5257800" y="3063240"/>
            <a:ext cx="0" cy="2011680"/>
          </a:xfrm>
          <a:prstGeom prst="line">
            <a:avLst/>
          </a:prstGeom>
          <a:noFill/>
          <a:ln w="19050">
            <a:solidFill>
              <a:srgbClr val="9FBBCB"/>
            </a:solidFill>
            <a:prstDash val="solid"/>
          </a:ln>
        </p:spPr>
      </p:sp>
      <p:sp>
        <p:nvSpPr>
          <p:cNvPr id="22" name="Shape 20"/>
          <p:cNvSpPr/>
          <p:nvPr/>
        </p:nvSpPr>
        <p:spPr>
          <a:xfrm>
            <a:off x="5257800" y="3063240"/>
            <a:ext cx="109728" cy="0"/>
          </a:xfrm>
          <a:prstGeom prst="line">
            <a:avLst/>
          </a:prstGeom>
          <a:noFill/>
          <a:ln w="19050">
            <a:solidFill>
              <a:srgbClr val="9FBBCB"/>
            </a:solidFill>
            <a:prstDash val="solid"/>
          </a:ln>
        </p:spPr>
      </p:sp>
      <p:sp>
        <p:nvSpPr>
          <p:cNvPr id="23" name="Shape 21"/>
          <p:cNvSpPr/>
          <p:nvPr/>
        </p:nvSpPr>
        <p:spPr>
          <a:xfrm>
            <a:off x="5257800" y="5074920"/>
            <a:ext cx="109728" cy="0"/>
          </a:xfrm>
          <a:prstGeom prst="line">
            <a:avLst/>
          </a:prstGeom>
          <a:noFill/>
          <a:ln w="19050">
            <a:solidFill>
              <a:srgbClr val="9FBBCB"/>
            </a:solidFill>
            <a:prstDash val="solid"/>
          </a:ln>
        </p:spPr>
      </p:sp>
      <p:sp>
        <p:nvSpPr>
          <p:cNvPr id="24" name="Text 22"/>
          <p:cNvSpPr/>
          <p:nvPr/>
        </p:nvSpPr>
        <p:spPr>
          <a:xfrm>
            <a:off x="5367528" y="3063240"/>
            <a:ext cx="822960" cy="402336"/>
          </a:xfrm>
          <a:prstGeom prst="rect">
            <a:avLst/>
          </a:prstGeom>
          <a:noFill/>
          <a:ln/>
        </p:spPr>
        <p:txBody>
          <a:bodyPr wrap="square" rtlCol="0" anchor="ctr"/>
          <a:lstStyle/>
          <a:p>
            <a:pPr marL="0" indent="0" algn="ctr">
              <a:buNone/>
            </a:pPr>
            <a:r>
              <a:rPr lang="en-US" sz="1500" b="1" dirty="0">
                <a:solidFill>
                  <a:srgbClr val="F2A93B"/>
                </a:solidFill>
                <a:latin typeface="Courier New" pitchFamily="34" charset="0"/>
                <a:ea typeface="Courier New" pitchFamily="34" charset="-122"/>
                <a:cs typeface="Courier New" pitchFamily="34" charset="-120"/>
              </a:rPr>
              <a:t>β₀</a:t>
            </a:r>
            <a:endParaRPr lang="en-US" sz="1500" dirty="0"/>
          </a:p>
        </p:txBody>
      </p:sp>
      <p:sp>
        <p:nvSpPr>
          <p:cNvPr id="25" name="Text 23"/>
          <p:cNvSpPr/>
          <p:nvPr/>
        </p:nvSpPr>
        <p:spPr>
          <a:xfrm>
            <a:off x="5367528" y="3465576"/>
            <a:ext cx="822960" cy="402336"/>
          </a:xfrm>
          <a:prstGeom prst="rect">
            <a:avLst/>
          </a:prstGeom>
          <a:noFill/>
          <a:ln/>
        </p:spPr>
        <p:txBody>
          <a:bodyPr wrap="square" rtlCol="0" anchor="ctr"/>
          <a:lstStyle/>
          <a:p>
            <a:pPr marL="0" indent="0" algn="ctr">
              <a:buNone/>
            </a:pPr>
            <a:r>
              <a:rPr lang="en-US" sz="1500" b="1" dirty="0">
                <a:solidFill>
                  <a:srgbClr val="F2A93B"/>
                </a:solidFill>
                <a:latin typeface="Courier New" pitchFamily="34" charset="0"/>
                <a:ea typeface="Courier New" pitchFamily="34" charset="-122"/>
                <a:cs typeface="Courier New" pitchFamily="34" charset="-120"/>
              </a:rPr>
              <a:t>βᵢ</a:t>
            </a:r>
            <a:endParaRPr lang="en-US" sz="1500" dirty="0"/>
          </a:p>
        </p:txBody>
      </p:sp>
      <p:sp>
        <p:nvSpPr>
          <p:cNvPr id="26" name="Text 24"/>
          <p:cNvSpPr/>
          <p:nvPr/>
        </p:nvSpPr>
        <p:spPr>
          <a:xfrm>
            <a:off x="5367528" y="3867912"/>
            <a:ext cx="822960" cy="402336"/>
          </a:xfrm>
          <a:prstGeom prst="rect">
            <a:avLst/>
          </a:prstGeom>
          <a:noFill/>
          <a:ln/>
        </p:spPr>
        <p:txBody>
          <a:bodyPr wrap="square" rtlCol="0" anchor="ctr"/>
          <a:lstStyle/>
          <a:p>
            <a:pPr marL="0" indent="0" algn="ctr">
              <a:buNone/>
            </a:pPr>
            <a:r>
              <a:rPr lang="en-US" sz="1500" b="1" dirty="0">
                <a:solidFill>
                  <a:srgbClr val="F2A93B"/>
                </a:solidFill>
                <a:latin typeface="Courier New" pitchFamily="34" charset="0"/>
                <a:ea typeface="Courier New" pitchFamily="34" charset="-122"/>
                <a:cs typeface="Courier New" pitchFamily="34" charset="-120"/>
              </a:rPr>
              <a:t>β₂</a:t>
            </a:r>
            <a:endParaRPr lang="en-US" sz="1500" dirty="0"/>
          </a:p>
        </p:txBody>
      </p:sp>
      <p:sp>
        <p:nvSpPr>
          <p:cNvPr id="27" name="Text 25"/>
          <p:cNvSpPr/>
          <p:nvPr/>
        </p:nvSpPr>
        <p:spPr>
          <a:xfrm>
            <a:off x="5367528" y="4270248"/>
            <a:ext cx="822960" cy="402336"/>
          </a:xfrm>
          <a:prstGeom prst="rect">
            <a:avLst/>
          </a:prstGeom>
          <a:noFill/>
          <a:ln/>
        </p:spPr>
        <p:txBody>
          <a:bodyPr wrap="square" rtlCol="0" anchor="ctr"/>
          <a:lstStyle/>
          <a:p>
            <a:pPr marL="0" indent="0" algn="ctr">
              <a:buNone/>
            </a:pPr>
            <a:r>
              <a:rPr lang="en-US" sz="1500" b="1" dirty="0">
                <a:solidFill>
                  <a:srgbClr val="F2A93B"/>
                </a:solidFill>
                <a:latin typeface="Courier New" pitchFamily="34" charset="0"/>
                <a:ea typeface="Courier New" pitchFamily="34" charset="-122"/>
                <a:cs typeface="Courier New" pitchFamily="34" charset="-120"/>
              </a:rPr>
              <a:t>⋮</a:t>
            </a:r>
            <a:endParaRPr lang="en-US" sz="1500" dirty="0"/>
          </a:p>
        </p:txBody>
      </p:sp>
      <p:sp>
        <p:nvSpPr>
          <p:cNvPr id="28" name="Text 26"/>
          <p:cNvSpPr/>
          <p:nvPr/>
        </p:nvSpPr>
        <p:spPr>
          <a:xfrm>
            <a:off x="5367528" y="4672584"/>
            <a:ext cx="822960" cy="402336"/>
          </a:xfrm>
          <a:prstGeom prst="rect">
            <a:avLst/>
          </a:prstGeom>
          <a:noFill/>
          <a:ln/>
        </p:spPr>
        <p:txBody>
          <a:bodyPr wrap="square" rtlCol="0" anchor="ctr"/>
          <a:lstStyle/>
          <a:p>
            <a:pPr marL="0" indent="0" algn="ctr">
              <a:buNone/>
            </a:pPr>
            <a:r>
              <a:rPr lang="en-US" sz="1500" b="1" dirty="0">
                <a:solidFill>
                  <a:srgbClr val="F2A93B"/>
                </a:solidFill>
                <a:latin typeface="Courier New" pitchFamily="34" charset="0"/>
                <a:ea typeface="Courier New" pitchFamily="34" charset="-122"/>
                <a:cs typeface="Courier New" pitchFamily="34" charset="-120"/>
              </a:rPr>
              <a:t>βₙ</a:t>
            </a:r>
            <a:endParaRPr lang="en-US" sz="1500" dirty="0"/>
          </a:p>
        </p:txBody>
      </p:sp>
      <p:sp>
        <p:nvSpPr>
          <p:cNvPr id="29" name="Shape 27"/>
          <p:cNvSpPr/>
          <p:nvPr/>
        </p:nvSpPr>
        <p:spPr>
          <a:xfrm>
            <a:off x="6236208" y="3063240"/>
            <a:ext cx="0" cy="2011680"/>
          </a:xfrm>
          <a:prstGeom prst="line">
            <a:avLst/>
          </a:prstGeom>
          <a:noFill/>
          <a:ln w="19050">
            <a:solidFill>
              <a:srgbClr val="9FBBCB"/>
            </a:solidFill>
            <a:prstDash val="solid"/>
          </a:ln>
        </p:spPr>
      </p:sp>
      <p:sp>
        <p:nvSpPr>
          <p:cNvPr id="30" name="Shape 28"/>
          <p:cNvSpPr/>
          <p:nvPr/>
        </p:nvSpPr>
        <p:spPr>
          <a:xfrm>
            <a:off x="6126480" y="3063240"/>
            <a:ext cx="109728" cy="0"/>
          </a:xfrm>
          <a:prstGeom prst="line">
            <a:avLst/>
          </a:prstGeom>
          <a:noFill/>
          <a:ln w="19050">
            <a:solidFill>
              <a:srgbClr val="9FBBCB"/>
            </a:solidFill>
            <a:prstDash val="solid"/>
          </a:ln>
        </p:spPr>
      </p:sp>
      <p:sp>
        <p:nvSpPr>
          <p:cNvPr id="31" name="Shape 29"/>
          <p:cNvSpPr/>
          <p:nvPr/>
        </p:nvSpPr>
        <p:spPr>
          <a:xfrm>
            <a:off x="6126480" y="5074920"/>
            <a:ext cx="109728" cy="0"/>
          </a:xfrm>
          <a:prstGeom prst="line">
            <a:avLst/>
          </a:prstGeom>
          <a:noFill/>
          <a:ln w="19050">
            <a:solidFill>
              <a:srgbClr val="9FBBCB"/>
            </a:solidFill>
            <a:prstDash val="solid"/>
          </a:ln>
        </p:spPr>
      </p:sp>
      <p:sp>
        <p:nvSpPr>
          <p:cNvPr id="32" name="Text 30"/>
          <p:cNvSpPr/>
          <p:nvPr/>
        </p:nvSpPr>
        <p:spPr>
          <a:xfrm>
            <a:off x="5120640" y="5129784"/>
            <a:ext cx="1280160" cy="457200"/>
          </a:xfrm>
          <a:prstGeom prst="rect">
            <a:avLst/>
          </a:prstGeom>
          <a:noFill/>
          <a:ln/>
        </p:spPr>
        <p:txBody>
          <a:bodyPr wrap="square" rtlCol="0" anchor="ctr"/>
          <a:lstStyle/>
          <a:p>
            <a:pPr marL="0" indent="0" algn="ctr">
              <a:buNone/>
            </a:pPr>
            <a:r>
              <a:rPr lang="en-US" sz="950" i="1" dirty="0">
                <a:solidFill>
                  <a:srgbClr val="8FA6B3"/>
                </a:solidFill>
                <a:latin typeface="Calibri" pitchFamily="34" charset="0"/>
                <a:ea typeface="Calibri" pitchFamily="34" charset="-122"/>
                <a:cs typeface="Calibri" pitchFamily="34" charset="-120"/>
              </a:rPr>
              <a:t>column of β</a:t>
            </a:r>
            <a:endParaRPr lang="en-US" sz="950" dirty="0"/>
          </a:p>
          <a:p>
            <a:pPr marL="0" indent="0" algn="ctr">
              <a:buNone/>
            </a:pPr>
            <a:r>
              <a:rPr lang="en-US" sz="950" i="1" dirty="0">
                <a:solidFill>
                  <a:srgbClr val="8FA6B3"/>
                </a:solidFill>
                <a:latin typeface="Calibri" pitchFamily="34" charset="0"/>
                <a:ea typeface="Calibri" pitchFamily="34" charset="-122"/>
                <a:cs typeface="Calibri" pitchFamily="34" charset="-120"/>
              </a:rPr>
              <a:t>coefficients</a:t>
            </a:r>
            <a:endParaRPr lang="en-US" sz="950" dirty="0"/>
          </a:p>
        </p:txBody>
      </p:sp>
      <p:sp>
        <p:nvSpPr>
          <p:cNvPr id="33" name="Text 31"/>
          <p:cNvSpPr/>
          <p:nvPr/>
        </p:nvSpPr>
        <p:spPr>
          <a:xfrm>
            <a:off x="548640" y="4754880"/>
            <a:ext cx="4434840" cy="685800"/>
          </a:xfrm>
          <a:prstGeom prst="rect">
            <a:avLst/>
          </a:prstGeom>
          <a:noFill/>
          <a:ln/>
        </p:spPr>
        <p:txBody>
          <a:bodyPr wrap="square" rtlCol="0" anchor="ctr"/>
          <a:lstStyle/>
          <a:p>
            <a:pPr marL="0" indent="0">
              <a:lnSpc>
                <a:spcPts val="1400"/>
              </a:lnSpc>
              <a:buNone/>
            </a:pPr>
            <a:r>
              <a:rPr lang="en-US" sz="1150" i="1" dirty="0">
                <a:solidFill>
                  <a:srgbClr val="9FBBCB"/>
                </a:solidFill>
                <a:latin typeface="Calibri" pitchFamily="34" charset="0"/>
                <a:ea typeface="Calibri" pitchFamily="34" charset="-122"/>
                <a:cs typeface="Calibri" pitchFamily="34" charset="-120"/>
              </a:rPr>
              <a:t>Multiply each feature by its matching β, then add everything up — that sum is the predicted y for that row.</a:t>
            </a:r>
            <a:endParaRPr lang="en-US" sz="1150" dirty="0"/>
          </a:p>
        </p:txBody>
      </p:sp>
      <p:sp>
        <p:nvSpPr>
          <p:cNvPr id="34" name="Text 32"/>
          <p:cNvSpPr/>
          <p:nvPr/>
        </p:nvSpPr>
        <p:spPr>
          <a:xfrm>
            <a:off x="6510528" y="3063240"/>
            <a:ext cx="365760" cy="201168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35" name="Shape 33"/>
          <p:cNvSpPr/>
          <p:nvPr/>
        </p:nvSpPr>
        <p:spPr>
          <a:xfrm>
            <a:off x="6967728" y="3794760"/>
            <a:ext cx="914400" cy="548640"/>
          </a:xfrm>
          <a:prstGeom prst="roundRect">
            <a:avLst>
              <a:gd name="adj" fmla="val 13333"/>
            </a:avLst>
          </a:prstGeom>
          <a:solidFill>
            <a:srgbClr val="065A82"/>
          </a:solidFill>
          <a:ln/>
        </p:spPr>
      </p:sp>
      <p:sp>
        <p:nvSpPr>
          <p:cNvPr id="36" name="Text 34"/>
          <p:cNvSpPr/>
          <p:nvPr/>
        </p:nvSpPr>
        <p:spPr>
          <a:xfrm>
            <a:off x="6967728" y="3794760"/>
            <a:ext cx="914400" cy="548640"/>
          </a:xfrm>
          <a:prstGeom prst="rect">
            <a:avLst/>
          </a:prstGeom>
          <a:noFill/>
          <a:ln/>
        </p:spPr>
        <p:txBody>
          <a:bodyPr wrap="square" rtlCol="0" anchor="ctr"/>
          <a:lstStyle/>
          <a:p>
            <a:pPr marL="0" indent="0" algn="ctr">
              <a:buNone/>
            </a:pPr>
            <a:r>
              <a:rPr lang="en-US" sz="1800" b="1" dirty="0">
                <a:solidFill>
                  <a:srgbClr val="FFFFFF"/>
                </a:solidFill>
                <a:latin typeface="Courier New" pitchFamily="34" charset="0"/>
                <a:ea typeface="Courier New" pitchFamily="34" charset="-122"/>
                <a:cs typeface="Courier New" pitchFamily="34" charset="-120"/>
              </a:rPr>
              <a:t>y</a:t>
            </a:r>
            <a:endParaRPr lang="en-US" sz="1800" dirty="0"/>
          </a:p>
        </p:txBody>
      </p:sp>
      <p:sp>
        <p:nvSpPr>
          <p:cNvPr id="37" name="Text 35"/>
          <p:cNvSpPr/>
          <p:nvPr/>
        </p:nvSpPr>
        <p:spPr>
          <a:xfrm>
            <a:off x="7955280" y="2697480"/>
            <a:ext cx="3749040" cy="320040"/>
          </a:xfrm>
          <a:prstGeom prst="rect">
            <a:avLst/>
          </a:prstGeom>
          <a:noFill/>
          <a:ln/>
        </p:spPr>
        <p:txBody>
          <a:bodyPr wrap="square" rtlCol="0" anchor="ctr"/>
          <a:lstStyle/>
          <a:p>
            <a:pPr marL="0" indent="0">
              <a:buNone/>
            </a:pPr>
            <a:r>
              <a:rPr lang="en-US" sz="1300" b="1" dirty="0">
                <a:solidFill>
                  <a:srgbClr val="F2A93B"/>
                </a:solidFill>
                <a:latin typeface="Calibri" pitchFamily="34" charset="0"/>
                <a:ea typeface="Calibri" pitchFamily="34" charset="-122"/>
                <a:cs typeface="Calibri" pitchFamily="34" charset="-120"/>
              </a:rPr>
              <a:t>What each symbol means</a:t>
            </a:r>
            <a:endParaRPr lang="en-US" sz="1300" dirty="0"/>
          </a:p>
        </p:txBody>
      </p:sp>
      <p:sp>
        <p:nvSpPr>
          <p:cNvPr id="38" name="Shape 36"/>
          <p:cNvSpPr/>
          <p:nvPr/>
        </p:nvSpPr>
        <p:spPr>
          <a:xfrm>
            <a:off x="7955280" y="3063240"/>
            <a:ext cx="1097280" cy="548640"/>
          </a:xfrm>
          <a:prstGeom prst="roundRect">
            <a:avLst>
              <a:gd name="adj" fmla="val 10000"/>
            </a:avLst>
          </a:prstGeom>
          <a:solidFill>
            <a:srgbClr val="0F3A5F"/>
          </a:solidFill>
          <a:ln w="9525">
            <a:solidFill>
              <a:srgbClr val="1C7293"/>
            </a:solidFill>
            <a:prstDash val="solid"/>
          </a:ln>
        </p:spPr>
      </p:sp>
      <p:sp>
        <p:nvSpPr>
          <p:cNvPr id="39" name="Text 37"/>
          <p:cNvSpPr/>
          <p:nvPr/>
        </p:nvSpPr>
        <p:spPr>
          <a:xfrm>
            <a:off x="7955280" y="3063240"/>
            <a:ext cx="1097280" cy="548640"/>
          </a:xfrm>
          <a:prstGeom prst="rect">
            <a:avLst/>
          </a:prstGeom>
          <a:noFill/>
          <a:ln/>
        </p:spPr>
        <p:txBody>
          <a:bodyPr wrap="square" rtlCol="0" anchor="ctr"/>
          <a:lstStyle/>
          <a:p>
            <a:pPr marL="0" indent="0" algn="ctr">
              <a:buNone/>
            </a:pPr>
            <a:r>
              <a:rPr lang="en-US" sz="1250" b="1" dirty="0">
                <a:solidFill>
                  <a:srgbClr val="F2A93B"/>
                </a:solidFill>
                <a:latin typeface="Courier New" pitchFamily="34" charset="0"/>
                <a:ea typeface="Courier New" pitchFamily="34" charset="-122"/>
                <a:cs typeface="Courier New" pitchFamily="34" charset="-120"/>
              </a:rPr>
              <a:t>y</a:t>
            </a:r>
            <a:endParaRPr lang="en-US" sz="1250" dirty="0"/>
          </a:p>
        </p:txBody>
      </p:sp>
      <p:sp>
        <p:nvSpPr>
          <p:cNvPr id="40" name="Text 38"/>
          <p:cNvSpPr/>
          <p:nvPr/>
        </p:nvSpPr>
        <p:spPr>
          <a:xfrm>
            <a:off x="9144000" y="3063240"/>
            <a:ext cx="2560320" cy="548640"/>
          </a:xfrm>
          <a:prstGeom prst="rect">
            <a:avLst/>
          </a:prstGeom>
          <a:noFill/>
          <a:ln/>
        </p:spPr>
        <p:txBody>
          <a:bodyPr wrap="square" rtlCol="0" anchor="ctr"/>
          <a:lstStyle/>
          <a:p>
            <a:pPr marL="0" indent="0">
              <a:lnSpc>
                <a:spcPts val="1300"/>
              </a:lnSpc>
              <a:buNone/>
            </a:pPr>
            <a:r>
              <a:rPr lang="en-US" sz="1100" dirty="0">
                <a:solidFill>
                  <a:srgbClr val="D6E4EC"/>
                </a:solidFill>
                <a:latin typeface="Calibri" pitchFamily="34" charset="0"/>
                <a:ea typeface="Calibri" pitchFamily="34" charset="-122"/>
                <a:cs typeface="Calibri" pitchFamily="34" charset="-120"/>
              </a:rPr>
              <a:t>Output we predict</a:t>
            </a:r>
            <a:endParaRPr lang="en-US" sz="1100" dirty="0"/>
          </a:p>
        </p:txBody>
      </p:sp>
      <p:sp>
        <p:nvSpPr>
          <p:cNvPr id="41" name="Shape 39"/>
          <p:cNvSpPr/>
          <p:nvPr/>
        </p:nvSpPr>
        <p:spPr>
          <a:xfrm>
            <a:off x="7955280" y="3703320"/>
            <a:ext cx="1097280" cy="548640"/>
          </a:xfrm>
          <a:prstGeom prst="roundRect">
            <a:avLst>
              <a:gd name="adj" fmla="val 10000"/>
            </a:avLst>
          </a:prstGeom>
          <a:solidFill>
            <a:srgbClr val="0F3A5F"/>
          </a:solidFill>
          <a:ln w="9525">
            <a:solidFill>
              <a:srgbClr val="1C7293"/>
            </a:solidFill>
            <a:prstDash val="solid"/>
          </a:ln>
        </p:spPr>
      </p:sp>
      <p:sp>
        <p:nvSpPr>
          <p:cNvPr id="42" name="Text 40"/>
          <p:cNvSpPr/>
          <p:nvPr/>
        </p:nvSpPr>
        <p:spPr>
          <a:xfrm>
            <a:off x="7955280" y="3703320"/>
            <a:ext cx="1097280" cy="548640"/>
          </a:xfrm>
          <a:prstGeom prst="rect">
            <a:avLst/>
          </a:prstGeom>
          <a:noFill/>
          <a:ln/>
        </p:spPr>
        <p:txBody>
          <a:bodyPr wrap="square" rtlCol="0" anchor="ctr"/>
          <a:lstStyle/>
          <a:p>
            <a:pPr marL="0" indent="0" algn="ctr">
              <a:buNone/>
            </a:pPr>
            <a:r>
              <a:rPr lang="en-US" sz="1250" b="1" dirty="0">
                <a:solidFill>
                  <a:srgbClr val="F2A93B"/>
                </a:solidFill>
                <a:latin typeface="Courier New" pitchFamily="34" charset="0"/>
                <a:ea typeface="Courier New" pitchFamily="34" charset="-122"/>
                <a:cs typeface="Courier New" pitchFamily="34" charset="-120"/>
              </a:rPr>
              <a:t>x₁ … xₙ</a:t>
            </a:r>
            <a:endParaRPr lang="en-US" sz="1250" dirty="0"/>
          </a:p>
        </p:txBody>
      </p:sp>
      <p:sp>
        <p:nvSpPr>
          <p:cNvPr id="43" name="Text 41"/>
          <p:cNvSpPr/>
          <p:nvPr/>
        </p:nvSpPr>
        <p:spPr>
          <a:xfrm>
            <a:off x="9144000" y="3703320"/>
            <a:ext cx="2560320" cy="548640"/>
          </a:xfrm>
          <a:prstGeom prst="rect">
            <a:avLst/>
          </a:prstGeom>
          <a:noFill/>
          <a:ln/>
        </p:spPr>
        <p:txBody>
          <a:bodyPr wrap="square" rtlCol="0" anchor="ctr"/>
          <a:lstStyle/>
          <a:p>
            <a:pPr marL="0" indent="0">
              <a:lnSpc>
                <a:spcPts val="1300"/>
              </a:lnSpc>
              <a:buNone/>
            </a:pPr>
            <a:r>
              <a:rPr lang="en-US" sz="1100" dirty="0">
                <a:solidFill>
                  <a:srgbClr val="D6E4EC"/>
                </a:solidFill>
                <a:latin typeface="Calibri" pitchFamily="34" charset="0"/>
                <a:ea typeface="Calibri" pitchFamily="34" charset="-122"/>
                <a:cs typeface="Calibri" pitchFamily="34" charset="-120"/>
              </a:rPr>
              <a:t>The n input features</a:t>
            </a:r>
            <a:endParaRPr lang="en-US" sz="1100" dirty="0"/>
          </a:p>
        </p:txBody>
      </p:sp>
      <p:sp>
        <p:nvSpPr>
          <p:cNvPr id="44" name="Shape 42"/>
          <p:cNvSpPr/>
          <p:nvPr/>
        </p:nvSpPr>
        <p:spPr>
          <a:xfrm>
            <a:off x="7955280" y="4343400"/>
            <a:ext cx="1097280" cy="548640"/>
          </a:xfrm>
          <a:prstGeom prst="roundRect">
            <a:avLst>
              <a:gd name="adj" fmla="val 10000"/>
            </a:avLst>
          </a:prstGeom>
          <a:solidFill>
            <a:srgbClr val="0F3A5F"/>
          </a:solidFill>
          <a:ln w="9525">
            <a:solidFill>
              <a:srgbClr val="1C7293"/>
            </a:solidFill>
            <a:prstDash val="solid"/>
          </a:ln>
        </p:spPr>
      </p:sp>
      <p:sp>
        <p:nvSpPr>
          <p:cNvPr id="45" name="Text 43"/>
          <p:cNvSpPr/>
          <p:nvPr/>
        </p:nvSpPr>
        <p:spPr>
          <a:xfrm>
            <a:off x="7955280" y="4343400"/>
            <a:ext cx="1097280" cy="548640"/>
          </a:xfrm>
          <a:prstGeom prst="rect">
            <a:avLst/>
          </a:prstGeom>
          <a:noFill/>
          <a:ln/>
        </p:spPr>
        <p:txBody>
          <a:bodyPr wrap="square" rtlCol="0" anchor="ctr"/>
          <a:lstStyle/>
          <a:p>
            <a:pPr marL="0" indent="0" algn="ctr">
              <a:buNone/>
            </a:pPr>
            <a:r>
              <a:rPr lang="en-US" sz="1250" b="1" dirty="0">
                <a:solidFill>
                  <a:srgbClr val="F2A93B"/>
                </a:solidFill>
                <a:latin typeface="Courier New" pitchFamily="34" charset="0"/>
                <a:ea typeface="Courier New" pitchFamily="34" charset="-122"/>
                <a:cs typeface="Courier New" pitchFamily="34" charset="-120"/>
              </a:rPr>
              <a:t>β₀</a:t>
            </a:r>
            <a:endParaRPr lang="en-US" sz="1250" dirty="0"/>
          </a:p>
        </p:txBody>
      </p:sp>
      <p:sp>
        <p:nvSpPr>
          <p:cNvPr id="46" name="Text 44"/>
          <p:cNvSpPr/>
          <p:nvPr/>
        </p:nvSpPr>
        <p:spPr>
          <a:xfrm>
            <a:off x="9144000" y="4343400"/>
            <a:ext cx="2560320" cy="548640"/>
          </a:xfrm>
          <a:prstGeom prst="rect">
            <a:avLst/>
          </a:prstGeom>
          <a:noFill/>
          <a:ln/>
        </p:spPr>
        <p:txBody>
          <a:bodyPr wrap="square" rtlCol="0" anchor="ctr"/>
          <a:lstStyle/>
          <a:p>
            <a:pPr marL="0" indent="0">
              <a:lnSpc>
                <a:spcPts val="1300"/>
              </a:lnSpc>
              <a:buNone/>
            </a:pPr>
            <a:r>
              <a:rPr lang="en-US" sz="1100" dirty="0">
                <a:solidFill>
                  <a:srgbClr val="D6E4EC"/>
                </a:solidFill>
                <a:latin typeface="Calibri" pitchFamily="34" charset="0"/>
                <a:ea typeface="Calibri" pitchFamily="34" charset="-122"/>
                <a:cs typeface="Calibri" pitchFamily="34" charset="-120"/>
              </a:rPr>
              <a:t>Intercept (baseline)</a:t>
            </a:r>
            <a:endParaRPr lang="en-US" sz="1100" dirty="0"/>
          </a:p>
        </p:txBody>
      </p:sp>
      <p:sp>
        <p:nvSpPr>
          <p:cNvPr id="47" name="Shape 45"/>
          <p:cNvSpPr/>
          <p:nvPr/>
        </p:nvSpPr>
        <p:spPr>
          <a:xfrm>
            <a:off x="7955280" y="4983480"/>
            <a:ext cx="1097280" cy="548640"/>
          </a:xfrm>
          <a:prstGeom prst="roundRect">
            <a:avLst>
              <a:gd name="adj" fmla="val 10000"/>
            </a:avLst>
          </a:prstGeom>
          <a:solidFill>
            <a:srgbClr val="0F3A5F"/>
          </a:solidFill>
          <a:ln w="9525">
            <a:solidFill>
              <a:srgbClr val="1C7293"/>
            </a:solidFill>
            <a:prstDash val="solid"/>
          </a:ln>
        </p:spPr>
      </p:sp>
      <p:sp>
        <p:nvSpPr>
          <p:cNvPr id="48" name="Text 46"/>
          <p:cNvSpPr/>
          <p:nvPr/>
        </p:nvSpPr>
        <p:spPr>
          <a:xfrm>
            <a:off x="7955280" y="4983480"/>
            <a:ext cx="1097280" cy="548640"/>
          </a:xfrm>
          <a:prstGeom prst="rect">
            <a:avLst/>
          </a:prstGeom>
          <a:noFill/>
          <a:ln/>
        </p:spPr>
        <p:txBody>
          <a:bodyPr wrap="square" rtlCol="0" anchor="ctr"/>
          <a:lstStyle/>
          <a:p>
            <a:pPr marL="0" indent="0" algn="ctr">
              <a:buNone/>
            </a:pPr>
            <a:r>
              <a:rPr lang="en-US" sz="1250" b="1" dirty="0">
                <a:solidFill>
                  <a:srgbClr val="F2A93B"/>
                </a:solidFill>
                <a:latin typeface="Courier New" pitchFamily="34" charset="0"/>
                <a:ea typeface="Courier New" pitchFamily="34" charset="-122"/>
                <a:cs typeface="Courier New" pitchFamily="34" charset="-120"/>
              </a:rPr>
              <a:t>β₁ … βₙ</a:t>
            </a:r>
            <a:endParaRPr lang="en-US" sz="1250" dirty="0"/>
          </a:p>
        </p:txBody>
      </p:sp>
      <p:sp>
        <p:nvSpPr>
          <p:cNvPr id="49" name="Text 47"/>
          <p:cNvSpPr/>
          <p:nvPr/>
        </p:nvSpPr>
        <p:spPr>
          <a:xfrm>
            <a:off x="9144000" y="4983480"/>
            <a:ext cx="2560320" cy="548640"/>
          </a:xfrm>
          <a:prstGeom prst="rect">
            <a:avLst/>
          </a:prstGeom>
          <a:noFill/>
          <a:ln/>
        </p:spPr>
        <p:txBody>
          <a:bodyPr wrap="square" rtlCol="0" anchor="ctr"/>
          <a:lstStyle/>
          <a:p>
            <a:pPr marL="0" indent="0">
              <a:lnSpc>
                <a:spcPts val="1300"/>
              </a:lnSpc>
              <a:buNone/>
            </a:pPr>
            <a:r>
              <a:rPr lang="en-US" sz="1100" dirty="0">
                <a:solidFill>
                  <a:srgbClr val="D6E4EC"/>
                </a:solidFill>
                <a:latin typeface="Calibri" pitchFamily="34" charset="0"/>
                <a:ea typeface="Calibri" pitchFamily="34" charset="-122"/>
                <a:cs typeface="Calibri" pitchFamily="34" charset="-120"/>
              </a:rPr>
              <a:t>Weight of each feature</a:t>
            </a:r>
            <a:endParaRPr lang="en-US" sz="1100" dirty="0"/>
          </a:p>
        </p:txBody>
      </p:sp>
      <p:sp>
        <p:nvSpPr>
          <p:cNvPr id="50" name="Shape 48"/>
          <p:cNvSpPr/>
          <p:nvPr/>
        </p:nvSpPr>
        <p:spPr>
          <a:xfrm>
            <a:off x="457200" y="5715000"/>
            <a:ext cx="11247120" cy="685800"/>
          </a:xfrm>
          <a:prstGeom prst="roundRect">
            <a:avLst>
              <a:gd name="adj" fmla="val 10667"/>
            </a:avLst>
          </a:prstGeom>
          <a:solidFill>
            <a:srgbClr val="13416B"/>
          </a:solidFill>
          <a:ln/>
        </p:spPr>
      </p:sp>
      <p:sp>
        <p:nvSpPr>
          <p:cNvPr id="51" name="Text 49"/>
          <p:cNvSpPr/>
          <p:nvPr/>
        </p:nvSpPr>
        <p:spPr>
          <a:xfrm>
            <a:off x="640080" y="5715000"/>
            <a:ext cx="10881360" cy="6858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For n input columns, the model has exactly n + 1 unknowns to solve for: β₀, β₁, β₂, …, βₙ</a:t>
            </a:r>
            <a:endParaRPr lang="en-US" sz="1400" dirty="0"/>
          </a:p>
        </p:txBody>
      </p:sp>
      <p:sp>
        <p:nvSpPr>
          <p:cNvPr id="52" name="Text 50"/>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8FA6B3"/>
                </a:solidFill>
                <a:latin typeface="Calibri" pitchFamily="34" charset="0"/>
                <a:ea typeface="Calibri" pitchFamily="34" charset="-122"/>
                <a:cs typeface="Calibri" pitchFamily="34" charset="-120"/>
              </a:rPr>
              <a:t>Multiple Linear Regression</a:t>
            </a:r>
            <a:endParaRPr lang="en-US" sz="900" dirty="0"/>
          </a:p>
        </p:txBody>
      </p:sp>
      <p:sp>
        <p:nvSpPr>
          <p:cNvPr id="53" name="Text 51"/>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8FA6B3"/>
                </a:solidFill>
                <a:latin typeface="Calibri" pitchFamily="34" charset="0"/>
                <a:ea typeface="Calibri" pitchFamily="34" charset="-122"/>
                <a:cs typeface="Calibri" pitchFamily="34" charset="-120"/>
              </a:rPr>
              <a:t>8</a:t>
            </a:r>
            <a:endParaRPr lang="en-US" sz="9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365760"/>
          </a:xfrm>
          <a:prstGeom prst="roundRect">
            <a:avLst>
              <a:gd name="adj" fmla="val 20000"/>
            </a:avLst>
          </a:prstGeom>
          <a:solidFill>
            <a:srgbClr val="E5F0F4"/>
          </a:solidFill>
          <a:ln/>
        </p:spPr>
      </p:sp>
      <p:sp>
        <p:nvSpPr>
          <p:cNvPr id="3" name="Text 1"/>
          <p:cNvSpPr/>
          <p:nvPr/>
        </p:nvSpPr>
        <p:spPr>
          <a:xfrm>
            <a:off x="457200" y="411480"/>
            <a:ext cx="2103120" cy="365760"/>
          </a:xfrm>
          <a:prstGeom prst="rect">
            <a:avLst/>
          </a:prstGeom>
          <a:noFill/>
          <a:ln/>
        </p:spPr>
        <p:txBody>
          <a:bodyPr wrap="square" rtlCol="0" anchor="ctr"/>
          <a:lstStyle/>
          <a:p>
            <a:pPr marL="0" indent="0" algn="ctr">
              <a:buNone/>
            </a:pPr>
            <a:r>
              <a:rPr lang="en-US" sz="1100" b="1" kern="0" spc="100" dirty="0">
                <a:solidFill>
                  <a:srgbClr val="065A82"/>
                </a:solidFill>
                <a:latin typeface="Calibri" pitchFamily="34" charset="0"/>
                <a:ea typeface="Calibri" pitchFamily="34" charset="-122"/>
                <a:cs typeface="Calibri" pitchFamily="34" charset="-120"/>
              </a:rPr>
              <a:t>QUICK RULE</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3000" b="1" dirty="0">
                <a:solidFill>
                  <a:srgbClr val="0B2A4A"/>
                </a:solidFill>
                <a:latin typeface="Cambria" pitchFamily="34" charset="0"/>
                <a:ea typeface="Cambria" pitchFamily="34" charset="-122"/>
                <a:cs typeface="Cambria" pitchFamily="34" charset="-120"/>
              </a:rPr>
              <a:t>How Many Coefficients Do You Need to Find?</a:t>
            </a:r>
            <a:endParaRPr lang="en-US" sz="3000" dirty="0"/>
          </a:p>
        </p:txBody>
      </p:sp>
      <p:sp>
        <p:nvSpPr>
          <p:cNvPr id="5" name="Text 3"/>
          <p:cNvSpPr/>
          <p:nvPr/>
        </p:nvSpPr>
        <p:spPr>
          <a:xfrm>
            <a:off x="457200" y="1508760"/>
            <a:ext cx="11247120" cy="457200"/>
          </a:xfrm>
          <a:prstGeom prst="rect">
            <a:avLst/>
          </a:prstGeom>
          <a:noFill/>
          <a:ln/>
        </p:spPr>
        <p:txBody>
          <a:bodyPr wrap="square" rtlCol="0" anchor="ctr"/>
          <a:lstStyle/>
          <a:p>
            <a:pPr marL="0" indent="0">
              <a:buNone/>
            </a:pPr>
            <a:r>
              <a:rPr lang="en-US" sz="1400" dirty="0">
                <a:solidFill>
                  <a:srgbClr val="17232E"/>
                </a:solidFill>
                <a:latin typeface="Calibri" pitchFamily="34" charset="0"/>
                <a:ea typeface="Calibri" pitchFamily="34" charset="-122"/>
                <a:cs typeface="Calibri" pitchFamily="34" charset="-120"/>
              </a:rPr>
              <a:t>The rule is simple: count your input columns (n), then add one for the intercept.</a:t>
            </a:r>
            <a:endParaRPr lang="en-US" sz="1400" dirty="0"/>
          </a:p>
        </p:txBody>
      </p:sp>
      <p:sp>
        <p:nvSpPr>
          <p:cNvPr id="6" name="Shape 4"/>
          <p:cNvSpPr/>
          <p:nvPr/>
        </p:nvSpPr>
        <p:spPr>
          <a:xfrm>
            <a:off x="457200" y="2148840"/>
            <a:ext cx="2011680" cy="502920"/>
          </a:xfrm>
          <a:prstGeom prst="rect">
            <a:avLst/>
          </a:prstGeom>
          <a:solidFill>
            <a:srgbClr val="0B2A4A"/>
          </a:solidFill>
          <a:ln w="6350">
            <a:solidFill>
              <a:srgbClr val="FFFFFF"/>
            </a:solidFill>
            <a:prstDash val="solid"/>
          </a:ln>
        </p:spPr>
      </p:sp>
      <p:sp>
        <p:nvSpPr>
          <p:cNvPr id="7" name="Text 5"/>
          <p:cNvSpPr/>
          <p:nvPr/>
        </p:nvSpPr>
        <p:spPr>
          <a:xfrm>
            <a:off x="457200" y="2148840"/>
            <a:ext cx="201168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Input Columns</a:t>
            </a:r>
            <a:endParaRPr lang="en-US" sz="1300" dirty="0"/>
          </a:p>
        </p:txBody>
      </p:sp>
      <p:sp>
        <p:nvSpPr>
          <p:cNvPr id="8" name="Shape 6"/>
          <p:cNvSpPr/>
          <p:nvPr/>
        </p:nvSpPr>
        <p:spPr>
          <a:xfrm>
            <a:off x="2468880" y="2148840"/>
            <a:ext cx="6035040" cy="502920"/>
          </a:xfrm>
          <a:prstGeom prst="rect">
            <a:avLst/>
          </a:prstGeom>
          <a:solidFill>
            <a:srgbClr val="0B2A4A"/>
          </a:solidFill>
          <a:ln w="6350">
            <a:solidFill>
              <a:srgbClr val="FFFFFF"/>
            </a:solidFill>
            <a:prstDash val="solid"/>
          </a:ln>
        </p:spPr>
      </p:sp>
      <p:sp>
        <p:nvSpPr>
          <p:cNvPr id="9" name="Text 7"/>
          <p:cNvSpPr/>
          <p:nvPr/>
        </p:nvSpPr>
        <p:spPr>
          <a:xfrm>
            <a:off x="2468880" y="2148840"/>
            <a:ext cx="603504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Equation</a:t>
            </a:r>
            <a:endParaRPr lang="en-US" sz="1300" dirty="0"/>
          </a:p>
        </p:txBody>
      </p:sp>
      <p:sp>
        <p:nvSpPr>
          <p:cNvPr id="10" name="Shape 8"/>
          <p:cNvSpPr/>
          <p:nvPr/>
        </p:nvSpPr>
        <p:spPr>
          <a:xfrm>
            <a:off x="8503920" y="2148840"/>
            <a:ext cx="3200400" cy="502920"/>
          </a:xfrm>
          <a:prstGeom prst="rect">
            <a:avLst/>
          </a:prstGeom>
          <a:solidFill>
            <a:srgbClr val="0B2A4A"/>
          </a:solidFill>
          <a:ln w="6350">
            <a:solidFill>
              <a:srgbClr val="FFFFFF"/>
            </a:solidFill>
            <a:prstDash val="solid"/>
          </a:ln>
        </p:spPr>
      </p:sp>
      <p:sp>
        <p:nvSpPr>
          <p:cNvPr id="11" name="Text 9"/>
          <p:cNvSpPr/>
          <p:nvPr/>
        </p:nvSpPr>
        <p:spPr>
          <a:xfrm>
            <a:off x="8503920" y="2148840"/>
            <a:ext cx="3200400" cy="5029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Coefficients to Find</a:t>
            </a:r>
            <a:endParaRPr lang="en-US" sz="1300" dirty="0"/>
          </a:p>
        </p:txBody>
      </p:sp>
      <p:sp>
        <p:nvSpPr>
          <p:cNvPr id="12" name="Shape 10"/>
          <p:cNvSpPr/>
          <p:nvPr/>
        </p:nvSpPr>
        <p:spPr>
          <a:xfrm>
            <a:off x="457200" y="2651760"/>
            <a:ext cx="2011680" cy="594360"/>
          </a:xfrm>
          <a:prstGeom prst="rect">
            <a:avLst/>
          </a:prstGeom>
          <a:solidFill>
            <a:srgbClr val="F0F5F6"/>
          </a:solidFill>
          <a:ln w="6350">
            <a:solidFill>
              <a:srgbClr val="D7E2E6"/>
            </a:solidFill>
            <a:prstDash val="solid"/>
          </a:ln>
        </p:spPr>
      </p:sp>
      <p:sp>
        <p:nvSpPr>
          <p:cNvPr id="13" name="Text 11"/>
          <p:cNvSpPr/>
          <p:nvPr/>
        </p:nvSpPr>
        <p:spPr>
          <a:xfrm>
            <a:off x="457200" y="2651760"/>
            <a:ext cx="2011680" cy="594360"/>
          </a:xfrm>
          <a:prstGeom prst="rect">
            <a:avLst/>
          </a:prstGeom>
          <a:noFill/>
          <a:ln/>
        </p:spPr>
        <p:txBody>
          <a:bodyPr wrap="square" rtlCol="0" anchor="ctr"/>
          <a:lstStyle/>
          <a:p>
            <a:pPr marL="0" indent="0" algn="ctr">
              <a:buNone/>
            </a:pPr>
            <a:r>
              <a:rPr lang="en-US" sz="1350" dirty="0">
                <a:solidFill>
                  <a:srgbClr val="17232E"/>
                </a:solidFill>
                <a:latin typeface="Calibri" pitchFamily="34" charset="0"/>
                <a:ea typeface="Calibri" pitchFamily="34" charset="-122"/>
                <a:cs typeface="Calibri" pitchFamily="34" charset="-120"/>
              </a:rPr>
              <a:t>1</a:t>
            </a:r>
            <a:endParaRPr lang="en-US" sz="1350" dirty="0"/>
          </a:p>
        </p:txBody>
      </p:sp>
      <p:sp>
        <p:nvSpPr>
          <p:cNvPr id="14" name="Shape 12"/>
          <p:cNvSpPr/>
          <p:nvPr/>
        </p:nvSpPr>
        <p:spPr>
          <a:xfrm>
            <a:off x="2468880" y="2651760"/>
            <a:ext cx="6035040" cy="594360"/>
          </a:xfrm>
          <a:prstGeom prst="rect">
            <a:avLst/>
          </a:prstGeom>
          <a:solidFill>
            <a:srgbClr val="F0F5F6"/>
          </a:solidFill>
          <a:ln w="6350">
            <a:solidFill>
              <a:srgbClr val="D7E2E6"/>
            </a:solidFill>
            <a:prstDash val="solid"/>
          </a:ln>
        </p:spPr>
      </p:sp>
      <p:sp>
        <p:nvSpPr>
          <p:cNvPr id="15" name="Text 13"/>
          <p:cNvSpPr/>
          <p:nvPr/>
        </p:nvSpPr>
        <p:spPr>
          <a:xfrm>
            <a:off x="2468880" y="2651760"/>
            <a:ext cx="6035040" cy="594360"/>
          </a:xfrm>
          <a:prstGeom prst="rect">
            <a:avLst/>
          </a:prstGeom>
          <a:noFill/>
          <a:ln/>
        </p:spPr>
        <p:txBody>
          <a:bodyPr wrap="square" rtlCol="0" anchor="ctr"/>
          <a:lstStyle/>
          <a:p>
            <a:pPr marL="0" indent="0" algn="ctr">
              <a:buNone/>
            </a:pPr>
            <a:r>
              <a:rPr lang="en-US" sz="1350" dirty="0">
                <a:solidFill>
                  <a:srgbClr val="17232E"/>
                </a:solidFill>
                <a:latin typeface="Courier New" pitchFamily="34" charset="0"/>
                <a:ea typeface="Courier New" pitchFamily="34" charset="-122"/>
                <a:cs typeface="Courier New" pitchFamily="34" charset="-120"/>
              </a:rPr>
              <a:t>y = β₀ + β₁x₁</a:t>
            </a:r>
            <a:endParaRPr lang="en-US" sz="1350" dirty="0"/>
          </a:p>
        </p:txBody>
      </p:sp>
      <p:sp>
        <p:nvSpPr>
          <p:cNvPr id="16" name="Shape 14"/>
          <p:cNvSpPr/>
          <p:nvPr/>
        </p:nvSpPr>
        <p:spPr>
          <a:xfrm>
            <a:off x="8503920" y="2651760"/>
            <a:ext cx="3200400" cy="594360"/>
          </a:xfrm>
          <a:prstGeom prst="rect">
            <a:avLst/>
          </a:prstGeom>
          <a:solidFill>
            <a:srgbClr val="F0F5F6"/>
          </a:solidFill>
          <a:ln w="6350">
            <a:solidFill>
              <a:srgbClr val="D7E2E6"/>
            </a:solidFill>
            <a:prstDash val="solid"/>
          </a:ln>
        </p:spPr>
      </p:sp>
      <p:sp>
        <p:nvSpPr>
          <p:cNvPr id="17" name="Text 15"/>
          <p:cNvSpPr/>
          <p:nvPr/>
        </p:nvSpPr>
        <p:spPr>
          <a:xfrm>
            <a:off x="8503920" y="2651760"/>
            <a:ext cx="3200400" cy="594360"/>
          </a:xfrm>
          <a:prstGeom prst="rect">
            <a:avLst/>
          </a:prstGeom>
          <a:noFill/>
          <a:ln/>
        </p:spPr>
        <p:txBody>
          <a:bodyPr wrap="square" rtlCol="0" anchor="ctr"/>
          <a:lstStyle/>
          <a:p>
            <a:pPr marL="0" indent="0" algn="ctr">
              <a:buNone/>
            </a:pPr>
            <a:r>
              <a:rPr lang="en-US" sz="1350" dirty="0">
                <a:solidFill>
                  <a:srgbClr val="17232E"/>
                </a:solidFill>
                <a:latin typeface="Calibri" pitchFamily="34" charset="0"/>
                <a:ea typeface="Calibri" pitchFamily="34" charset="-122"/>
                <a:cs typeface="Calibri" pitchFamily="34" charset="-120"/>
              </a:rPr>
              <a:t>2</a:t>
            </a:r>
            <a:endParaRPr lang="en-US" sz="1350" dirty="0"/>
          </a:p>
        </p:txBody>
      </p:sp>
      <p:sp>
        <p:nvSpPr>
          <p:cNvPr id="18" name="Shape 16"/>
          <p:cNvSpPr/>
          <p:nvPr/>
        </p:nvSpPr>
        <p:spPr>
          <a:xfrm>
            <a:off x="457200" y="3246120"/>
            <a:ext cx="2011680" cy="594360"/>
          </a:xfrm>
          <a:prstGeom prst="rect">
            <a:avLst/>
          </a:prstGeom>
          <a:solidFill>
            <a:srgbClr val="FFFFFF"/>
          </a:solidFill>
          <a:ln w="6350">
            <a:solidFill>
              <a:srgbClr val="D7E2E6"/>
            </a:solidFill>
            <a:prstDash val="solid"/>
          </a:ln>
        </p:spPr>
      </p:sp>
      <p:sp>
        <p:nvSpPr>
          <p:cNvPr id="19" name="Text 17"/>
          <p:cNvSpPr/>
          <p:nvPr/>
        </p:nvSpPr>
        <p:spPr>
          <a:xfrm>
            <a:off x="457200" y="3246120"/>
            <a:ext cx="2011680" cy="594360"/>
          </a:xfrm>
          <a:prstGeom prst="rect">
            <a:avLst/>
          </a:prstGeom>
          <a:noFill/>
          <a:ln/>
        </p:spPr>
        <p:txBody>
          <a:bodyPr wrap="square" rtlCol="0" anchor="ctr"/>
          <a:lstStyle/>
          <a:p>
            <a:pPr marL="0" indent="0" algn="ctr">
              <a:buNone/>
            </a:pPr>
            <a:r>
              <a:rPr lang="en-US" sz="1350" dirty="0">
                <a:solidFill>
                  <a:srgbClr val="17232E"/>
                </a:solidFill>
                <a:latin typeface="Calibri" pitchFamily="34" charset="0"/>
                <a:ea typeface="Calibri" pitchFamily="34" charset="-122"/>
                <a:cs typeface="Calibri" pitchFamily="34" charset="-120"/>
              </a:rPr>
              <a:t>2</a:t>
            </a:r>
            <a:endParaRPr lang="en-US" sz="1350" dirty="0"/>
          </a:p>
        </p:txBody>
      </p:sp>
      <p:sp>
        <p:nvSpPr>
          <p:cNvPr id="20" name="Shape 18"/>
          <p:cNvSpPr/>
          <p:nvPr/>
        </p:nvSpPr>
        <p:spPr>
          <a:xfrm>
            <a:off x="2468880" y="3246120"/>
            <a:ext cx="6035040" cy="594360"/>
          </a:xfrm>
          <a:prstGeom prst="rect">
            <a:avLst/>
          </a:prstGeom>
          <a:solidFill>
            <a:srgbClr val="FFFFFF"/>
          </a:solidFill>
          <a:ln w="6350">
            <a:solidFill>
              <a:srgbClr val="D7E2E6"/>
            </a:solidFill>
            <a:prstDash val="solid"/>
          </a:ln>
        </p:spPr>
      </p:sp>
      <p:sp>
        <p:nvSpPr>
          <p:cNvPr id="21" name="Text 19"/>
          <p:cNvSpPr/>
          <p:nvPr/>
        </p:nvSpPr>
        <p:spPr>
          <a:xfrm>
            <a:off x="2468880" y="3246120"/>
            <a:ext cx="6035040" cy="594360"/>
          </a:xfrm>
          <a:prstGeom prst="rect">
            <a:avLst/>
          </a:prstGeom>
          <a:noFill/>
          <a:ln/>
        </p:spPr>
        <p:txBody>
          <a:bodyPr wrap="square" rtlCol="0" anchor="ctr"/>
          <a:lstStyle/>
          <a:p>
            <a:pPr marL="0" indent="0" algn="ctr">
              <a:buNone/>
            </a:pPr>
            <a:r>
              <a:rPr lang="en-US" sz="1350" dirty="0">
                <a:solidFill>
                  <a:srgbClr val="17232E"/>
                </a:solidFill>
                <a:latin typeface="Courier New" pitchFamily="34" charset="0"/>
                <a:ea typeface="Courier New" pitchFamily="34" charset="-122"/>
                <a:cs typeface="Courier New" pitchFamily="34" charset="-120"/>
              </a:rPr>
              <a:t>y = β₀ + β₁x₁ + β₂x₂</a:t>
            </a:r>
            <a:endParaRPr lang="en-US" sz="1350" dirty="0"/>
          </a:p>
        </p:txBody>
      </p:sp>
      <p:sp>
        <p:nvSpPr>
          <p:cNvPr id="22" name="Shape 20"/>
          <p:cNvSpPr/>
          <p:nvPr/>
        </p:nvSpPr>
        <p:spPr>
          <a:xfrm>
            <a:off x="8503920" y="3246120"/>
            <a:ext cx="3200400" cy="594360"/>
          </a:xfrm>
          <a:prstGeom prst="rect">
            <a:avLst/>
          </a:prstGeom>
          <a:solidFill>
            <a:srgbClr val="FFFFFF"/>
          </a:solidFill>
          <a:ln w="6350">
            <a:solidFill>
              <a:srgbClr val="D7E2E6"/>
            </a:solidFill>
            <a:prstDash val="solid"/>
          </a:ln>
        </p:spPr>
      </p:sp>
      <p:sp>
        <p:nvSpPr>
          <p:cNvPr id="23" name="Text 21"/>
          <p:cNvSpPr/>
          <p:nvPr/>
        </p:nvSpPr>
        <p:spPr>
          <a:xfrm>
            <a:off x="8503920" y="3246120"/>
            <a:ext cx="3200400" cy="594360"/>
          </a:xfrm>
          <a:prstGeom prst="rect">
            <a:avLst/>
          </a:prstGeom>
          <a:noFill/>
          <a:ln/>
        </p:spPr>
        <p:txBody>
          <a:bodyPr wrap="square" rtlCol="0" anchor="ctr"/>
          <a:lstStyle/>
          <a:p>
            <a:pPr marL="0" indent="0" algn="ctr">
              <a:buNone/>
            </a:pPr>
            <a:r>
              <a:rPr lang="en-US" sz="1350" dirty="0">
                <a:solidFill>
                  <a:srgbClr val="17232E"/>
                </a:solidFill>
                <a:latin typeface="Calibri" pitchFamily="34" charset="0"/>
                <a:ea typeface="Calibri" pitchFamily="34" charset="-122"/>
                <a:cs typeface="Calibri" pitchFamily="34" charset="-120"/>
              </a:rPr>
              <a:t>3</a:t>
            </a:r>
            <a:endParaRPr lang="en-US" sz="1350" dirty="0"/>
          </a:p>
        </p:txBody>
      </p:sp>
      <p:sp>
        <p:nvSpPr>
          <p:cNvPr id="24" name="Shape 22"/>
          <p:cNvSpPr/>
          <p:nvPr/>
        </p:nvSpPr>
        <p:spPr>
          <a:xfrm>
            <a:off x="457200" y="3840480"/>
            <a:ext cx="2011680" cy="594360"/>
          </a:xfrm>
          <a:prstGeom prst="rect">
            <a:avLst/>
          </a:prstGeom>
          <a:solidFill>
            <a:srgbClr val="F0F5F6"/>
          </a:solidFill>
          <a:ln w="6350">
            <a:solidFill>
              <a:srgbClr val="D7E2E6"/>
            </a:solidFill>
            <a:prstDash val="solid"/>
          </a:ln>
        </p:spPr>
      </p:sp>
      <p:sp>
        <p:nvSpPr>
          <p:cNvPr id="25" name="Text 23"/>
          <p:cNvSpPr/>
          <p:nvPr/>
        </p:nvSpPr>
        <p:spPr>
          <a:xfrm>
            <a:off x="457200" y="3840480"/>
            <a:ext cx="2011680" cy="594360"/>
          </a:xfrm>
          <a:prstGeom prst="rect">
            <a:avLst/>
          </a:prstGeom>
          <a:noFill/>
          <a:ln/>
        </p:spPr>
        <p:txBody>
          <a:bodyPr wrap="square" rtlCol="0" anchor="ctr"/>
          <a:lstStyle/>
          <a:p>
            <a:pPr marL="0" indent="0" algn="ctr">
              <a:buNone/>
            </a:pPr>
            <a:r>
              <a:rPr lang="en-US" sz="1350" dirty="0">
                <a:solidFill>
                  <a:srgbClr val="17232E"/>
                </a:solidFill>
                <a:latin typeface="Calibri" pitchFamily="34" charset="0"/>
                <a:ea typeface="Calibri" pitchFamily="34" charset="-122"/>
                <a:cs typeface="Calibri" pitchFamily="34" charset="-120"/>
              </a:rPr>
              <a:t>3</a:t>
            </a:r>
            <a:endParaRPr lang="en-US" sz="1350" dirty="0"/>
          </a:p>
        </p:txBody>
      </p:sp>
      <p:sp>
        <p:nvSpPr>
          <p:cNvPr id="26" name="Shape 24"/>
          <p:cNvSpPr/>
          <p:nvPr/>
        </p:nvSpPr>
        <p:spPr>
          <a:xfrm>
            <a:off x="2468880" y="3840480"/>
            <a:ext cx="6035040" cy="594360"/>
          </a:xfrm>
          <a:prstGeom prst="rect">
            <a:avLst/>
          </a:prstGeom>
          <a:solidFill>
            <a:srgbClr val="F0F5F6"/>
          </a:solidFill>
          <a:ln w="6350">
            <a:solidFill>
              <a:srgbClr val="D7E2E6"/>
            </a:solidFill>
            <a:prstDash val="solid"/>
          </a:ln>
        </p:spPr>
      </p:sp>
      <p:sp>
        <p:nvSpPr>
          <p:cNvPr id="27" name="Text 25"/>
          <p:cNvSpPr/>
          <p:nvPr/>
        </p:nvSpPr>
        <p:spPr>
          <a:xfrm>
            <a:off x="2468880" y="3840480"/>
            <a:ext cx="6035040" cy="594360"/>
          </a:xfrm>
          <a:prstGeom prst="rect">
            <a:avLst/>
          </a:prstGeom>
          <a:noFill/>
          <a:ln/>
        </p:spPr>
        <p:txBody>
          <a:bodyPr wrap="square" rtlCol="0" anchor="ctr"/>
          <a:lstStyle/>
          <a:p>
            <a:pPr marL="0" indent="0" algn="ctr">
              <a:buNone/>
            </a:pPr>
            <a:r>
              <a:rPr lang="en-US" sz="1350" dirty="0">
                <a:solidFill>
                  <a:srgbClr val="17232E"/>
                </a:solidFill>
                <a:latin typeface="Courier New" pitchFamily="34" charset="0"/>
                <a:ea typeface="Courier New" pitchFamily="34" charset="-122"/>
                <a:cs typeface="Courier New" pitchFamily="34" charset="-120"/>
              </a:rPr>
              <a:t>y = β₀ + β₁x₁ + β₂x₂ + β₃x₃</a:t>
            </a:r>
            <a:endParaRPr lang="en-US" sz="1350" dirty="0"/>
          </a:p>
        </p:txBody>
      </p:sp>
      <p:sp>
        <p:nvSpPr>
          <p:cNvPr id="28" name="Shape 26"/>
          <p:cNvSpPr/>
          <p:nvPr/>
        </p:nvSpPr>
        <p:spPr>
          <a:xfrm>
            <a:off x="8503920" y="3840480"/>
            <a:ext cx="3200400" cy="594360"/>
          </a:xfrm>
          <a:prstGeom prst="rect">
            <a:avLst/>
          </a:prstGeom>
          <a:solidFill>
            <a:srgbClr val="F0F5F6"/>
          </a:solidFill>
          <a:ln w="6350">
            <a:solidFill>
              <a:srgbClr val="D7E2E6"/>
            </a:solidFill>
            <a:prstDash val="solid"/>
          </a:ln>
        </p:spPr>
      </p:sp>
      <p:sp>
        <p:nvSpPr>
          <p:cNvPr id="29" name="Text 27"/>
          <p:cNvSpPr/>
          <p:nvPr/>
        </p:nvSpPr>
        <p:spPr>
          <a:xfrm>
            <a:off x="8503920" y="3840480"/>
            <a:ext cx="3200400" cy="594360"/>
          </a:xfrm>
          <a:prstGeom prst="rect">
            <a:avLst/>
          </a:prstGeom>
          <a:noFill/>
          <a:ln/>
        </p:spPr>
        <p:txBody>
          <a:bodyPr wrap="square" rtlCol="0" anchor="ctr"/>
          <a:lstStyle/>
          <a:p>
            <a:pPr marL="0" indent="0" algn="ctr">
              <a:buNone/>
            </a:pPr>
            <a:r>
              <a:rPr lang="en-US" sz="1350" dirty="0">
                <a:solidFill>
                  <a:srgbClr val="17232E"/>
                </a:solidFill>
                <a:latin typeface="Calibri" pitchFamily="34" charset="0"/>
                <a:ea typeface="Calibri" pitchFamily="34" charset="-122"/>
                <a:cs typeface="Calibri" pitchFamily="34" charset="-120"/>
              </a:rPr>
              <a:t>4</a:t>
            </a:r>
            <a:endParaRPr lang="en-US" sz="1350" dirty="0"/>
          </a:p>
        </p:txBody>
      </p:sp>
      <p:sp>
        <p:nvSpPr>
          <p:cNvPr id="30" name="Shape 28"/>
          <p:cNvSpPr/>
          <p:nvPr/>
        </p:nvSpPr>
        <p:spPr>
          <a:xfrm>
            <a:off x="457200" y="4434840"/>
            <a:ext cx="2011680" cy="594360"/>
          </a:xfrm>
          <a:prstGeom prst="rect">
            <a:avLst/>
          </a:prstGeom>
          <a:solidFill>
            <a:srgbClr val="FFF3E0"/>
          </a:solidFill>
          <a:ln w="6350">
            <a:solidFill>
              <a:srgbClr val="D7E2E6"/>
            </a:solidFill>
            <a:prstDash val="solid"/>
          </a:ln>
        </p:spPr>
      </p:sp>
      <p:sp>
        <p:nvSpPr>
          <p:cNvPr id="31" name="Text 29"/>
          <p:cNvSpPr/>
          <p:nvPr/>
        </p:nvSpPr>
        <p:spPr>
          <a:xfrm>
            <a:off x="457200" y="4434840"/>
            <a:ext cx="2011680" cy="594360"/>
          </a:xfrm>
          <a:prstGeom prst="rect">
            <a:avLst/>
          </a:prstGeom>
          <a:noFill/>
          <a:ln/>
        </p:spPr>
        <p:txBody>
          <a:bodyPr wrap="square" rtlCol="0" anchor="ctr"/>
          <a:lstStyle/>
          <a:p>
            <a:pPr marL="0" indent="0" algn="ctr">
              <a:buNone/>
            </a:pPr>
            <a:r>
              <a:rPr lang="en-US" sz="1350" b="1" dirty="0">
                <a:solidFill>
                  <a:srgbClr val="8A5A17"/>
                </a:solidFill>
                <a:latin typeface="Calibri" pitchFamily="34" charset="0"/>
                <a:ea typeface="Calibri" pitchFamily="34" charset="-122"/>
                <a:cs typeface="Calibri" pitchFamily="34" charset="-120"/>
              </a:rPr>
              <a:t>n</a:t>
            </a:r>
            <a:endParaRPr lang="en-US" sz="1350" dirty="0"/>
          </a:p>
        </p:txBody>
      </p:sp>
      <p:sp>
        <p:nvSpPr>
          <p:cNvPr id="32" name="Shape 30"/>
          <p:cNvSpPr/>
          <p:nvPr/>
        </p:nvSpPr>
        <p:spPr>
          <a:xfrm>
            <a:off x="2468880" y="4434840"/>
            <a:ext cx="6035040" cy="594360"/>
          </a:xfrm>
          <a:prstGeom prst="rect">
            <a:avLst/>
          </a:prstGeom>
          <a:solidFill>
            <a:srgbClr val="FFF3E0"/>
          </a:solidFill>
          <a:ln w="6350">
            <a:solidFill>
              <a:srgbClr val="D7E2E6"/>
            </a:solidFill>
            <a:prstDash val="solid"/>
          </a:ln>
        </p:spPr>
      </p:sp>
      <p:sp>
        <p:nvSpPr>
          <p:cNvPr id="33" name="Text 31"/>
          <p:cNvSpPr/>
          <p:nvPr/>
        </p:nvSpPr>
        <p:spPr>
          <a:xfrm>
            <a:off x="2468880" y="4434840"/>
            <a:ext cx="6035040" cy="594360"/>
          </a:xfrm>
          <a:prstGeom prst="rect">
            <a:avLst/>
          </a:prstGeom>
          <a:noFill/>
          <a:ln/>
        </p:spPr>
        <p:txBody>
          <a:bodyPr wrap="square" rtlCol="0" anchor="ctr"/>
          <a:lstStyle/>
          <a:p>
            <a:pPr marL="0" indent="0" algn="ctr">
              <a:buNone/>
            </a:pPr>
            <a:r>
              <a:rPr lang="en-US" sz="1350" b="1" dirty="0">
                <a:solidFill>
                  <a:srgbClr val="8A5A17"/>
                </a:solidFill>
                <a:latin typeface="Courier New" pitchFamily="34" charset="0"/>
                <a:ea typeface="Courier New" pitchFamily="34" charset="-122"/>
                <a:cs typeface="Courier New" pitchFamily="34" charset="-120"/>
              </a:rPr>
              <a:t>y = β₀ + β₁x₁ + … + βₙxₙ</a:t>
            </a:r>
            <a:endParaRPr lang="en-US" sz="1350" dirty="0"/>
          </a:p>
        </p:txBody>
      </p:sp>
      <p:sp>
        <p:nvSpPr>
          <p:cNvPr id="34" name="Shape 32"/>
          <p:cNvSpPr/>
          <p:nvPr/>
        </p:nvSpPr>
        <p:spPr>
          <a:xfrm>
            <a:off x="8503920" y="4434840"/>
            <a:ext cx="3200400" cy="594360"/>
          </a:xfrm>
          <a:prstGeom prst="rect">
            <a:avLst/>
          </a:prstGeom>
          <a:solidFill>
            <a:srgbClr val="FFF3E0"/>
          </a:solidFill>
          <a:ln w="6350">
            <a:solidFill>
              <a:srgbClr val="D7E2E6"/>
            </a:solidFill>
            <a:prstDash val="solid"/>
          </a:ln>
        </p:spPr>
      </p:sp>
      <p:sp>
        <p:nvSpPr>
          <p:cNvPr id="35" name="Text 33"/>
          <p:cNvSpPr/>
          <p:nvPr/>
        </p:nvSpPr>
        <p:spPr>
          <a:xfrm>
            <a:off x="8503920" y="4434840"/>
            <a:ext cx="3200400" cy="594360"/>
          </a:xfrm>
          <a:prstGeom prst="rect">
            <a:avLst/>
          </a:prstGeom>
          <a:noFill/>
          <a:ln/>
        </p:spPr>
        <p:txBody>
          <a:bodyPr wrap="square" rtlCol="0" anchor="ctr"/>
          <a:lstStyle/>
          <a:p>
            <a:pPr marL="0" indent="0" algn="ctr">
              <a:buNone/>
            </a:pPr>
            <a:r>
              <a:rPr lang="en-US" sz="1350" b="1" dirty="0">
                <a:solidFill>
                  <a:srgbClr val="8A5A17"/>
                </a:solidFill>
                <a:latin typeface="Calibri" pitchFamily="34" charset="0"/>
                <a:ea typeface="Calibri" pitchFamily="34" charset="-122"/>
                <a:cs typeface="Calibri" pitchFamily="34" charset="-120"/>
              </a:rPr>
              <a:t>n + 1</a:t>
            </a:r>
            <a:endParaRPr lang="en-US" sz="1350" dirty="0"/>
          </a:p>
        </p:txBody>
      </p:sp>
      <p:sp>
        <p:nvSpPr>
          <p:cNvPr id="36" name="Text 34"/>
          <p:cNvSpPr/>
          <p:nvPr/>
        </p:nvSpPr>
        <p:spPr>
          <a:xfrm>
            <a:off x="457200" y="5349240"/>
            <a:ext cx="11247120" cy="457200"/>
          </a:xfrm>
          <a:prstGeom prst="rect">
            <a:avLst/>
          </a:prstGeom>
          <a:noFill/>
          <a:ln/>
        </p:spPr>
        <p:txBody>
          <a:bodyPr wrap="square" rtlCol="0" anchor="ctr"/>
          <a:lstStyle/>
          <a:p>
            <a:pPr marL="0" indent="0">
              <a:buNone/>
            </a:pPr>
            <a:r>
              <a:rPr lang="en-US" sz="1350" i="1" dirty="0">
                <a:solidFill>
                  <a:srgbClr val="5C6B73"/>
                </a:solidFill>
                <a:latin typeface="Calibri" pitchFamily="34" charset="0"/>
                <a:ea typeface="Calibri" pitchFamily="34" charset="-122"/>
                <a:cs typeface="Calibri" pitchFamily="34" charset="-120"/>
              </a:rPr>
              <a:t>Example: a dataset with 5 input columns needs 6 coefficients — β₀ through β₅ — solved using linear regression.</a:t>
            </a:r>
            <a:endParaRPr lang="en-US" sz="1350" dirty="0"/>
          </a:p>
        </p:txBody>
      </p:sp>
      <p:sp>
        <p:nvSpPr>
          <p:cNvPr id="37" name="Text 35"/>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5C6B73"/>
                </a:solidFill>
                <a:latin typeface="Calibri" pitchFamily="34" charset="0"/>
                <a:ea typeface="Calibri" pitchFamily="34" charset="-122"/>
                <a:cs typeface="Calibri" pitchFamily="34" charset="-120"/>
              </a:rPr>
              <a:t>Multiple Linear Regression</a:t>
            </a:r>
            <a:endParaRPr lang="en-US" sz="900" dirty="0"/>
          </a:p>
        </p:txBody>
      </p:sp>
      <p:sp>
        <p:nvSpPr>
          <p:cNvPr id="38" name="Text 36"/>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9</a:t>
            </a:r>
            <a:endParaRPr lang="en-US" sz="9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365760"/>
          </a:xfrm>
          <a:prstGeom prst="roundRect">
            <a:avLst>
              <a:gd name="adj" fmla="val 20000"/>
            </a:avLst>
          </a:prstGeom>
          <a:solidFill>
            <a:srgbClr val="E5F0F4"/>
          </a:solidFill>
          <a:ln/>
        </p:spPr>
      </p:sp>
      <p:sp>
        <p:nvSpPr>
          <p:cNvPr id="3" name="Text 1"/>
          <p:cNvSpPr/>
          <p:nvPr/>
        </p:nvSpPr>
        <p:spPr>
          <a:xfrm>
            <a:off x="457200" y="411480"/>
            <a:ext cx="2103120" cy="365760"/>
          </a:xfrm>
          <a:prstGeom prst="rect">
            <a:avLst/>
          </a:prstGeom>
          <a:noFill/>
          <a:ln/>
        </p:spPr>
        <p:txBody>
          <a:bodyPr wrap="square" rtlCol="0" anchor="ctr"/>
          <a:lstStyle/>
          <a:p>
            <a:pPr marL="0" indent="0" algn="ctr">
              <a:buNone/>
            </a:pPr>
            <a:r>
              <a:rPr lang="en-US" sz="1100" b="1" kern="0" spc="100" dirty="0">
                <a:solidFill>
                  <a:srgbClr val="065A82"/>
                </a:solidFill>
                <a:latin typeface="Calibri" pitchFamily="34" charset="0"/>
                <a:ea typeface="Calibri" pitchFamily="34" charset="-122"/>
                <a:cs typeface="Calibri" pitchFamily="34" charset="-120"/>
              </a:rPr>
              <a:t>INTERPRETATION</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3000" b="1" dirty="0">
                <a:solidFill>
                  <a:srgbClr val="0B2A4A"/>
                </a:solidFill>
                <a:latin typeface="Cambria" pitchFamily="34" charset="0"/>
                <a:ea typeface="Cambria" pitchFamily="34" charset="-122"/>
                <a:cs typeface="Cambria" pitchFamily="34" charset="-120"/>
              </a:rPr>
              <a:t>What Do the Beta (β) Values Actually Tell Us?</a:t>
            </a:r>
            <a:endParaRPr lang="en-US" sz="3000" dirty="0"/>
          </a:p>
        </p:txBody>
      </p:sp>
      <p:sp>
        <p:nvSpPr>
          <p:cNvPr id="5" name="Text 3"/>
          <p:cNvSpPr/>
          <p:nvPr/>
        </p:nvSpPr>
        <p:spPr>
          <a:xfrm>
            <a:off x="457200" y="1508760"/>
            <a:ext cx="11247120" cy="640080"/>
          </a:xfrm>
          <a:prstGeom prst="rect">
            <a:avLst/>
          </a:prstGeom>
          <a:noFill/>
          <a:ln/>
        </p:spPr>
        <p:txBody>
          <a:bodyPr wrap="square" rtlCol="0" anchor="ctr"/>
          <a:lstStyle/>
          <a:p>
            <a:pPr marL="0" indent="0">
              <a:lnSpc>
                <a:spcPts val="1800"/>
              </a:lnSpc>
              <a:buNone/>
            </a:pPr>
            <a:r>
              <a:rPr lang="en-US" sz="1400" dirty="0">
                <a:solidFill>
                  <a:srgbClr val="17232E"/>
                </a:solidFill>
                <a:latin typeface="Calibri" pitchFamily="34" charset="0"/>
                <a:ea typeface="Calibri" pitchFamily="34" charset="-122"/>
                <a:cs typeface="Calibri" pitchFamily="34" charset="-120"/>
              </a:rPr>
              <a:t>Each coefficient βᵢ measures how strongly — and in what direction — its input feature influences the output, once the other features are accounted for.</a:t>
            </a:r>
            <a:endParaRPr lang="en-US" sz="1400" dirty="0"/>
          </a:p>
        </p:txBody>
      </p:sp>
      <p:sp>
        <p:nvSpPr>
          <p:cNvPr id="6" name="Shape 4"/>
          <p:cNvSpPr/>
          <p:nvPr/>
        </p:nvSpPr>
        <p:spPr>
          <a:xfrm>
            <a:off x="457200" y="2331720"/>
            <a:ext cx="11247120" cy="777240"/>
          </a:xfrm>
          <a:prstGeom prst="roundRect">
            <a:avLst>
              <a:gd name="adj" fmla="val 9412"/>
            </a:avLst>
          </a:prstGeom>
          <a:solidFill>
            <a:srgbClr val="FFFFFF"/>
          </a:solidFill>
          <a:ln w="12700">
            <a:solidFill>
              <a:srgbClr val="D7E2E6"/>
            </a:solidFill>
            <a:prstDash val="solid"/>
          </a:ln>
        </p:spPr>
      </p:sp>
      <p:sp>
        <p:nvSpPr>
          <p:cNvPr id="7" name="Shape 5"/>
          <p:cNvSpPr/>
          <p:nvPr/>
        </p:nvSpPr>
        <p:spPr>
          <a:xfrm>
            <a:off x="457200" y="2331720"/>
            <a:ext cx="109728" cy="777240"/>
          </a:xfrm>
          <a:prstGeom prst="roundRect">
            <a:avLst/>
          </a:prstGeom>
          <a:solidFill>
            <a:srgbClr val="5C6B73"/>
          </a:solidFill>
          <a:ln/>
        </p:spPr>
      </p:sp>
      <p:sp>
        <p:nvSpPr>
          <p:cNvPr id="8" name="Text 6"/>
          <p:cNvSpPr/>
          <p:nvPr/>
        </p:nvSpPr>
        <p:spPr>
          <a:xfrm>
            <a:off x="777240" y="2331720"/>
            <a:ext cx="3200400" cy="777240"/>
          </a:xfrm>
          <a:prstGeom prst="rect">
            <a:avLst/>
          </a:prstGeom>
          <a:noFill/>
          <a:ln/>
        </p:spPr>
        <p:txBody>
          <a:bodyPr wrap="square" rtlCol="0" anchor="ctr"/>
          <a:lstStyle/>
          <a:p>
            <a:pPr marL="0" indent="0">
              <a:buNone/>
            </a:pPr>
            <a:r>
              <a:rPr lang="en-US" sz="1300" b="1" dirty="0">
                <a:solidFill>
                  <a:srgbClr val="0B2A4A"/>
                </a:solidFill>
                <a:latin typeface="Courier New" pitchFamily="34" charset="0"/>
                <a:ea typeface="Courier New" pitchFamily="34" charset="-122"/>
                <a:cs typeface="Courier New" pitchFamily="34" charset="-120"/>
              </a:rPr>
              <a:t>β₂ very small / near 0</a:t>
            </a:r>
            <a:endParaRPr lang="en-US" sz="1300" dirty="0"/>
          </a:p>
        </p:txBody>
      </p:sp>
      <p:sp>
        <p:nvSpPr>
          <p:cNvPr id="9" name="Text 7"/>
          <p:cNvSpPr/>
          <p:nvPr/>
        </p:nvSpPr>
        <p:spPr>
          <a:xfrm>
            <a:off x="4114800" y="2331720"/>
            <a:ext cx="7406640" cy="777240"/>
          </a:xfrm>
          <a:prstGeom prst="rect">
            <a:avLst/>
          </a:prstGeom>
          <a:noFill/>
          <a:ln/>
        </p:spPr>
        <p:txBody>
          <a:bodyPr wrap="square" rtlCol="0" anchor="ctr"/>
          <a:lstStyle/>
          <a:p>
            <a:pPr marL="0" indent="0">
              <a:lnSpc>
                <a:spcPts val="1500"/>
              </a:lnSpc>
              <a:buNone/>
            </a:pPr>
            <a:r>
              <a:rPr lang="en-US" sz="1250" dirty="0">
                <a:solidFill>
                  <a:srgbClr val="5C6B73"/>
                </a:solidFill>
                <a:latin typeface="Calibri" pitchFamily="34" charset="0"/>
                <a:ea typeface="Calibri" pitchFamily="34" charset="-122"/>
                <a:cs typeface="Calibri" pitchFamily="34" charset="-120"/>
              </a:rPr>
              <a:t>IQ barely affects Package — the output doesn't really depend on IQ.</a:t>
            </a:r>
            <a:endParaRPr lang="en-US" sz="1250" dirty="0"/>
          </a:p>
        </p:txBody>
      </p:sp>
      <p:sp>
        <p:nvSpPr>
          <p:cNvPr id="10" name="Shape 8"/>
          <p:cNvSpPr/>
          <p:nvPr/>
        </p:nvSpPr>
        <p:spPr>
          <a:xfrm>
            <a:off x="457200" y="3264408"/>
            <a:ext cx="11247120" cy="777240"/>
          </a:xfrm>
          <a:prstGeom prst="roundRect">
            <a:avLst>
              <a:gd name="adj" fmla="val 9412"/>
            </a:avLst>
          </a:prstGeom>
          <a:solidFill>
            <a:srgbClr val="FFFFFF"/>
          </a:solidFill>
          <a:ln w="12700">
            <a:solidFill>
              <a:srgbClr val="D7E2E6"/>
            </a:solidFill>
            <a:prstDash val="solid"/>
          </a:ln>
        </p:spPr>
      </p:sp>
      <p:sp>
        <p:nvSpPr>
          <p:cNvPr id="11" name="Shape 9"/>
          <p:cNvSpPr/>
          <p:nvPr/>
        </p:nvSpPr>
        <p:spPr>
          <a:xfrm>
            <a:off x="457200" y="3264408"/>
            <a:ext cx="109728" cy="777240"/>
          </a:xfrm>
          <a:prstGeom prst="roundRect">
            <a:avLst/>
          </a:prstGeom>
          <a:solidFill>
            <a:srgbClr val="5C6B73"/>
          </a:solidFill>
          <a:ln/>
        </p:spPr>
      </p:sp>
      <p:sp>
        <p:nvSpPr>
          <p:cNvPr id="12" name="Text 10"/>
          <p:cNvSpPr/>
          <p:nvPr/>
        </p:nvSpPr>
        <p:spPr>
          <a:xfrm>
            <a:off x="777240" y="3264408"/>
            <a:ext cx="3200400" cy="777240"/>
          </a:xfrm>
          <a:prstGeom prst="rect">
            <a:avLst/>
          </a:prstGeom>
          <a:noFill/>
          <a:ln/>
        </p:spPr>
        <p:txBody>
          <a:bodyPr wrap="square" rtlCol="0" anchor="ctr"/>
          <a:lstStyle/>
          <a:p>
            <a:pPr marL="0" indent="0">
              <a:buNone/>
            </a:pPr>
            <a:r>
              <a:rPr lang="en-US" sz="1300" b="1" dirty="0">
                <a:solidFill>
                  <a:srgbClr val="0B2A4A"/>
                </a:solidFill>
                <a:latin typeface="Courier New" pitchFamily="34" charset="0"/>
                <a:ea typeface="Courier New" pitchFamily="34" charset="-122"/>
                <a:cs typeface="Courier New" pitchFamily="34" charset="-120"/>
              </a:rPr>
              <a:t>β₁ very small / near 0</a:t>
            </a:r>
            <a:endParaRPr lang="en-US" sz="1300" dirty="0"/>
          </a:p>
        </p:txBody>
      </p:sp>
      <p:sp>
        <p:nvSpPr>
          <p:cNvPr id="13" name="Text 11"/>
          <p:cNvSpPr/>
          <p:nvPr/>
        </p:nvSpPr>
        <p:spPr>
          <a:xfrm>
            <a:off x="4114800" y="3264408"/>
            <a:ext cx="7406640" cy="777240"/>
          </a:xfrm>
          <a:prstGeom prst="rect">
            <a:avLst/>
          </a:prstGeom>
          <a:noFill/>
          <a:ln/>
        </p:spPr>
        <p:txBody>
          <a:bodyPr wrap="square" rtlCol="0" anchor="ctr"/>
          <a:lstStyle/>
          <a:p>
            <a:pPr marL="0" indent="0">
              <a:lnSpc>
                <a:spcPts val="1500"/>
              </a:lnSpc>
              <a:buNone/>
            </a:pPr>
            <a:r>
              <a:rPr lang="en-US" sz="1250" dirty="0">
                <a:solidFill>
                  <a:srgbClr val="5C6B73"/>
                </a:solidFill>
                <a:latin typeface="Calibri" pitchFamily="34" charset="0"/>
                <a:ea typeface="Calibri" pitchFamily="34" charset="-122"/>
                <a:cs typeface="Calibri" pitchFamily="34" charset="-120"/>
              </a:rPr>
              <a:t>CGPA barely affects Package — the output doesn't really depend on CGPA.</a:t>
            </a:r>
            <a:endParaRPr lang="en-US" sz="1250" dirty="0"/>
          </a:p>
        </p:txBody>
      </p:sp>
      <p:sp>
        <p:nvSpPr>
          <p:cNvPr id="14" name="Shape 12"/>
          <p:cNvSpPr/>
          <p:nvPr/>
        </p:nvSpPr>
        <p:spPr>
          <a:xfrm>
            <a:off x="457200" y="4197096"/>
            <a:ext cx="11247120" cy="777240"/>
          </a:xfrm>
          <a:prstGeom prst="roundRect">
            <a:avLst>
              <a:gd name="adj" fmla="val 9412"/>
            </a:avLst>
          </a:prstGeom>
          <a:solidFill>
            <a:srgbClr val="FFFFFF"/>
          </a:solidFill>
          <a:ln w="12700">
            <a:solidFill>
              <a:srgbClr val="D7E2E6"/>
            </a:solidFill>
            <a:prstDash val="solid"/>
          </a:ln>
        </p:spPr>
      </p:sp>
      <p:sp>
        <p:nvSpPr>
          <p:cNvPr id="15" name="Shape 13"/>
          <p:cNvSpPr/>
          <p:nvPr/>
        </p:nvSpPr>
        <p:spPr>
          <a:xfrm>
            <a:off x="457200" y="4197096"/>
            <a:ext cx="109728" cy="777240"/>
          </a:xfrm>
          <a:prstGeom prst="roundRect">
            <a:avLst/>
          </a:prstGeom>
          <a:solidFill>
            <a:srgbClr val="065A82"/>
          </a:solidFill>
          <a:ln/>
        </p:spPr>
      </p:sp>
      <p:sp>
        <p:nvSpPr>
          <p:cNvPr id="16" name="Text 14"/>
          <p:cNvSpPr/>
          <p:nvPr/>
        </p:nvSpPr>
        <p:spPr>
          <a:xfrm>
            <a:off x="777240" y="4197096"/>
            <a:ext cx="3200400" cy="777240"/>
          </a:xfrm>
          <a:prstGeom prst="rect">
            <a:avLst/>
          </a:prstGeom>
          <a:noFill/>
          <a:ln/>
        </p:spPr>
        <p:txBody>
          <a:bodyPr wrap="square" rtlCol="0" anchor="ctr"/>
          <a:lstStyle/>
          <a:p>
            <a:pPr marL="0" indent="0">
              <a:buNone/>
            </a:pPr>
            <a:r>
              <a:rPr lang="en-US" sz="1300" b="1" dirty="0">
                <a:solidFill>
                  <a:srgbClr val="0B2A4A"/>
                </a:solidFill>
                <a:latin typeface="Courier New" pitchFamily="34" charset="0"/>
                <a:ea typeface="Courier New" pitchFamily="34" charset="-122"/>
                <a:cs typeface="Courier New" pitchFamily="34" charset="-120"/>
              </a:rPr>
              <a:t>β₁ large (e.g. &gt; 20,000)</a:t>
            </a:r>
            <a:endParaRPr lang="en-US" sz="1300" dirty="0"/>
          </a:p>
        </p:txBody>
      </p:sp>
      <p:sp>
        <p:nvSpPr>
          <p:cNvPr id="17" name="Text 15"/>
          <p:cNvSpPr/>
          <p:nvPr/>
        </p:nvSpPr>
        <p:spPr>
          <a:xfrm>
            <a:off x="4114800" y="4197096"/>
            <a:ext cx="7406640" cy="777240"/>
          </a:xfrm>
          <a:prstGeom prst="rect">
            <a:avLst/>
          </a:prstGeom>
          <a:noFill/>
          <a:ln/>
        </p:spPr>
        <p:txBody>
          <a:bodyPr wrap="square" rtlCol="0" anchor="ctr"/>
          <a:lstStyle/>
          <a:p>
            <a:pPr marL="0" indent="0">
              <a:lnSpc>
                <a:spcPts val="1500"/>
              </a:lnSpc>
              <a:buNone/>
            </a:pPr>
            <a:r>
              <a:rPr lang="en-US" sz="1250" dirty="0">
                <a:solidFill>
                  <a:srgbClr val="5C6B73"/>
                </a:solidFill>
                <a:latin typeface="Calibri" pitchFamily="34" charset="0"/>
                <a:ea typeface="Calibri" pitchFamily="34" charset="-122"/>
                <a:cs typeface="Calibri" pitchFamily="34" charset="-120"/>
              </a:rPr>
              <a:t>CGPA is a highly important driver of Package — small CGPA changes move the prediction a lot.</a:t>
            </a:r>
            <a:endParaRPr lang="en-US" sz="1250" dirty="0"/>
          </a:p>
        </p:txBody>
      </p:sp>
      <p:sp>
        <p:nvSpPr>
          <p:cNvPr id="18" name="Shape 16"/>
          <p:cNvSpPr/>
          <p:nvPr/>
        </p:nvSpPr>
        <p:spPr>
          <a:xfrm>
            <a:off x="457200" y="5129784"/>
            <a:ext cx="11247120" cy="777240"/>
          </a:xfrm>
          <a:prstGeom prst="roundRect">
            <a:avLst>
              <a:gd name="adj" fmla="val 9412"/>
            </a:avLst>
          </a:prstGeom>
          <a:solidFill>
            <a:srgbClr val="FFFFFF"/>
          </a:solidFill>
          <a:ln w="12700">
            <a:solidFill>
              <a:srgbClr val="D7E2E6"/>
            </a:solidFill>
            <a:prstDash val="solid"/>
          </a:ln>
        </p:spPr>
      </p:sp>
      <p:sp>
        <p:nvSpPr>
          <p:cNvPr id="19" name="Shape 17"/>
          <p:cNvSpPr/>
          <p:nvPr/>
        </p:nvSpPr>
        <p:spPr>
          <a:xfrm>
            <a:off x="457200" y="5129784"/>
            <a:ext cx="109728" cy="777240"/>
          </a:xfrm>
          <a:prstGeom prst="roundRect">
            <a:avLst/>
          </a:prstGeom>
          <a:solidFill>
            <a:srgbClr val="1C7293"/>
          </a:solidFill>
          <a:ln/>
        </p:spPr>
      </p:sp>
      <p:sp>
        <p:nvSpPr>
          <p:cNvPr id="20" name="Text 18"/>
          <p:cNvSpPr/>
          <p:nvPr/>
        </p:nvSpPr>
        <p:spPr>
          <a:xfrm>
            <a:off x="777240" y="5129784"/>
            <a:ext cx="3200400" cy="777240"/>
          </a:xfrm>
          <a:prstGeom prst="rect">
            <a:avLst/>
          </a:prstGeom>
          <a:noFill/>
          <a:ln/>
        </p:spPr>
        <p:txBody>
          <a:bodyPr wrap="square" rtlCol="0" anchor="ctr"/>
          <a:lstStyle/>
          <a:p>
            <a:pPr marL="0" indent="0">
              <a:buNone/>
            </a:pPr>
            <a:r>
              <a:rPr lang="en-US" sz="1300" b="1" dirty="0">
                <a:solidFill>
                  <a:srgbClr val="0B2A4A"/>
                </a:solidFill>
                <a:latin typeface="Courier New" pitchFamily="34" charset="0"/>
                <a:ea typeface="Courier New" pitchFamily="34" charset="-122"/>
                <a:cs typeface="Courier New" pitchFamily="34" charset="-120"/>
              </a:rPr>
              <a:t>β₀ (intercept) alone</a:t>
            </a:r>
            <a:endParaRPr lang="en-US" sz="1300" dirty="0"/>
          </a:p>
        </p:txBody>
      </p:sp>
      <p:sp>
        <p:nvSpPr>
          <p:cNvPr id="21" name="Text 19"/>
          <p:cNvSpPr/>
          <p:nvPr/>
        </p:nvSpPr>
        <p:spPr>
          <a:xfrm>
            <a:off x="4114800" y="5129784"/>
            <a:ext cx="7406640" cy="777240"/>
          </a:xfrm>
          <a:prstGeom prst="rect">
            <a:avLst/>
          </a:prstGeom>
          <a:noFill/>
          <a:ln/>
        </p:spPr>
        <p:txBody>
          <a:bodyPr wrap="square" rtlCol="0" anchor="ctr"/>
          <a:lstStyle/>
          <a:p>
            <a:pPr marL="0" indent="0">
              <a:lnSpc>
                <a:spcPts val="1500"/>
              </a:lnSpc>
              <a:buNone/>
            </a:pPr>
            <a:r>
              <a:rPr lang="en-US" sz="1250" dirty="0">
                <a:solidFill>
                  <a:srgbClr val="5C6B73"/>
                </a:solidFill>
                <a:latin typeface="Calibri" pitchFamily="34" charset="0"/>
                <a:ea typeface="Calibri" pitchFamily="34" charset="-122"/>
                <a:cs typeface="Calibri" pitchFamily="34" charset="-120"/>
              </a:rPr>
              <a:t>If every input were 0, this is the baseline value the model would still predict.</a:t>
            </a:r>
            <a:endParaRPr lang="en-US" sz="1250" dirty="0"/>
          </a:p>
        </p:txBody>
      </p:sp>
      <p:sp>
        <p:nvSpPr>
          <p:cNvPr id="22" name="Text 20"/>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5C6B73"/>
                </a:solidFill>
                <a:latin typeface="Calibri" pitchFamily="34" charset="0"/>
                <a:ea typeface="Calibri" pitchFamily="34" charset="-122"/>
                <a:cs typeface="Calibri" pitchFamily="34" charset="-120"/>
              </a:rPr>
              <a:t>Multiple Linear Regression</a:t>
            </a:r>
            <a:endParaRPr lang="en-US" sz="900" dirty="0"/>
          </a:p>
        </p:txBody>
      </p:sp>
      <p:sp>
        <p:nvSpPr>
          <p:cNvPr id="23" name="Text 21"/>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10</a:t>
            </a:r>
            <a:endParaRPr lang="en-US" sz="9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365760"/>
          </a:xfrm>
          <a:prstGeom prst="roundRect">
            <a:avLst>
              <a:gd name="adj" fmla="val 20000"/>
            </a:avLst>
          </a:prstGeom>
          <a:solidFill>
            <a:srgbClr val="E5F0F4"/>
          </a:solidFill>
          <a:ln/>
        </p:spPr>
      </p:sp>
      <p:sp>
        <p:nvSpPr>
          <p:cNvPr id="3" name="Text 1"/>
          <p:cNvSpPr/>
          <p:nvPr/>
        </p:nvSpPr>
        <p:spPr>
          <a:xfrm>
            <a:off x="457200" y="411480"/>
            <a:ext cx="2103120" cy="365760"/>
          </a:xfrm>
          <a:prstGeom prst="rect">
            <a:avLst/>
          </a:prstGeom>
          <a:noFill/>
          <a:ln/>
        </p:spPr>
        <p:txBody>
          <a:bodyPr wrap="square" rtlCol="0" anchor="ctr"/>
          <a:lstStyle/>
          <a:p>
            <a:pPr marL="0" indent="0" algn="ctr">
              <a:buNone/>
            </a:pPr>
            <a:r>
              <a:rPr lang="en-US" sz="1100" b="1" kern="0" spc="100" dirty="0">
                <a:solidFill>
                  <a:srgbClr val="065A82"/>
                </a:solidFill>
                <a:latin typeface="Calibri" pitchFamily="34" charset="0"/>
                <a:ea typeface="Calibri" pitchFamily="34" charset="-122"/>
                <a:cs typeface="Calibri" pitchFamily="34" charset="-120"/>
              </a:rPr>
              <a:t>APPLYING IT</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3000" b="1" dirty="0">
                <a:solidFill>
                  <a:srgbClr val="0B2A4A"/>
                </a:solidFill>
                <a:latin typeface="Cambria" pitchFamily="34" charset="0"/>
                <a:ea typeface="Cambria" pitchFamily="34" charset="-122"/>
                <a:cs typeface="Cambria" pitchFamily="34" charset="-120"/>
              </a:rPr>
              <a:t>Using the Model to Predict a New Package</a:t>
            </a:r>
            <a:endParaRPr lang="en-US" sz="3000" dirty="0"/>
          </a:p>
        </p:txBody>
      </p:sp>
      <p:sp>
        <p:nvSpPr>
          <p:cNvPr id="5" name="Text 3"/>
          <p:cNvSpPr/>
          <p:nvPr/>
        </p:nvSpPr>
        <p:spPr>
          <a:xfrm>
            <a:off x="457200" y="1508760"/>
            <a:ext cx="11247120" cy="640080"/>
          </a:xfrm>
          <a:prstGeom prst="rect">
            <a:avLst/>
          </a:prstGeom>
          <a:noFill/>
          <a:ln/>
        </p:spPr>
        <p:txBody>
          <a:bodyPr wrap="square" rtlCol="0" anchor="ctr"/>
          <a:lstStyle/>
          <a:p>
            <a:pPr marL="0" indent="0">
              <a:lnSpc>
                <a:spcPts val="1800"/>
              </a:lnSpc>
              <a:buNone/>
            </a:pPr>
            <a:r>
              <a:rPr lang="en-US" sz="1400" dirty="0">
                <a:solidFill>
                  <a:srgbClr val="17232E"/>
                </a:solidFill>
                <a:latin typeface="Calibri" pitchFamily="34" charset="0"/>
                <a:ea typeface="Calibri" pitchFamily="34" charset="-122"/>
                <a:cs typeface="Calibri" pitchFamily="34" charset="-120"/>
              </a:rPr>
              <a:t>Once β₀, β₁ and β₂ are known (found using linear regression), predicting for a brand-new student is just plugging numbers into the equation.</a:t>
            </a:r>
            <a:endParaRPr lang="en-US" sz="1400" dirty="0"/>
          </a:p>
        </p:txBody>
      </p:sp>
      <p:sp>
        <p:nvSpPr>
          <p:cNvPr id="6" name="Shape 4"/>
          <p:cNvSpPr/>
          <p:nvPr/>
        </p:nvSpPr>
        <p:spPr>
          <a:xfrm>
            <a:off x="457200" y="2377440"/>
            <a:ext cx="2606040" cy="3291840"/>
          </a:xfrm>
          <a:prstGeom prst="roundRect">
            <a:avLst>
              <a:gd name="adj" fmla="val 3509"/>
            </a:avLst>
          </a:prstGeom>
          <a:solidFill>
            <a:srgbClr val="FFFFFF"/>
          </a:solidFill>
          <a:ln w="12700">
            <a:solidFill>
              <a:srgbClr val="D7E2E6"/>
            </a:solidFill>
            <a:prstDash val="solid"/>
          </a:ln>
          <a:effectLst>
            <a:outerShdw blurRad="76200" dist="25400" dir="5400000" algn="bl" rotWithShape="0">
              <a:srgbClr val="1A1A2E">
                <a:alpha val="10000"/>
              </a:srgbClr>
            </a:outerShdw>
          </a:effectLst>
        </p:spPr>
      </p:sp>
      <p:sp>
        <p:nvSpPr>
          <p:cNvPr id="7" name="Shape 5"/>
          <p:cNvSpPr/>
          <p:nvPr/>
        </p:nvSpPr>
        <p:spPr>
          <a:xfrm>
            <a:off x="1485900" y="2651760"/>
            <a:ext cx="548640" cy="548640"/>
          </a:xfrm>
          <a:prstGeom prst="ellipse">
            <a:avLst/>
          </a:prstGeom>
          <a:solidFill>
            <a:srgbClr val="E5F0F4"/>
          </a:solidFill>
          <a:ln/>
        </p:spPr>
      </p:sp>
      <p:sp>
        <p:nvSpPr>
          <p:cNvPr id="8" name="Text 6"/>
          <p:cNvSpPr/>
          <p:nvPr/>
        </p:nvSpPr>
        <p:spPr>
          <a:xfrm>
            <a:off x="1485900" y="2651760"/>
            <a:ext cx="548640" cy="548640"/>
          </a:xfrm>
          <a:prstGeom prst="rect">
            <a:avLst/>
          </a:prstGeom>
          <a:noFill/>
          <a:ln/>
        </p:spPr>
        <p:txBody>
          <a:bodyPr wrap="square" rtlCol="0" anchor="ctr"/>
          <a:lstStyle/>
          <a:p>
            <a:pPr marL="0" indent="0" algn="ctr">
              <a:buNone/>
            </a:pPr>
            <a:r>
              <a:rPr lang="en-US" sz="1800" b="1" dirty="0">
                <a:solidFill>
                  <a:srgbClr val="065A82"/>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640080" y="3337560"/>
            <a:ext cx="2240280" cy="502920"/>
          </a:xfrm>
          <a:prstGeom prst="rect">
            <a:avLst/>
          </a:prstGeom>
          <a:noFill/>
          <a:ln/>
        </p:spPr>
        <p:txBody>
          <a:bodyPr wrap="square" rtlCol="0" anchor="ctr"/>
          <a:lstStyle/>
          <a:p>
            <a:pPr marL="0" indent="0" algn="ctr">
              <a:buNone/>
            </a:pPr>
            <a:r>
              <a:rPr lang="en-US" sz="1400" b="1" dirty="0">
                <a:solidFill>
                  <a:srgbClr val="0B2A4A"/>
                </a:solidFill>
                <a:latin typeface="Cambria" pitchFamily="34" charset="0"/>
                <a:ea typeface="Cambria" pitchFamily="34" charset="-122"/>
                <a:cs typeface="Cambria" pitchFamily="34" charset="-120"/>
              </a:rPr>
              <a:t>Trained Model</a:t>
            </a:r>
            <a:endParaRPr lang="en-US" sz="1400" dirty="0"/>
          </a:p>
        </p:txBody>
      </p:sp>
      <p:sp>
        <p:nvSpPr>
          <p:cNvPr id="10" name="Text 8"/>
          <p:cNvSpPr/>
          <p:nvPr/>
        </p:nvSpPr>
        <p:spPr>
          <a:xfrm>
            <a:off x="640080" y="3886200"/>
            <a:ext cx="2240280" cy="1463040"/>
          </a:xfrm>
          <a:prstGeom prst="rect">
            <a:avLst/>
          </a:prstGeom>
          <a:noFill/>
          <a:ln/>
        </p:spPr>
        <p:txBody>
          <a:bodyPr wrap="square" rtlCol="0" anchor="ctr"/>
          <a:lstStyle/>
          <a:p>
            <a:pPr marL="0" indent="0" algn="ctr">
              <a:lnSpc>
                <a:spcPts val="1800"/>
              </a:lnSpc>
              <a:buNone/>
            </a:pPr>
            <a:r>
              <a:rPr lang="en-US" sz="1300" dirty="0">
                <a:solidFill>
                  <a:srgbClr val="1C7293"/>
                </a:solidFill>
                <a:latin typeface="Courier New" pitchFamily="34" charset="0"/>
                <a:ea typeface="Courier New" pitchFamily="34" charset="-122"/>
                <a:cs typeface="Courier New" pitchFamily="34" charset="-120"/>
              </a:rPr>
              <a:t>β₀ = 1.5</a:t>
            </a:r>
            <a:endParaRPr lang="en-US" sz="1300" dirty="0"/>
          </a:p>
          <a:p>
            <a:pPr marL="0" indent="0" algn="ctr">
              <a:lnSpc>
                <a:spcPts val="1800"/>
              </a:lnSpc>
              <a:buNone/>
            </a:pPr>
            <a:r>
              <a:rPr lang="en-US" sz="1300" dirty="0">
                <a:solidFill>
                  <a:srgbClr val="1C7293"/>
                </a:solidFill>
                <a:latin typeface="Courier New" pitchFamily="34" charset="0"/>
                <a:ea typeface="Courier New" pitchFamily="34" charset="-122"/>
                <a:cs typeface="Courier New" pitchFamily="34" charset="-120"/>
              </a:rPr>
              <a:t>β₁ = 0.9</a:t>
            </a:r>
            <a:endParaRPr lang="en-US" sz="1300" dirty="0"/>
          </a:p>
          <a:p>
            <a:pPr marL="0" indent="0" algn="ctr">
              <a:lnSpc>
                <a:spcPts val="1800"/>
              </a:lnSpc>
              <a:buNone/>
            </a:pPr>
            <a:r>
              <a:rPr lang="en-US" sz="1300" dirty="0">
                <a:solidFill>
                  <a:srgbClr val="1C7293"/>
                </a:solidFill>
                <a:latin typeface="Courier New" pitchFamily="34" charset="0"/>
                <a:ea typeface="Courier New" pitchFamily="34" charset="-122"/>
                <a:cs typeface="Courier New" pitchFamily="34" charset="-120"/>
              </a:rPr>
              <a:t>β₂ = 0.04</a:t>
            </a:r>
            <a:endParaRPr lang="en-US" sz="1300" dirty="0"/>
          </a:p>
        </p:txBody>
      </p:sp>
      <p:sp>
        <p:nvSpPr>
          <p:cNvPr id="11" name="Shape 9"/>
          <p:cNvSpPr/>
          <p:nvPr/>
        </p:nvSpPr>
        <p:spPr>
          <a:xfrm>
            <a:off x="3090672" y="4023360"/>
            <a:ext cx="173736" cy="0"/>
          </a:xfrm>
          <a:prstGeom prst="line">
            <a:avLst/>
          </a:prstGeom>
          <a:noFill/>
          <a:ln w="31750">
            <a:solidFill>
              <a:srgbClr val="1C7293"/>
            </a:solidFill>
            <a:prstDash val="solid"/>
            <a:tailEnd type="triangle"/>
          </a:ln>
        </p:spPr>
      </p:sp>
      <p:sp>
        <p:nvSpPr>
          <p:cNvPr id="12" name="Shape 10"/>
          <p:cNvSpPr/>
          <p:nvPr/>
        </p:nvSpPr>
        <p:spPr>
          <a:xfrm>
            <a:off x="3291840" y="2377440"/>
            <a:ext cx="2606040" cy="3291840"/>
          </a:xfrm>
          <a:prstGeom prst="roundRect">
            <a:avLst>
              <a:gd name="adj" fmla="val 3509"/>
            </a:avLst>
          </a:prstGeom>
          <a:solidFill>
            <a:srgbClr val="FFFFFF"/>
          </a:solidFill>
          <a:ln w="12700">
            <a:solidFill>
              <a:srgbClr val="D7E2E6"/>
            </a:solidFill>
            <a:prstDash val="solid"/>
          </a:ln>
          <a:effectLst>
            <a:outerShdw blurRad="76200" dist="25400" dir="5400000" algn="bl" rotWithShape="0">
              <a:srgbClr val="1A1A2E">
                <a:alpha val="10000"/>
              </a:srgbClr>
            </a:outerShdw>
          </a:effectLst>
        </p:spPr>
      </p:sp>
      <p:sp>
        <p:nvSpPr>
          <p:cNvPr id="13" name="Shape 11"/>
          <p:cNvSpPr/>
          <p:nvPr/>
        </p:nvSpPr>
        <p:spPr>
          <a:xfrm>
            <a:off x="4320540" y="2651760"/>
            <a:ext cx="548640" cy="548640"/>
          </a:xfrm>
          <a:prstGeom prst="ellipse">
            <a:avLst/>
          </a:prstGeom>
          <a:solidFill>
            <a:srgbClr val="E5F0F4"/>
          </a:solidFill>
          <a:ln/>
        </p:spPr>
      </p:sp>
      <p:sp>
        <p:nvSpPr>
          <p:cNvPr id="14" name="Text 12"/>
          <p:cNvSpPr/>
          <p:nvPr/>
        </p:nvSpPr>
        <p:spPr>
          <a:xfrm>
            <a:off x="4320540" y="2651760"/>
            <a:ext cx="548640" cy="548640"/>
          </a:xfrm>
          <a:prstGeom prst="rect">
            <a:avLst/>
          </a:prstGeom>
          <a:noFill/>
          <a:ln/>
        </p:spPr>
        <p:txBody>
          <a:bodyPr wrap="square" rtlCol="0" anchor="ctr"/>
          <a:lstStyle/>
          <a:p>
            <a:pPr marL="0" indent="0" algn="ctr">
              <a:buNone/>
            </a:pPr>
            <a:r>
              <a:rPr lang="en-US" sz="1800" b="1" dirty="0">
                <a:solidFill>
                  <a:srgbClr val="065A82"/>
                </a:solidFill>
                <a:latin typeface="Calibri" pitchFamily="34" charset="0"/>
                <a:ea typeface="Calibri" pitchFamily="34" charset="-122"/>
                <a:cs typeface="Calibri" pitchFamily="34" charset="-120"/>
              </a:rPr>
              <a:t>2</a:t>
            </a:r>
            <a:endParaRPr lang="en-US" sz="1800" dirty="0"/>
          </a:p>
        </p:txBody>
      </p:sp>
      <p:sp>
        <p:nvSpPr>
          <p:cNvPr id="15" name="Text 13"/>
          <p:cNvSpPr/>
          <p:nvPr/>
        </p:nvSpPr>
        <p:spPr>
          <a:xfrm>
            <a:off x="3474720" y="3337560"/>
            <a:ext cx="2240280" cy="502920"/>
          </a:xfrm>
          <a:prstGeom prst="rect">
            <a:avLst/>
          </a:prstGeom>
          <a:noFill/>
          <a:ln/>
        </p:spPr>
        <p:txBody>
          <a:bodyPr wrap="square" rtlCol="0" anchor="ctr"/>
          <a:lstStyle/>
          <a:p>
            <a:pPr marL="0" indent="0" algn="ctr">
              <a:buNone/>
            </a:pPr>
            <a:r>
              <a:rPr lang="en-US" sz="1400" b="1" dirty="0">
                <a:solidFill>
                  <a:srgbClr val="0B2A4A"/>
                </a:solidFill>
                <a:latin typeface="Cambria" pitchFamily="34" charset="0"/>
                <a:ea typeface="Cambria" pitchFamily="34" charset="-122"/>
                <a:cs typeface="Cambria" pitchFamily="34" charset="-120"/>
              </a:rPr>
              <a:t>New Student's Data</a:t>
            </a:r>
            <a:endParaRPr lang="en-US" sz="1400" dirty="0"/>
          </a:p>
        </p:txBody>
      </p:sp>
      <p:sp>
        <p:nvSpPr>
          <p:cNvPr id="16" name="Text 14"/>
          <p:cNvSpPr/>
          <p:nvPr/>
        </p:nvSpPr>
        <p:spPr>
          <a:xfrm>
            <a:off x="3474720" y="3886200"/>
            <a:ext cx="2240280" cy="1463040"/>
          </a:xfrm>
          <a:prstGeom prst="rect">
            <a:avLst/>
          </a:prstGeom>
          <a:noFill/>
          <a:ln/>
        </p:spPr>
        <p:txBody>
          <a:bodyPr wrap="square" rtlCol="0" anchor="ctr"/>
          <a:lstStyle/>
          <a:p>
            <a:pPr marL="0" indent="0" algn="ctr">
              <a:lnSpc>
                <a:spcPts val="1800"/>
              </a:lnSpc>
              <a:buNone/>
            </a:pPr>
            <a:r>
              <a:rPr lang="en-US" sz="1300" dirty="0">
                <a:solidFill>
                  <a:srgbClr val="1C7293"/>
                </a:solidFill>
                <a:latin typeface="Courier New" pitchFamily="34" charset="0"/>
                <a:ea typeface="Courier New" pitchFamily="34" charset="-122"/>
                <a:cs typeface="Courier New" pitchFamily="34" charset="-120"/>
              </a:rPr>
              <a:t>CGPA (x₁) = 8.2</a:t>
            </a:r>
            <a:endParaRPr lang="en-US" sz="1300" dirty="0"/>
          </a:p>
          <a:p>
            <a:pPr marL="0" indent="0" algn="ctr">
              <a:lnSpc>
                <a:spcPts val="1800"/>
              </a:lnSpc>
              <a:buNone/>
            </a:pPr>
            <a:r>
              <a:rPr lang="en-US" sz="1300" dirty="0">
                <a:solidFill>
                  <a:srgbClr val="1C7293"/>
                </a:solidFill>
                <a:latin typeface="Courier New" pitchFamily="34" charset="0"/>
                <a:ea typeface="Courier New" pitchFamily="34" charset="-122"/>
                <a:cs typeface="Courier New" pitchFamily="34" charset="-120"/>
              </a:rPr>
              <a:t>IQ (x₂) = 115</a:t>
            </a:r>
            <a:endParaRPr lang="en-US" sz="1300" dirty="0"/>
          </a:p>
        </p:txBody>
      </p:sp>
      <p:sp>
        <p:nvSpPr>
          <p:cNvPr id="17" name="Shape 15"/>
          <p:cNvSpPr/>
          <p:nvPr/>
        </p:nvSpPr>
        <p:spPr>
          <a:xfrm>
            <a:off x="5925312" y="4023360"/>
            <a:ext cx="173736" cy="0"/>
          </a:xfrm>
          <a:prstGeom prst="line">
            <a:avLst/>
          </a:prstGeom>
          <a:noFill/>
          <a:ln w="31750">
            <a:solidFill>
              <a:srgbClr val="1C7293"/>
            </a:solidFill>
            <a:prstDash val="solid"/>
            <a:tailEnd type="triangle"/>
          </a:ln>
        </p:spPr>
      </p:sp>
      <p:sp>
        <p:nvSpPr>
          <p:cNvPr id="18" name="Shape 16"/>
          <p:cNvSpPr/>
          <p:nvPr/>
        </p:nvSpPr>
        <p:spPr>
          <a:xfrm>
            <a:off x="6126480" y="2377440"/>
            <a:ext cx="2606040" cy="3291840"/>
          </a:xfrm>
          <a:prstGeom prst="roundRect">
            <a:avLst>
              <a:gd name="adj" fmla="val 3509"/>
            </a:avLst>
          </a:prstGeom>
          <a:solidFill>
            <a:srgbClr val="FFFFFF"/>
          </a:solidFill>
          <a:ln w="12700">
            <a:solidFill>
              <a:srgbClr val="D7E2E6"/>
            </a:solidFill>
            <a:prstDash val="solid"/>
          </a:ln>
          <a:effectLst>
            <a:outerShdw blurRad="76200" dist="25400" dir="5400000" algn="bl" rotWithShape="0">
              <a:srgbClr val="1A1A2E">
                <a:alpha val="10000"/>
              </a:srgbClr>
            </a:outerShdw>
          </a:effectLst>
        </p:spPr>
      </p:sp>
      <p:sp>
        <p:nvSpPr>
          <p:cNvPr id="19" name="Shape 17"/>
          <p:cNvSpPr/>
          <p:nvPr/>
        </p:nvSpPr>
        <p:spPr>
          <a:xfrm>
            <a:off x="7155180" y="2651760"/>
            <a:ext cx="548640" cy="548640"/>
          </a:xfrm>
          <a:prstGeom prst="ellipse">
            <a:avLst/>
          </a:prstGeom>
          <a:solidFill>
            <a:srgbClr val="E5F0F4"/>
          </a:solidFill>
          <a:ln/>
        </p:spPr>
      </p:sp>
      <p:sp>
        <p:nvSpPr>
          <p:cNvPr id="20" name="Text 18"/>
          <p:cNvSpPr/>
          <p:nvPr/>
        </p:nvSpPr>
        <p:spPr>
          <a:xfrm>
            <a:off x="7155180" y="2651760"/>
            <a:ext cx="548640" cy="548640"/>
          </a:xfrm>
          <a:prstGeom prst="rect">
            <a:avLst/>
          </a:prstGeom>
          <a:noFill/>
          <a:ln/>
        </p:spPr>
        <p:txBody>
          <a:bodyPr wrap="square" rtlCol="0" anchor="ctr"/>
          <a:lstStyle/>
          <a:p>
            <a:pPr marL="0" indent="0" algn="ctr">
              <a:buNone/>
            </a:pPr>
            <a:r>
              <a:rPr lang="en-US" sz="1800" b="1" dirty="0">
                <a:solidFill>
                  <a:srgbClr val="065A82"/>
                </a:solidFill>
                <a:latin typeface="Calibri" pitchFamily="34" charset="0"/>
                <a:ea typeface="Calibri" pitchFamily="34" charset="-122"/>
                <a:cs typeface="Calibri" pitchFamily="34" charset="-120"/>
              </a:rPr>
              <a:t>3</a:t>
            </a:r>
            <a:endParaRPr lang="en-US" sz="1800" dirty="0"/>
          </a:p>
        </p:txBody>
      </p:sp>
      <p:sp>
        <p:nvSpPr>
          <p:cNvPr id="21" name="Text 19"/>
          <p:cNvSpPr/>
          <p:nvPr/>
        </p:nvSpPr>
        <p:spPr>
          <a:xfrm>
            <a:off x="6309360" y="3337560"/>
            <a:ext cx="2240280" cy="502920"/>
          </a:xfrm>
          <a:prstGeom prst="rect">
            <a:avLst/>
          </a:prstGeom>
          <a:noFill/>
          <a:ln/>
        </p:spPr>
        <p:txBody>
          <a:bodyPr wrap="square" rtlCol="0" anchor="ctr"/>
          <a:lstStyle/>
          <a:p>
            <a:pPr marL="0" indent="0" algn="ctr">
              <a:buNone/>
            </a:pPr>
            <a:r>
              <a:rPr lang="en-US" sz="1400" b="1" dirty="0">
                <a:solidFill>
                  <a:srgbClr val="0B2A4A"/>
                </a:solidFill>
                <a:latin typeface="Cambria" pitchFamily="34" charset="0"/>
                <a:ea typeface="Cambria" pitchFamily="34" charset="-122"/>
                <a:cs typeface="Cambria" pitchFamily="34" charset="-120"/>
              </a:rPr>
              <a:t>Plug Into Equation</a:t>
            </a:r>
            <a:endParaRPr lang="en-US" sz="1400" dirty="0"/>
          </a:p>
        </p:txBody>
      </p:sp>
      <p:sp>
        <p:nvSpPr>
          <p:cNvPr id="22" name="Text 20"/>
          <p:cNvSpPr/>
          <p:nvPr/>
        </p:nvSpPr>
        <p:spPr>
          <a:xfrm>
            <a:off x="6309360" y="3886200"/>
            <a:ext cx="2240280" cy="1463040"/>
          </a:xfrm>
          <a:prstGeom prst="rect">
            <a:avLst/>
          </a:prstGeom>
          <a:noFill/>
          <a:ln/>
        </p:spPr>
        <p:txBody>
          <a:bodyPr wrap="square" rtlCol="0" anchor="ctr"/>
          <a:lstStyle/>
          <a:p>
            <a:pPr marL="0" indent="0" algn="ctr">
              <a:lnSpc>
                <a:spcPts val="1800"/>
              </a:lnSpc>
              <a:buNone/>
            </a:pPr>
            <a:r>
              <a:rPr lang="en-US" sz="1300" dirty="0">
                <a:solidFill>
                  <a:srgbClr val="1C7293"/>
                </a:solidFill>
                <a:latin typeface="Courier New" pitchFamily="34" charset="0"/>
                <a:ea typeface="Courier New" pitchFamily="34" charset="-122"/>
                <a:cs typeface="Courier New" pitchFamily="34" charset="-120"/>
              </a:rPr>
              <a:t>y = 1.5 + 0.9(8.2)</a:t>
            </a:r>
            <a:endParaRPr lang="en-US" sz="1300" dirty="0"/>
          </a:p>
          <a:p>
            <a:pPr marL="0" indent="0" algn="ctr">
              <a:lnSpc>
                <a:spcPts val="1800"/>
              </a:lnSpc>
              <a:buNone/>
            </a:pPr>
            <a:r>
              <a:rPr lang="en-US" sz="1300" dirty="0">
                <a:solidFill>
                  <a:srgbClr val="1C7293"/>
                </a:solidFill>
                <a:latin typeface="Courier New" pitchFamily="34" charset="0"/>
                <a:ea typeface="Courier New" pitchFamily="34" charset="-122"/>
                <a:cs typeface="Courier New" pitchFamily="34" charset="-120"/>
              </a:rPr>
              <a:t>+ 0.04(115)</a:t>
            </a:r>
            <a:endParaRPr lang="en-US" sz="1300" dirty="0"/>
          </a:p>
        </p:txBody>
      </p:sp>
      <p:sp>
        <p:nvSpPr>
          <p:cNvPr id="23" name="Shape 21"/>
          <p:cNvSpPr/>
          <p:nvPr/>
        </p:nvSpPr>
        <p:spPr>
          <a:xfrm>
            <a:off x="8759952" y="4023360"/>
            <a:ext cx="173736" cy="0"/>
          </a:xfrm>
          <a:prstGeom prst="line">
            <a:avLst/>
          </a:prstGeom>
          <a:noFill/>
          <a:ln w="31750">
            <a:solidFill>
              <a:srgbClr val="1C7293"/>
            </a:solidFill>
            <a:prstDash val="solid"/>
            <a:tailEnd type="triangle"/>
          </a:ln>
        </p:spPr>
      </p:sp>
      <p:sp>
        <p:nvSpPr>
          <p:cNvPr id="24" name="Shape 22"/>
          <p:cNvSpPr/>
          <p:nvPr/>
        </p:nvSpPr>
        <p:spPr>
          <a:xfrm>
            <a:off x="8961120" y="2377440"/>
            <a:ext cx="2606040" cy="3291840"/>
          </a:xfrm>
          <a:prstGeom prst="roundRect">
            <a:avLst>
              <a:gd name="adj" fmla="val 3509"/>
            </a:avLst>
          </a:prstGeom>
          <a:solidFill>
            <a:srgbClr val="065A82"/>
          </a:solidFill>
          <a:ln w="12700">
            <a:solidFill>
              <a:srgbClr val="065A82"/>
            </a:solidFill>
            <a:prstDash val="solid"/>
          </a:ln>
          <a:effectLst>
            <a:outerShdw blurRad="76200" dist="25400" dir="5400000" algn="bl" rotWithShape="0">
              <a:srgbClr val="1A1A2E">
                <a:alpha val="10000"/>
              </a:srgbClr>
            </a:outerShdw>
          </a:effectLst>
        </p:spPr>
      </p:sp>
      <p:sp>
        <p:nvSpPr>
          <p:cNvPr id="25" name="Shape 23"/>
          <p:cNvSpPr/>
          <p:nvPr/>
        </p:nvSpPr>
        <p:spPr>
          <a:xfrm>
            <a:off x="9989820" y="2651760"/>
            <a:ext cx="548640" cy="548640"/>
          </a:xfrm>
          <a:prstGeom prst="ellipse">
            <a:avLst/>
          </a:prstGeom>
          <a:solidFill>
            <a:srgbClr val="F2A93B"/>
          </a:solidFill>
          <a:ln/>
        </p:spPr>
      </p:sp>
      <p:sp>
        <p:nvSpPr>
          <p:cNvPr id="26" name="Text 24"/>
          <p:cNvSpPr/>
          <p:nvPr/>
        </p:nvSpPr>
        <p:spPr>
          <a:xfrm>
            <a:off x="9989820" y="2651760"/>
            <a:ext cx="548640" cy="548640"/>
          </a:xfrm>
          <a:prstGeom prst="rect">
            <a:avLst/>
          </a:prstGeom>
          <a:noFill/>
          <a:ln/>
        </p:spPr>
        <p:txBody>
          <a:bodyPr wrap="square" rtlCol="0" anchor="ctr"/>
          <a:lstStyle/>
          <a:p>
            <a:pPr marL="0" indent="0" algn="ctr">
              <a:buNone/>
            </a:pPr>
            <a:r>
              <a:rPr lang="en-US" sz="1800" b="1" dirty="0">
                <a:solidFill>
                  <a:srgbClr val="0B2A4A"/>
                </a:solidFill>
                <a:latin typeface="Calibri" pitchFamily="34" charset="0"/>
                <a:ea typeface="Calibri" pitchFamily="34" charset="-122"/>
                <a:cs typeface="Calibri" pitchFamily="34" charset="-120"/>
              </a:rPr>
              <a:t>4</a:t>
            </a:r>
            <a:endParaRPr lang="en-US" sz="1800" dirty="0"/>
          </a:p>
        </p:txBody>
      </p:sp>
      <p:sp>
        <p:nvSpPr>
          <p:cNvPr id="27" name="Text 25"/>
          <p:cNvSpPr/>
          <p:nvPr/>
        </p:nvSpPr>
        <p:spPr>
          <a:xfrm>
            <a:off x="9144000" y="3337560"/>
            <a:ext cx="2240280" cy="502920"/>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Predicted Package</a:t>
            </a:r>
            <a:endParaRPr lang="en-US" sz="1400" dirty="0"/>
          </a:p>
        </p:txBody>
      </p:sp>
      <p:sp>
        <p:nvSpPr>
          <p:cNvPr id="28" name="Text 26"/>
          <p:cNvSpPr/>
          <p:nvPr/>
        </p:nvSpPr>
        <p:spPr>
          <a:xfrm>
            <a:off x="9144000" y="3886200"/>
            <a:ext cx="2240280" cy="1463040"/>
          </a:xfrm>
          <a:prstGeom prst="rect">
            <a:avLst/>
          </a:prstGeom>
          <a:noFill/>
          <a:ln/>
        </p:spPr>
        <p:txBody>
          <a:bodyPr wrap="square" rtlCol="0" anchor="ctr"/>
          <a:lstStyle/>
          <a:p>
            <a:pPr marL="0" indent="0" algn="ctr">
              <a:lnSpc>
                <a:spcPts val="2400"/>
              </a:lnSpc>
              <a:buNone/>
            </a:pPr>
            <a:r>
              <a:rPr lang="en-US" sz="2000" b="1" dirty="0">
                <a:solidFill>
                  <a:srgbClr val="FFFFFF"/>
                </a:solidFill>
                <a:latin typeface="Courier New" pitchFamily="34" charset="0"/>
                <a:ea typeface="Courier New" pitchFamily="34" charset="-122"/>
                <a:cs typeface="Courier New" pitchFamily="34" charset="-120"/>
              </a:rPr>
              <a:t>y ≈ 13.4 LPA</a:t>
            </a:r>
            <a:endParaRPr lang="en-US" sz="2000" dirty="0"/>
          </a:p>
        </p:txBody>
      </p:sp>
      <p:sp>
        <p:nvSpPr>
          <p:cNvPr id="29" name="Text 27"/>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5C6B73"/>
                </a:solidFill>
                <a:latin typeface="Calibri" pitchFamily="34" charset="0"/>
                <a:ea typeface="Calibri" pitchFamily="34" charset="-122"/>
                <a:cs typeface="Calibri" pitchFamily="34" charset="-120"/>
              </a:rPr>
              <a:t>Multiple Linear Regression</a:t>
            </a:r>
            <a:endParaRPr lang="en-US" sz="900" dirty="0"/>
          </a:p>
        </p:txBody>
      </p:sp>
      <p:sp>
        <p:nvSpPr>
          <p:cNvPr id="30" name="Text 28"/>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11</a:t>
            </a:r>
            <a:endParaRPr lang="en-US" sz="9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A4A"/>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365760"/>
          </a:xfrm>
          <a:prstGeom prst="roundRect">
            <a:avLst>
              <a:gd name="adj" fmla="val 20000"/>
            </a:avLst>
          </a:prstGeom>
          <a:solidFill>
            <a:srgbClr val="13416B"/>
          </a:solidFill>
          <a:ln/>
        </p:spPr>
      </p:sp>
      <p:sp>
        <p:nvSpPr>
          <p:cNvPr id="3" name="Text 1"/>
          <p:cNvSpPr/>
          <p:nvPr/>
        </p:nvSpPr>
        <p:spPr>
          <a:xfrm>
            <a:off x="457200" y="411480"/>
            <a:ext cx="2103120" cy="365760"/>
          </a:xfrm>
          <a:prstGeom prst="rect">
            <a:avLst/>
          </a:prstGeom>
          <a:noFill/>
          <a:ln/>
        </p:spPr>
        <p:txBody>
          <a:bodyPr wrap="square" rtlCol="0" anchor="ctr"/>
          <a:lstStyle/>
          <a:p>
            <a:pPr marL="0" indent="0" algn="ctr">
              <a:buNone/>
            </a:pPr>
            <a:r>
              <a:rPr lang="en-US" sz="1100" b="1" kern="0" spc="100" dirty="0">
                <a:solidFill>
                  <a:srgbClr val="F2A93B"/>
                </a:solidFill>
                <a:latin typeface="Calibri" pitchFamily="34" charset="0"/>
                <a:ea typeface="Calibri" pitchFamily="34" charset="-122"/>
                <a:cs typeface="Calibri" pitchFamily="34" charset="-120"/>
              </a:rPr>
              <a:t>CODE ALONG</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Multiple Linear Regression in Python (scikit-learn)</a:t>
            </a:r>
            <a:endParaRPr lang="en-US" sz="3000" dirty="0"/>
          </a:p>
        </p:txBody>
      </p:sp>
      <p:sp>
        <p:nvSpPr>
          <p:cNvPr id="5" name="Text 3"/>
          <p:cNvSpPr/>
          <p:nvPr/>
        </p:nvSpPr>
        <p:spPr>
          <a:xfrm>
            <a:off x="457200" y="1508760"/>
            <a:ext cx="11247120" cy="502920"/>
          </a:xfrm>
          <a:prstGeom prst="rect">
            <a:avLst/>
          </a:prstGeom>
          <a:noFill/>
          <a:ln/>
        </p:spPr>
        <p:txBody>
          <a:bodyPr wrap="square" rtlCol="0" anchor="ctr"/>
          <a:lstStyle/>
          <a:p>
            <a:pPr marL="0" indent="0">
              <a:buNone/>
            </a:pPr>
            <a:r>
              <a:rPr lang="en-US" sz="1350" dirty="0">
                <a:solidFill>
                  <a:srgbClr val="D6E4EC"/>
                </a:solidFill>
                <a:latin typeface="Calibri" pitchFamily="34" charset="0"/>
                <a:ea typeface="Calibri" pitchFamily="34" charset="-122"/>
                <a:cs typeface="Calibri" pitchFamily="34" charset="-120"/>
              </a:rPr>
              <a:t>As demonstrated live in the notebook: generate a multi-feature dataset, split it, fit the model, then read off the learned coefficients.</a:t>
            </a:r>
            <a:endParaRPr lang="en-US" sz="1350" dirty="0"/>
          </a:p>
        </p:txBody>
      </p:sp>
      <p:sp>
        <p:nvSpPr>
          <p:cNvPr id="6" name="Shape 4"/>
          <p:cNvSpPr/>
          <p:nvPr/>
        </p:nvSpPr>
        <p:spPr>
          <a:xfrm>
            <a:off x="457200" y="2148840"/>
            <a:ext cx="6949440" cy="4206240"/>
          </a:xfrm>
          <a:prstGeom prst="roundRect">
            <a:avLst>
              <a:gd name="adj" fmla="val 1739"/>
            </a:avLst>
          </a:prstGeom>
          <a:solidFill>
            <a:srgbClr val="07203A"/>
          </a:solidFill>
          <a:ln w="12700">
            <a:solidFill>
              <a:srgbClr val="1E4F73"/>
            </a:solidFill>
            <a:prstDash val="solid"/>
          </a:ln>
        </p:spPr>
      </p:sp>
      <p:sp>
        <p:nvSpPr>
          <p:cNvPr id="7" name="Text 5"/>
          <p:cNvSpPr/>
          <p:nvPr/>
        </p:nvSpPr>
        <p:spPr>
          <a:xfrm>
            <a:off x="685800" y="2331720"/>
            <a:ext cx="6537960" cy="3886200"/>
          </a:xfrm>
          <a:prstGeom prst="rect">
            <a:avLst/>
          </a:prstGeom>
          <a:noFill/>
          <a:ln/>
        </p:spPr>
        <p:txBody>
          <a:bodyPr wrap="square" rtlCol="0" anchor="t"/>
          <a:lstStyle/>
          <a:p>
            <a:pPr marL="0" indent="0">
              <a:lnSpc>
                <a:spcPts val="1600"/>
              </a:lnSpc>
              <a:buNone/>
            </a:pPr>
            <a:r>
              <a:rPr lang="en-US" sz="1150" dirty="0">
                <a:solidFill>
                  <a:srgbClr val="C9E4CA"/>
                </a:solidFill>
                <a:latin typeface="Courier New" pitchFamily="34" charset="0"/>
                <a:ea typeface="Courier New" pitchFamily="34" charset="-122"/>
                <a:cs typeface="Courier New" pitchFamily="34" charset="-120"/>
              </a:rPr>
              <a:t>from sklearn.datasets import make_regression</a:t>
            </a:r>
            <a:endParaRPr lang="en-US" sz="1150" dirty="0"/>
          </a:p>
          <a:p>
            <a:pPr marL="0" indent="0">
              <a:lnSpc>
                <a:spcPts val="1600"/>
              </a:lnSpc>
              <a:buNone/>
            </a:pPr>
            <a:r>
              <a:rPr lang="en-US" sz="1150" dirty="0">
                <a:solidFill>
                  <a:srgbClr val="C9E4CA"/>
                </a:solidFill>
                <a:latin typeface="Courier New" pitchFamily="34" charset="0"/>
                <a:ea typeface="Courier New" pitchFamily="34" charset="-122"/>
                <a:cs typeface="Courier New" pitchFamily="34" charset="-120"/>
              </a:rPr>
              <a:t>from sklearn.model_selection import train_test_split</a:t>
            </a:r>
            <a:endParaRPr lang="en-US" sz="1150" dirty="0"/>
          </a:p>
          <a:p>
            <a:pPr marL="0" indent="0">
              <a:lnSpc>
                <a:spcPts val="1600"/>
              </a:lnSpc>
              <a:buNone/>
            </a:pPr>
            <a:r>
              <a:rPr lang="en-US" sz="1150" dirty="0">
                <a:solidFill>
                  <a:srgbClr val="C9E4CA"/>
                </a:solidFill>
                <a:latin typeface="Courier New" pitchFamily="34" charset="0"/>
                <a:ea typeface="Courier New" pitchFamily="34" charset="-122"/>
                <a:cs typeface="Courier New" pitchFamily="34" charset="-120"/>
              </a:rPr>
              <a:t>from sklearn.linear_model import LinearRegression</a:t>
            </a:r>
            <a:endParaRPr lang="en-US" sz="1150" dirty="0"/>
          </a:p>
          <a:p>
            <a:pPr marL="0" indent="0">
              <a:lnSpc>
                <a:spcPts val="1600"/>
              </a:lnSpc>
              <a:buNone/>
            </a:pPr>
            <a:endParaRPr lang="en-US" sz="1150" dirty="0"/>
          </a:p>
          <a:p>
            <a:pPr marL="0" indent="0">
              <a:lnSpc>
                <a:spcPts val="1600"/>
              </a:lnSpc>
              <a:buNone/>
            </a:pPr>
            <a:r>
              <a:rPr lang="en-US" sz="1150" dirty="0">
                <a:solidFill>
                  <a:srgbClr val="C9E4CA"/>
                </a:solidFill>
                <a:latin typeface="Courier New" pitchFamily="34" charset="0"/>
                <a:ea typeface="Courier New" pitchFamily="34" charset="-122"/>
                <a:cs typeface="Courier New" pitchFamily="34" charset="-120"/>
              </a:rPr>
              <a:t># 2 input columns, 1 output column</a:t>
            </a:r>
            <a:endParaRPr lang="en-US" sz="1150" dirty="0"/>
          </a:p>
          <a:p>
            <a:pPr marL="0" indent="0">
              <a:lnSpc>
                <a:spcPts val="1600"/>
              </a:lnSpc>
              <a:buNone/>
            </a:pPr>
            <a:r>
              <a:rPr lang="en-US" sz="1150" dirty="0">
                <a:solidFill>
                  <a:srgbClr val="C9E4CA"/>
                </a:solidFill>
                <a:latin typeface="Courier New" pitchFamily="34" charset="0"/>
                <a:ea typeface="Courier New" pitchFamily="34" charset="-122"/>
                <a:cs typeface="Courier New" pitchFamily="34" charset="-120"/>
              </a:rPr>
              <a:t>X, y = make_regression(n_samples=100, n_features=2, n_targets=1)</a:t>
            </a:r>
            <a:endParaRPr lang="en-US" sz="1150" dirty="0"/>
          </a:p>
          <a:p>
            <a:pPr marL="0" indent="0">
              <a:lnSpc>
                <a:spcPts val="1600"/>
              </a:lnSpc>
              <a:buNone/>
            </a:pPr>
            <a:endParaRPr lang="en-US" sz="1150" dirty="0"/>
          </a:p>
          <a:p>
            <a:pPr marL="0" indent="0">
              <a:lnSpc>
                <a:spcPts val="1600"/>
              </a:lnSpc>
              <a:buNone/>
            </a:pPr>
            <a:r>
              <a:rPr lang="en-US" sz="1150" dirty="0">
                <a:solidFill>
                  <a:srgbClr val="C9E4CA"/>
                </a:solidFill>
                <a:latin typeface="Courier New" pitchFamily="34" charset="0"/>
                <a:ea typeface="Courier New" pitchFamily="34" charset="-122"/>
                <a:cs typeface="Courier New" pitchFamily="34" charset="-120"/>
              </a:rPr>
              <a:t>X_train, X_test, y_train, y_test = train_test_split(X, y, test_size=0.2)</a:t>
            </a:r>
            <a:endParaRPr lang="en-US" sz="1150" dirty="0"/>
          </a:p>
          <a:p>
            <a:pPr marL="0" indent="0">
              <a:lnSpc>
                <a:spcPts val="1600"/>
              </a:lnSpc>
              <a:buNone/>
            </a:pPr>
            <a:endParaRPr lang="en-US" sz="1150" dirty="0"/>
          </a:p>
          <a:p>
            <a:pPr marL="0" indent="0">
              <a:lnSpc>
                <a:spcPts val="1600"/>
              </a:lnSpc>
              <a:buNone/>
            </a:pPr>
            <a:r>
              <a:rPr lang="en-US" sz="1150" dirty="0">
                <a:solidFill>
                  <a:srgbClr val="C9E4CA"/>
                </a:solidFill>
                <a:latin typeface="Courier New" pitchFamily="34" charset="0"/>
                <a:ea typeface="Courier New" pitchFamily="34" charset="-122"/>
                <a:cs typeface="Courier New" pitchFamily="34" charset="-120"/>
              </a:rPr>
              <a:t>model = LinearRegression()</a:t>
            </a:r>
            <a:endParaRPr lang="en-US" sz="1150" dirty="0"/>
          </a:p>
          <a:p>
            <a:pPr marL="0" indent="0">
              <a:lnSpc>
                <a:spcPts val="1600"/>
              </a:lnSpc>
              <a:buNone/>
            </a:pPr>
            <a:r>
              <a:rPr lang="en-US" sz="1150" dirty="0">
                <a:solidFill>
                  <a:srgbClr val="C9E4CA"/>
                </a:solidFill>
                <a:latin typeface="Courier New" pitchFamily="34" charset="0"/>
                <a:ea typeface="Courier New" pitchFamily="34" charset="-122"/>
                <a:cs typeface="Courier New" pitchFamily="34" charset="-120"/>
              </a:rPr>
              <a:t>model.fit(X_train, y_train)</a:t>
            </a:r>
            <a:endParaRPr lang="en-US" sz="1150" dirty="0"/>
          </a:p>
          <a:p>
            <a:pPr marL="0" indent="0">
              <a:lnSpc>
                <a:spcPts val="1600"/>
              </a:lnSpc>
              <a:buNone/>
            </a:pPr>
            <a:endParaRPr lang="en-US" sz="1150" dirty="0"/>
          </a:p>
          <a:p>
            <a:pPr marL="0" indent="0">
              <a:lnSpc>
                <a:spcPts val="1600"/>
              </a:lnSpc>
              <a:buNone/>
            </a:pPr>
            <a:r>
              <a:rPr lang="en-US" sz="1150" dirty="0">
                <a:solidFill>
                  <a:srgbClr val="C9E4CA"/>
                </a:solidFill>
                <a:latin typeface="Courier New" pitchFamily="34" charset="0"/>
                <a:ea typeface="Courier New" pitchFamily="34" charset="-122"/>
                <a:cs typeface="Courier New" pitchFamily="34" charset="-120"/>
              </a:rPr>
              <a:t>print(model.coef_)       # β₁, β₂  — the slope coefficients</a:t>
            </a:r>
            <a:endParaRPr lang="en-US" sz="1150" dirty="0"/>
          </a:p>
          <a:p>
            <a:pPr marL="0" indent="0">
              <a:lnSpc>
                <a:spcPts val="1600"/>
              </a:lnSpc>
              <a:buNone/>
            </a:pPr>
            <a:r>
              <a:rPr lang="en-US" sz="1150" dirty="0">
                <a:solidFill>
                  <a:srgbClr val="C9E4CA"/>
                </a:solidFill>
                <a:latin typeface="Courier New" pitchFamily="34" charset="0"/>
                <a:ea typeface="Courier New" pitchFamily="34" charset="-122"/>
                <a:cs typeface="Courier New" pitchFamily="34" charset="-120"/>
              </a:rPr>
              <a:t>print(model.intercept_)  # β₀  — the intercept</a:t>
            </a:r>
            <a:endParaRPr lang="en-US" sz="1150" dirty="0"/>
          </a:p>
        </p:txBody>
      </p:sp>
      <p:sp>
        <p:nvSpPr>
          <p:cNvPr id="8" name="Shape 6"/>
          <p:cNvSpPr/>
          <p:nvPr/>
        </p:nvSpPr>
        <p:spPr>
          <a:xfrm>
            <a:off x="7589520" y="2148840"/>
            <a:ext cx="4114800" cy="1325880"/>
          </a:xfrm>
          <a:prstGeom prst="roundRect">
            <a:avLst>
              <a:gd name="adj" fmla="val 5517"/>
            </a:avLst>
          </a:prstGeom>
          <a:solidFill>
            <a:srgbClr val="0F3A5F"/>
          </a:solidFill>
          <a:ln w="12700">
            <a:solidFill>
              <a:srgbClr val="1E4F73"/>
            </a:solidFill>
            <a:prstDash val="solid"/>
          </a:ln>
        </p:spPr>
      </p:sp>
      <p:sp>
        <p:nvSpPr>
          <p:cNvPr id="9" name="Text 7"/>
          <p:cNvSpPr/>
          <p:nvPr/>
        </p:nvSpPr>
        <p:spPr>
          <a:xfrm>
            <a:off x="7772400" y="2240280"/>
            <a:ext cx="3749040" cy="320040"/>
          </a:xfrm>
          <a:prstGeom prst="rect">
            <a:avLst/>
          </a:prstGeom>
          <a:noFill/>
          <a:ln/>
        </p:spPr>
        <p:txBody>
          <a:bodyPr wrap="square" rtlCol="0" anchor="ctr"/>
          <a:lstStyle/>
          <a:p>
            <a:pPr marL="0" indent="0">
              <a:buNone/>
            </a:pPr>
            <a:r>
              <a:rPr lang="en-US" sz="1200" b="1" dirty="0">
                <a:solidFill>
                  <a:srgbClr val="F2A93B"/>
                </a:solidFill>
                <a:latin typeface="Courier New" pitchFamily="34" charset="0"/>
                <a:ea typeface="Courier New" pitchFamily="34" charset="-122"/>
                <a:cs typeface="Courier New" pitchFamily="34" charset="-120"/>
              </a:rPr>
              <a:t>make_regression()</a:t>
            </a:r>
            <a:endParaRPr lang="en-US" sz="1200" dirty="0"/>
          </a:p>
        </p:txBody>
      </p:sp>
      <p:sp>
        <p:nvSpPr>
          <p:cNvPr id="10" name="Text 8"/>
          <p:cNvSpPr/>
          <p:nvPr/>
        </p:nvSpPr>
        <p:spPr>
          <a:xfrm>
            <a:off x="7772400" y="2587752"/>
            <a:ext cx="3749040" cy="822960"/>
          </a:xfrm>
          <a:prstGeom prst="rect">
            <a:avLst/>
          </a:prstGeom>
          <a:noFill/>
          <a:ln/>
        </p:spPr>
        <p:txBody>
          <a:bodyPr wrap="square" rtlCol="0" anchor="ctr"/>
          <a:lstStyle/>
          <a:p>
            <a:pPr marL="0" indent="0">
              <a:lnSpc>
                <a:spcPts val="1400"/>
              </a:lnSpc>
              <a:buNone/>
            </a:pPr>
            <a:r>
              <a:rPr lang="en-US" sz="1100" dirty="0">
                <a:solidFill>
                  <a:srgbClr val="D6E4EC"/>
                </a:solidFill>
                <a:latin typeface="Calibri" pitchFamily="34" charset="0"/>
                <a:ea typeface="Calibri" pitchFamily="34" charset="-122"/>
                <a:cs typeface="Calibri" pitchFamily="34" charset="-120"/>
              </a:rPr>
              <a:t>Generates a synthetic dataset with a chosen number of input features — handy for testing any dimensionality.</a:t>
            </a:r>
            <a:endParaRPr lang="en-US" sz="1100" dirty="0"/>
          </a:p>
        </p:txBody>
      </p:sp>
      <p:sp>
        <p:nvSpPr>
          <p:cNvPr id="11" name="Shape 9"/>
          <p:cNvSpPr/>
          <p:nvPr/>
        </p:nvSpPr>
        <p:spPr>
          <a:xfrm>
            <a:off x="7589520" y="3611880"/>
            <a:ext cx="4114800" cy="1325880"/>
          </a:xfrm>
          <a:prstGeom prst="roundRect">
            <a:avLst>
              <a:gd name="adj" fmla="val 5517"/>
            </a:avLst>
          </a:prstGeom>
          <a:solidFill>
            <a:srgbClr val="0F3A5F"/>
          </a:solidFill>
          <a:ln w="12700">
            <a:solidFill>
              <a:srgbClr val="1E4F73"/>
            </a:solidFill>
            <a:prstDash val="solid"/>
          </a:ln>
        </p:spPr>
      </p:sp>
      <p:sp>
        <p:nvSpPr>
          <p:cNvPr id="12" name="Text 10"/>
          <p:cNvSpPr/>
          <p:nvPr/>
        </p:nvSpPr>
        <p:spPr>
          <a:xfrm>
            <a:off x="7772400" y="3703320"/>
            <a:ext cx="3749040" cy="320040"/>
          </a:xfrm>
          <a:prstGeom prst="rect">
            <a:avLst/>
          </a:prstGeom>
          <a:noFill/>
          <a:ln/>
        </p:spPr>
        <p:txBody>
          <a:bodyPr wrap="square" rtlCol="0" anchor="ctr"/>
          <a:lstStyle/>
          <a:p>
            <a:pPr marL="0" indent="0">
              <a:buNone/>
            </a:pPr>
            <a:r>
              <a:rPr lang="en-US" sz="1200" b="1" dirty="0">
                <a:solidFill>
                  <a:srgbClr val="F2A93B"/>
                </a:solidFill>
                <a:latin typeface="Courier New" pitchFamily="34" charset="0"/>
                <a:ea typeface="Courier New" pitchFamily="34" charset="-122"/>
                <a:cs typeface="Courier New" pitchFamily="34" charset="-120"/>
              </a:rPr>
              <a:t>train_test_split()</a:t>
            </a:r>
            <a:endParaRPr lang="en-US" sz="1200" dirty="0"/>
          </a:p>
        </p:txBody>
      </p:sp>
      <p:sp>
        <p:nvSpPr>
          <p:cNvPr id="13" name="Text 11"/>
          <p:cNvSpPr/>
          <p:nvPr/>
        </p:nvSpPr>
        <p:spPr>
          <a:xfrm>
            <a:off x="7772400" y="4050792"/>
            <a:ext cx="3749040" cy="822960"/>
          </a:xfrm>
          <a:prstGeom prst="rect">
            <a:avLst/>
          </a:prstGeom>
          <a:noFill/>
          <a:ln/>
        </p:spPr>
        <p:txBody>
          <a:bodyPr wrap="square" rtlCol="0" anchor="ctr"/>
          <a:lstStyle/>
          <a:p>
            <a:pPr marL="0" indent="0">
              <a:lnSpc>
                <a:spcPts val="1400"/>
              </a:lnSpc>
              <a:buNone/>
            </a:pPr>
            <a:r>
              <a:rPr lang="en-US" sz="1100" dirty="0">
                <a:solidFill>
                  <a:srgbClr val="D6E4EC"/>
                </a:solidFill>
                <a:latin typeface="Calibri" pitchFamily="34" charset="0"/>
                <a:ea typeface="Calibri" pitchFamily="34" charset="-122"/>
                <a:cs typeface="Calibri" pitchFamily="34" charset="-120"/>
              </a:rPr>
              <a:t>Splits data so the model is evaluated on unseen points, not the ones it trained on.</a:t>
            </a:r>
            <a:endParaRPr lang="en-US" sz="1100" dirty="0"/>
          </a:p>
        </p:txBody>
      </p:sp>
      <p:sp>
        <p:nvSpPr>
          <p:cNvPr id="14" name="Shape 12"/>
          <p:cNvSpPr/>
          <p:nvPr/>
        </p:nvSpPr>
        <p:spPr>
          <a:xfrm>
            <a:off x="7589520" y="5074920"/>
            <a:ext cx="4114800" cy="1325880"/>
          </a:xfrm>
          <a:prstGeom prst="roundRect">
            <a:avLst>
              <a:gd name="adj" fmla="val 5517"/>
            </a:avLst>
          </a:prstGeom>
          <a:solidFill>
            <a:srgbClr val="0F3A5F"/>
          </a:solidFill>
          <a:ln w="12700">
            <a:solidFill>
              <a:srgbClr val="1E4F73"/>
            </a:solidFill>
            <a:prstDash val="solid"/>
          </a:ln>
        </p:spPr>
      </p:sp>
      <p:sp>
        <p:nvSpPr>
          <p:cNvPr id="15" name="Text 13"/>
          <p:cNvSpPr/>
          <p:nvPr/>
        </p:nvSpPr>
        <p:spPr>
          <a:xfrm>
            <a:off x="7772400" y="5166360"/>
            <a:ext cx="3749040" cy="320040"/>
          </a:xfrm>
          <a:prstGeom prst="rect">
            <a:avLst/>
          </a:prstGeom>
          <a:noFill/>
          <a:ln/>
        </p:spPr>
        <p:txBody>
          <a:bodyPr wrap="square" rtlCol="0" anchor="ctr"/>
          <a:lstStyle/>
          <a:p>
            <a:pPr marL="0" indent="0">
              <a:buNone/>
            </a:pPr>
            <a:r>
              <a:rPr lang="en-US" sz="1200" b="1" dirty="0">
                <a:solidFill>
                  <a:srgbClr val="F2A93B"/>
                </a:solidFill>
                <a:latin typeface="Courier New" pitchFamily="34" charset="0"/>
                <a:ea typeface="Courier New" pitchFamily="34" charset="-122"/>
                <a:cs typeface="Courier New" pitchFamily="34" charset="-120"/>
              </a:rPr>
              <a:t>model.coef_ / .intercept_</a:t>
            </a:r>
            <a:endParaRPr lang="en-US" sz="1200" dirty="0"/>
          </a:p>
        </p:txBody>
      </p:sp>
      <p:sp>
        <p:nvSpPr>
          <p:cNvPr id="16" name="Text 14"/>
          <p:cNvSpPr/>
          <p:nvPr/>
        </p:nvSpPr>
        <p:spPr>
          <a:xfrm>
            <a:off x="7772400" y="5513832"/>
            <a:ext cx="3749040" cy="822960"/>
          </a:xfrm>
          <a:prstGeom prst="rect">
            <a:avLst/>
          </a:prstGeom>
          <a:noFill/>
          <a:ln/>
        </p:spPr>
        <p:txBody>
          <a:bodyPr wrap="square" rtlCol="0" anchor="ctr"/>
          <a:lstStyle/>
          <a:p>
            <a:pPr marL="0" indent="0">
              <a:lnSpc>
                <a:spcPts val="1400"/>
              </a:lnSpc>
              <a:buNone/>
            </a:pPr>
            <a:r>
              <a:rPr lang="en-US" sz="1100" dirty="0">
                <a:solidFill>
                  <a:srgbClr val="D6E4EC"/>
                </a:solidFill>
                <a:latin typeface="Calibri" pitchFamily="34" charset="0"/>
                <a:ea typeface="Calibri" pitchFamily="34" charset="-122"/>
                <a:cs typeface="Calibri" pitchFamily="34" charset="-120"/>
              </a:rPr>
              <a:t>After fitting, these attributes hold the learned β₁…βₙ and β₀ values directly.</a:t>
            </a:r>
            <a:endParaRPr lang="en-US" sz="1100" dirty="0"/>
          </a:p>
        </p:txBody>
      </p:sp>
      <p:sp>
        <p:nvSpPr>
          <p:cNvPr id="17" name="Text 15"/>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8FA6B3"/>
                </a:solidFill>
                <a:latin typeface="Calibri" pitchFamily="34" charset="0"/>
                <a:ea typeface="Calibri" pitchFamily="34" charset="-122"/>
                <a:cs typeface="Calibri" pitchFamily="34" charset="-120"/>
              </a:rPr>
              <a:t>Multiple Linear Regression</a:t>
            </a:r>
            <a:endParaRPr lang="en-US" sz="900" dirty="0"/>
          </a:p>
        </p:txBody>
      </p:sp>
      <p:sp>
        <p:nvSpPr>
          <p:cNvPr id="18" name="Text 16"/>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8FA6B3"/>
                </a:solidFill>
                <a:latin typeface="Calibri" pitchFamily="34" charset="0"/>
                <a:ea typeface="Calibri" pitchFamily="34" charset="-122"/>
                <a:cs typeface="Calibri" pitchFamily="34" charset="-120"/>
              </a:rPr>
              <a:t>12</a:t>
            </a:r>
            <a:endParaRPr lang="en-US" sz="9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365760"/>
          </a:xfrm>
          <a:prstGeom prst="roundRect">
            <a:avLst>
              <a:gd name="adj" fmla="val 20000"/>
            </a:avLst>
          </a:prstGeom>
          <a:solidFill>
            <a:srgbClr val="E5F0F4"/>
          </a:solidFill>
          <a:ln/>
        </p:spPr>
      </p:sp>
      <p:sp>
        <p:nvSpPr>
          <p:cNvPr id="3" name="Text 1"/>
          <p:cNvSpPr/>
          <p:nvPr/>
        </p:nvSpPr>
        <p:spPr>
          <a:xfrm>
            <a:off x="457200" y="411480"/>
            <a:ext cx="2103120" cy="365760"/>
          </a:xfrm>
          <a:prstGeom prst="rect">
            <a:avLst/>
          </a:prstGeom>
          <a:noFill/>
          <a:ln/>
        </p:spPr>
        <p:txBody>
          <a:bodyPr wrap="square" rtlCol="0" anchor="ctr"/>
          <a:lstStyle/>
          <a:p>
            <a:pPr marL="0" indent="0" algn="ctr">
              <a:buNone/>
            </a:pPr>
            <a:r>
              <a:rPr lang="en-US" sz="1100" b="1" kern="0" spc="100" dirty="0">
                <a:solidFill>
                  <a:srgbClr val="065A82"/>
                </a:solidFill>
                <a:latin typeface="Calibri" pitchFamily="34" charset="0"/>
                <a:ea typeface="Calibri" pitchFamily="34" charset="-122"/>
                <a:cs typeface="Calibri" pitchFamily="34" charset="-120"/>
              </a:rPr>
              <a:t>CHECKPOINT</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3000" b="1" dirty="0">
                <a:solidFill>
                  <a:srgbClr val="0B2A4A"/>
                </a:solidFill>
                <a:latin typeface="Cambria" pitchFamily="34" charset="0"/>
                <a:ea typeface="Cambria" pitchFamily="34" charset="-122"/>
                <a:cs typeface="Cambria" pitchFamily="34" charset="-120"/>
              </a:rPr>
              <a:t>What We've Covered So Far</a:t>
            </a:r>
            <a:endParaRPr lang="en-US" sz="3000" dirty="0"/>
          </a:p>
        </p:txBody>
      </p:sp>
      <p:sp>
        <p:nvSpPr>
          <p:cNvPr id="5" name="Shape 3"/>
          <p:cNvSpPr/>
          <p:nvPr/>
        </p:nvSpPr>
        <p:spPr>
          <a:xfrm>
            <a:off x="457200" y="1600200"/>
            <a:ext cx="5486400" cy="1417320"/>
          </a:xfrm>
          <a:prstGeom prst="roundRect">
            <a:avLst>
              <a:gd name="adj" fmla="val 6452"/>
            </a:avLst>
          </a:prstGeom>
          <a:solidFill>
            <a:srgbClr val="FFFFFF"/>
          </a:solidFill>
          <a:ln w="12700">
            <a:solidFill>
              <a:srgbClr val="D7E2E6"/>
            </a:solidFill>
            <a:prstDash val="solid"/>
          </a:ln>
          <a:effectLst>
            <a:outerShdw blurRad="63500" dist="25400" dir="5400000" algn="bl" rotWithShape="0">
              <a:srgbClr val="1A1A2E">
                <a:alpha val="8000"/>
              </a:srgbClr>
            </a:outerShdw>
          </a:effectLst>
        </p:spPr>
      </p:sp>
      <p:sp>
        <p:nvSpPr>
          <p:cNvPr id="6" name="Shape 4"/>
          <p:cNvSpPr/>
          <p:nvPr/>
        </p:nvSpPr>
        <p:spPr>
          <a:xfrm>
            <a:off x="731520" y="1856232"/>
            <a:ext cx="502920" cy="502920"/>
          </a:xfrm>
          <a:prstGeom prst="ellipse">
            <a:avLst/>
          </a:prstGeom>
          <a:solidFill>
            <a:srgbClr val="E5F0F4"/>
          </a:solidFill>
          <a:ln/>
        </p:spPr>
      </p:sp>
      <p:sp>
        <p:nvSpPr>
          <p:cNvPr id="7" name="Text 5"/>
          <p:cNvSpPr/>
          <p:nvPr/>
        </p:nvSpPr>
        <p:spPr>
          <a:xfrm>
            <a:off x="731520" y="1856232"/>
            <a:ext cx="502920" cy="502920"/>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417320" y="1764792"/>
            <a:ext cx="4297680" cy="365760"/>
          </a:xfrm>
          <a:prstGeom prst="rect">
            <a:avLst/>
          </a:prstGeom>
          <a:noFill/>
          <a:ln/>
        </p:spPr>
        <p:txBody>
          <a:bodyPr wrap="square" rtlCol="0" anchor="ctr"/>
          <a:lstStyle/>
          <a:p>
            <a:pPr marL="0" indent="0">
              <a:buNone/>
            </a:pPr>
            <a:r>
              <a:rPr lang="en-US" sz="1500" b="1" dirty="0">
                <a:solidFill>
                  <a:srgbClr val="0B2A4A"/>
                </a:solidFill>
                <a:latin typeface="Cambria" pitchFamily="34" charset="0"/>
                <a:ea typeface="Cambria" pitchFamily="34" charset="-122"/>
                <a:cs typeface="Cambria" pitchFamily="34" charset="-120"/>
              </a:rPr>
              <a:t>Definition</a:t>
            </a:r>
            <a:endParaRPr lang="en-US" sz="1500" dirty="0"/>
          </a:p>
        </p:txBody>
      </p:sp>
      <p:sp>
        <p:nvSpPr>
          <p:cNvPr id="9" name="Text 7"/>
          <p:cNvSpPr/>
          <p:nvPr/>
        </p:nvSpPr>
        <p:spPr>
          <a:xfrm>
            <a:off x="731520" y="2258568"/>
            <a:ext cx="4937760" cy="640080"/>
          </a:xfrm>
          <a:prstGeom prst="rect">
            <a:avLst/>
          </a:prstGeom>
          <a:noFill/>
          <a:ln/>
        </p:spPr>
        <p:txBody>
          <a:bodyPr wrap="square" rtlCol="0" anchor="ctr"/>
          <a:lstStyle/>
          <a:p>
            <a:pPr marL="0" indent="0">
              <a:lnSpc>
                <a:spcPts val="1400"/>
              </a:lnSpc>
              <a:buNone/>
            </a:pPr>
            <a:r>
              <a:rPr lang="en-US" sz="1150" dirty="0">
                <a:solidFill>
                  <a:srgbClr val="5C6B73"/>
                </a:solidFill>
                <a:latin typeface="Calibri" pitchFamily="34" charset="0"/>
                <a:ea typeface="Calibri" pitchFamily="34" charset="-122"/>
                <a:cs typeface="Calibri" pitchFamily="34" charset="-120"/>
              </a:rPr>
              <a:t>MLR predicts one output from two or more input columns — a direct extension of simple linear regression.</a:t>
            </a:r>
            <a:endParaRPr lang="en-US" sz="1150" dirty="0"/>
          </a:p>
        </p:txBody>
      </p:sp>
      <p:sp>
        <p:nvSpPr>
          <p:cNvPr id="10" name="Shape 8"/>
          <p:cNvSpPr/>
          <p:nvPr/>
        </p:nvSpPr>
        <p:spPr>
          <a:xfrm>
            <a:off x="6217920" y="1600200"/>
            <a:ext cx="5486400" cy="1417320"/>
          </a:xfrm>
          <a:prstGeom prst="roundRect">
            <a:avLst>
              <a:gd name="adj" fmla="val 6452"/>
            </a:avLst>
          </a:prstGeom>
          <a:solidFill>
            <a:srgbClr val="FFFFFF"/>
          </a:solidFill>
          <a:ln w="12700">
            <a:solidFill>
              <a:srgbClr val="D7E2E6"/>
            </a:solidFill>
            <a:prstDash val="solid"/>
          </a:ln>
          <a:effectLst>
            <a:outerShdw blurRad="63500" dist="25400" dir="5400000" algn="bl" rotWithShape="0">
              <a:srgbClr val="1A1A2E">
                <a:alpha val="8000"/>
              </a:srgbClr>
            </a:outerShdw>
          </a:effectLst>
        </p:spPr>
      </p:sp>
      <p:sp>
        <p:nvSpPr>
          <p:cNvPr id="11" name="Shape 9"/>
          <p:cNvSpPr/>
          <p:nvPr/>
        </p:nvSpPr>
        <p:spPr>
          <a:xfrm>
            <a:off x="6492240" y="1856232"/>
            <a:ext cx="502920" cy="502920"/>
          </a:xfrm>
          <a:prstGeom prst="ellipse">
            <a:avLst/>
          </a:prstGeom>
          <a:solidFill>
            <a:srgbClr val="E5F0F4"/>
          </a:solidFill>
          <a:ln/>
        </p:spPr>
      </p:sp>
      <p:sp>
        <p:nvSpPr>
          <p:cNvPr id="12" name="Text 10"/>
          <p:cNvSpPr/>
          <p:nvPr/>
        </p:nvSpPr>
        <p:spPr>
          <a:xfrm>
            <a:off x="6492240" y="1856232"/>
            <a:ext cx="502920" cy="502920"/>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7178040" y="1764792"/>
            <a:ext cx="4297680" cy="365760"/>
          </a:xfrm>
          <a:prstGeom prst="rect">
            <a:avLst/>
          </a:prstGeom>
          <a:noFill/>
          <a:ln/>
        </p:spPr>
        <p:txBody>
          <a:bodyPr wrap="square" rtlCol="0" anchor="ctr"/>
          <a:lstStyle/>
          <a:p>
            <a:pPr marL="0" indent="0">
              <a:buNone/>
            </a:pPr>
            <a:r>
              <a:rPr lang="en-US" sz="1500" b="1" dirty="0">
                <a:solidFill>
                  <a:srgbClr val="0B2A4A"/>
                </a:solidFill>
                <a:latin typeface="Cambria" pitchFamily="34" charset="0"/>
                <a:ea typeface="Cambria" pitchFamily="34" charset="-122"/>
                <a:cs typeface="Cambria" pitchFamily="34" charset="-120"/>
              </a:rPr>
              <a:t>Geometry</a:t>
            </a:r>
            <a:endParaRPr lang="en-US" sz="1500" dirty="0"/>
          </a:p>
        </p:txBody>
      </p:sp>
      <p:sp>
        <p:nvSpPr>
          <p:cNvPr id="14" name="Text 12"/>
          <p:cNvSpPr/>
          <p:nvPr/>
        </p:nvSpPr>
        <p:spPr>
          <a:xfrm>
            <a:off x="6492240" y="2258568"/>
            <a:ext cx="4937760" cy="640080"/>
          </a:xfrm>
          <a:prstGeom prst="rect">
            <a:avLst/>
          </a:prstGeom>
          <a:noFill/>
          <a:ln/>
        </p:spPr>
        <p:txBody>
          <a:bodyPr wrap="square" rtlCol="0" anchor="ctr"/>
          <a:lstStyle/>
          <a:p>
            <a:pPr marL="0" indent="0">
              <a:lnSpc>
                <a:spcPts val="1400"/>
              </a:lnSpc>
              <a:buNone/>
            </a:pPr>
            <a:r>
              <a:rPr lang="en-US" sz="1150" dirty="0">
                <a:solidFill>
                  <a:srgbClr val="5C6B73"/>
                </a:solidFill>
                <a:latin typeface="Calibri" pitchFamily="34" charset="0"/>
                <a:ea typeface="Calibri" pitchFamily="34" charset="-122"/>
                <a:cs typeface="Calibri" pitchFamily="34" charset="-120"/>
              </a:rPr>
              <a:t>1 input → line, 2 inputs → plane, 3+ inputs → hyperplane (can't be drawn, but works the same way).</a:t>
            </a:r>
            <a:endParaRPr lang="en-US" sz="1150" dirty="0"/>
          </a:p>
        </p:txBody>
      </p:sp>
      <p:sp>
        <p:nvSpPr>
          <p:cNvPr id="15" name="Shape 13"/>
          <p:cNvSpPr/>
          <p:nvPr/>
        </p:nvSpPr>
        <p:spPr>
          <a:xfrm>
            <a:off x="457200" y="3200400"/>
            <a:ext cx="5486400" cy="1417320"/>
          </a:xfrm>
          <a:prstGeom prst="roundRect">
            <a:avLst>
              <a:gd name="adj" fmla="val 6452"/>
            </a:avLst>
          </a:prstGeom>
          <a:solidFill>
            <a:srgbClr val="FFFFFF"/>
          </a:solidFill>
          <a:ln w="12700">
            <a:solidFill>
              <a:srgbClr val="D7E2E6"/>
            </a:solidFill>
            <a:prstDash val="solid"/>
          </a:ln>
          <a:effectLst>
            <a:outerShdw blurRad="63500" dist="25400" dir="5400000" algn="bl" rotWithShape="0">
              <a:srgbClr val="1A1A2E">
                <a:alpha val="8000"/>
              </a:srgbClr>
            </a:outerShdw>
          </a:effectLst>
        </p:spPr>
      </p:sp>
      <p:sp>
        <p:nvSpPr>
          <p:cNvPr id="16" name="Shape 14"/>
          <p:cNvSpPr/>
          <p:nvPr/>
        </p:nvSpPr>
        <p:spPr>
          <a:xfrm>
            <a:off x="731520" y="3456432"/>
            <a:ext cx="502920" cy="502920"/>
          </a:xfrm>
          <a:prstGeom prst="ellipse">
            <a:avLst/>
          </a:prstGeom>
          <a:solidFill>
            <a:srgbClr val="E5F0F4"/>
          </a:solidFill>
          <a:ln/>
        </p:spPr>
      </p:sp>
      <p:sp>
        <p:nvSpPr>
          <p:cNvPr id="17" name="Text 15"/>
          <p:cNvSpPr/>
          <p:nvPr/>
        </p:nvSpPr>
        <p:spPr>
          <a:xfrm>
            <a:off x="731520" y="3456432"/>
            <a:ext cx="502920" cy="502920"/>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1417320" y="3364992"/>
            <a:ext cx="4297680" cy="365760"/>
          </a:xfrm>
          <a:prstGeom prst="rect">
            <a:avLst/>
          </a:prstGeom>
          <a:noFill/>
          <a:ln/>
        </p:spPr>
        <p:txBody>
          <a:bodyPr wrap="square" rtlCol="0" anchor="ctr"/>
          <a:lstStyle/>
          <a:p>
            <a:pPr marL="0" indent="0">
              <a:buNone/>
            </a:pPr>
            <a:r>
              <a:rPr lang="en-US" sz="1500" b="1" dirty="0">
                <a:solidFill>
                  <a:srgbClr val="0B2A4A"/>
                </a:solidFill>
                <a:latin typeface="Cambria" pitchFamily="34" charset="0"/>
                <a:ea typeface="Cambria" pitchFamily="34" charset="-122"/>
                <a:cs typeface="Cambria" pitchFamily="34" charset="-120"/>
              </a:rPr>
              <a:t>Equation</a:t>
            </a:r>
            <a:endParaRPr lang="en-US" sz="1500" dirty="0"/>
          </a:p>
        </p:txBody>
      </p:sp>
      <p:sp>
        <p:nvSpPr>
          <p:cNvPr id="19" name="Text 17"/>
          <p:cNvSpPr/>
          <p:nvPr/>
        </p:nvSpPr>
        <p:spPr>
          <a:xfrm>
            <a:off x="731520" y="3858768"/>
            <a:ext cx="4937760" cy="640080"/>
          </a:xfrm>
          <a:prstGeom prst="rect">
            <a:avLst/>
          </a:prstGeom>
          <a:noFill/>
          <a:ln/>
        </p:spPr>
        <p:txBody>
          <a:bodyPr wrap="square" rtlCol="0" anchor="ctr"/>
          <a:lstStyle/>
          <a:p>
            <a:pPr marL="0" indent="0">
              <a:lnSpc>
                <a:spcPts val="1400"/>
              </a:lnSpc>
              <a:buNone/>
            </a:pPr>
            <a:r>
              <a:rPr lang="en-US" sz="1150" dirty="0">
                <a:solidFill>
                  <a:srgbClr val="5C6B73"/>
                </a:solidFill>
                <a:latin typeface="Calibri" pitchFamily="34" charset="0"/>
                <a:ea typeface="Calibri" pitchFamily="34" charset="-122"/>
                <a:cs typeface="Calibri" pitchFamily="34" charset="-120"/>
              </a:rPr>
              <a:t>y = β₀ + β₁x₁ + β₂x₂ + … + βₙxₙ, or compactly y = X·β.</a:t>
            </a:r>
            <a:endParaRPr lang="en-US" sz="1150" dirty="0"/>
          </a:p>
        </p:txBody>
      </p:sp>
      <p:sp>
        <p:nvSpPr>
          <p:cNvPr id="20" name="Shape 18"/>
          <p:cNvSpPr/>
          <p:nvPr/>
        </p:nvSpPr>
        <p:spPr>
          <a:xfrm>
            <a:off x="6217920" y="3200400"/>
            <a:ext cx="5486400" cy="1417320"/>
          </a:xfrm>
          <a:prstGeom prst="roundRect">
            <a:avLst>
              <a:gd name="adj" fmla="val 6452"/>
            </a:avLst>
          </a:prstGeom>
          <a:solidFill>
            <a:srgbClr val="FFFFFF"/>
          </a:solidFill>
          <a:ln w="12700">
            <a:solidFill>
              <a:srgbClr val="D7E2E6"/>
            </a:solidFill>
            <a:prstDash val="solid"/>
          </a:ln>
          <a:effectLst>
            <a:outerShdw blurRad="63500" dist="25400" dir="5400000" algn="bl" rotWithShape="0">
              <a:srgbClr val="1A1A2E">
                <a:alpha val="8000"/>
              </a:srgbClr>
            </a:outerShdw>
          </a:effectLst>
        </p:spPr>
      </p:sp>
      <p:sp>
        <p:nvSpPr>
          <p:cNvPr id="21" name="Shape 19"/>
          <p:cNvSpPr/>
          <p:nvPr/>
        </p:nvSpPr>
        <p:spPr>
          <a:xfrm>
            <a:off x="6492240" y="3456432"/>
            <a:ext cx="502920" cy="502920"/>
          </a:xfrm>
          <a:prstGeom prst="ellipse">
            <a:avLst/>
          </a:prstGeom>
          <a:solidFill>
            <a:srgbClr val="E5F0F4"/>
          </a:solidFill>
          <a:ln/>
        </p:spPr>
      </p:sp>
      <p:sp>
        <p:nvSpPr>
          <p:cNvPr id="22" name="Text 20"/>
          <p:cNvSpPr/>
          <p:nvPr/>
        </p:nvSpPr>
        <p:spPr>
          <a:xfrm>
            <a:off x="6492240" y="3456432"/>
            <a:ext cx="502920" cy="502920"/>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7178040" y="3364992"/>
            <a:ext cx="4297680" cy="365760"/>
          </a:xfrm>
          <a:prstGeom prst="rect">
            <a:avLst/>
          </a:prstGeom>
          <a:noFill/>
          <a:ln/>
        </p:spPr>
        <p:txBody>
          <a:bodyPr wrap="square" rtlCol="0" anchor="ctr"/>
          <a:lstStyle/>
          <a:p>
            <a:pPr marL="0" indent="0">
              <a:buNone/>
            </a:pPr>
            <a:r>
              <a:rPr lang="en-US" sz="1500" b="1" dirty="0">
                <a:solidFill>
                  <a:srgbClr val="0B2A4A"/>
                </a:solidFill>
                <a:latin typeface="Cambria" pitchFamily="34" charset="0"/>
                <a:ea typeface="Cambria" pitchFamily="34" charset="-122"/>
                <a:cs typeface="Cambria" pitchFamily="34" charset="-120"/>
              </a:rPr>
              <a:t>Unknowns</a:t>
            </a:r>
            <a:endParaRPr lang="en-US" sz="1500" dirty="0"/>
          </a:p>
        </p:txBody>
      </p:sp>
      <p:sp>
        <p:nvSpPr>
          <p:cNvPr id="24" name="Text 22"/>
          <p:cNvSpPr/>
          <p:nvPr/>
        </p:nvSpPr>
        <p:spPr>
          <a:xfrm>
            <a:off x="6492240" y="3858768"/>
            <a:ext cx="4937760" cy="640080"/>
          </a:xfrm>
          <a:prstGeom prst="rect">
            <a:avLst/>
          </a:prstGeom>
          <a:noFill/>
          <a:ln/>
        </p:spPr>
        <p:txBody>
          <a:bodyPr wrap="square" rtlCol="0" anchor="ctr"/>
          <a:lstStyle/>
          <a:p>
            <a:pPr marL="0" indent="0">
              <a:lnSpc>
                <a:spcPts val="1400"/>
              </a:lnSpc>
              <a:buNone/>
            </a:pPr>
            <a:r>
              <a:rPr lang="en-US" sz="1150" dirty="0">
                <a:solidFill>
                  <a:srgbClr val="5C6B73"/>
                </a:solidFill>
                <a:latin typeface="Calibri" pitchFamily="34" charset="0"/>
                <a:ea typeface="Calibri" pitchFamily="34" charset="-122"/>
                <a:cs typeface="Calibri" pitchFamily="34" charset="-120"/>
              </a:rPr>
              <a:t>For n input columns, exactly n + 1 coefficients (β₀ … βₙ) need to be estimated.</a:t>
            </a:r>
            <a:endParaRPr lang="en-US" sz="1150" dirty="0"/>
          </a:p>
        </p:txBody>
      </p:sp>
      <p:sp>
        <p:nvSpPr>
          <p:cNvPr id="25" name="Shape 23"/>
          <p:cNvSpPr/>
          <p:nvPr/>
        </p:nvSpPr>
        <p:spPr>
          <a:xfrm>
            <a:off x="457200" y="4800600"/>
            <a:ext cx="5486400" cy="1417320"/>
          </a:xfrm>
          <a:prstGeom prst="roundRect">
            <a:avLst>
              <a:gd name="adj" fmla="val 6452"/>
            </a:avLst>
          </a:prstGeom>
          <a:solidFill>
            <a:srgbClr val="FFFFFF"/>
          </a:solidFill>
          <a:ln w="12700">
            <a:solidFill>
              <a:srgbClr val="D7E2E6"/>
            </a:solidFill>
            <a:prstDash val="solid"/>
          </a:ln>
          <a:effectLst>
            <a:outerShdw blurRad="63500" dist="25400" dir="5400000" algn="bl" rotWithShape="0">
              <a:srgbClr val="1A1A2E">
                <a:alpha val="8000"/>
              </a:srgbClr>
            </a:outerShdw>
          </a:effectLst>
        </p:spPr>
      </p:sp>
      <p:sp>
        <p:nvSpPr>
          <p:cNvPr id="26" name="Shape 24"/>
          <p:cNvSpPr/>
          <p:nvPr/>
        </p:nvSpPr>
        <p:spPr>
          <a:xfrm>
            <a:off x="731520" y="5056632"/>
            <a:ext cx="502920" cy="502920"/>
          </a:xfrm>
          <a:prstGeom prst="ellipse">
            <a:avLst/>
          </a:prstGeom>
          <a:solidFill>
            <a:srgbClr val="E5F0F4"/>
          </a:solidFill>
          <a:ln/>
        </p:spPr>
      </p:sp>
      <p:sp>
        <p:nvSpPr>
          <p:cNvPr id="27" name="Text 25"/>
          <p:cNvSpPr/>
          <p:nvPr/>
        </p:nvSpPr>
        <p:spPr>
          <a:xfrm>
            <a:off x="731520" y="5056632"/>
            <a:ext cx="502920" cy="502920"/>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5</a:t>
            </a:r>
            <a:endParaRPr lang="en-US" sz="1600" dirty="0"/>
          </a:p>
        </p:txBody>
      </p:sp>
      <p:sp>
        <p:nvSpPr>
          <p:cNvPr id="28" name="Text 26"/>
          <p:cNvSpPr/>
          <p:nvPr/>
        </p:nvSpPr>
        <p:spPr>
          <a:xfrm>
            <a:off x="1417320" y="4965192"/>
            <a:ext cx="4297680" cy="365760"/>
          </a:xfrm>
          <a:prstGeom prst="rect">
            <a:avLst/>
          </a:prstGeom>
          <a:noFill/>
          <a:ln/>
        </p:spPr>
        <p:txBody>
          <a:bodyPr wrap="square" rtlCol="0" anchor="ctr"/>
          <a:lstStyle/>
          <a:p>
            <a:pPr marL="0" indent="0">
              <a:buNone/>
            </a:pPr>
            <a:r>
              <a:rPr lang="en-US" sz="1500" b="1" dirty="0">
                <a:solidFill>
                  <a:srgbClr val="0B2A4A"/>
                </a:solidFill>
                <a:latin typeface="Cambria" pitchFamily="34" charset="0"/>
                <a:ea typeface="Cambria" pitchFamily="34" charset="-122"/>
                <a:cs typeface="Cambria" pitchFamily="34" charset="-120"/>
              </a:rPr>
              <a:t>Interpretation</a:t>
            </a:r>
            <a:endParaRPr lang="en-US" sz="1500" dirty="0"/>
          </a:p>
        </p:txBody>
      </p:sp>
      <p:sp>
        <p:nvSpPr>
          <p:cNvPr id="29" name="Text 27"/>
          <p:cNvSpPr/>
          <p:nvPr/>
        </p:nvSpPr>
        <p:spPr>
          <a:xfrm>
            <a:off x="731520" y="5458968"/>
            <a:ext cx="4937760" cy="640080"/>
          </a:xfrm>
          <a:prstGeom prst="rect">
            <a:avLst/>
          </a:prstGeom>
          <a:noFill/>
          <a:ln/>
        </p:spPr>
        <p:txBody>
          <a:bodyPr wrap="square" rtlCol="0" anchor="ctr"/>
          <a:lstStyle/>
          <a:p>
            <a:pPr marL="0" indent="0">
              <a:lnSpc>
                <a:spcPts val="1400"/>
              </a:lnSpc>
              <a:buNone/>
            </a:pPr>
            <a:r>
              <a:rPr lang="en-US" sz="1150" dirty="0">
                <a:solidFill>
                  <a:srgbClr val="5C6B73"/>
                </a:solidFill>
                <a:latin typeface="Calibri" pitchFamily="34" charset="0"/>
                <a:ea typeface="Calibri" pitchFamily="34" charset="-122"/>
                <a:cs typeface="Calibri" pitchFamily="34" charset="-120"/>
              </a:rPr>
              <a:t>A larger |βᵢ| means that feature has a bigger influence on the predicted output.</a:t>
            </a:r>
            <a:endParaRPr lang="en-US" sz="1150" dirty="0"/>
          </a:p>
        </p:txBody>
      </p:sp>
      <p:sp>
        <p:nvSpPr>
          <p:cNvPr id="30" name="Shape 28"/>
          <p:cNvSpPr/>
          <p:nvPr/>
        </p:nvSpPr>
        <p:spPr>
          <a:xfrm>
            <a:off x="6217920" y="4800600"/>
            <a:ext cx="5486400" cy="1417320"/>
          </a:xfrm>
          <a:prstGeom prst="roundRect">
            <a:avLst>
              <a:gd name="adj" fmla="val 6452"/>
            </a:avLst>
          </a:prstGeom>
          <a:solidFill>
            <a:srgbClr val="FFFFFF"/>
          </a:solidFill>
          <a:ln w="12700">
            <a:solidFill>
              <a:srgbClr val="D7E2E6"/>
            </a:solidFill>
            <a:prstDash val="solid"/>
          </a:ln>
          <a:effectLst>
            <a:outerShdw blurRad="63500" dist="25400" dir="5400000" algn="bl" rotWithShape="0">
              <a:srgbClr val="1A1A2E">
                <a:alpha val="8000"/>
              </a:srgbClr>
            </a:outerShdw>
          </a:effectLst>
        </p:spPr>
      </p:sp>
      <p:sp>
        <p:nvSpPr>
          <p:cNvPr id="31" name="Shape 29"/>
          <p:cNvSpPr/>
          <p:nvPr/>
        </p:nvSpPr>
        <p:spPr>
          <a:xfrm>
            <a:off x="6492240" y="5056632"/>
            <a:ext cx="502920" cy="502920"/>
          </a:xfrm>
          <a:prstGeom prst="ellipse">
            <a:avLst/>
          </a:prstGeom>
          <a:solidFill>
            <a:srgbClr val="E5F0F4"/>
          </a:solidFill>
          <a:ln/>
        </p:spPr>
      </p:sp>
      <p:sp>
        <p:nvSpPr>
          <p:cNvPr id="32" name="Text 30"/>
          <p:cNvSpPr/>
          <p:nvPr/>
        </p:nvSpPr>
        <p:spPr>
          <a:xfrm>
            <a:off x="6492240" y="5056632"/>
            <a:ext cx="502920" cy="502920"/>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6</a:t>
            </a:r>
            <a:endParaRPr lang="en-US" sz="1600" dirty="0"/>
          </a:p>
        </p:txBody>
      </p:sp>
      <p:sp>
        <p:nvSpPr>
          <p:cNvPr id="33" name="Text 31"/>
          <p:cNvSpPr/>
          <p:nvPr/>
        </p:nvSpPr>
        <p:spPr>
          <a:xfrm>
            <a:off x="7178040" y="4965192"/>
            <a:ext cx="4297680" cy="365760"/>
          </a:xfrm>
          <a:prstGeom prst="rect">
            <a:avLst/>
          </a:prstGeom>
          <a:noFill/>
          <a:ln/>
        </p:spPr>
        <p:txBody>
          <a:bodyPr wrap="square" rtlCol="0" anchor="ctr"/>
          <a:lstStyle/>
          <a:p>
            <a:pPr marL="0" indent="0">
              <a:buNone/>
            </a:pPr>
            <a:r>
              <a:rPr lang="en-US" sz="1500" b="1" dirty="0">
                <a:solidFill>
                  <a:srgbClr val="0B2A4A"/>
                </a:solidFill>
                <a:latin typeface="Cambria" pitchFamily="34" charset="0"/>
                <a:ea typeface="Cambria" pitchFamily="34" charset="-122"/>
                <a:cs typeface="Cambria" pitchFamily="34" charset="-120"/>
              </a:rPr>
              <a:t>In practice</a:t>
            </a:r>
            <a:endParaRPr lang="en-US" sz="1500" dirty="0"/>
          </a:p>
        </p:txBody>
      </p:sp>
      <p:sp>
        <p:nvSpPr>
          <p:cNvPr id="34" name="Text 32"/>
          <p:cNvSpPr/>
          <p:nvPr/>
        </p:nvSpPr>
        <p:spPr>
          <a:xfrm>
            <a:off x="6492240" y="5458968"/>
            <a:ext cx="4937760" cy="640080"/>
          </a:xfrm>
          <a:prstGeom prst="rect">
            <a:avLst/>
          </a:prstGeom>
          <a:noFill/>
          <a:ln/>
        </p:spPr>
        <p:txBody>
          <a:bodyPr wrap="square" rtlCol="0" anchor="ctr"/>
          <a:lstStyle/>
          <a:p>
            <a:pPr marL="0" indent="0">
              <a:lnSpc>
                <a:spcPts val="1400"/>
              </a:lnSpc>
              <a:buNone/>
            </a:pPr>
            <a:r>
              <a:rPr lang="en-US" sz="1150" dirty="0">
                <a:solidFill>
                  <a:srgbClr val="5C6B73"/>
                </a:solidFill>
                <a:latin typeface="Calibri" pitchFamily="34" charset="0"/>
                <a:ea typeface="Calibri" pitchFamily="34" charset="-122"/>
                <a:cs typeface="Calibri" pitchFamily="34" charset="-120"/>
              </a:rPr>
              <a:t>scikit-learn's LinearRegression().fit() finds all coefficients automatically from data.</a:t>
            </a:r>
            <a:endParaRPr lang="en-US" sz="1150" dirty="0"/>
          </a:p>
        </p:txBody>
      </p:sp>
      <p:sp>
        <p:nvSpPr>
          <p:cNvPr id="35" name="Text 33"/>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5C6B73"/>
                </a:solidFill>
                <a:latin typeface="Calibri" pitchFamily="34" charset="0"/>
                <a:ea typeface="Calibri" pitchFamily="34" charset="-122"/>
                <a:cs typeface="Calibri" pitchFamily="34" charset="-120"/>
              </a:rPr>
              <a:t>Multiple Linear Regression</a:t>
            </a:r>
            <a:endParaRPr lang="en-US" sz="900" dirty="0"/>
          </a:p>
        </p:txBody>
      </p:sp>
      <p:sp>
        <p:nvSpPr>
          <p:cNvPr id="36" name="Text 3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13</a:t>
            </a:r>
            <a:endParaRPr lang="en-US" sz="9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8825" y="1808667"/>
            <a:ext cx="8631221" cy="3619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235825" y="769820"/>
            <a:ext cx="9811789" cy="528350"/>
          </a:xfrm>
          <a:prstGeom prst="rect">
            <a:avLst/>
          </a:prstGeom>
        </p:spPr>
        <p:txBody>
          <a:bodyPr wrap="square">
            <a:spAutoFit/>
          </a:bodyPr>
          <a:lstStyle/>
          <a:p>
            <a:pPr>
              <a:lnSpc>
                <a:spcPts val="1700"/>
              </a:lnSpc>
            </a:pPr>
            <a:r>
              <a:rPr lang="en-US" dirty="0">
                <a:solidFill>
                  <a:srgbClr val="17232E"/>
                </a:solidFill>
                <a:latin typeface="Calibri" pitchFamily="34" charset="0"/>
                <a:ea typeface="Calibri" pitchFamily="34" charset="-122"/>
                <a:cs typeface="Calibri" pitchFamily="34" charset="-120"/>
              </a:rPr>
              <a:t>Consider an advertising dataset: TV, Radio, and Newspaper budgets, each tried as a lone predictor of Sales. Adding a second predictor can noticeably improve fit.</a:t>
            </a:r>
            <a:endParaRPr lang="en-US" dirty="0"/>
          </a:p>
        </p:txBody>
      </p:sp>
    </p:spTree>
    <p:extLst>
      <p:ext uri="{BB962C8B-B14F-4D97-AF65-F5344CB8AC3E}">
        <p14:creationId xmlns:p14="http://schemas.microsoft.com/office/powerpoint/2010/main" val="30672054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365760"/>
          </a:xfrm>
          <a:prstGeom prst="roundRect">
            <a:avLst>
              <a:gd name="adj" fmla="val 20000"/>
            </a:avLst>
          </a:prstGeom>
          <a:solidFill>
            <a:srgbClr val="E5F0F4"/>
          </a:solidFill>
          <a:ln/>
        </p:spPr>
      </p:sp>
      <p:sp>
        <p:nvSpPr>
          <p:cNvPr id="3" name="Text 1"/>
          <p:cNvSpPr/>
          <p:nvPr/>
        </p:nvSpPr>
        <p:spPr>
          <a:xfrm>
            <a:off x="457200" y="411480"/>
            <a:ext cx="2103120" cy="365760"/>
          </a:xfrm>
          <a:prstGeom prst="rect">
            <a:avLst/>
          </a:prstGeom>
          <a:noFill/>
          <a:ln/>
        </p:spPr>
        <p:txBody>
          <a:bodyPr wrap="square" rtlCol="0" anchor="ctr"/>
          <a:lstStyle/>
          <a:p>
            <a:pPr marL="0" indent="0" algn="ctr">
              <a:buNone/>
            </a:pPr>
            <a:r>
              <a:rPr lang="en-US" sz="1100" b="1" kern="0" spc="100" dirty="0">
                <a:solidFill>
                  <a:srgbClr val="065A82"/>
                </a:solidFill>
                <a:latin typeface="Calibri" pitchFamily="34" charset="0"/>
                <a:ea typeface="Calibri" pitchFamily="34" charset="-122"/>
                <a:cs typeface="Calibri" pitchFamily="34" charset="-120"/>
              </a:rPr>
              <a:t>PART 2 · MOTIVATION</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3000" b="1" dirty="0">
                <a:solidFill>
                  <a:srgbClr val="0B2A4A"/>
                </a:solidFill>
                <a:latin typeface="Cambria" pitchFamily="34" charset="0"/>
                <a:ea typeface="Cambria" pitchFamily="34" charset="-122"/>
                <a:cs typeface="Cambria" pitchFamily="34" charset="-120"/>
              </a:rPr>
              <a:t>When Is One Variable Not Enough?</a:t>
            </a:r>
            <a:endParaRPr lang="en-US" sz="3000" dirty="0"/>
          </a:p>
        </p:txBody>
      </p:sp>
      <p:sp>
        <p:nvSpPr>
          <p:cNvPr id="5" name="Text 3"/>
          <p:cNvSpPr/>
          <p:nvPr/>
        </p:nvSpPr>
        <p:spPr>
          <a:xfrm>
            <a:off x="457200" y="1508760"/>
            <a:ext cx="11247120" cy="594360"/>
          </a:xfrm>
          <a:prstGeom prst="rect">
            <a:avLst/>
          </a:prstGeom>
          <a:noFill/>
          <a:ln/>
        </p:spPr>
        <p:txBody>
          <a:bodyPr wrap="square" rtlCol="0" anchor="ctr"/>
          <a:lstStyle/>
          <a:p>
            <a:pPr marL="0" indent="0">
              <a:lnSpc>
                <a:spcPts val="1700"/>
              </a:lnSpc>
              <a:buNone/>
            </a:pPr>
            <a:endParaRPr lang="en-US" sz="1350" dirty="0"/>
          </a:p>
        </p:txBody>
      </p:sp>
      <p:sp>
        <p:nvSpPr>
          <p:cNvPr id="6" name="Shape 4"/>
          <p:cNvSpPr/>
          <p:nvPr/>
        </p:nvSpPr>
        <p:spPr>
          <a:xfrm>
            <a:off x="457200" y="2286000"/>
            <a:ext cx="3741725" cy="457200"/>
          </a:xfrm>
          <a:prstGeom prst="rect">
            <a:avLst/>
          </a:prstGeom>
          <a:solidFill>
            <a:srgbClr val="0B2A4A"/>
          </a:solidFill>
          <a:ln w="6350">
            <a:solidFill>
              <a:srgbClr val="FFFFFF"/>
            </a:solidFill>
            <a:prstDash val="solid"/>
          </a:ln>
        </p:spPr>
      </p:sp>
      <p:sp>
        <p:nvSpPr>
          <p:cNvPr id="7" name="Text 5"/>
          <p:cNvSpPr/>
          <p:nvPr/>
        </p:nvSpPr>
        <p:spPr>
          <a:xfrm>
            <a:off x="457200" y="2286000"/>
            <a:ext cx="3741725"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Model (Predictors)</a:t>
            </a:r>
            <a:endParaRPr lang="en-US" sz="1200" dirty="0"/>
          </a:p>
        </p:txBody>
      </p:sp>
      <p:sp>
        <p:nvSpPr>
          <p:cNvPr id="8" name="Shape 6"/>
          <p:cNvSpPr/>
          <p:nvPr/>
        </p:nvSpPr>
        <p:spPr>
          <a:xfrm>
            <a:off x="4198925" y="2286000"/>
            <a:ext cx="2293315" cy="457200"/>
          </a:xfrm>
          <a:prstGeom prst="rect">
            <a:avLst/>
          </a:prstGeom>
          <a:solidFill>
            <a:srgbClr val="0B2A4A"/>
          </a:solidFill>
          <a:ln w="6350">
            <a:solidFill>
              <a:srgbClr val="FFFFFF"/>
            </a:solidFill>
            <a:prstDash val="solid"/>
          </a:ln>
        </p:spPr>
      </p:sp>
      <p:sp>
        <p:nvSpPr>
          <p:cNvPr id="9" name="Text 7"/>
          <p:cNvSpPr/>
          <p:nvPr/>
        </p:nvSpPr>
        <p:spPr>
          <a:xfrm>
            <a:off x="4198925" y="2286000"/>
            <a:ext cx="2293315" cy="45720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R²</a:t>
            </a:r>
            <a:endParaRPr lang="en-US" sz="1200" dirty="0"/>
          </a:p>
        </p:txBody>
      </p:sp>
      <p:sp>
        <p:nvSpPr>
          <p:cNvPr id="10" name="Shape 8"/>
          <p:cNvSpPr/>
          <p:nvPr/>
        </p:nvSpPr>
        <p:spPr>
          <a:xfrm>
            <a:off x="457200" y="2743200"/>
            <a:ext cx="3741725" cy="475488"/>
          </a:xfrm>
          <a:prstGeom prst="rect">
            <a:avLst/>
          </a:prstGeom>
          <a:solidFill>
            <a:srgbClr val="F0F5F6"/>
          </a:solidFill>
          <a:ln w="6350">
            <a:solidFill>
              <a:srgbClr val="D7E2E6"/>
            </a:solidFill>
            <a:prstDash val="solid"/>
          </a:ln>
        </p:spPr>
      </p:sp>
      <p:sp>
        <p:nvSpPr>
          <p:cNvPr id="11" name="Text 9"/>
          <p:cNvSpPr/>
          <p:nvPr/>
        </p:nvSpPr>
        <p:spPr>
          <a:xfrm>
            <a:off x="594360" y="2743200"/>
            <a:ext cx="3604565" cy="475488"/>
          </a:xfrm>
          <a:prstGeom prst="rect">
            <a:avLst/>
          </a:prstGeom>
          <a:noFill/>
          <a:ln/>
        </p:spPr>
        <p:txBody>
          <a:bodyPr wrap="square" rtlCol="0" anchor="ctr"/>
          <a:lstStyle/>
          <a:p>
            <a:pPr marL="0" indent="0">
              <a:buNone/>
            </a:pPr>
            <a:r>
              <a:rPr lang="en-US" sz="1200" dirty="0">
                <a:solidFill>
                  <a:srgbClr val="17232E"/>
                </a:solidFill>
                <a:latin typeface="Calibri" pitchFamily="34" charset="0"/>
                <a:ea typeface="Calibri" pitchFamily="34" charset="-122"/>
                <a:cs typeface="Calibri" pitchFamily="34" charset="-120"/>
              </a:rPr>
              <a:t>TV alone</a:t>
            </a:r>
            <a:endParaRPr lang="en-US" sz="1200" dirty="0"/>
          </a:p>
        </p:txBody>
      </p:sp>
      <p:sp>
        <p:nvSpPr>
          <p:cNvPr id="12" name="Shape 10"/>
          <p:cNvSpPr/>
          <p:nvPr/>
        </p:nvSpPr>
        <p:spPr>
          <a:xfrm>
            <a:off x="4198925" y="2743200"/>
            <a:ext cx="2293315" cy="475488"/>
          </a:xfrm>
          <a:prstGeom prst="rect">
            <a:avLst/>
          </a:prstGeom>
          <a:solidFill>
            <a:srgbClr val="F0F5F6"/>
          </a:solidFill>
          <a:ln w="6350">
            <a:solidFill>
              <a:srgbClr val="D7E2E6"/>
            </a:solidFill>
            <a:prstDash val="solid"/>
          </a:ln>
        </p:spPr>
      </p:sp>
      <p:sp>
        <p:nvSpPr>
          <p:cNvPr id="13" name="Text 11"/>
          <p:cNvSpPr/>
          <p:nvPr/>
        </p:nvSpPr>
        <p:spPr>
          <a:xfrm>
            <a:off x="4198925" y="2743200"/>
            <a:ext cx="2293315" cy="475488"/>
          </a:xfrm>
          <a:prstGeom prst="rect">
            <a:avLst/>
          </a:prstGeom>
          <a:noFill/>
          <a:ln/>
        </p:spPr>
        <p:txBody>
          <a:bodyPr wrap="square" rtlCol="0" anchor="ctr"/>
          <a:lstStyle/>
          <a:p>
            <a:pPr marL="0" indent="0" algn="ctr">
              <a:buNone/>
            </a:pPr>
            <a:r>
              <a:rPr lang="en-US" sz="1250" dirty="0">
                <a:solidFill>
                  <a:srgbClr val="065A82"/>
                </a:solidFill>
                <a:latin typeface="Courier New" pitchFamily="34" charset="0"/>
                <a:ea typeface="Courier New" pitchFamily="34" charset="-122"/>
                <a:cs typeface="Courier New" pitchFamily="34" charset="-120"/>
              </a:rPr>
              <a:t>0.61</a:t>
            </a:r>
            <a:endParaRPr lang="en-US" sz="1250" dirty="0"/>
          </a:p>
        </p:txBody>
      </p:sp>
      <p:sp>
        <p:nvSpPr>
          <p:cNvPr id="14" name="Shape 12"/>
          <p:cNvSpPr/>
          <p:nvPr/>
        </p:nvSpPr>
        <p:spPr>
          <a:xfrm>
            <a:off x="457200" y="3218688"/>
            <a:ext cx="3741725" cy="475488"/>
          </a:xfrm>
          <a:prstGeom prst="rect">
            <a:avLst/>
          </a:prstGeom>
          <a:solidFill>
            <a:srgbClr val="FFFFFF"/>
          </a:solidFill>
          <a:ln w="6350">
            <a:solidFill>
              <a:srgbClr val="D7E2E6"/>
            </a:solidFill>
            <a:prstDash val="solid"/>
          </a:ln>
        </p:spPr>
      </p:sp>
      <p:sp>
        <p:nvSpPr>
          <p:cNvPr id="15" name="Text 13"/>
          <p:cNvSpPr/>
          <p:nvPr/>
        </p:nvSpPr>
        <p:spPr>
          <a:xfrm>
            <a:off x="594360" y="3218688"/>
            <a:ext cx="3604565" cy="475488"/>
          </a:xfrm>
          <a:prstGeom prst="rect">
            <a:avLst/>
          </a:prstGeom>
          <a:noFill/>
          <a:ln/>
        </p:spPr>
        <p:txBody>
          <a:bodyPr wrap="square" rtlCol="0" anchor="ctr"/>
          <a:lstStyle/>
          <a:p>
            <a:pPr marL="0" indent="0">
              <a:buNone/>
            </a:pPr>
            <a:r>
              <a:rPr lang="en-US" sz="1200" dirty="0">
                <a:solidFill>
                  <a:srgbClr val="17232E"/>
                </a:solidFill>
                <a:latin typeface="Calibri" pitchFamily="34" charset="0"/>
                <a:ea typeface="Calibri" pitchFamily="34" charset="-122"/>
                <a:cs typeface="Calibri" pitchFamily="34" charset="-120"/>
              </a:rPr>
              <a:t>Radio alone</a:t>
            </a:r>
            <a:endParaRPr lang="en-US" sz="1200" dirty="0"/>
          </a:p>
        </p:txBody>
      </p:sp>
      <p:sp>
        <p:nvSpPr>
          <p:cNvPr id="16" name="Shape 14"/>
          <p:cNvSpPr/>
          <p:nvPr/>
        </p:nvSpPr>
        <p:spPr>
          <a:xfrm>
            <a:off x="4198925" y="3218688"/>
            <a:ext cx="2293315" cy="475488"/>
          </a:xfrm>
          <a:prstGeom prst="rect">
            <a:avLst/>
          </a:prstGeom>
          <a:solidFill>
            <a:srgbClr val="FFFFFF"/>
          </a:solidFill>
          <a:ln w="6350">
            <a:solidFill>
              <a:srgbClr val="D7E2E6"/>
            </a:solidFill>
            <a:prstDash val="solid"/>
          </a:ln>
        </p:spPr>
      </p:sp>
      <p:sp>
        <p:nvSpPr>
          <p:cNvPr id="17" name="Text 15"/>
          <p:cNvSpPr/>
          <p:nvPr/>
        </p:nvSpPr>
        <p:spPr>
          <a:xfrm>
            <a:off x="4198925" y="3218688"/>
            <a:ext cx="2293315" cy="475488"/>
          </a:xfrm>
          <a:prstGeom prst="rect">
            <a:avLst/>
          </a:prstGeom>
          <a:noFill/>
          <a:ln/>
        </p:spPr>
        <p:txBody>
          <a:bodyPr wrap="square" rtlCol="0" anchor="ctr"/>
          <a:lstStyle/>
          <a:p>
            <a:pPr marL="0" indent="0" algn="ctr">
              <a:buNone/>
            </a:pPr>
            <a:r>
              <a:rPr lang="en-US" sz="1250" dirty="0">
                <a:solidFill>
                  <a:srgbClr val="065A82"/>
                </a:solidFill>
                <a:latin typeface="Courier New" pitchFamily="34" charset="0"/>
                <a:ea typeface="Courier New" pitchFamily="34" charset="-122"/>
                <a:cs typeface="Courier New" pitchFamily="34" charset="-120"/>
              </a:rPr>
              <a:t>0.33</a:t>
            </a:r>
            <a:endParaRPr lang="en-US" sz="1250" dirty="0"/>
          </a:p>
        </p:txBody>
      </p:sp>
      <p:sp>
        <p:nvSpPr>
          <p:cNvPr id="18" name="Shape 16"/>
          <p:cNvSpPr/>
          <p:nvPr/>
        </p:nvSpPr>
        <p:spPr>
          <a:xfrm>
            <a:off x="457200" y="3694176"/>
            <a:ext cx="3741725" cy="475488"/>
          </a:xfrm>
          <a:prstGeom prst="rect">
            <a:avLst/>
          </a:prstGeom>
          <a:solidFill>
            <a:srgbClr val="F0F5F6"/>
          </a:solidFill>
          <a:ln w="6350">
            <a:solidFill>
              <a:srgbClr val="D7E2E6"/>
            </a:solidFill>
            <a:prstDash val="solid"/>
          </a:ln>
        </p:spPr>
      </p:sp>
      <p:sp>
        <p:nvSpPr>
          <p:cNvPr id="19" name="Text 17"/>
          <p:cNvSpPr/>
          <p:nvPr/>
        </p:nvSpPr>
        <p:spPr>
          <a:xfrm>
            <a:off x="594360" y="3694176"/>
            <a:ext cx="3604565" cy="475488"/>
          </a:xfrm>
          <a:prstGeom prst="rect">
            <a:avLst/>
          </a:prstGeom>
          <a:noFill/>
          <a:ln/>
        </p:spPr>
        <p:txBody>
          <a:bodyPr wrap="square" rtlCol="0" anchor="ctr"/>
          <a:lstStyle/>
          <a:p>
            <a:pPr marL="0" indent="0">
              <a:buNone/>
            </a:pPr>
            <a:r>
              <a:rPr lang="en-US" sz="1200" dirty="0">
                <a:solidFill>
                  <a:srgbClr val="17232E"/>
                </a:solidFill>
                <a:latin typeface="Calibri" pitchFamily="34" charset="0"/>
                <a:ea typeface="Calibri" pitchFamily="34" charset="-122"/>
                <a:cs typeface="Calibri" pitchFamily="34" charset="-120"/>
              </a:rPr>
              <a:t>Newspaper alone</a:t>
            </a:r>
            <a:endParaRPr lang="en-US" sz="1200" dirty="0"/>
          </a:p>
        </p:txBody>
      </p:sp>
      <p:sp>
        <p:nvSpPr>
          <p:cNvPr id="20" name="Shape 18"/>
          <p:cNvSpPr/>
          <p:nvPr/>
        </p:nvSpPr>
        <p:spPr>
          <a:xfrm>
            <a:off x="4198925" y="3694176"/>
            <a:ext cx="2293315" cy="475488"/>
          </a:xfrm>
          <a:prstGeom prst="rect">
            <a:avLst/>
          </a:prstGeom>
          <a:solidFill>
            <a:srgbClr val="F0F5F6"/>
          </a:solidFill>
          <a:ln w="6350">
            <a:solidFill>
              <a:srgbClr val="D7E2E6"/>
            </a:solidFill>
            <a:prstDash val="solid"/>
          </a:ln>
        </p:spPr>
      </p:sp>
      <p:sp>
        <p:nvSpPr>
          <p:cNvPr id="21" name="Text 19"/>
          <p:cNvSpPr/>
          <p:nvPr/>
        </p:nvSpPr>
        <p:spPr>
          <a:xfrm>
            <a:off x="4198925" y="3694176"/>
            <a:ext cx="2293315" cy="475488"/>
          </a:xfrm>
          <a:prstGeom prst="rect">
            <a:avLst/>
          </a:prstGeom>
          <a:noFill/>
          <a:ln/>
        </p:spPr>
        <p:txBody>
          <a:bodyPr wrap="square" rtlCol="0" anchor="ctr"/>
          <a:lstStyle/>
          <a:p>
            <a:pPr marL="0" indent="0" algn="ctr">
              <a:buNone/>
            </a:pPr>
            <a:r>
              <a:rPr lang="en-US" sz="1250" dirty="0">
                <a:solidFill>
                  <a:srgbClr val="065A82"/>
                </a:solidFill>
                <a:latin typeface="Courier New" pitchFamily="34" charset="0"/>
                <a:ea typeface="Courier New" pitchFamily="34" charset="-122"/>
                <a:cs typeface="Courier New" pitchFamily="34" charset="-120"/>
              </a:rPr>
              <a:t>0.05</a:t>
            </a:r>
            <a:endParaRPr lang="en-US" sz="1250" dirty="0"/>
          </a:p>
        </p:txBody>
      </p:sp>
      <p:sp>
        <p:nvSpPr>
          <p:cNvPr id="22" name="Shape 20"/>
          <p:cNvSpPr/>
          <p:nvPr/>
        </p:nvSpPr>
        <p:spPr>
          <a:xfrm>
            <a:off x="457200" y="4169664"/>
            <a:ext cx="3741725" cy="475488"/>
          </a:xfrm>
          <a:prstGeom prst="rect">
            <a:avLst/>
          </a:prstGeom>
          <a:solidFill>
            <a:srgbClr val="FFF3E0"/>
          </a:solidFill>
          <a:ln w="6350">
            <a:solidFill>
              <a:srgbClr val="D7E2E6"/>
            </a:solidFill>
            <a:prstDash val="solid"/>
          </a:ln>
        </p:spPr>
      </p:sp>
      <p:sp>
        <p:nvSpPr>
          <p:cNvPr id="23" name="Text 21"/>
          <p:cNvSpPr/>
          <p:nvPr/>
        </p:nvSpPr>
        <p:spPr>
          <a:xfrm>
            <a:off x="594360" y="4169664"/>
            <a:ext cx="3604565" cy="475488"/>
          </a:xfrm>
          <a:prstGeom prst="rect">
            <a:avLst/>
          </a:prstGeom>
          <a:noFill/>
          <a:ln/>
        </p:spPr>
        <p:txBody>
          <a:bodyPr wrap="square" rtlCol="0" anchor="ctr"/>
          <a:lstStyle/>
          <a:p>
            <a:pPr marL="0" indent="0">
              <a:buNone/>
            </a:pPr>
            <a:r>
              <a:rPr lang="en-US" sz="1200" b="1" dirty="0">
                <a:solidFill>
                  <a:srgbClr val="8A5A17"/>
                </a:solidFill>
                <a:latin typeface="Calibri" pitchFamily="34" charset="0"/>
                <a:ea typeface="Calibri" pitchFamily="34" charset="-122"/>
                <a:cs typeface="Calibri" pitchFamily="34" charset="-120"/>
              </a:rPr>
              <a:t>TV + Radio</a:t>
            </a:r>
            <a:endParaRPr lang="en-US" sz="1200" dirty="0"/>
          </a:p>
        </p:txBody>
      </p:sp>
      <p:sp>
        <p:nvSpPr>
          <p:cNvPr id="24" name="Shape 22"/>
          <p:cNvSpPr/>
          <p:nvPr/>
        </p:nvSpPr>
        <p:spPr>
          <a:xfrm>
            <a:off x="4198925" y="4169664"/>
            <a:ext cx="2293315" cy="475488"/>
          </a:xfrm>
          <a:prstGeom prst="rect">
            <a:avLst/>
          </a:prstGeom>
          <a:solidFill>
            <a:srgbClr val="FFF3E0"/>
          </a:solidFill>
          <a:ln w="6350">
            <a:solidFill>
              <a:srgbClr val="D7E2E6"/>
            </a:solidFill>
            <a:prstDash val="solid"/>
          </a:ln>
        </p:spPr>
      </p:sp>
      <p:sp>
        <p:nvSpPr>
          <p:cNvPr id="25" name="Text 23"/>
          <p:cNvSpPr/>
          <p:nvPr/>
        </p:nvSpPr>
        <p:spPr>
          <a:xfrm>
            <a:off x="4198925" y="4169664"/>
            <a:ext cx="2293315" cy="475488"/>
          </a:xfrm>
          <a:prstGeom prst="rect">
            <a:avLst/>
          </a:prstGeom>
          <a:noFill/>
          <a:ln/>
        </p:spPr>
        <p:txBody>
          <a:bodyPr wrap="square" rtlCol="0" anchor="ctr"/>
          <a:lstStyle/>
          <a:p>
            <a:pPr marL="0" indent="0" algn="ctr">
              <a:buNone/>
            </a:pPr>
            <a:r>
              <a:rPr lang="en-US" sz="1250" b="1" dirty="0">
                <a:solidFill>
                  <a:srgbClr val="8A5A17"/>
                </a:solidFill>
                <a:latin typeface="Courier New" pitchFamily="34" charset="0"/>
                <a:ea typeface="Courier New" pitchFamily="34" charset="-122"/>
                <a:cs typeface="Courier New" pitchFamily="34" charset="-120"/>
              </a:rPr>
              <a:t>0.90</a:t>
            </a:r>
            <a:endParaRPr lang="en-US" sz="1250" dirty="0"/>
          </a:p>
        </p:txBody>
      </p:sp>
      <p:sp>
        <p:nvSpPr>
          <p:cNvPr id="26" name="Shape 24"/>
          <p:cNvSpPr/>
          <p:nvPr/>
        </p:nvSpPr>
        <p:spPr>
          <a:xfrm>
            <a:off x="457200" y="4645152"/>
            <a:ext cx="3741725" cy="475488"/>
          </a:xfrm>
          <a:prstGeom prst="rect">
            <a:avLst/>
          </a:prstGeom>
          <a:solidFill>
            <a:srgbClr val="FFF3E0"/>
          </a:solidFill>
          <a:ln w="6350">
            <a:solidFill>
              <a:srgbClr val="D7E2E6"/>
            </a:solidFill>
            <a:prstDash val="solid"/>
          </a:ln>
        </p:spPr>
      </p:sp>
      <p:sp>
        <p:nvSpPr>
          <p:cNvPr id="27" name="Text 25"/>
          <p:cNvSpPr/>
          <p:nvPr/>
        </p:nvSpPr>
        <p:spPr>
          <a:xfrm>
            <a:off x="594360" y="4645152"/>
            <a:ext cx="3604565" cy="475488"/>
          </a:xfrm>
          <a:prstGeom prst="rect">
            <a:avLst/>
          </a:prstGeom>
          <a:noFill/>
          <a:ln/>
        </p:spPr>
        <p:txBody>
          <a:bodyPr wrap="square" rtlCol="0" anchor="ctr"/>
          <a:lstStyle/>
          <a:p>
            <a:pPr marL="0" indent="0">
              <a:buNone/>
            </a:pPr>
            <a:r>
              <a:rPr lang="en-US" sz="1200" b="1" dirty="0">
                <a:solidFill>
                  <a:srgbClr val="8A5A17"/>
                </a:solidFill>
                <a:latin typeface="Calibri" pitchFamily="34" charset="0"/>
                <a:ea typeface="Calibri" pitchFamily="34" charset="-122"/>
                <a:cs typeface="Calibri" pitchFamily="34" charset="-120"/>
              </a:rPr>
              <a:t>TV + Newspaper</a:t>
            </a:r>
            <a:endParaRPr lang="en-US" sz="1200" dirty="0"/>
          </a:p>
        </p:txBody>
      </p:sp>
      <p:sp>
        <p:nvSpPr>
          <p:cNvPr id="28" name="Shape 26"/>
          <p:cNvSpPr/>
          <p:nvPr/>
        </p:nvSpPr>
        <p:spPr>
          <a:xfrm>
            <a:off x="4198925" y="4645152"/>
            <a:ext cx="2293315" cy="475488"/>
          </a:xfrm>
          <a:prstGeom prst="rect">
            <a:avLst/>
          </a:prstGeom>
          <a:solidFill>
            <a:srgbClr val="FFF3E0"/>
          </a:solidFill>
          <a:ln w="6350">
            <a:solidFill>
              <a:srgbClr val="D7E2E6"/>
            </a:solidFill>
            <a:prstDash val="solid"/>
          </a:ln>
        </p:spPr>
      </p:sp>
      <p:sp>
        <p:nvSpPr>
          <p:cNvPr id="29" name="Text 27"/>
          <p:cNvSpPr/>
          <p:nvPr/>
        </p:nvSpPr>
        <p:spPr>
          <a:xfrm>
            <a:off x="4198925" y="4645152"/>
            <a:ext cx="2293315" cy="475488"/>
          </a:xfrm>
          <a:prstGeom prst="rect">
            <a:avLst/>
          </a:prstGeom>
          <a:noFill/>
          <a:ln/>
        </p:spPr>
        <p:txBody>
          <a:bodyPr wrap="square" rtlCol="0" anchor="ctr"/>
          <a:lstStyle/>
          <a:p>
            <a:pPr marL="0" indent="0" algn="ctr">
              <a:buNone/>
            </a:pPr>
            <a:r>
              <a:rPr lang="en-US" sz="1250" b="1" dirty="0">
                <a:solidFill>
                  <a:srgbClr val="8A5A17"/>
                </a:solidFill>
                <a:latin typeface="Courier New" pitchFamily="34" charset="0"/>
                <a:ea typeface="Courier New" pitchFamily="34" charset="-122"/>
                <a:cs typeface="Courier New" pitchFamily="34" charset="-120"/>
              </a:rPr>
              <a:t>0.65</a:t>
            </a:r>
            <a:endParaRPr lang="en-US" sz="1250" dirty="0"/>
          </a:p>
        </p:txBody>
      </p:sp>
      <p:sp>
        <p:nvSpPr>
          <p:cNvPr id="30" name="Shape 28"/>
          <p:cNvSpPr/>
          <p:nvPr/>
        </p:nvSpPr>
        <p:spPr>
          <a:xfrm>
            <a:off x="6858000" y="2286000"/>
            <a:ext cx="4846320" cy="3108960"/>
          </a:xfrm>
          <a:prstGeom prst="roundRect">
            <a:avLst>
              <a:gd name="adj" fmla="val 2941"/>
            </a:avLst>
          </a:prstGeom>
          <a:solidFill>
            <a:srgbClr val="0B2A4A"/>
          </a:solidFill>
          <a:ln/>
        </p:spPr>
      </p:sp>
      <p:sp>
        <p:nvSpPr>
          <p:cNvPr id="31" name="Text 29"/>
          <p:cNvSpPr/>
          <p:nvPr/>
        </p:nvSpPr>
        <p:spPr>
          <a:xfrm>
            <a:off x="7132320" y="2514600"/>
            <a:ext cx="4297680" cy="274320"/>
          </a:xfrm>
          <a:prstGeom prst="rect">
            <a:avLst/>
          </a:prstGeom>
          <a:noFill/>
          <a:ln/>
        </p:spPr>
        <p:txBody>
          <a:bodyPr wrap="square" rtlCol="0" anchor="ctr"/>
          <a:lstStyle/>
          <a:p>
            <a:pPr marL="0" indent="0">
              <a:buNone/>
            </a:pPr>
            <a:r>
              <a:rPr lang="en-US" sz="1100" b="1" kern="0" spc="100" dirty="0">
                <a:solidFill>
                  <a:srgbClr val="F2A93B"/>
                </a:solidFill>
                <a:latin typeface="Calibri" pitchFamily="34" charset="0"/>
                <a:ea typeface="Calibri" pitchFamily="34" charset="-122"/>
                <a:cs typeface="Calibri" pitchFamily="34" charset="-120"/>
              </a:rPr>
              <a:t>READING THE TABLE</a:t>
            </a:r>
            <a:endParaRPr lang="en-US" sz="1100" dirty="0"/>
          </a:p>
        </p:txBody>
      </p:sp>
      <p:sp>
        <p:nvSpPr>
          <p:cNvPr id="32" name="Text 30"/>
          <p:cNvSpPr/>
          <p:nvPr/>
        </p:nvSpPr>
        <p:spPr>
          <a:xfrm>
            <a:off x="7132320" y="2880360"/>
            <a:ext cx="4297680" cy="777240"/>
          </a:xfrm>
          <a:prstGeom prst="rect">
            <a:avLst/>
          </a:prstGeom>
          <a:noFill/>
          <a:ln/>
        </p:spPr>
        <p:txBody>
          <a:bodyPr wrap="square" rtlCol="0" anchor="ctr"/>
          <a:lstStyle/>
          <a:p>
            <a:pPr marL="0" indent="0">
              <a:lnSpc>
                <a:spcPts val="1600"/>
              </a:lnSpc>
              <a:buNone/>
            </a:pPr>
            <a:r>
              <a:rPr lang="en-US" sz="1250" dirty="0">
                <a:solidFill>
                  <a:srgbClr val="DCEAF1"/>
                </a:solidFill>
                <a:latin typeface="Calibri" pitchFamily="34" charset="0"/>
                <a:ea typeface="Calibri" pitchFamily="34" charset="-122"/>
                <a:cs typeface="Calibri" pitchFamily="34" charset="-120"/>
              </a:rPr>
              <a:t>R² (“R-squared”) measures how much of the variation in Sales the model explains — closer to 1 is better.</a:t>
            </a:r>
            <a:endParaRPr lang="en-US" sz="1250" dirty="0"/>
          </a:p>
        </p:txBody>
      </p:sp>
      <p:sp>
        <p:nvSpPr>
          <p:cNvPr id="33" name="Shape 31"/>
          <p:cNvSpPr/>
          <p:nvPr/>
        </p:nvSpPr>
        <p:spPr>
          <a:xfrm>
            <a:off x="7132320" y="3703320"/>
            <a:ext cx="4297680" cy="0"/>
          </a:xfrm>
          <a:prstGeom prst="line">
            <a:avLst/>
          </a:prstGeom>
          <a:noFill/>
          <a:ln w="12700">
            <a:solidFill>
              <a:srgbClr val="2C5578"/>
            </a:solidFill>
            <a:prstDash val="solid"/>
          </a:ln>
        </p:spPr>
      </p:sp>
      <p:sp>
        <p:nvSpPr>
          <p:cNvPr id="34" name="Text 32"/>
          <p:cNvSpPr/>
          <p:nvPr/>
        </p:nvSpPr>
        <p:spPr>
          <a:xfrm>
            <a:off x="7132320" y="3886200"/>
            <a:ext cx="4297680" cy="777240"/>
          </a:xfrm>
          <a:prstGeom prst="rect">
            <a:avLst/>
          </a:prstGeom>
          <a:noFill/>
          <a:ln/>
        </p:spPr>
        <p:txBody>
          <a:bodyPr wrap="square" rtlCol="0" anchor="ctr"/>
          <a:lstStyle/>
          <a:p>
            <a:pPr marL="0" indent="0">
              <a:lnSpc>
                <a:spcPts val="1600"/>
              </a:lnSpc>
              <a:buNone/>
            </a:pPr>
            <a:r>
              <a:rPr lang="en-US" sz="1250" dirty="0">
                <a:solidFill>
                  <a:srgbClr val="DCEAF1"/>
                </a:solidFill>
                <a:latin typeface="Calibri" pitchFamily="34" charset="0"/>
                <a:ea typeface="Calibri" pitchFamily="34" charset="-122"/>
                <a:cs typeface="Calibri" pitchFamily="34" charset="-120"/>
              </a:rPr>
              <a:t>TV alone explains 61% of the variance. Adding Radio pushes that to 90% — Radio carries information TV doesn't.</a:t>
            </a:r>
            <a:endParaRPr lang="en-US" sz="1250" dirty="0"/>
          </a:p>
        </p:txBody>
      </p:sp>
      <p:sp>
        <p:nvSpPr>
          <p:cNvPr id="35" name="Text 33"/>
          <p:cNvSpPr/>
          <p:nvPr/>
        </p:nvSpPr>
        <p:spPr>
          <a:xfrm>
            <a:off x="7132320" y="4663440"/>
            <a:ext cx="4297680" cy="640080"/>
          </a:xfrm>
          <a:prstGeom prst="rect">
            <a:avLst/>
          </a:prstGeom>
          <a:noFill/>
          <a:ln/>
        </p:spPr>
        <p:txBody>
          <a:bodyPr wrap="square" rtlCol="0" anchor="ctr"/>
          <a:lstStyle/>
          <a:p>
            <a:pPr marL="0" indent="0">
              <a:lnSpc>
                <a:spcPts val="1400"/>
              </a:lnSpc>
              <a:buNone/>
            </a:pPr>
            <a:r>
              <a:rPr lang="en-US" sz="1150" i="1" dirty="0">
                <a:solidFill>
                  <a:srgbClr val="9FBBCB"/>
                </a:solidFill>
                <a:latin typeface="Calibri" pitchFamily="34" charset="0"/>
                <a:ea typeface="Calibri" pitchFamily="34" charset="-122"/>
                <a:cs typeface="Calibri" pitchFamily="34" charset="-120"/>
              </a:rPr>
              <a:t>Newspaper barely helps on its own — a hint that some predictors add little, which matters later for feature selection.</a:t>
            </a:r>
            <a:endParaRPr lang="en-US" sz="1150" dirty="0"/>
          </a:p>
        </p:txBody>
      </p:sp>
      <p:sp>
        <p:nvSpPr>
          <p:cNvPr id="36" name="Shape 34"/>
          <p:cNvSpPr/>
          <p:nvPr/>
        </p:nvSpPr>
        <p:spPr>
          <a:xfrm>
            <a:off x="457200" y="5623560"/>
            <a:ext cx="11247120" cy="658368"/>
          </a:xfrm>
          <a:prstGeom prst="roundRect">
            <a:avLst>
              <a:gd name="adj" fmla="val 11111"/>
            </a:avLst>
          </a:prstGeom>
          <a:solidFill>
            <a:srgbClr val="E5F0F4"/>
          </a:solidFill>
          <a:ln/>
        </p:spPr>
      </p:sp>
      <p:sp>
        <p:nvSpPr>
          <p:cNvPr id="37" name="Text 35"/>
          <p:cNvSpPr/>
          <p:nvPr/>
        </p:nvSpPr>
        <p:spPr>
          <a:xfrm>
            <a:off x="640080" y="5623560"/>
            <a:ext cx="10881360" cy="658368"/>
          </a:xfrm>
          <a:prstGeom prst="rect">
            <a:avLst/>
          </a:prstGeom>
          <a:noFill/>
          <a:ln/>
        </p:spPr>
        <p:txBody>
          <a:bodyPr wrap="square" rtlCol="0" anchor="ctr"/>
          <a:lstStyle/>
          <a:p>
            <a:pPr marL="0" indent="0">
              <a:buNone/>
            </a:pPr>
            <a:r>
              <a:rPr lang="en-US" sz="1300" b="1" dirty="0">
                <a:solidFill>
                  <a:srgbClr val="065A82"/>
                </a:solidFill>
                <a:latin typeface="Calibri" pitchFamily="34" charset="0"/>
                <a:ea typeface="Calibri" pitchFamily="34" charset="-122"/>
                <a:cs typeface="Calibri" pitchFamily="34" charset="-120"/>
              </a:rPr>
              <a:t>Takeaway: combining predictors that carry different information almost always beats any single predictor alone.</a:t>
            </a:r>
            <a:endParaRPr lang="en-US" sz="1300" dirty="0"/>
          </a:p>
        </p:txBody>
      </p:sp>
      <p:sp>
        <p:nvSpPr>
          <p:cNvPr id="38" name="Text 36"/>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5C6B73"/>
                </a:solidFill>
                <a:latin typeface="Calibri" pitchFamily="34" charset="0"/>
                <a:ea typeface="Calibri" pitchFamily="34" charset="-122"/>
                <a:cs typeface="Calibri" pitchFamily="34" charset="-120"/>
              </a:rPr>
              <a:t>Multiple Linear Regression</a:t>
            </a:r>
            <a:endParaRPr lang="en-US" sz="900" dirty="0"/>
          </a:p>
        </p:txBody>
      </p:sp>
      <p:sp>
        <p:nvSpPr>
          <p:cNvPr id="39" name="Text 3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14</a:t>
            </a:r>
            <a:endParaRPr lang="en-US" sz="9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8143" y="1560974"/>
            <a:ext cx="9018984" cy="3712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74956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365760"/>
          </a:xfrm>
          <a:prstGeom prst="roundRect">
            <a:avLst>
              <a:gd name="adj" fmla="val 20000"/>
            </a:avLst>
          </a:prstGeom>
          <a:solidFill>
            <a:srgbClr val="E5F0F4"/>
          </a:solidFill>
          <a:ln/>
        </p:spPr>
      </p:sp>
      <p:sp>
        <p:nvSpPr>
          <p:cNvPr id="3" name="Text 1"/>
          <p:cNvSpPr/>
          <p:nvPr/>
        </p:nvSpPr>
        <p:spPr>
          <a:xfrm>
            <a:off x="457200" y="411480"/>
            <a:ext cx="2103120" cy="365760"/>
          </a:xfrm>
          <a:prstGeom prst="rect">
            <a:avLst/>
          </a:prstGeom>
          <a:noFill/>
          <a:ln/>
        </p:spPr>
        <p:txBody>
          <a:bodyPr wrap="square" rtlCol="0" anchor="ctr"/>
          <a:lstStyle/>
          <a:p>
            <a:pPr marL="0" indent="0" algn="ctr">
              <a:buNone/>
            </a:pPr>
            <a:r>
              <a:rPr lang="en-US" sz="1100" b="1" kern="0" spc="100" dirty="0">
                <a:solidFill>
                  <a:srgbClr val="065A82"/>
                </a:solidFill>
                <a:latin typeface="Calibri" pitchFamily="34" charset="0"/>
                <a:ea typeface="Calibri" pitchFamily="34" charset="-122"/>
                <a:cs typeface="Calibri" pitchFamily="34" charset="-120"/>
              </a:rPr>
              <a:t>PART 2 · CAUTION</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3000" b="1" dirty="0">
                <a:solidFill>
                  <a:srgbClr val="0B2A4A"/>
                </a:solidFill>
                <a:latin typeface="Cambria" pitchFamily="34" charset="0"/>
                <a:ea typeface="Cambria" pitchFamily="34" charset="-122"/>
                <a:cs typeface="Cambria" pitchFamily="34" charset="-120"/>
              </a:rPr>
              <a:t>More Variables Isn't Always Better</a:t>
            </a:r>
            <a:endParaRPr lang="en-US" sz="3000" dirty="0"/>
          </a:p>
        </p:txBody>
      </p:sp>
      <p:sp>
        <p:nvSpPr>
          <p:cNvPr id="5" name="Text 3"/>
          <p:cNvSpPr/>
          <p:nvPr/>
        </p:nvSpPr>
        <p:spPr>
          <a:xfrm>
            <a:off x="457200" y="1508760"/>
            <a:ext cx="11247120" cy="502920"/>
          </a:xfrm>
          <a:prstGeom prst="rect">
            <a:avLst/>
          </a:prstGeom>
          <a:noFill/>
          <a:ln/>
        </p:spPr>
        <p:txBody>
          <a:bodyPr wrap="square" rtlCol="0" anchor="ctr"/>
          <a:lstStyle/>
          <a:p>
            <a:pPr marL="0" indent="0">
              <a:buNone/>
            </a:pPr>
            <a:r>
              <a:rPr lang="en-US" sz="1350" dirty="0">
                <a:solidFill>
                  <a:srgbClr val="17232E"/>
                </a:solidFill>
                <a:latin typeface="Calibri" pitchFamily="34" charset="0"/>
                <a:ea typeface="Calibri" pitchFamily="34" charset="-122"/>
                <a:cs typeface="Calibri" pitchFamily="34" charset="-120"/>
              </a:rPr>
              <a:t>Adding predictors always improves the training fit — but that doesn't mean the model actually generalizes to new data.</a:t>
            </a:r>
            <a:endParaRPr lang="en-US" sz="1350" dirty="0"/>
          </a:p>
        </p:txBody>
      </p:sp>
      <p:sp>
        <p:nvSpPr>
          <p:cNvPr id="6" name="Shape 4"/>
          <p:cNvSpPr/>
          <p:nvPr/>
        </p:nvSpPr>
        <p:spPr>
          <a:xfrm>
            <a:off x="457200" y="2286000"/>
            <a:ext cx="3566160" cy="3566160"/>
          </a:xfrm>
          <a:prstGeom prst="roundRect">
            <a:avLst>
              <a:gd name="adj" fmla="val 2564"/>
            </a:avLst>
          </a:prstGeom>
          <a:solidFill>
            <a:srgbClr val="FFFFFF"/>
          </a:solidFill>
          <a:ln w="12700">
            <a:solidFill>
              <a:srgbClr val="D7E2E6"/>
            </a:solidFill>
            <a:prstDash val="solid"/>
          </a:ln>
          <a:effectLst>
            <a:outerShdw blurRad="76200" dist="25400" dir="5400000" algn="bl" rotWithShape="0">
              <a:srgbClr val="1A1A2E">
                <a:alpha val="10000"/>
              </a:srgbClr>
            </a:outerShdw>
          </a:effectLst>
        </p:spPr>
      </p:sp>
      <p:sp>
        <p:nvSpPr>
          <p:cNvPr id="7" name="Shape 5"/>
          <p:cNvSpPr/>
          <p:nvPr/>
        </p:nvSpPr>
        <p:spPr>
          <a:xfrm>
            <a:off x="731520" y="2560320"/>
            <a:ext cx="1554480" cy="365760"/>
          </a:xfrm>
          <a:prstGeom prst="roundRect">
            <a:avLst>
              <a:gd name="adj" fmla="val 50000"/>
            </a:avLst>
          </a:prstGeom>
          <a:solidFill>
            <a:srgbClr val="E5F0F4"/>
          </a:solidFill>
          <a:ln/>
        </p:spPr>
      </p:sp>
      <p:sp>
        <p:nvSpPr>
          <p:cNvPr id="8" name="Text 6"/>
          <p:cNvSpPr/>
          <p:nvPr/>
        </p:nvSpPr>
        <p:spPr>
          <a:xfrm>
            <a:off x="731520" y="2560320"/>
            <a:ext cx="1554480" cy="365760"/>
          </a:xfrm>
          <a:prstGeom prst="rect">
            <a:avLst/>
          </a:prstGeom>
          <a:noFill/>
          <a:ln/>
        </p:spPr>
        <p:txBody>
          <a:bodyPr wrap="square" rtlCol="0" anchor="ctr"/>
          <a:lstStyle/>
          <a:p>
            <a:pPr marL="0" indent="0" algn="ctr">
              <a:buNone/>
            </a:pPr>
            <a:r>
              <a:rPr lang="en-US" sz="1000" b="1" kern="0" spc="100" dirty="0">
                <a:solidFill>
                  <a:srgbClr val="065A82"/>
                </a:solidFill>
                <a:latin typeface="Calibri" pitchFamily="34" charset="0"/>
                <a:ea typeface="Calibri" pitchFamily="34" charset="-122"/>
                <a:cs typeface="Calibri" pitchFamily="34" charset="-120"/>
              </a:rPr>
              <a:t>RISK</a:t>
            </a:r>
            <a:endParaRPr lang="en-US" sz="1000" dirty="0"/>
          </a:p>
        </p:txBody>
      </p:sp>
      <p:sp>
        <p:nvSpPr>
          <p:cNvPr id="9" name="Text 7"/>
          <p:cNvSpPr/>
          <p:nvPr/>
        </p:nvSpPr>
        <p:spPr>
          <a:xfrm>
            <a:off x="731520" y="3108960"/>
            <a:ext cx="3017520" cy="457200"/>
          </a:xfrm>
          <a:prstGeom prst="rect">
            <a:avLst/>
          </a:prstGeom>
          <a:noFill/>
          <a:ln/>
        </p:spPr>
        <p:txBody>
          <a:bodyPr wrap="square" rtlCol="0" anchor="ctr"/>
          <a:lstStyle/>
          <a:p>
            <a:pPr marL="0" indent="0">
              <a:buNone/>
            </a:pPr>
            <a:r>
              <a:rPr lang="en-US" sz="1700" b="1" dirty="0">
                <a:solidFill>
                  <a:srgbClr val="0B2A4A"/>
                </a:solidFill>
                <a:latin typeface="Cambria" pitchFamily="34" charset="0"/>
                <a:ea typeface="Cambria" pitchFamily="34" charset="-122"/>
                <a:cs typeface="Cambria" pitchFamily="34" charset="-120"/>
              </a:rPr>
              <a:t>Overfitting</a:t>
            </a:r>
            <a:endParaRPr lang="en-US" sz="1700" dirty="0"/>
          </a:p>
        </p:txBody>
      </p:sp>
      <p:sp>
        <p:nvSpPr>
          <p:cNvPr id="10" name="Text 8"/>
          <p:cNvSpPr/>
          <p:nvPr/>
        </p:nvSpPr>
        <p:spPr>
          <a:xfrm>
            <a:off x="731520" y="3657600"/>
            <a:ext cx="3017520" cy="2011680"/>
          </a:xfrm>
          <a:prstGeom prst="rect">
            <a:avLst/>
          </a:prstGeom>
          <a:noFill/>
          <a:ln/>
        </p:spPr>
        <p:txBody>
          <a:bodyPr wrap="square" rtlCol="0" anchor="ctr"/>
          <a:lstStyle/>
          <a:p>
            <a:pPr marL="0" indent="0">
              <a:lnSpc>
                <a:spcPts val="1600"/>
              </a:lnSpc>
              <a:buNone/>
            </a:pPr>
            <a:r>
              <a:rPr lang="en-US" sz="1250" dirty="0">
                <a:solidFill>
                  <a:srgbClr val="5C6B73"/>
                </a:solidFill>
                <a:latin typeface="Calibri" pitchFamily="34" charset="0"/>
                <a:ea typeface="Calibri" pitchFamily="34" charset="-122"/>
                <a:cs typeface="Calibri" pitchFamily="34" charset="-120"/>
              </a:rPr>
              <a:t>As you keep adding variables, the model can become too complex. It may memorize the training data instead of learning the real pattern.</a:t>
            </a:r>
            <a:endParaRPr lang="en-US" sz="1250" dirty="0"/>
          </a:p>
        </p:txBody>
      </p:sp>
      <p:sp>
        <p:nvSpPr>
          <p:cNvPr id="11" name="Shape 9"/>
          <p:cNvSpPr/>
          <p:nvPr/>
        </p:nvSpPr>
        <p:spPr>
          <a:xfrm>
            <a:off x="4343400" y="2286000"/>
            <a:ext cx="3566160" cy="3566160"/>
          </a:xfrm>
          <a:prstGeom prst="roundRect">
            <a:avLst>
              <a:gd name="adj" fmla="val 2564"/>
            </a:avLst>
          </a:prstGeom>
          <a:solidFill>
            <a:srgbClr val="FFFFFF"/>
          </a:solidFill>
          <a:ln w="12700">
            <a:solidFill>
              <a:srgbClr val="D7E2E6"/>
            </a:solidFill>
            <a:prstDash val="solid"/>
          </a:ln>
          <a:effectLst>
            <a:outerShdw blurRad="76200" dist="25400" dir="5400000" algn="bl" rotWithShape="0">
              <a:srgbClr val="1A1A2E">
                <a:alpha val="10000"/>
              </a:srgbClr>
            </a:outerShdw>
          </a:effectLst>
        </p:spPr>
      </p:sp>
      <p:sp>
        <p:nvSpPr>
          <p:cNvPr id="12" name="Shape 10"/>
          <p:cNvSpPr/>
          <p:nvPr/>
        </p:nvSpPr>
        <p:spPr>
          <a:xfrm>
            <a:off x="4617720" y="2560320"/>
            <a:ext cx="1554480" cy="365760"/>
          </a:xfrm>
          <a:prstGeom prst="roundRect">
            <a:avLst>
              <a:gd name="adj" fmla="val 50000"/>
            </a:avLst>
          </a:prstGeom>
          <a:solidFill>
            <a:srgbClr val="E5F0F4"/>
          </a:solidFill>
          <a:ln/>
        </p:spPr>
      </p:sp>
      <p:sp>
        <p:nvSpPr>
          <p:cNvPr id="13" name="Text 11"/>
          <p:cNvSpPr/>
          <p:nvPr/>
        </p:nvSpPr>
        <p:spPr>
          <a:xfrm>
            <a:off x="4617720" y="2560320"/>
            <a:ext cx="1554480" cy="365760"/>
          </a:xfrm>
          <a:prstGeom prst="rect">
            <a:avLst/>
          </a:prstGeom>
          <a:noFill/>
          <a:ln/>
        </p:spPr>
        <p:txBody>
          <a:bodyPr wrap="square" rtlCol="0" anchor="ctr"/>
          <a:lstStyle/>
          <a:p>
            <a:pPr marL="0" indent="0" algn="ctr">
              <a:buNone/>
            </a:pPr>
            <a:r>
              <a:rPr lang="en-US" sz="1000" b="1" kern="0" spc="100" dirty="0">
                <a:solidFill>
                  <a:srgbClr val="065A82"/>
                </a:solidFill>
                <a:latin typeface="Calibri" pitchFamily="34" charset="0"/>
                <a:ea typeface="Calibri" pitchFamily="34" charset="-122"/>
                <a:cs typeface="Calibri" pitchFamily="34" charset="-120"/>
              </a:rPr>
              <a:t>WARNING SIGN</a:t>
            </a:r>
            <a:endParaRPr lang="en-US" sz="1000" dirty="0"/>
          </a:p>
        </p:txBody>
      </p:sp>
      <p:sp>
        <p:nvSpPr>
          <p:cNvPr id="14" name="Text 12"/>
          <p:cNvSpPr/>
          <p:nvPr/>
        </p:nvSpPr>
        <p:spPr>
          <a:xfrm>
            <a:off x="4617720" y="3108960"/>
            <a:ext cx="3017520" cy="457200"/>
          </a:xfrm>
          <a:prstGeom prst="rect">
            <a:avLst/>
          </a:prstGeom>
          <a:noFill/>
          <a:ln/>
        </p:spPr>
        <p:txBody>
          <a:bodyPr wrap="square" rtlCol="0" anchor="ctr"/>
          <a:lstStyle/>
          <a:p>
            <a:pPr marL="0" indent="0">
              <a:buNone/>
            </a:pPr>
            <a:r>
              <a:rPr lang="en-US" sz="1700" b="1" dirty="0">
                <a:solidFill>
                  <a:srgbClr val="0B2A4A"/>
                </a:solidFill>
                <a:latin typeface="Cambria" pitchFamily="34" charset="0"/>
                <a:ea typeface="Cambria" pitchFamily="34" charset="-122"/>
                <a:cs typeface="Cambria" pitchFamily="34" charset="-120"/>
              </a:rPr>
              <a:t>Symptom</a:t>
            </a:r>
            <a:endParaRPr lang="en-US" sz="1700" dirty="0"/>
          </a:p>
        </p:txBody>
      </p:sp>
      <p:sp>
        <p:nvSpPr>
          <p:cNvPr id="15" name="Text 13"/>
          <p:cNvSpPr/>
          <p:nvPr/>
        </p:nvSpPr>
        <p:spPr>
          <a:xfrm>
            <a:off x="4617720" y="3657600"/>
            <a:ext cx="3017520" cy="2011680"/>
          </a:xfrm>
          <a:prstGeom prst="rect">
            <a:avLst/>
          </a:prstGeom>
          <a:noFill/>
          <a:ln/>
        </p:spPr>
        <p:txBody>
          <a:bodyPr wrap="square" rtlCol="0" anchor="ctr"/>
          <a:lstStyle/>
          <a:p>
            <a:pPr marL="0" indent="0">
              <a:lnSpc>
                <a:spcPts val="1600"/>
              </a:lnSpc>
              <a:buNone/>
            </a:pPr>
            <a:r>
              <a:rPr lang="en-US" sz="1250" dirty="0">
                <a:solidFill>
                  <a:srgbClr val="5C6B73"/>
                </a:solidFill>
                <a:latin typeface="Calibri" pitchFamily="34" charset="0"/>
                <a:ea typeface="Calibri" pitchFamily="34" charset="-122"/>
                <a:cs typeface="Calibri" pitchFamily="34" charset="-120"/>
              </a:rPr>
              <a:t>Training accuracy stays very high, but test (unseen-data) accuracy is noticeably lower — the model “fails to generalize.”</a:t>
            </a:r>
            <a:endParaRPr lang="en-US" sz="1250" dirty="0"/>
          </a:p>
        </p:txBody>
      </p:sp>
      <p:sp>
        <p:nvSpPr>
          <p:cNvPr id="16" name="Shape 14"/>
          <p:cNvSpPr/>
          <p:nvPr/>
        </p:nvSpPr>
        <p:spPr>
          <a:xfrm>
            <a:off x="8229600" y="2286000"/>
            <a:ext cx="3566160" cy="3566160"/>
          </a:xfrm>
          <a:prstGeom prst="roundRect">
            <a:avLst>
              <a:gd name="adj" fmla="val 2564"/>
            </a:avLst>
          </a:prstGeom>
          <a:solidFill>
            <a:srgbClr val="FFFFFF"/>
          </a:solidFill>
          <a:ln w="12700">
            <a:solidFill>
              <a:srgbClr val="D7E2E6"/>
            </a:solidFill>
            <a:prstDash val="solid"/>
          </a:ln>
          <a:effectLst>
            <a:outerShdw blurRad="76200" dist="25400" dir="5400000" algn="bl" rotWithShape="0">
              <a:srgbClr val="1A1A2E">
                <a:alpha val="10000"/>
              </a:srgbClr>
            </a:outerShdw>
          </a:effectLst>
        </p:spPr>
      </p:sp>
      <p:sp>
        <p:nvSpPr>
          <p:cNvPr id="17" name="Shape 15"/>
          <p:cNvSpPr/>
          <p:nvPr/>
        </p:nvSpPr>
        <p:spPr>
          <a:xfrm>
            <a:off x="8503920" y="2560320"/>
            <a:ext cx="1554480" cy="365760"/>
          </a:xfrm>
          <a:prstGeom prst="roundRect">
            <a:avLst>
              <a:gd name="adj" fmla="val 50000"/>
            </a:avLst>
          </a:prstGeom>
          <a:solidFill>
            <a:srgbClr val="E5F0F4"/>
          </a:solidFill>
          <a:ln/>
        </p:spPr>
      </p:sp>
      <p:sp>
        <p:nvSpPr>
          <p:cNvPr id="18" name="Text 16"/>
          <p:cNvSpPr/>
          <p:nvPr/>
        </p:nvSpPr>
        <p:spPr>
          <a:xfrm>
            <a:off x="8503920" y="2560320"/>
            <a:ext cx="1554480" cy="365760"/>
          </a:xfrm>
          <a:prstGeom prst="rect">
            <a:avLst/>
          </a:prstGeom>
          <a:noFill/>
          <a:ln/>
        </p:spPr>
        <p:txBody>
          <a:bodyPr wrap="square" rtlCol="0" anchor="ctr"/>
          <a:lstStyle/>
          <a:p>
            <a:pPr marL="0" indent="0" algn="ctr">
              <a:buNone/>
            </a:pPr>
            <a:r>
              <a:rPr lang="en-US" sz="1000" b="1" kern="0" spc="100" dirty="0">
                <a:solidFill>
                  <a:srgbClr val="065A82"/>
                </a:solidFill>
                <a:latin typeface="Calibri" pitchFamily="34" charset="0"/>
                <a:ea typeface="Calibri" pitchFamily="34" charset="-122"/>
                <a:cs typeface="Calibri" pitchFamily="34" charset="-120"/>
              </a:rPr>
              <a:t>FIX</a:t>
            </a:r>
            <a:endParaRPr lang="en-US" sz="1000" dirty="0"/>
          </a:p>
        </p:txBody>
      </p:sp>
      <p:sp>
        <p:nvSpPr>
          <p:cNvPr id="19" name="Text 17"/>
          <p:cNvSpPr/>
          <p:nvPr/>
        </p:nvSpPr>
        <p:spPr>
          <a:xfrm>
            <a:off x="8503920" y="3108960"/>
            <a:ext cx="3017520" cy="457200"/>
          </a:xfrm>
          <a:prstGeom prst="rect">
            <a:avLst/>
          </a:prstGeom>
          <a:noFill/>
          <a:ln/>
        </p:spPr>
        <p:txBody>
          <a:bodyPr wrap="square" rtlCol="0" anchor="ctr"/>
          <a:lstStyle/>
          <a:p>
            <a:pPr marL="0" indent="0">
              <a:buNone/>
            </a:pPr>
            <a:r>
              <a:rPr lang="en-US" sz="1700" b="1" dirty="0">
                <a:solidFill>
                  <a:srgbClr val="0B2A4A"/>
                </a:solidFill>
                <a:latin typeface="Cambria" pitchFamily="34" charset="0"/>
                <a:ea typeface="Cambria" pitchFamily="34" charset="-122"/>
                <a:cs typeface="Cambria" pitchFamily="34" charset="-120"/>
              </a:rPr>
              <a:t>Feature Selection</a:t>
            </a:r>
            <a:endParaRPr lang="en-US" sz="1700" dirty="0"/>
          </a:p>
        </p:txBody>
      </p:sp>
      <p:sp>
        <p:nvSpPr>
          <p:cNvPr id="20" name="Text 18"/>
          <p:cNvSpPr/>
          <p:nvPr/>
        </p:nvSpPr>
        <p:spPr>
          <a:xfrm>
            <a:off x="8503920" y="3657600"/>
            <a:ext cx="3017520" cy="2011680"/>
          </a:xfrm>
          <a:prstGeom prst="rect">
            <a:avLst/>
          </a:prstGeom>
          <a:noFill/>
          <a:ln/>
        </p:spPr>
        <p:txBody>
          <a:bodyPr wrap="square" rtlCol="0" anchor="ctr"/>
          <a:lstStyle/>
          <a:p>
            <a:pPr marL="0" indent="0">
              <a:lnSpc>
                <a:spcPts val="1600"/>
              </a:lnSpc>
              <a:buNone/>
            </a:pPr>
            <a:r>
              <a:rPr lang="en-US" sz="1250" dirty="0">
                <a:solidFill>
                  <a:srgbClr val="5C6B73"/>
                </a:solidFill>
                <a:latin typeface="Calibri" pitchFamily="34" charset="0"/>
                <a:ea typeface="Calibri" pitchFamily="34" charset="-122"/>
                <a:cs typeface="Calibri" pitchFamily="34" charset="-120"/>
              </a:rPr>
              <a:t>Rather than using every column available, select the subset of predictors that adds real explanatory power without redundancy.</a:t>
            </a:r>
            <a:endParaRPr lang="en-US" sz="1250" dirty="0"/>
          </a:p>
        </p:txBody>
      </p:sp>
      <p:sp>
        <p:nvSpPr>
          <p:cNvPr id="21" name="Text 19"/>
          <p:cNvSpPr/>
          <p:nvPr/>
        </p:nvSpPr>
        <p:spPr>
          <a:xfrm>
            <a:off x="457200" y="6035040"/>
            <a:ext cx="11247120" cy="365760"/>
          </a:xfrm>
          <a:prstGeom prst="rect">
            <a:avLst/>
          </a:prstGeom>
          <a:noFill/>
          <a:ln/>
        </p:spPr>
        <p:txBody>
          <a:bodyPr wrap="square" rtlCol="0" anchor="ctr"/>
          <a:lstStyle/>
          <a:p>
            <a:pPr marL="0" indent="0" algn="ctr">
              <a:buNone/>
            </a:pPr>
            <a:r>
              <a:rPr lang="en-US" sz="1250" i="1" dirty="0">
                <a:solidFill>
                  <a:srgbClr val="5C6B73"/>
                </a:solidFill>
                <a:latin typeface="Calibri" pitchFamily="34" charset="0"/>
                <a:ea typeface="Calibri" pitchFamily="34" charset="-122"/>
                <a:cs typeface="Calibri" pitchFamily="34" charset="-120"/>
              </a:rPr>
              <a:t>Rule of thumb: a model is “general” when training and test accuracy stay close together, not just when training accuracy is high.</a:t>
            </a:r>
            <a:endParaRPr lang="en-US" sz="1250" dirty="0"/>
          </a:p>
        </p:txBody>
      </p:sp>
      <p:sp>
        <p:nvSpPr>
          <p:cNvPr id="22" name="Text 20"/>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5C6B73"/>
                </a:solidFill>
                <a:latin typeface="Calibri" pitchFamily="34" charset="0"/>
                <a:ea typeface="Calibri" pitchFamily="34" charset="-122"/>
                <a:cs typeface="Calibri" pitchFamily="34" charset="-120"/>
              </a:rPr>
              <a:t>Multiple Linear Regression</a:t>
            </a:r>
            <a:endParaRPr lang="en-US" sz="900" dirty="0"/>
          </a:p>
        </p:txBody>
      </p:sp>
      <p:sp>
        <p:nvSpPr>
          <p:cNvPr id="23" name="Text 21"/>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15</a:t>
            </a:r>
            <a:endParaRPr lang="en-US" sz="9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0B2A4A"/>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365760"/>
          </a:xfrm>
          <a:prstGeom prst="roundRect">
            <a:avLst>
              <a:gd name="adj" fmla="val 20000"/>
            </a:avLst>
          </a:prstGeom>
          <a:solidFill>
            <a:srgbClr val="13416B"/>
          </a:solidFill>
          <a:ln/>
        </p:spPr>
      </p:sp>
      <p:sp>
        <p:nvSpPr>
          <p:cNvPr id="3" name="Text 1"/>
          <p:cNvSpPr/>
          <p:nvPr/>
        </p:nvSpPr>
        <p:spPr>
          <a:xfrm>
            <a:off x="457200" y="411480"/>
            <a:ext cx="2103120" cy="365760"/>
          </a:xfrm>
          <a:prstGeom prst="rect">
            <a:avLst/>
          </a:prstGeom>
          <a:noFill/>
          <a:ln/>
        </p:spPr>
        <p:txBody>
          <a:bodyPr wrap="square" rtlCol="0" anchor="ctr"/>
          <a:lstStyle/>
          <a:p>
            <a:pPr marL="0" indent="0" algn="ctr">
              <a:buNone/>
            </a:pPr>
            <a:r>
              <a:rPr lang="en-US" sz="1100" b="1" kern="0" spc="100" dirty="0">
                <a:solidFill>
                  <a:srgbClr val="F2A93B"/>
                </a:solidFill>
                <a:latin typeface="Calibri" pitchFamily="34" charset="0"/>
                <a:ea typeface="Calibri" pitchFamily="34" charset="-122"/>
                <a:cs typeface="Calibri" pitchFamily="34" charset="-120"/>
              </a:rPr>
              <a:t>PART 2 · NEW CONCEPT</a:t>
            </a:r>
            <a:endParaRPr lang="en-US" sz="1100" dirty="0"/>
          </a:p>
        </p:txBody>
      </p:sp>
      <p:sp>
        <p:nvSpPr>
          <p:cNvPr id="4" name="Text 2"/>
          <p:cNvSpPr/>
          <p:nvPr/>
        </p:nvSpPr>
        <p:spPr>
          <a:xfrm>
            <a:off x="457200" y="694112"/>
            <a:ext cx="1124712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Is Multicollinearity?</a:t>
            </a:r>
            <a:endParaRPr lang="en-US" sz="3000" dirty="0"/>
          </a:p>
        </p:txBody>
      </p:sp>
      <p:sp>
        <p:nvSpPr>
          <p:cNvPr id="5" name="Text 3"/>
          <p:cNvSpPr/>
          <p:nvPr/>
        </p:nvSpPr>
        <p:spPr>
          <a:xfrm>
            <a:off x="411480" y="1529553"/>
            <a:ext cx="11247120" cy="548640"/>
          </a:xfrm>
          <a:prstGeom prst="rect">
            <a:avLst/>
          </a:prstGeom>
          <a:noFill/>
          <a:ln/>
        </p:spPr>
        <p:txBody>
          <a:bodyPr wrap="square" rtlCol="0" anchor="ctr"/>
          <a:lstStyle/>
          <a:p>
            <a:pPr algn="just">
              <a:lnSpc>
                <a:spcPts val="1800"/>
              </a:lnSpc>
            </a:pPr>
            <a:r>
              <a:rPr lang="en-US" sz="1450" dirty="0">
                <a:solidFill>
                  <a:schemeClr val="bg2"/>
                </a:solidFill>
                <a:latin typeface="Calibri" pitchFamily="34" charset="0"/>
                <a:ea typeface="Calibri" pitchFamily="34" charset="-122"/>
                <a:cs typeface="Calibri" pitchFamily="34" charset="-120"/>
              </a:rPr>
              <a:t>Multicollinearity happens when two or more input columns are strongly correlated with each other — they carry overlapping information</a:t>
            </a:r>
            <a:r>
              <a:rPr lang="en-US" sz="1450" dirty="0" smtClean="0">
                <a:solidFill>
                  <a:schemeClr val="bg2"/>
                </a:solidFill>
                <a:latin typeface="Calibri" pitchFamily="34" charset="0"/>
                <a:ea typeface="Calibri" pitchFamily="34" charset="-122"/>
                <a:cs typeface="Calibri" pitchFamily="34" charset="-120"/>
              </a:rPr>
              <a:t>. </a:t>
            </a:r>
            <a:r>
              <a:rPr lang="en-US" sz="1600" dirty="0" err="1">
                <a:solidFill>
                  <a:schemeClr val="bg2"/>
                </a:solidFill>
              </a:rPr>
              <a:t>Multicollinearity</a:t>
            </a:r>
            <a:r>
              <a:rPr lang="en-US" sz="1600" dirty="0">
                <a:solidFill>
                  <a:schemeClr val="bg2"/>
                </a:solidFill>
              </a:rPr>
              <a:t> refers to the phenomenon of having related predictor variables in the input dataset. In simple terms, in a model which has been built using several independent variables, some of these variables might be interrelated, due to which the presence of that variable in the model is redundant. You drop some of these related independent variables as a way of dealing with </a:t>
            </a:r>
            <a:r>
              <a:rPr lang="en-US" sz="1600" dirty="0" err="1">
                <a:solidFill>
                  <a:schemeClr val="bg2"/>
                </a:solidFill>
              </a:rPr>
              <a:t>multicollinearity</a:t>
            </a:r>
            <a:endParaRPr lang="en-US" sz="1450" dirty="0">
              <a:solidFill>
                <a:schemeClr val="bg2"/>
              </a:solidFill>
            </a:endParaRPr>
          </a:p>
        </p:txBody>
      </p:sp>
      <p:sp>
        <p:nvSpPr>
          <p:cNvPr id="6" name="Shape 4"/>
          <p:cNvSpPr/>
          <p:nvPr/>
        </p:nvSpPr>
        <p:spPr>
          <a:xfrm>
            <a:off x="457200" y="2560320"/>
            <a:ext cx="11247120" cy="1737360"/>
          </a:xfrm>
          <a:prstGeom prst="roundRect">
            <a:avLst>
              <a:gd name="adj" fmla="val 4651"/>
            </a:avLst>
          </a:prstGeom>
          <a:solidFill>
            <a:srgbClr val="0F3A5F"/>
          </a:solidFill>
          <a:ln w="12700">
            <a:solidFill>
              <a:srgbClr val="1E4F73"/>
            </a:solidFill>
            <a:prstDash val="solid"/>
          </a:ln>
        </p:spPr>
      </p:sp>
      <p:sp>
        <p:nvSpPr>
          <p:cNvPr id="7" name="Text 5"/>
          <p:cNvSpPr/>
          <p:nvPr/>
        </p:nvSpPr>
        <p:spPr>
          <a:xfrm>
            <a:off x="731520" y="2560320"/>
            <a:ext cx="5486400" cy="274320"/>
          </a:xfrm>
          <a:prstGeom prst="rect">
            <a:avLst/>
          </a:prstGeom>
          <a:noFill/>
          <a:ln/>
        </p:spPr>
        <p:txBody>
          <a:bodyPr wrap="square" rtlCol="0" anchor="ctr"/>
          <a:lstStyle/>
          <a:p>
            <a:pPr marL="0" indent="0">
              <a:buNone/>
            </a:pPr>
            <a:r>
              <a:rPr lang="en-US" sz="1100" b="1" kern="0" spc="100" dirty="0">
                <a:solidFill>
                  <a:srgbClr val="F2A93B"/>
                </a:solidFill>
                <a:latin typeface="Calibri" pitchFamily="34" charset="0"/>
                <a:ea typeface="Calibri" pitchFamily="34" charset="-122"/>
                <a:cs typeface="Calibri" pitchFamily="34" charset="-120"/>
              </a:rPr>
              <a:t>THOUGHT EXPERIMENT</a:t>
            </a:r>
            <a:endParaRPr lang="en-US" sz="1100" dirty="0"/>
          </a:p>
        </p:txBody>
      </p:sp>
      <p:sp>
        <p:nvSpPr>
          <p:cNvPr id="8" name="Text 6"/>
          <p:cNvSpPr/>
          <p:nvPr/>
        </p:nvSpPr>
        <p:spPr>
          <a:xfrm>
            <a:off x="731520" y="2880360"/>
            <a:ext cx="10607040" cy="457200"/>
          </a:xfrm>
          <a:prstGeom prst="rect">
            <a:avLst/>
          </a:prstGeom>
          <a:noFill/>
          <a:ln/>
        </p:spPr>
        <p:txBody>
          <a:bodyPr wrap="square" rtlCol="0" anchor="ctr"/>
          <a:lstStyle/>
          <a:p>
            <a:pPr marL="0" indent="0">
              <a:lnSpc>
                <a:spcPts val="1600"/>
              </a:lnSpc>
              <a:buNone/>
            </a:pPr>
            <a:r>
              <a:rPr lang="en-US" sz="1300" dirty="0">
                <a:solidFill>
                  <a:srgbClr val="D6E4EC"/>
                </a:solidFill>
                <a:latin typeface="Calibri" pitchFamily="34" charset="0"/>
                <a:ea typeface="Calibri" pitchFamily="34" charset="-122"/>
                <a:cs typeface="Calibri" pitchFamily="34" charset="-120"/>
              </a:rPr>
              <a:t>Suppose predictors X₁ and X₂ are exactly the same column, duplicated. Does it matter whether the model is written as:</a:t>
            </a:r>
            <a:endParaRPr lang="en-US" sz="1300" dirty="0"/>
          </a:p>
        </p:txBody>
      </p:sp>
      <p:sp>
        <p:nvSpPr>
          <p:cNvPr id="9" name="Shape 7"/>
          <p:cNvSpPr/>
          <p:nvPr/>
        </p:nvSpPr>
        <p:spPr>
          <a:xfrm>
            <a:off x="731520" y="3474720"/>
            <a:ext cx="2514600" cy="640080"/>
          </a:xfrm>
          <a:prstGeom prst="roundRect">
            <a:avLst>
              <a:gd name="adj" fmla="val 11429"/>
            </a:avLst>
          </a:prstGeom>
          <a:solidFill>
            <a:srgbClr val="13416B"/>
          </a:solidFill>
          <a:ln w="12700">
            <a:solidFill>
              <a:srgbClr val="1C7293"/>
            </a:solidFill>
            <a:prstDash val="solid"/>
          </a:ln>
        </p:spPr>
      </p:sp>
      <p:sp>
        <p:nvSpPr>
          <p:cNvPr id="10" name="Text 8"/>
          <p:cNvSpPr/>
          <p:nvPr/>
        </p:nvSpPr>
        <p:spPr>
          <a:xfrm>
            <a:off x="731520" y="3474720"/>
            <a:ext cx="2514600" cy="640080"/>
          </a:xfrm>
          <a:prstGeom prst="rect">
            <a:avLst/>
          </a:prstGeom>
          <a:noFill/>
          <a:ln/>
        </p:spPr>
        <p:txBody>
          <a:bodyPr wrap="square"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20x₁ + 0x₂</a:t>
            </a:r>
            <a:endParaRPr lang="en-US" sz="1500" dirty="0"/>
          </a:p>
        </p:txBody>
      </p:sp>
      <p:sp>
        <p:nvSpPr>
          <p:cNvPr id="11" name="Shape 9"/>
          <p:cNvSpPr/>
          <p:nvPr/>
        </p:nvSpPr>
        <p:spPr>
          <a:xfrm>
            <a:off x="3429000" y="3512127"/>
            <a:ext cx="2514600" cy="640080"/>
          </a:xfrm>
          <a:prstGeom prst="roundRect">
            <a:avLst>
              <a:gd name="adj" fmla="val 11429"/>
            </a:avLst>
          </a:prstGeom>
          <a:solidFill>
            <a:srgbClr val="13416B"/>
          </a:solidFill>
          <a:ln w="12700">
            <a:solidFill>
              <a:srgbClr val="1C7293"/>
            </a:solidFill>
            <a:prstDash val="solid"/>
          </a:ln>
        </p:spPr>
      </p:sp>
      <p:sp>
        <p:nvSpPr>
          <p:cNvPr id="12" name="Text 10"/>
          <p:cNvSpPr/>
          <p:nvPr/>
        </p:nvSpPr>
        <p:spPr>
          <a:xfrm>
            <a:off x="3474720" y="3474720"/>
            <a:ext cx="2514600" cy="640080"/>
          </a:xfrm>
          <a:prstGeom prst="rect">
            <a:avLst/>
          </a:prstGeom>
          <a:noFill/>
          <a:ln/>
        </p:spPr>
        <p:txBody>
          <a:bodyPr wrap="square" rtlCol="0" anchor="ctr"/>
          <a:lstStyle/>
          <a:p>
            <a:pPr algn="ctr"/>
            <a:r>
              <a:rPr lang="en-US" sz="1500" b="1" dirty="0">
                <a:solidFill>
                  <a:srgbClr val="FFFFFF"/>
                </a:solidFill>
                <a:latin typeface="Courier New" pitchFamily="34" charset="0"/>
                <a:ea typeface="Courier New" pitchFamily="34" charset="-122"/>
                <a:cs typeface="Courier New" pitchFamily="34" charset="-120"/>
              </a:rPr>
              <a:t>10x</a:t>
            </a:r>
            <a:r>
              <a:rPr lang="en-US" sz="1500" b="1" dirty="0" smtClean="0">
                <a:solidFill>
                  <a:srgbClr val="FFFFFF"/>
                </a:solidFill>
                <a:latin typeface="Courier New" pitchFamily="34" charset="0"/>
                <a:ea typeface="Courier New" pitchFamily="34" charset="-122"/>
                <a:cs typeface="Courier New" pitchFamily="34" charset="-120"/>
              </a:rPr>
              <a:t>₁ </a:t>
            </a:r>
            <a:r>
              <a:rPr lang="en-US" sz="1500" b="1" dirty="0">
                <a:solidFill>
                  <a:srgbClr val="FFFFFF"/>
                </a:solidFill>
                <a:latin typeface="Courier New" pitchFamily="34" charset="0"/>
                <a:ea typeface="Courier New" pitchFamily="34" charset="-122"/>
                <a:cs typeface="Courier New" pitchFamily="34" charset="-120"/>
              </a:rPr>
              <a:t>+ 10x₂</a:t>
            </a:r>
            <a:endParaRPr lang="en-US" sz="1500" dirty="0"/>
          </a:p>
          <a:p>
            <a:pPr marL="0" indent="0" algn="ctr">
              <a:buNone/>
            </a:pPr>
            <a:endParaRPr lang="en-US" sz="1500" dirty="0"/>
          </a:p>
        </p:txBody>
      </p:sp>
      <p:sp>
        <p:nvSpPr>
          <p:cNvPr id="14" name="Text 12"/>
          <p:cNvSpPr/>
          <p:nvPr/>
        </p:nvSpPr>
        <p:spPr>
          <a:xfrm>
            <a:off x="6217920" y="3474720"/>
            <a:ext cx="2514600" cy="640080"/>
          </a:xfrm>
          <a:prstGeom prst="rect">
            <a:avLst/>
          </a:prstGeom>
          <a:noFill/>
          <a:ln/>
        </p:spPr>
        <p:txBody>
          <a:bodyPr wrap="square" rtlCol="0" anchor="ctr"/>
          <a:lstStyle/>
          <a:p>
            <a:pPr marL="0" indent="0" algn="ctr">
              <a:buNone/>
            </a:pPr>
            <a:endParaRPr lang="en-US" sz="1500" dirty="0"/>
          </a:p>
        </p:txBody>
      </p:sp>
      <p:sp>
        <p:nvSpPr>
          <p:cNvPr id="15" name="Shape 13"/>
          <p:cNvSpPr/>
          <p:nvPr/>
        </p:nvSpPr>
        <p:spPr>
          <a:xfrm>
            <a:off x="8961120" y="3474720"/>
            <a:ext cx="2514600" cy="640080"/>
          </a:xfrm>
          <a:prstGeom prst="roundRect">
            <a:avLst>
              <a:gd name="adj" fmla="val 11429"/>
            </a:avLst>
          </a:prstGeom>
          <a:solidFill>
            <a:srgbClr val="13416B"/>
          </a:solidFill>
          <a:ln w="12700">
            <a:solidFill>
              <a:srgbClr val="1C7293"/>
            </a:solidFill>
            <a:prstDash val="solid"/>
          </a:ln>
        </p:spPr>
      </p:sp>
      <p:sp>
        <p:nvSpPr>
          <p:cNvPr id="16" name="Text 14"/>
          <p:cNvSpPr/>
          <p:nvPr/>
        </p:nvSpPr>
        <p:spPr>
          <a:xfrm>
            <a:off x="8961120" y="3474720"/>
            <a:ext cx="2514600" cy="640080"/>
          </a:xfrm>
          <a:prstGeom prst="rect">
            <a:avLst/>
          </a:prstGeom>
          <a:noFill/>
          <a:ln/>
        </p:spPr>
        <p:txBody>
          <a:bodyPr wrap="square"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9x₁ + 11x₂</a:t>
            </a:r>
            <a:endParaRPr lang="en-US" sz="1500" dirty="0"/>
          </a:p>
        </p:txBody>
      </p:sp>
      <p:sp>
        <p:nvSpPr>
          <p:cNvPr id="17" name="Text 15"/>
          <p:cNvSpPr/>
          <p:nvPr/>
        </p:nvSpPr>
        <p:spPr>
          <a:xfrm>
            <a:off x="457200" y="4526280"/>
            <a:ext cx="11247120" cy="548640"/>
          </a:xfrm>
          <a:prstGeom prst="rect">
            <a:avLst/>
          </a:prstGeom>
          <a:noFill/>
          <a:ln/>
        </p:spPr>
        <p:txBody>
          <a:bodyPr wrap="square" rtlCol="0" anchor="ctr"/>
          <a:lstStyle/>
          <a:p>
            <a:pPr marL="0" indent="0">
              <a:lnSpc>
                <a:spcPts val="1700"/>
              </a:lnSpc>
              <a:buNone/>
            </a:pPr>
            <a:r>
              <a:rPr lang="en-US" sz="1350" i="1" dirty="0">
                <a:solidFill>
                  <a:srgbClr val="9FBBCB"/>
                </a:solidFill>
                <a:latin typeface="Calibri" pitchFamily="34" charset="0"/>
                <a:ea typeface="Calibri" pitchFamily="34" charset="-122"/>
                <a:cs typeface="Calibri" pitchFamily="34" charset="-120"/>
              </a:rPr>
              <a:t>All four predict identically — infinitely many coefficient combinations fit equally well. That instability is multicollinearity's core problem.</a:t>
            </a:r>
            <a:endParaRPr lang="en-US" sz="1350" dirty="0"/>
          </a:p>
        </p:txBody>
      </p:sp>
      <p:sp>
        <p:nvSpPr>
          <p:cNvPr id="22" name="Text 20"/>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8FA6B3"/>
                </a:solidFill>
                <a:latin typeface="Calibri" pitchFamily="34" charset="0"/>
                <a:ea typeface="Calibri" pitchFamily="34" charset="-122"/>
                <a:cs typeface="Calibri" pitchFamily="34" charset="-120"/>
              </a:rPr>
              <a:t>Multiple Linear Regression</a:t>
            </a:r>
            <a:endParaRPr lang="en-US" sz="900" dirty="0"/>
          </a:p>
        </p:txBody>
      </p:sp>
      <p:sp>
        <p:nvSpPr>
          <p:cNvPr id="23" name="Text 21"/>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8FA6B3"/>
                </a:solidFill>
                <a:latin typeface="Calibri" pitchFamily="34" charset="0"/>
                <a:ea typeface="Calibri" pitchFamily="34" charset="-122"/>
                <a:cs typeface="Calibri" pitchFamily="34" charset="-120"/>
              </a:rPr>
              <a:t>16</a:t>
            </a:r>
            <a:endParaRPr lang="en-US" sz="9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378" y="330575"/>
            <a:ext cx="8846935" cy="3353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Table 1"/>
          <p:cNvGraphicFramePr>
            <a:graphicFrameLocks noGrp="1"/>
          </p:cNvGraphicFramePr>
          <p:nvPr>
            <p:extLst>
              <p:ext uri="{D42A27DB-BD31-4B8C-83A1-F6EECF244321}">
                <p14:modId xmlns:p14="http://schemas.microsoft.com/office/powerpoint/2010/main" val="2550291682"/>
              </p:ext>
            </p:extLst>
          </p:nvPr>
        </p:nvGraphicFramePr>
        <p:xfrm>
          <a:off x="305378" y="3784210"/>
          <a:ext cx="5854353" cy="2590798"/>
        </p:xfrm>
        <a:graphic>
          <a:graphicData uri="http://schemas.openxmlformats.org/drawingml/2006/table">
            <a:tbl>
              <a:tblPr>
                <a:tableStyleId>{284E427A-3D55-4303-BF80-6455036E1DE7}</a:tableStyleId>
              </a:tblPr>
              <a:tblGrid>
                <a:gridCol w="1772804"/>
                <a:gridCol w="4081549"/>
              </a:tblGrid>
              <a:tr h="688181">
                <a:tc>
                  <a:txBody>
                    <a:bodyPr/>
                    <a:lstStyle/>
                    <a:p>
                      <a:r>
                        <a:rPr lang="en-IN" sz="1400" b="1" dirty="0" err="1"/>
                        <a:t>Multicollinearity</a:t>
                      </a:r>
                      <a:r>
                        <a:rPr lang="en-IN" sz="1400" b="1" dirty="0"/>
                        <a:t> affects</a:t>
                      </a:r>
                    </a:p>
                  </a:txBody>
                  <a:tcPr anchor="ctr"/>
                </a:tc>
                <a:tc>
                  <a:txBody>
                    <a:bodyPr/>
                    <a:lstStyle/>
                    <a:p>
                      <a:r>
                        <a:rPr lang="en-IN" sz="1400" b="1" dirty="0"/>
                        <a:t>Why?</a:t>
                      </a:r>
                    </a:p>
                  </a:txBody>
                  <a:tcPr anchor="ctr"/>
                </a:tc>
              </a:tr>
              <a:tr h="404812">
                <a:tc>
                  <a:txBody>
                    <a:bodyPr/>
                    <a:lstStyle/>
                    <a:p>
                      <a:r>
                        <a:rPr lang="en-IN" sz="1400" dirty="0"/>
                        <a:t>Individual coefficients</a:t>
                      </a:r>
                    </a:p>
                  </a:txBody>
                  <a:tcPr anchor="ctr"/>
                </a:tc>
                <a:tc>
                  <a:txBody>
                    <a:bodyPr/>
                    <a:lstStyle/>
                    <a:p>
                      <a:r>
                        <a:rPr lang="en-IN" sz="1400"/>
                        <a:t>They become unstable</a:t>
                      </a:r>
                    </a:p>
                  </a:txBody>
                  <a:tcPr anchor="ctr"/>
                </a:tc>
              </a:tr>
              <a:tr h="404812">
                <a:tc>
                  <a:txBody>
                    <a:bodyPr/>
                    <a:lstStyle/>
                    <a:p>
                      <a:r>
                        <a:rPr lang="en-IN" sz="1400" dirty="0"/>
                        <a:t>p-values / inference</a:t>
                      </a:r>
                    </a:p>
                  </a:txBody>
                  <a:tcPr anchor="ctr"/>
                </a:tc>
                <a:tc>
                  <a:txBody>
                    <a:bodyPr/>
                    <a:lstStyle/>
                    <a:p>
                      <a:r>
                        <a:rPr lang="en-US" sz="1400" dirty="0"/>
                        <a:t>Individual effects become difficult to establish</a:t>
                      </a:r>
                    </a:p>
                  </a:txBody>
                  <a:tcPr anchor="ctr"/>
                </a:tc>
              </a:tr>
              <a:tr h="688181">
                <a:tc>
                  <a:txBody>
                    <a:bodyPr/>
                    <a:lstStyle/>
                    <a:p>
                      <a:r>
                        <a:rPr lang="en-IN" sz="1400" dirty="0"/>
                        <a:t>Interpretation</a:t>
                      </a:r>
                    </a:p>
                  </a:txBody>
                  <a:tcPr anchor="ctr"/>
                </a:tc>
                <a:tc>
                  <a:txBody>
                    <a:bodyPr/>
                    <a:lstStyle/>
                    <a:p>
                      <a:r>
                        <a:rPr lang="en-US" sz="1400" dirty="0"/>
                        <a:t>"Holding other variables constant" may be impossible or unrealistic</a:t>
                      </a:r>
                    </a:p>
                  </a:txBody>
                  <a:tcPr anchor="ctr"/>
                </a:tc>
              </a:tr>
              <a:tr h="404812">
                <a:tc>
                  <a:txBody>
                    <a:bodyPr/>
                    <a:lstStyle/>
                    <a:p>
                      <a:r>
                        <a:rPr lang="en-IN" sz="1400" dirty="0"/>
                        <a:t>Coefficient signs</a:t>
                      </a:r>
                    </a:p>
                  </a:txBody>
                  <a:tcPr anchor="ctr"/>
                </a:tc>
                <a:tc>
                  <a:txBody>
                    <a:bodyPr/>
                    <a:lstStyle/>
                    <a:p>
                      <a:r>
                        <a:rPr lang="en-US" sz="1400" dirty="0"/>
                        <a:t>Can change, even from + to −</a:t>
                      </a:r>
                    </a:p>
                  </a:txBody>
                  <a:tcPr anchor="ctr"/>
                </a:tc>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3453030200"/>
              </p:ext>
            </p:extLst>
          </p:nvPr>
        </p:nvGraphicFramePr>
        <p:xfrm>
          <a:off x="6442364" y="3793590"/>
          <a:ext cx="5552902" cy="2581420"/>
        </p:xfrm>
        <a:graphic>
          <a:graphicData uri="http://schemas.openxmlformats.org/drawingml/2006/table">
            <a:tbl>
              <a:tblPr>
                <a:tableStyleId>{35758FB7-9AC5-4552-8A53-C91805E547FA}</a:tableStyleId>
              </a:tblPr>
              <a:tblGrid>
                <a:gridCol w="2776451"/>
                <a:gridCol w="2776451"/>
              </a:tblGrid>
              <a:tr h="379621">
                <a:tc>
                  <a:txBody>
                    <a:bodyPr/>
                    <a:lstStyle/>
                    <a:p>
                      <a:r>
                        <a:rPr lang="en-IN" sz="1400" b="1" dirty="0"/>
                        <a:t>Usually not strongly affected</a:t>
                      </a:r>
                    </a:p>
                  </a:txBody>
                  <a:tcPr anchor="ctr"/>
                </a:tc>
                <a:tc>
                  <a:txBody>
                    <a:bodyPr/>
                    <a:lstStyle/>
                    <a:p>
                      <a:r>
                        <a:rPr lang="en-IN" sz="1400" b="1" dirty="0"/>
                        <a:t>Why?</a:t>
                      </a:r>
                    </a:p>
                  </a:txBody>
                  <a:tcPr anchor="ctr"/>
                </a:tc>
              </a:tr>
              <a:tr h="911089">
                <a:tc>
                  <a:txBody>
                    <a:bodyPr/>
                    <a:lstStyle/>
                    <a:p>
                      <a:r>
                        <a:rPr lang="en-IN" sz="1400" dirty="0"/>
                        <a:t>Overall predictions</a:t>
                      </a:r>
                    </a:p>
                  </a:txBody>
                  <a:tcPr anchor="ctr"/>
                </a:tc>
                <a:tc>
                  <a:txBody>
                    <a:bodyPr/>
                    <a:lstStyle/>
                    <a:p>
                      <a:r>
                        <a:rPr lang="en-US" sz="1400"/>
                        <a:t>Correlated variables collectively still contain predictive information</a:t>
                      </a:r>
                    </a:p>
                  </a:txBody>
                  <a:tcPr anchor="ctr"/>
                </a:tc>
              </a:tr>
              <a:tr h="379621">
                <a:tc>
                  <a:txBody>
                    <a:bodyPr/>
                    <a:lstStyle/>
                    <a:p>
                      <a:r>
                        <a:rPr lang="en-IN" sz="1400" smtClean="0"/>
                        <a:t>R2^2</a:t>
                      </a:r>
                      <a:endParaRPr lang="en-IN" sz="1400" dirty="0"/>
                    </a:p>
                  </a:txBody>
                  <a:tcPr anchor="ctr"/>
                </a:tc>
                <a:tc>
                  <a:txBody>
                    <a:bodyPr/>
                    <a:lstStyle/>
                    <a:p>
                      <a:r>
                        <a:rPr lang="en-IN" sz="1400"/>
                        <a:t>Measures overall fitted variation</a:t>
                      </a:r>
                    </a:p>
                  </a:txBody>
                  <a:tcPr anchor="ctr"/>
                </a:tc>
              </a:tr>
              <a:tr h="911089">
                <a:tc>
                  <a:txBody>
                    <a:bodyPr/>
                    <a:lstStyle/>
                    <a:p>
                      <a:r>
                        <a:rPr lang="en-IN" sz="1400" dirty="0"/>
                        <a:t>Overall goodness of fit</a:t>
                      </a:r>
                    </a:p>
                  </a:txBody>
                  <a:tcPr anchor="ctr"/>
                </a:tc>
                <a:tc>
                  <a:txBody>
                    <a:bodyPr/>
                    <a:lstStyle/>
                    <a:p>
                      <a:r>
                        <a:rPr lang="en-US" sz="1400" dirty="0"/>
                        <a:t>Depends on fitted values, not how the coefficient contribution is divided</a:t>
                      </a:r>
                    </a:p>
                  </a:txBody>
                  <a:tcPr anchor="ctr"/>
                </a:tc>
              </a:tr>
            </a:tbl>
          </a:graphicData>
        </a:graphic>
      </p:graphicFrame>
    </p:spTree>
    <p:extLst>
      <p:ext uri="{BB962C8B-B14F-4D97-AF65-F5344CB8AC3E}">
        <p14:creationId xmlns:p14="http://schemas.microsoft.com/office/powerpoint/2010/main" val="100199971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365760"/>
          </a:xfrm>
          <a:prstGeom prst="roundRect">
            <a:avLst>
              <a:gd name="adj" fmla="val 20000"/>
            </a:avLst>
          </a:prstGeom>
          <a:solidFill>
            <a:srgbClr val="E5F0F4"/>
          </a:solidFill>
          <a:ln/>
        </p:spPr>
      </p:sp>
      <p:sp>
        <p:nvSpPr>
          <p:cNvPr id="3" name="Text 1"/>
          <p:cNvSpPr/>
          <p:nvPr/>
        </p:nvSpPr>
        <p:spPr>
          <a:xfrm>
            <a:off x="457200" y="411480"/>
            <a:ext cx="2103120" cy="365760"/>
          </a:xfrm>
          <a:prstGeom prst="rect">
            <a:avLst/>
          </a:prstGeom>
          <a:noFill/>
          <a:ln/>
        </p:spPr>
        <p:txBody>
          <a:bodyPr wrap="square" rtlCol="0" anchor="ctr"/>
          <a:lstStyle/>
          <a:p>
            <a:pPr marL="0" indent="0" algn="ctr">
              <a:buNone/>
            </a:pPr>
            <a:r>
              <a:rPr lang="en-US" sz="1100" b="1" kern="0" spc="100" dirty="0">
                <a:solidFill>
                  <a:srgbClr val="065A82"/>
                </a:solidFill>
                <a:latin typeface="Calibri" pitchFamily="34" charset="0"/>
                <a:ea typeface="Calibri" pitchFamily="34" charset="-122"/>
                <a:cs typeface="Calibri" pitchFamily="34" charset="-120"/>
              </a:rPr>
              <a:t>PART 2 · DETECTION</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3000" b="1" dirty="0">
                <a:solidFill>
                  <a:srgbClr val="0B2A4A"/>
                </a:solidFill>
                <a:latin typeface="Cambria" pitchFamily="34" charset="0"/>
                <a:ea typeface="Cambria" pitchFamily="34" charset="-122"/>
                <a:cs typeface="Cambria" pitchFamily="34" charset="-120"/>
              </a:rPr>
              <a:t>Detecting Multicollinearity: Correlations</a:t>
            </a:r>
            <a:endParaRPr lang="en-US" sz="3000" dirty="0"/>
          </a:p>
        </p:txBody>
      </p:sp>
      <p:sp>
        <p:nvSpPr>
          <p:cNvPr id="5" name="Text 3"/>
          <p:cNvSpPr/>
          <p:nvPr/>
        </p:nvSpPr>
        <p:spPr>
          <a:xfrm>
            <a:off x="457200" y="1508760"/>
            <a:ext cx="11247120" cy="502920"/>
          </a:xfrm>
          <a:prstGeom prst="rect">
            <a:avLst/>
          </a:prstGeom>
          <a:noFill/>
          <a:ln/>
        </p:spPr>
        <p:txBody>
          <a:bodyPr wrap="square" rtlCol="0" anchor="ctr"/>
          <a:lstStyle/>
          <a:p>
            <a:pPr marL="0" indent="0">
              <a:buNone/>
            </a:pPr>
            <a:r>
              <a:rPr lang="en-US" sz="1350" dirty="0">
                <a:solidFill>
                  <a:srgbClr val="17232E"/>
                </a:solidFill>
                <a:latin typeface="Calibri" pitchFamily="34" charset="0"/>
                <a:ea typeface="Calibri" pitchFamily="34" charset="-122"/>
                <a:cs typeface="Calibri" pitchFamily="34" charset="-120"/>
              </a:rPr>
              <a:t>The first, simplest check: look at how strongly each pair of predictors is correlated with each other — not just with the output.</a:t>
            </a:r>
            <a:endParaRPr lang="en-US" sz="1350" dirty="0"/>
          </a:p>
        </p:txBody>
      </p:sp>
      <p:sp>
        <p:nvSpPr>
          <p:cNvPr id="6" name="Shape 4"/>
          <p:cNvSpPr/>
          <p:nvPr/>
        </p:nvSpPr>
        <p:spPr>
          <a:xfrm>
            <a:off x="457200" y="2286000"/>
            <a:ext cx="457200" cy="457200"/>
          </a:xfrm>
          <a:prstGeom prst="ellipse">
            <a:avLst/>
          </a:prstGeom>
          <a:solidFill>
            <a:srgbClr val="E5F0F4"/>
          </a:solidFill>
          <a:ln/>
        </p:spPr>
      </p:sp>
      <p:sp>
        <p:nvSpPr>
          <p:cNvPr id="7" name="Text 5"/>
          <p:cNvSpPr/>
          <p:nvPr/>
        </p:nvSpPr>
        <p:spPr>
          <a:xfrm>
            <a:off x="457200" y="2286000"/>
            <a:ext cx="457200" cy="457200"/>
          </a:xfrm>
          <a:prstGeom prst="rect">
            <a:avLst/>
          </a:prstGeom>
          <a:noFill/>
          <a:ln/>
        </p:spPr>
        <p:txBody>
          <a:bodyPr wrap="square" rtlCol="0" anchor="ctr"/>
          <a:lstStyle/>
          <a:p>
            <a:pPr marL="0" indent="0" algn="ctr">
              <a:buNone/>
            </a:pPr>
            <a:r>
              <a:rPr lang="en-US" sz="2000" b="1" dirty="0">
                <a:solidFill>
                  <a:srgbClr val="065A82"/>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1097280" y="2240280"/>
            <a:ext cx="4572000" cy="640080"/>
          </a:xfrm>
          <a:prstGeom prst="rect">
            <a:avLst/>
          </a:prstGeom>
          <a:noFill/>
          <a:ln/>
        </p:spPr>
        <p:txBody>
          <a:bodyPr wrap="square" rtlCol="0" anchor="ctr"/>
          <a:lstStyle/>
          <a:p>
            <a:pPr marL="0" indent="0">
              <a:lnSpc>
                <a:spcPts val="1600"/>
              </a:lnSpc>
              <a:buNone/>
            </a:pPr>
            <a:r>
              <a:rPr lang="en-US" sz="1600" dirty="0">
                <a:solidFill>
                  <a:srgbClr val="0B2A4A"/>
                </a:solidFill>
                <a:latin typeface="Calibri" pitchFamily="34" charset="0"/>
                <a:ea typeface="Calibri" pitchFamily="34" charset="-122"/>
                <a:cs typeface="Calibri" pitchFamily="34" charset="-120"/>
              </a:rPr>
              <a:t>Scatter plots — visually inspect each pair of predictors for a linear trend.</a:t>
            </a:r>
            <a:endParaRPr lang="en-US" sz="1600" dirty="0"/>
          </a:p>
        </p:txBody>
      </p:sp>
      <p:sp>
        <p:nvSpPr>
          <p:cNvPr id="9" name="Shape 7"/>
          <p:cNvSpPr/>
          <p:nvPr/>
        </p:nvSpPr>
        <p:spPr>
          <a:xfrm>
            <a:off x="457200" y="3154680"/>
            <a:ext cx="457200" cy="457200"/>
          </a:xfrm>
          <a:prstGeom prst="ellipse">
            <a:avLst/>
          </a:prstGeom>
          <a:solidFill>
            <a:srgbClr val="E5F0F4"/>
          </a:solidFill>
          <a:ln/>
        </p:spPr>
      </p:sp>
      <p:sp>
        <p:nvSpPr>
          <p:cNvPr id="10" name="Text 8"/>
          <p:cNvSpPr/>
          <p:nvPr/>
        </p:nvSpPr>
        <p:spPr>
          <a:xfrm>
            <a:off x="457200" y="3154680"/>
            <a:ext cx="457200" cy="457200"/>
          </a:xfrm>
          <a:prstGeom prst="rect">
            <a:avLst/>
          </a:prstGeom>
          <a:noFill/>
          <a:ln/>
        </p:spPr>
        <p:txBody>
          <a:bodyPr wrap="square" rtlCol="0" anchor="ctr"/>
          <a:lstStyle/>
          <a:p>
            <a:pPr marL="0" indent="0" algn="ctr">
              <a:buNone/>
            </a:pPr>
            <a:r>
              <a:rPr lang="en-US" sz="2000" b="1" dirty="0">
                <a:solidFill>
                  <a:srgbClr val="065A82"/>
                </a:solidFill>
                <a:latin typeface="Calibri" pitchFamily="34" charset="0"/>
                <a:ea typeface="Calibri" pitchFamily="34" charset="-122"/>
                <a:cs typeface="Calibri" pitchFamily="34" charset="-120"/>
              </a:rPr>
              <a:t>2</a:t>
            </a:r>
            <a:endParaRPr lang="en-US" sz="2000" dirty="0"/>
          </a:p>
        </p:txBody>
      </p:sp>
      <p:sp>
        <p:nvSpPr>
          <p:cNvPr id="11" name="Text 9"/>
          <p:cNvSpPr/>
          <p:nvPr/>
        </p:nvSpPr>
        <p:spPr>
          <a:xfrm>
            <a:off x="1097280" y="3108960"/>
            <a:ext cx="4572000" cy="640080"/>
          </a:xfrm>
          <a:prstGeom prst="rect">
            <a:avLst/>
          </a:prstGeom>
          <a:noFill/>
          <a:ln/>
        </p:spPr>
        <p:txBody>
          <a:bodyPr wrap="square" rtlCol="0" anchor="ctr"/>
          <a:lstStyle/>
          <a:p>
            <a:pPr marL="0" indent="0">
              <a:lnSpc>
                <a:spcPts val="1600"/>
              </a:lnSpc>
              <a:buNone/>
            </a:pPr>
            <a:r>
              <a:rPr lang="en-US" sz="1600" dirty="0">
                <a:solidFill>
                  <a:srgbClr val="0B2A4A"/>
                </a:solidFill>
                <a:latin typeface="Calibri" pitchFamily="34" charset="0"/>
                <a:ea typeface="Calibri" pitchFamily="34" charset="-122"/>
                <a:cs typeface="Calibri" pitchFamily="34" charset="-120"/>
              </a:rPr>
              <a:t>Correlation coefficients — quantify that trend with a number from –1 to +1.</a:t>
            </a:r>
            <a:endParaRPr lang="en-US" sz="1600" dirty="0"/>
          </a:p>
        </p:txBody>
      </p:sp>
      <p:sp>
        <p:nvSpPr>
          <p:cNvPr id="12" name="Shape 10"/>
          <p:cNvSpPr/>
          <p:nvPr/>
        </p:nvSpPr>
        <p:spPr>
          <a:xfrm>
            <a:off x="457200" y="4160520"/>
            <a:ext cx="5212080" cy="1371600"/>
          </a:xfrm>
          <a:prstGeom prst="roundRect">
            <a:avLst>
              <a:gd name="adj" fmla="val 5333"/>
            </a:avLst>
          </a:prstGeom>
          <a:solidFill>
            <a:srgbClr val="FFF3E0"/>
          </a:solidFill>
          <a:ln w="12700">
            <a:solidFill>
              <a:srgbClr val="F2A93B"/>
            </a:solidFill>
            <a:prstDash val="solid"/>
          </a:ln>
        </p:spPr>
      </p:sp>
      <p:sp>
        <p:nvSpPr>
          <p:cNvPr id="13" name="Text 11"/>
          <p:cNvSpPr/>
          <p:nvPr/>
        </p:nvSpPr>
        <p:spPr>
          <a:xfrm>
            <a:off x="640080" y="4160520"/>
            <a:ext cx="4846320" cy="1371600"/>
          </a:xfrm>
          <a:prstGeom prst="rect">
            <a:avLst/>
          </a:prstGeom>
          <a:noFill/>
          <a:ln/>
        </p:spPr>
        <p:txBody>
          <a:bodyPr wrap="square" rtlCol="0" anchor="ctr"/>
          <a:lstStyle/>
          <a:p>
            <a:pPr marL="0" indent="0">
              <a:lnSpc>
                <a:spcPts val="1500"/>
              </a:lnSpc>
              <a:buNone/>
            </a:pPr>
            <a:r>
              <a:rPr lang="en-US" sz="1600" i="1" dirty="0">
                <a:solidFill>
                  <a:srgbClr val="8A5A17"/>
                </a:solidFill>
                <a:latin typeface="Calibri" pitchFamily="34" charset="0"/>
                <a:ea typeface="Calibri" pitchFamily="34" charset="-122"/>
                <a:cs typeface="Calibri" pitchFamily="34" charset="-120"/>
              </a:rPr>
              <a:t>Limitation: pairwise correlation only catches two-way relationships. A predictor could be predictable from a combination of several others — that needs a different tool (next slide).</a:t>
            </a:r>
            <a:endParaRPr lang="en-US" sz="1600" dirty="0"/>
          </a:p>
        </p:txBody>
      </p:sp>
      <p:sp>
        <p:nvSpPr>
          <p:cNvPr id="14" name="Text 12"/>
          <p:cNvSpPr/>
          <p:nvPr/>
        </p:nvSpPr>
        <p:spPr>
          <a:xfrm>
            <a:off x="6035040" y="1828800"/>
            <a:ext cx="5486400" cy="274320"/>
          </a:xfrm>
          <a:prstGeom prst="rect">
            <a:avLst/>
          </a:prstGeom>
          <a:noFill/>
          <a:ln/>
        </p:spPr>
        <p:txBody>
          <a:bodyPr wrap="square" rtlCol="0" anchor="ctr"/>
          <a:lstStyle/>
          <a:p>
            <a:pPr marL="0" indent="0">
              <a:buNone/>
            </a:pPr>
            <a:r>
              <a:rPr lang="en-US" sz="1200" b="1" dirty="0">
                <a:solidFill>
                  <a:srgbClr val="5C6B73"/>
                </a:solidFill>
                <a:latin typeface="Calibri" pitchFamily="34" charset="0"/>
                <a:ea typeface="Calibri" pitchFamily="34" charset="-122"/>
                <a:cs typeface="Calibri" pitchFamily="34" charset="-120"/>
              </a:rPr>
              <a:t>Illustrative correlation matrix</a:t>
            </a:r>
            <a:endParaRPr lang="en-US" sz="1200" dirty="0"/>
          </a:p>
        </p:txBody>
      </p:sp>
      <p:sp>
        <p:nvSpPr>
          <p:cNvPr id="15" name="Text 13"/>
          <p:cNvSpPr/>
          <p:nvPr/>
        </p:nvSpPr>
        <p:spPr>
          <a:xfrm>
            <a:off x="6858000" y="2148840"/>
            <a:ext cx="676656" cy="274320"/>
          </a:xfrm>
          <a:prstGeom prst="rect">
            <a:avLst/>
          </a:prstGeom>
          <a:noFill/>
          <a:ln/>
        </p:spPr>
        <p:txBody>
          <a:bodyPr wrap="square" rtlCol="0" anchor="ctr"/>
          <a:lstStyle/>
          <a:p>
            <a:pPr marL="0" indent="0" algn="ctr">
              <a:buNone/>
            </a:pPr>
            <a:r>
              <a:rPr lang="en-US" sz="1100" b="1" dirty="0">
                <a:solidFill>
                  <a:srgbClr val="0B2A4A"/>
                </a:solidFill>
                <a:latin typeface="Calibri" pitchFamily="34" charset="0"/>
                <a:ea typeface="Calibri" pitchFamily="34" charset="-122"/>
                <a:cs typeface="Calibri" pitchFamily="34" charset="-120"/>
              </a:rPr>
              <a:t>BP</a:t>
            </a:r>
            <a:endParaRPr lang="en-US" sz="1100" dirty="0"/>
          </a:p>
        </p:txBody>
      </p:sp>
      <p:sp>
        <p:nvSpPr>
          <p:cNvPr id="16" name="Text 14"/>
          <p:cNvSpPr/>
          <p:nvPr/>
        </p:nvSpPr>
        <p:spPr>
          <a:xfrm>
            <a:off x="6035040" y="2423160"/>
            <a:ext cx="822960" cy="676656"/>
          </a:xfrm>
          <a:prstGeom prst="rect">
            <a:avLst/>
          </a:prstGeom>
          <a:noFill/>
          <a:ln/>
        </p:spPr>
        <p:txBody>
          <a:bodyPr wrap="square" rtlCol="0" anchor="ctr"/>
          <a:lstStyle/>
          <a:p>
            <a:pPr marL="0" indent="0">
              <a:buNone/>
            </a:pPr>
            <a:r>
              <a:rPr lang="en-US" sz="1100" b="1" dirty="0">
                <a:solidFill>
                  <a:srgbClr val="0B2A4A"/>
                </a:solidFill>
                <a:latin typeface="Calibri" pitchFamily="34" charset="0"/>
                <a:ea typeface="Calibri" pitchFamily="34" charset="-122"/>
                <a:cs typeface="Calibri" pitchFamily="34" charset="-120"/>
              </a:rPr>
              <a:t>BP</a:t>
            </a:r>
            <a:endParaRPr lang="en-US" sz="1100" dirty="0"/>
          </a:p>
        </p:txBody>
      </p:sp>
      <p:sp>
        <p:nvSpPr>
          <p:cNvPr id="17" name="Text 15"/>
          <p:cNvSpPr/>
          <p:nvPr/>
        </p:nvSpPr>
        <p:spPr>
          <a:xfrm>
            <a:off x="7534656" y="2148840"/>
            <a:ext cx="676656" cy="274320"/>
          </a:xfrm>
          <a:prstGeom prst="rect">
            <a:avLst/>
          </a:prstGeom>
          <a:noFill/>
          <a:ln/>
        </p:spPr>
        <p:txBody>
          <a:bodyPr wrap="square" rtlCol="0" anchor="ctr"/>
          <a:lstStyle/>
          <a:p>
            <a:pPr marL="0" indent="0" algn="ctr">
              <a:buNone/>
            </a:pPr>
            <a:r>
              <a:rPr lang="en-US" sz="1100" b="1" dirty="0">
                <a:solidFill>
                  <a:srgbClr val="0B2A4A"/>
                </a:solidFill>
                <a:latin typeface="Calibri" pitchFamily="34" charset="0"/>
                <a:ea typeface="Calibri" pitchFamily="34" charset="-122"/>
                <a:cs typeface="Calibri" pitchFamily="34" charset="-120"/>
              </a:rPr>
              <a:t>Age</a:t>
            </a:r>
            <a:endParaRPr lang="en-US" sz="1100" dirty="0"/>
          </a:p>
        </p:txBody>
      </p:sp>
      <p:sp>
        <p:nvSpPr>
          <p:cNvPr id="18" name="Text 16"/>
          <p:cNvSpPr/>
          <p:nvPr/>
        </p:nvSpPr>
        <p:spPr>
          <a:xfrm>
            <a:off x="6035040" y="3099816"/>
            <a:ext cx="822960" cy="676656"/>
          </a:xfrm>
          <a:prstGeom prst="rect">
            <a:avLst/>
          </a:prstGeom>
          <a:noFill/>
          <a:ln/>
        </p:spPr>
        <p:txBody>
          <a:bodyPr wrap="square" rtlCol="0" anchor="ctr"/>
          <a:lstStyle/>
          <a:p>
            <a:pPr marL="0" indent="0">
              <a:buNone/>
            </a:pPr>
            <a:r>
              <a:rPr lang="en-US" sz="1100" b="1" dirty="0">
                <a:solidFill>
                  <a:srgbClr val="0B2A4A"/>
                </a:solidFill>
                <a:latin typeface="Calibri" pitchFamily="34" charset="0"/>
                <a:ea typeface="Calibri" pitchFamily="34" charset="-122"/>
                <a:cs typeface="Calibri" pitchFamily="34" charset="-120"/>
              </a:rPr>
              <a:t>Age</a:t>
            </a:r>
            <a:endParaRPr lang="en-US" sz="1100" dirty="0"/>
          </a:p>
        </p:txBody>
      </p:sp>
      <p:sp>
        <p:nvSpPr>
          <p:cNvPr id="19" name="Text 17"/>
          <p:cNvSpPr/>
          <p:nvPr/>
        </p:nvSpPr>
        <p:spPr>
          <a:xfrm>
            <a:off x="8211312" y="2148840"/>
            <a:ext cx="676656" cy="274320"/>
          </a:xfrm>
          <a:prstGeom prst="rect">
            <a:avLst/>
          </a:prstGeom>
          <a:noFill/>
          <a:ln/>
        </p:spPr>
        <p:txBody>
          <a:bodyPr wrap="square" rtlCol="0" anchor="ctr"/>
          <a:lstStyle/>
          <a:p>
            <a:pPr marL="0" indent="0" algn="ctr">
              <a:buNone/>
            </a:pPr>
            <a:r>
              <a:rPr lang="en-US" sz="1100" b="1" dirty="0">
                <a:solidFill>
                  <a:srgbClr val="0B2A4A"/>
                </a:solidFill>
                <a:latin typeface="Calibri" pitchFamily="34" charset="0"/>
                <a:ea typeface="Calibri" pitchFamily="34" charset="-122"/>
                <a:cs typeface="Calibri" pitchFamily="34" charset="-120"/>
              </a:rPr>
              <a:t>Weight</a:t>
            </a:r>
            <a:endParaRPr lang="en-US" sz="1100" dirty="0"/>
          </a:p>
        </p:txBody>
      </p:sp>
      <p:sp>
        <p:nvSpPr>
          <p:cNvPr id="20" name="Text 18"/>
          <p:cNvSpPr/>
          <p:nvPr/>
        </p:nvSpPr>
        <p:spPr>
          <a:xfrm>
            <a:off x="6035040" y="3776472"/>
            <a:ext cx="822960" cy="676656"/>
          </a:xfrm>
          <a:prstGeom prst="rect">
            <a:avLst/>
          </a:prstGeom>
          <a:noFill/>
          <a:ln/>
        </p:spPr>
        <p:txBody>
          <a:bodyPr wrap="square" rtlCol="0" anchor="ctr"/>
          <a:lstStyle/>
          <a:p>
            <a:pPr marL="0" indent="0">
              <a:buNone/>
            </a:pPr>
            <a:r>
              <a:rPr lang="en-US" sz="1100" b="1" dirty="0">
                <a:solidFill>
                  <a:srgbClr val="0B2A4A"/>
                </a:solidFill>
                <a:latin typeface="Calibri" pitchFamily="34" charset="0"/>
                <a:ea typeface="Calibri" pitchFamily="34" charset="-122"/>
                <a:cs typeface="Calibri" pitchFamily="34" charset="-120"/>
              </a:rPr>
              <a:t>Weight</a:t>
            </a:r>
            <a:endParaRPr lang="en-US" sz="1100" dirty="0"/>
          </a:p>
        </p:txBody>
      </p:sp>
      <p:sp>
        <p:nvSpPr>
          <p:cNvPr id="21" name="Text 19"/>
          <p:cNvSpPr/>
          <p:nvPr/>
        </p:nvSpPr>
        <p:spPr>
          <a:xfrm>
            <a:off x="8887968" y="2148840"/>
            <a:ext cx="676656" cy="274320"/>
          </a:xfrm>
          <a:prstGeom prst="rect">
            <a:avLst/>
          </a:prstGeom>
          <a:noFill/>
          <a:ln/>
        </p:spPr>
        <p:txBody>
          <a:bodyPr wrap="square" rtlCol="0" anchor="ctr"/>
          <a:lstStyle/>
          <a:p>
            <a:pPr marL="0" indent="0" algn="ctr">
              <a:buNone/>
            </a:pPr>
            <a:r>
              <a:rPr lang="en-US" sz="1100" b="1" dirty="0">
                <a:solidFill>
                  <a:srgbClr val="0B2A4A"/>
                </a:solidFill>
                <a:latin typeface="Calibri" pitchFamily="34" charset="0"/>
                <a:ea typeface="Calibri" pitchFamily="34" charset="-122"/>
                <a:cs typeface="Calibri" pitchFamily="34" charset="-120"/>
              </a:rPr>
              <a:t>BSA</a:t>
            </a:r>
            <a:endParaRPr lang="en-US" sz="1100" dirty="0"/>
          </a:p>
        </p:txBody>
      </p:sp>
      <p:sp>
        <p:nvSpPr>
          <p:cNvPr id="22" name="Text 20"/>
          <p:cNvSpPr/>
          <p:nvPr/>
        </p:nvSpPr>
        <p:spPr>
          <a:xfrm>
            <a:off x="6035040" y="4453128"/>
            <a:ext cx="822960" cy="676656"/>
          </a:xfrm>
          <a:prstGeom prst="rect">
            <a:avLst/>
          </a:prstGeom>
          <a:noFill/>
          <a:ln/>
        </p:spPr>
        <p:txBody>
          <a:bodyPr wrap="square" rtlCol="0" anchor="ctr"/>
          <a:lstStyle/>
          <a:p>
            <a:pPr marL="0" indent="0">
              <a:buNone/>
            </a:pPr>
            <a:r>
              <a:rPr lang="en-US" sz="1100" b="1" dirty="0">
                <a:solidFill>
                  <a:srgbClr val="0B2A4A"/>
                </a:solidFill>
                <a:latin typeface="Calibri" pitchFamily="34" charset="0"/>
                <a:ea typeface="Calibri" pitchFamily="34" charset="-122"/>
                <a:cs typeface="Calibri" pitchFamily="34" charset="-120"/>
              </a:rPr>
              <a:t>BSA</a:t>
            </a:r>
            <a:endParaRPr lang="en-US" sz="1100" dirty="0"/>
          </a:p>
        </p:txBody>
      </p:sp>
      <p:sp>
        <p:nvSpPr>
          <p:cNvPr id="23" name="Text 21"/>
          <p:cNvSpPr/>
          <p:nvPr/>
        </p:nvSpPr>
        <p:spPr>
          <a:xfrm>
            <a:off x="9564624" y="2148840"/>
            <a:ext cx="676656" cy="274320"/>
          </a:xfrm>
          <a:prstGeom prst="rect">
            <a:avLst/>
          </a:prstGeom>
          <a:noFill/>
          <a:ln/>
        </p:spPr>
        <p:txBody>
          <a:bodyPr wrap="square" rtlCol="0" anchor="ctr"/>
          <a:lstStyle/>
          <a:p>
            <a:pPr marL="0" indent="0" algn="ctr">
              <a:buNone/>
            </a:pPr>
            <a:r>
              <a:rPr lang="en-US" sz="1100" b="1" dirty="0">
                <a:solidFill>
                  <a:srgbClr val="0B2A4A"/>
                </a:solidFill>
                <a:latin typeface="Calibri" pitchFamily="34" charset="0"/>
                <a:ea typeface="Calibri" pitchFamily="34" charset="-122"/>
                <a:cs typeface="Calibri" pitchFamily="34" charset="-120"/>
              </a:rPr>
              <a:t>Pulse</a:t>
            </a:r>
            <a:endParaRPr lang="en-US" sz="1100" dirty="0"/>
          </a:p>
        </p:txBody>
      </p:sp>
      <p:sp>
        <p:nvSpPr>
          <p:cNvPr id="24" name="Text 22"/>
          <p:cNvSpPr/>
          <p:nvPr/>
        </p:nvSpPr>
        <p:spPr>
          <a:xfrm>
            <a:off x="6035040" y="5129784"/>
            <a:ext cx="822960" cy="676656"/>
          </a:xfrm>
          <a:prstGeom prst="rect">
            <a:avLst/>
          </a:prstGeom>
          <a:noFill/>
          <a:ln/>
        </p:spPr>
        <p:txBody>
          <a:bodyPr wrap="square" rtlCol="0" anchor="ctr"/>
          <a:lstStyle/>
          <a:p>
            <a:pPr marL="0" indent="0">
              <a:buNone/>
            </a:pPr>
            <a:r>
              <a:rPr lang="en-US" sz="1100" b="1" dirty="0">
                <a:solidFill>
                  <a:srgbClr val="0B2A4A"/>
                </a:solidFill>
                <a:latin typeface="Calibri" pitchFamily="34" charset="0"/>
                <a:ea typeface="Calibri" pitchFamily="34" charset="-122"/>
                <a:cs typeface="Calibri" pitchFamily="34" charset="-120"/>
              </a:rPr>
              <a:t>Pulse</a:t>
            </a:r>
            <a:endParaRPr lang="en-US" sz="1100" dirty="0"/>
          </a:p>
        </p:txBody>
      </p:sp>
      <p:sp>
        <p:nvSpPr>
          <p:cNvPr id="25" name="Shape 23"/>
          <p:cNvSpPr/>
          <p:nvPr/>
        </p:nvSpPr>
        <p:spPr>
          <a:xfrm>
            <a:off x="6858000" y="2423160"/>
            <a:ext cx="676656" cy="676656"/>
          </a:xfrm>
          <a:prstGeom prst="rect">
            <a:avLst/>
          </a:prstGeom>
          <a:solidFill>
            <a:srgbClr val="1C7293">
              <a:alpha val="25000"/>
            </a:srgbClr>
          </a:solidFill>
          <a:ln w="12700">
            <a:solidFill>
              <a:srgbClr val="FFFFFF"/>
            </a:solidFill>
            <a:prstDash val="solid"/>
          </a:ln>
        </p:spPr>
      </p:sp>
      <p:sp>
        <p:nvSpPr>
          <p:cNvPr id="26" name="Text 24"/>
          <p:cNvSpPr/>
          <p:nvPr/>
        </p:nvSpPr>
        <p:spPr>
          <a:xfrm>
            <a:off x="6858000" y="2423160"/>
            <a:ext cx="676656" cy="676656"/>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1.00</a:t>
            </a:r>
            <a:endParaRPr lang="en-US" sz="1050" dirty="0"/>
          </a:p>
        </p:txBody>
      </p:sp>
      <p:sp>
        <p:nvSpPr>
          <p:cNvPr id="27" name="Shape 25"/>
          <p:cNvSpPr/>
          <p:nvPr/>
        </p:nvSpPr>
        <p:spPr>
          <a:xfrm>
            <a:off x="7534656" y="2423160"/>
            <a:ext cx="676656" cy="676656"/>
          </a:xfrm>
          <a:prstGeom prst="rect">
            <a:avLst/>
          </a:prstGeom>
          <a:solidFill>
            <a:srgbClr val="1C7293">
              <a:alpha val="44000"/>
            </a:srgbClr>
          </a:solidFill>
          <a:ln w="12700">
            <a:solidFill>
              <a:srgbClr val="FFFFFF"/>
            </a:solidFill>
            <a:prstDash val="solid"/>
          </a:ln>
        </p:spPr>
      </p:sp>
      <p:sp>
        <p:nvSpPr>
          <p:cNvPr id="28" name="Text 26"/>
          <p:cNvSpPr/>
          <p:nvPr/>
        </p:nvSpPr>
        <p:spPr>
          <a:xfrm>
            <a:off x="7534656" y="2423160"/>
            <a:ext cx="676656" cy="676656"/>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0.66</a:t>
            </a:r>
            <a:endParaRPr lang="en-US" sz="1050" dirty="0"/>
          </a:p>
        </p:txBody>
      </p:sp>
      <p:sp>
        <p:nvSpPr>
          <p:cNvPr id="29" name="Shape 27"/>
          <p:cNvSpPr/>
          <p:nvPr/>
        </p:nvSpPr>
        <p:spPr>
          <a:xfrm>
            <a:off x="8211312" y="2423160"/>
            <a:ext cx="676656" cy="676656"/>
          </a:xfrm>
          <a:prstGeom prst="rect">
            <a:avLst/>
          </a:prstGeom>
          <a:solidFill>
            <a:srgbClr val="F2A93B">
              <a:alpha val="90000"/>
            </a:srgbClr>
          </a:solidFill>
          <a:ln w="12700">
            <a:solidFill>
              <a:srgbClr val="FFFFFF"/>
            </a:solidFill>
            <a:prstDash val="solid"/>
          </a:ln>
        </p:spPr>
      </p:sp>
      <p:sp>
        <p:nvSpPr>
          <p:cNvPr id="30" name="Text 28"/>
          <p:cNvSpPr/>
          <p:nvPr/>
        </p:nvSpPr>
        <p:spPr>
          <a:xfrm>
            <a:off x="8211312" y="2423160"/>
            <a:ext cx="676656" cy="676656"/>
          </a:xfrm>
          <a:prstGeom prst="rect">
            <a:avLst/>
          </a:prstGeom>
          <a:noFill/>
          <a:ln/>
        </p:spPr>
        <p:txBody>
          <a:bodyPr wrap="square" rtlCol="0" anchor="ctr"/>
          <a:lstStyle/>
          <a:p>
            <a:pPr marL="0" indent="0" algn="ctr">
              <a:buNone/>
            </a:pPr>
            <a:r>
              <a:rPr lang="en-US" sz="1050" b="1" dirty="0">
                <a:solidFill>
                  <a:srgbClr val="8A5A17"/>
                </a:solidFill>
                <a:latin typeface="Calibri" pitchFamily="34" charset="0"/>
                <a:ea typeface="Calibri" pitchFamily="34" charset="-122"/>
                <a:cs typeface="Calibri" pitchFamily="34" charset="-120"/>
              </a:rPr>
              <a:t>0.95</a:t>
            </a:r>
            <a:endParaRPr lang="en-US" sz="1050" dirty="0"/>
          </a:p>
        </p:txBody>
      </p:sp>
      <p:sp>
        <p:nvSpPr>
          <p:cNvPr id="31" name="Shape 29"/>
          <p:cNvSpPr/>
          <p:nvPr/>
        </p:nvSpPr>
        <p:spPr>
          <a:xfrm>
            <a:off x="8887968" y="2423160"/>
            <a:ext cx="676656" cy="676656"/>
          </a:xfrm>
          <a:prstGeom prst="rect">
            <a:avLst/>
          </a:prstGeom>
          <a:solidFill>
            <a:srgbClr val="F2A93B">
              <a:alpha val="76000"/>
            </a:srgbClr>
          </a:solidFill>
          <a:ln w="12700">
            <a:solidFill>
              <a:srgbClr val="FFFFFF"/>
            </a:solidFill>
            <a:prstDash val="solid"/>
          </a:ln>
        </p:spPr>
      </p:sp>
      <p:sp>
        <p:nvSpPr>
          <p:cNvPr id="32" name="Text 30"/>
          <p:cNvSpPr/>
          <p:nvPr/>
        </p:nvSpPr>
        <p:spPr>
          <a:xfrm>
            <a:off x="8887968" y="2423160"/>
            <a:ext cx="676656" cy="676656"/>
          </a:xfrm>
          <a:prstGeom prst="rect">
            <a:avLst/>
          </a:prstGeom>
          <a:noFill/>
          <a:ln/>
        </p:spPr>
        <p:txBody>
          <a:bodyPr wrap="square" rtlCol="0" anchor="ctr"/>
          <a:lstStyle/>
          <a:p>
            <a:pPr marL="0" indent="0" algn="ctr">
              <a:buNone/>
            </a:pPr>
            <a:r>
              <a:rPr lang="en-US" sz="1050" b="1" dirty="0">
                <a:solidFill>
                  <a:srgbClr val="8A5A17"/>
                </a:solidFill>
                <a:latin typeface="Calibri" pitchFamily="34" charset="0"/>
                <a:ea typeface="Calibri" pitchFamily="34" charset="-122"/>
                <a:cs typeface="Calibri" pitchFamily="34" charset="-120"/>
              </a:rPr>
              <a:t>0.87</a:t>
            </a:r>
            <a:endParaRPr lang="en-US" sz="1050" dirty="0"/>
          </a:p>
        </p:txBody>
      </p:sp>
      <p:sp>
        <p:nvSpPr>
          <p:cNvPr id="33" name="Shape 31"/>
          <p:cNvSpPr/>
          <p:nvPr/>
        </p:nvSpPr>
        <p:spPr>
          <a:xfrm>
            <a:off x="9564624" y="2423160"/>
            <a:ext cx="676656" cy="676656"/>
          </a:xfrm>
          <a:prstGeom prst="rect">
            <a:avLst/>
          </a:prstGeom>
          <a:solidFill>
            <a:srgbClr val="1C7293">
              <a:alpha val="26000"/>
            </a:srgbClr>
          </a:solidFill>
          <a:ln w="12700">
            <a:solidFill>
              <a:srgbClr val="FFFFFF"/>
            </a:solidFill>
            <a:prstDash val="solid"/>
          </a:ln>
        </p:spPr>
      </p:sp>
      <p:sp>
        <p:nvSpPr>
          <p:cNvPr id="34" name="Text 32"/>
          <p:cNvSpPr/>
          <p:nvPr/>
        </p:nvSpPr>
        <p:spPr>
          <a:xfrm>
            <a:off x="9564624" y="2423160"/>
            <a:ext cx="676656" cy="676656"/>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0.51</a:t>
            </a:r>
            <a:endParaRPr lang="en-US" sz="1050" dirty="0"/>
          </a:p>
        </p:txBody>
      </p:sp>
      <p:sp>
        <p:nvSpPr>
          <p:cNvPr id="35" name="Shape 33"/>
          <p:cNvSpPr/>
          <p:nvPr/>
        </p:nvSpPr>
        <p:spPr>
          <a:xfrm>
            <a:off x="6858000" y="3099816"/>
            <a:ext cx="676656" cy="676656"/>
          </a:xfrm>
          <a:prstGeom prst="rect">
            <a:avLst/>
          </a:prstGeom>
          <a:solidFill>
            <a:srgbClr val="1C7293">
              <a:alpha val="44000"/>
            </a:srgbClr>
          </a:solidFill>
          <a:ln w="12700">
            <a:solidFill>
              <a:srgbClr val="FFFFFF"/>
            </a:solidFill>
            <a:prstDash val="solid"/>
          </a:ln>
        </p:spPr>
      </p:sp>
      <p:sp>
        <p:nvSpPr>
          <p:cNvPr id="36" name="Text 34"/>
          <p:cNvSpPr/>
          <p:nvPr/>
        </p:nvSpPr>
        <p:spPr>
          <a:xfrm>
            <a:off x="6858000" y="3099816"/>
            <a:ext cx="676656" cy="676656"/>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0.66</a:t>
            </a:r>
            <a:endParaRPr lang="en-US" sz="1050" dirty="0"/>
          </a:p>
        </p:txBody>
      </p:sp>
      <p:sp>
        <p:nvSpPr>
          <p:cNvPr id="37" name="Shape 35"/>
          <p:cNvSpPr/>
          <p:nvPr/>
        </p:nvSpPr>
        <p:spPr>
          <a:xfrm>
            <a:off x="7534656" y="3099816"/>
            <a:ext cx="676656" cy="676656"/>
          </a:xfrm>
          <a:prstGeom prst="rect">
            <a:avLst/>
          </a:prstGeom>
          <a:solidFill>
            <a:srgbClr val="1C7293">
              <a:alpha val="25000"/>
            </a:srgbClr>
          </a:solidFill>
          <a:ln w="12700">
            <a:solidFill>
              <a:srgbClr val="FFFFFF"/>
            </a:solidFill>
            <a:prstDash val="solid"/>
          </a:ln>
        </p:spPr>
      </p:sp>
      <p:sp>
        <p:nvSpPr>
          <p:cNvPr id="38" name="Text 36"/>
          <p:cNvSpPr/>
          <p:nvPr/>
        </p:nvSpPr>
        <p:spPr>
          <a:xfrm>
            <a:off x="7534656" y="3099816"/>
            <a:ext cx="676656" cy="676656"/>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1.00</a:t>
            </a:r>
            <a:endParaRPr lang="en-US" sz="1050" dirty="0"/>
          </a:p>
        </p:txBody>
      </p:sp>
      <p:sp>
        <p:nvSpPr>
          <p:cNvPr id="39" name="Shape 37"/>
          <p:cNvSpPr/>
          <p:nvPr/>
        </p:nvSpPr>
        <p:spPr>
          <a:xfrm>
            <a:off x="8211312" y="3099816"/>
            <a:ext cx="676656" cy="676656"/>
          </a:xfrm>
          <a:prstGeom prst="rect">
            <a:avLst/>
          </a:prstGeom>
          <a:solidFill>
            <a:srgbClr val="1C7293">
              <a:alpha val="17000"/>
            </a:srgbClr>
          </a:solidFill>
          <a:ln w="12700">
            <a:solidFill>
              <a:srgbClr val="FFFFFF"/>
            </a:solidFill>
            <a:prstDash val="solid"/>
          </a:ln>
        </p:spPr>
      </p:sp>
      <p:sp>
        <p:nvSpPr>
          <p:cNvPr id="40" name="Text 38"/>
          <p:cNvSpPr/>
          <p:nvPr/>
        </p:nvSpPr>
        <p:spPr>
          <a:xfrm>
            <a:off x="8211312" y="3099816"/>
            <a:ext cx="676656" cy="676656"/>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0.41</a:t>
            </a:r>
            <a:endParaRPr lang="en-US" sz="1050" dirty="0"/>
          </a:p>
        </p:txBody>
      </p:sp>
      <p:sp>
        <p:nvSpPr>
          <p:cNvPr id="41" name="Shape 39"/>
          <p:cNvSpPr/>
          <p:nvPr/>
        </p:nvSpPr>
        <p:spPr>
          <a:xfrm>
            <a:off x="8887968" y="3099816"/>
            <a:ext cx="676656" cy="676656"/>
          </a:xfrm>
          <a:prstGeom prst="rect">
            <a:avLst/>
          </a:prstGeom>
          <a:solidFill>
            <a:srgbClr val="1C7293">
              <a:alpha val="14000"/>
            </a:srgbClr>
          </a:solidFill>
          <a:ln w="12700">
            <a:solidFill>
              <a:srgbClr val="FFFFFF"/>
            </a:solidFill>
            <a:prstDash val="solid"/>
          </a:ln>
        </p:spPr>
      </p:sp>
      <p:sp>
        <p:nvSpPr>
          <p:cNvPr id="42" name="Text 40"/>
          <p:cNvSpPr/>
          <p:nvPr/>
        </p:nvSpPr>
        <p:spPr>
          <a:xfrm>
            <a:off x="8887968" y="3099816"/>
            <a:ext cx="676656" cy="676656"/>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0.38</a:t>
            </a:r>
            <a:endParaRPr lang="en-US" sz="1050" dirty="0"/>
          </a:p>
        </p:txBody>
      </p:sp>
      <p:sp>
        <p:nvSpPr>
          <p:cNvPr id="43" name="Shape 41"/>
          <p:cNvSpPr/>
          <p:nvPr/>
        </p:nvSpPr>
        <p:spPr>
          <a:xfrm>
            <a:off x="9564624" y="3099816"/>
            <a:ext cx="676656" cy="676656"/>
          </a:xfrm>
          <a:prstGeom prst="rect">
            <a:avLst/>
          </a:prstGeom>
          <a:solidFill>
            <a:srgbClr val="1C7293">
              <a:alpha val="38000"/>
            </a:srgbClr>
          </a:solidFill>
          <a:ln w="12700">
            <a:solidFill>
              <a:srgbClr val="FFFFFF"/>
            </a:solidFill>
            <a:prstDash val="solid"/>
          </a:ln>
        </p:spPr>
      </p:sp>
      <p:sp>
        <p:nvSpPr>
          <p:cNvPr id="44" name="Text 42"/>
          <p:cNvSpPr/>
          <p:nvPr/>
        </p:nvSpPr>
        <p:spPr>
          <a:xfrm>
            <a:off x="9564624" y="3099816"/>
            <a:ext cx="676656" cy="676656"/>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0.62</a:t>
            </a:r>
            <a:endParaRPr lang="en-US" sz="1050" dirty="0"/>
          </a:p>
        </p:txBody>
      </p:sp>
      <p:sp>
        <p:nvSpPr>
          <p:cNvPr id="45" name="Shape 43"/>
          <p:cNvSpPr/>
          <p:nvPr/>
        </p:nvSpPr>
        <p:spPr>
          <a:xfrm>
            <a:off x="6858000" y="3776472"/>
            <a:ext cx="676656" cy="676656"/>
          </a:xfrm>
          <a:prstGeom prst="rect">
            <a:avLst/>
          </a:prstGeom>
          <a:solidFill>
            <a:srgbClr val="F2A93B">
              <a:alpha val="90000"/>
            </a:srgbClr>
          </a:solidFill>
          <a:ln w="12700">
            <a:solidFill>
              <a:srgbClr val="FFFFFF"/>
            </a:solidFill>
            <a:prstDash val="solid"/>
          </a:ln>
        </p:spPr>
      </p:sp>
      <p:sp>
        <p:nvSpPr>
          <p:cNvPr id="46" name="Text 44"/>
          <p:cNvSpPr/>
          <p:nvPr/>
        </p:nvSpPr>
        <p:spPr>
          <a:xfrm>
            <a:off x="6858000" y="3776472"/>
            <a:ext cx="676656" cy="676656"/>
          </a:xfrm>
          <a:prstGeom prst="rect">
            <a:avLst/>
          </a:prstGeom>
          <a:noFill/>
          <a:ln/>
        </p:spPr>
        <p:txBody>
          <a:bodyPr wrap="square" rtlCol="0" anchor="ctr"/>
          <a:lstStyle/>
          <a:p>
            <a:pPr marL="0" indent="0" algn="ctr">
              <a:buNone/>
            </a:pPr>
            <a:r>
              <a:rPr lang="en-US" sz="1050" b="1" dirty="0">
                <a:solidFill>
                  <a:srgbClr val="8A5A17"/>
                </a:solidFill>
                <a:latin typeface="Calibri" pitchFamily="34" charset="0"/>
                <a:ea typeface="Calibri" pitchFamily="34" charset="-122"/>
                <a:cs typeface="Calibri" pitchFamily="34" charset="-120"/>
              </a:rPr>
              <a:t>0.95</a:t>
            </a:r>
            <a:endParaRPr lang="en-US" sz="1050" dirty="0"/>
          </a:p>
        </p:txBody>
      </p:sp>
      <p:sp>
        <p:nvSpPr>
          <p:cNvPr id="47" name="Shape 45"/>
          <p:cNvSpPr/>
          <p:nvPr/>
        </p:nvSpPr>
        <p:spPr>
          <a:xfrm>
            <a:off x="7534656" y="3776472"/>
            <a:ext cx="676656" cy="676656"/>
          </a:xfrm>
          <a:prstGeom prst="rect">
            <a:avLst/>
          </a:prstGeom>
          <a:solidFill>
            <a:srgbClr val="1C7293">
              <a:alpha val="17000"/>
            </a:srgbClr>
          </a:solidFill>
          <a:ln w="12700">
            <a:solidFill>
              <a:srgbClr val="FFFFFF"/>
            </a:solidFill>
            <a:prstDash val="solid"/>
          </a:ln>
        </p:spPr>
      </p:sp>
      <p:sp>
        <p:nvSpPr>
          <p:cNvPr id="48" name="Text 46"/>
          <p:cNvSpPr/>
          <p:nvPr/>
        </p:nvSpPr>
        <p:spPr>
          <a:xfrm>
            <a:off x="7534656" y="3776472"/>
            <a:ext cx="676656" cy="676656"/>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0.41</a:t>
            </a:r>
            <a:endParaRPr lang="en-US" sz="1050" dirty="0"/>
          </a:p>
        </p:txBody>
      </p:sp>
      <p:sp>
        <p:nvSpPr>
          <p:cNvPr id="49" name="Shape 47"/>
          <p:cNvSpPr/>
          <p:nvPr/>
        </p:nvSpPr>
        <p:spPr>
          <a:xfrm>
            <a:off x="8211312" y="3776472"/>
            <a:ext cx="676656" cy="676656"/>
          </a:xfrm>
          <a:prstGeom prst="rect">
            <a:avLst/>
          </a:prstGeom>
          <a:solidFill>
            <a:srgbClr val="1C7293">
              <a:alpha val="25000"/>
            </a:srgbClr>
          </a:solidFill>
          <a:ln w="12700">
            <a:solidFill>
              <a:srgbClr val="FFFFFF"/>
            </a:solidFill>
            <a:prstDash val="solid"/>
          </a:ln>
        </p:spPr>
      </p:sp>
      <p:sp>
        <p:nvSpPr>
          <p:cNvPr id="50" name="Text 48"/>
          <p:cNvSpPr/>
          <p:nvPr/>
        </p:nvSpPr>
        <p:spPr>
          <a:xfrm>
            <a:off x="8211312" y="3776472"/>
            <a:ext cx="676656" cy="676656"/>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1.00</a:t>
            </a:r>
            <a:endParaRPr lang="en-US" sz="1050" dirty="0"/>
          </a:p>
        </p:txBody>
      </p:sp>
      <p:sp>
        <p:nvSpPr>
          <p:cNvPr id="51" name="Shape 49"/>
          <p:cNvSpPr/>
          <p:nvPr/>
        </p:nvSpPr>
        <p:spPr>
          <a:xfrm>
            <a:off x="8887968" y="3776472"/>
            <a:ext cx="676656" cy="676656"/>
          </a:xfrm>
          <a:prstGeom prst="rect">
            <a:avLst/>
          </a:prstGeom>
          <a:solidFill>
            <a:srgbClr val="F2A93B">
              <a:alpha val="77000"/>
            </a:srgbClr>
          </a:solidFill>
          <a:ln w="12700">
            <a:solidFill>
              <a:srgbClr val="FFFFFF"/>
            </a:solidFill>
            <a:prstDash val="solid"/>
          </a:ln>
        </p:spPr>
      </p:sp>
      <p:sp>
        <p:nvSpPr>
          <p:cNvPr id="52" name="Text 50"/>
          <p:cNvSpPr/>
          <p:nvPr/>
        </p:nvSpPr>
        <p:spPr>
          <a:xfrm>
            <a:off x="8887968" y="3776472"/>
            <a:ext cx="676656" cy="676656"/>
          </a:xfrm>
          <a:prstGeom prst="rect">
            <a:avLst/>
          </a:prstGeom>
          <a:noFill/>
          <a:ln/>
        </p:spPr>
        <p:txBody>
          <a:bodyPr wrap="square" rtlCol="0" anchor="ctr"/>
          <a:lstStyle/>
          <a:p>
            <a:pPr marL="0" indent="0" algn="ctr">
              <a:buNone/>
            </a:pPr>
            <a:r>
              <a:rPr lang="en-US" sz="1050" b="1" dirty="0">
                <a:solidFill>
                  <a:srgbClr val="8A5A17"/>
                </a:solidFill>
                <a:latin typeface="Calibri" pitchFamily="34" charset="0"/>
                <a:ea typeface="Calibri" pitchFamily="34" charset="-122"/>
                <a:cs typeface="Calibri" pitchFamily="34" charset="-120"/>
              </a:rPr>
              <a:t>0.88</a:t>
            </a:r>
            <a:endParaRPr lang="en-US" sz="1050" dirty="0"/>
          </a:p>
        </p:txBody>
      </p:sp>
      <p:sp>
        <p:nvSpPr>
          <p:cNvPr id="53" name="Shape 51"/>
          <p:cNvSpPr/>
          <p:nvPr/>
        </p:nvSpPr>
        <p:spPr>
          <a:xfrm>
            <a:off x="9564624" y="3776472"/>
            <a:ext cx="676656" cy="676656"/>
          </a:xfrm>
          <a:prstGeom prst="rect">
            <a:avLst/>
          </a:prstGeom>
          <a:solidFill>
            <a:srgbClr val="1C7293">
              <a:alpha val="44000"/>
            </a:srgbClr>
          </a:solidFill>
          <a:ln w="12700">
            <a:solidFill>
              <a:srgbClr val="FFFFFF"/>
            </a:solidFill>
            <a:prstDash val="solid"/>
          </a:ln>
        </p:spPr>
      </p:sp>
      <p:sp>
        <p:nvSpPr>
          <p:cNvPr id="54" name="Text 52"/>
          <p:cNvSpPr/>
          <p:nvPr/>
        </p:nvSpPr>
        <p:spPr>
          <a:xfrm>
            <a:off x="9564624" y="3776472"/>
            <a:ext cx="676656" cy="676656"/>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0.66</a:t>
            </a:r>
            <a:endParaRPr lang="en-US" sz="1050" dirty="0"/>
          </a:p>
        </p:txBody>
      </p:sp>
      <p:sp>
        <p:nvSpPr>
          <p:cNvPr id="55" name="Shape 53"/>
          <p:cNvSpPr/>
          <p:nvPr/>
        </p:nvSpPr>
        <p:spPr>
          <a:xfrm>
            <a:off x="6858000" y="4453128"/>
            <a:ext cx="676656" cy="676656"/>
          </a:xfrm>
          <a:prstGeom prst="rect">
            <a:avLst/>
          </a:prstGeom>
          <a:solidFill>
            <a:srgbClr val="F2A93B">
              <a:alpha val="76000"/>
            </a:srgbClr>
          </a:solidFill>
          <a:ln w="12700">
            <a:solidFill>
              <a:srgbClr val="FFFFFF"/>
            </a:solidFill>
            <a:prstDash val="solid"/>
          </a:ln>
        </p:spPr>
      </p:sp>
      <p:sp>
        <p:nvSpPr>
          <p:cNvPr id="56" name="Text 54"/>
          <p:cNvSpPr/>
          <p:nvPr/>
        </p:nvSpPr>
        <p:spPr>
          <a:xfrm>
            <a:off x="6858000" y="4453128"/>
            <a:ext cx="676656" cy="676656"/>
          </a:xfrm>
          <a:prstGeom prst="rect">
            <a:avLst/>
          </a:prstGeom>
          <a:noFill/>
          <a:ln/>
        </p:spPr>
        <p:txBody>
          <a:bodyPr wrap="square" rtlCol="0" anchor="ctr"/>
          <a:lstStyle/>
          <a:p>
            <a:pPr marL="0" indent="0" algn="ctr">
              <a:buNone/>
            </a:pPr>
            <a:r>
              <a:rPr lang="en-US" sz="1050" b="1" dirty="0">
                <a:solidFill>
                  <a:srgbClr val="8A5A17"/>
                </a:solidFill>
                <a:latin typeface="Calibri" pitchFamily="34" charset="0"/>
                <a:ea typeface="Calibri" pitchFamily="34" charset="-122"/>
                <a:cs typeface="Calibri" pitchFamily="34" charset="-120"/>
              </a:rPr>
              <a:t>0.87</a:t>
            </a:r>
            <a:endParaRPr lang="en-US" sz="1050" dirty="0"/>
          </a:p>
        </p:txBody>
      </p:sp>
      <p:sp>
        <p:nvSpPr>
          <p:cNvPr id="57" name="Shape 55"/>
          <p:cNvSpPr/>
          <p:nvPr/>
        </p:nvSpPr>
        <p:spPr>
          <a:xfrm>
            <a:off x="7534656" y="4453128"/>
            <a:ext cx="676656" cy="676656"/>
          </a:xfrm>
          <a:prstGeom prst="rect">
            <a:avLst/>
          </a:prstGeom>
          <a:solidFill>
            <a:srgbClr val="1C7293">
              <a:alpha val="14000"/>
            </a:srgbClr>
          </a:solidFill>
          <a:ln w="12700">
            <a:solidFill>
              <a:srgbClr val="FFFFFF"/>
            </a:solidFill>
            <a:prstDash val="solid"/>
          </a:ln>
        </p:spPr>
      </p:sp>
      <p:sp>
        <p:nvSpPr>
          <p:cNvPr id="58" name="Text 56"/>
          <p:cNvSpPr/>
          <p:nvPr/>
        </p:nvSpPr>
        <p:spPr>
          <a:xfrm>
            <a:off x="7534656" y="4453128"/>
            <a:ext cx="676656" cy="676656"/>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0.38</a:t>
            </a:r>
            <a:endParaRPr lang="en-US" sz="1050" dirty="0"/>
          </a:p>
        </p:txBody>
      </p:sp>
      <p:sp>
        <p:nvSpPr>
          <p:cNvPr id="59" name="Shape 57"/>
          <p:cNvSpPr/>
          <p:nvPr/>
        </p:nvSpPr>
        <p:spPr>
          <a:xfrm>
            <a:off x="8211312" y="4453128"/>
            <a:ext cx="676656" cy="676656"/>
          </a:xfrm>
          <a:prstGeom prst="rect">
            <a:avLst/>
          </a:prstGeom>
          <a:solidFill>
            <a:srgbClr val="F2A93B">
              <a:alpha val="77000"/>
            </a:srgbClr>
          </a:solidFill>
          <a:ln w="12700">
            <a:solidFill>
              <a:srgbClr val="FFFFFF"/>
            </a:solidFill>
            <a:prstDash val="solid"/>
          </a:ln>
        </p:spPr>
      </p:sp>
      <p:sp>
        <p:nvSpPr>
          <p:cNvPr id="60" name="Text 58"/>
          <p:cNvSpPr/>
          <p:nvPr/>
        </p:nvSpPr>
        <p:spPr>
          <a:xfrm>
            <a:off x="8211312" y="4453128"/>
            <a:ext cx="676656" cy="676656"/>
          </a:xfrm>
          <a:prstGeom prst="rect">
            <a:avLst/>
          </a:prstGeom>
          <a:noFill/>
          <a:ln/>
        </p:spPr>
        <p:txBody>
          <a:bodyPr wrap="square" rtlCol="0" anchor="ctr"/>
          <a:lstStyle/>
          <a:p>
            <a:pPr marL="0" indent="0" algn="ctr">
              <a:buNone/>
            </a:pPr>
            <a:r>
              <a:rPr lang="en-US" sz="1050" b="1" dirty="0">
                <a:solidFill>
                  <a:srgbClr val="8A5A17"/>
                </a:solidFill>
                <a:latin typeface="Calibri" pitchFamily="34" charset="0"/>
                <a:ea typeface="Calibri" pitchFamily="34" charset="-122"/>
                <a:cs typeface="Calibri" pitchFamily="34" charset="-120"/>
              </a:rPr>
              <a:t>0.88</a:t>
            </a:r>
            <a:endParaRPr lang="en-US" sz="1050" dirty="0"/>
          </a:p>
        </p:txBody>
      </p:sp>
      <p:sp>
        <p:nvSpPr>
          <p:cNvPr id="61" name="Shape 59"/>
          <p:cNvSpPr/>
          <p:nvPr/>
        </p:nvSpPr>
        <p:spPr>
          <a:xfrm>
            <a:off x="8887968" y="4453128"/>
            <a:ext cx="676656" cy="676656"/>
          </a:xfrm>
          <a:prstGeom prst="rect">
            <a:avLst/>
          </a:prstGeom>
          <a:solidFill>
            <a:srgbClr val="1C7293">
              <a:alpha val="25000"/>
            </a:srgbClr>
          </a:solidFill>
          <a:ln w="12700">
            <a:solidFill>
              <a:srgbClr val="FFFFFF"/>
            </a:solidFill>
            <a:prstDash val="solid"/>
          </a:ln>
        </p:spPr>
      </p:sp>
      <p:sp>
        <p:nvSpPr>
          <p:cNvPr id="62" name="Text 60"/>
          <p:cNvSpPr/>
          <p:nvPr/>
        </p:nvSpPr>
        <p:spPr>
          <a:xfrm>
            <a:off x="8887968" y="4453128"/>
            <a:ext cx="676656" cy="676656"/>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1.00</a:t>
            </a:r>
            <a:endParaRPr lang="en-US" sz="1050" dirty="0"/>
          </a:p>
        </p:txBody>
      </p:sp>
      <p:sp>
        <p:nvSpPr>
          <p:cNvPr id="63" name="Shape 61"/>
          <p:cNvSpPr/>
          <p:nvPr/>
        </p:nvSpPr>
        <p:spPr>
          <a:xfrm>
            <a:off x="9564624" y="4453128"/>
            <a:ext cx="676656" cy="676656"/>
          </a:xfrm>
          <a:prstGeom prst="rect">
            <a:avLst/>
          </a:prstGeom>
          <a:solidFill>
            <a:srgbClr val="1C7293">
              <a:alpha val="22000"/>
            </a:srgbClr>
          </a:solidFill>
          <a:ln w="12700">
            <a:solidFill>
              <a:srgbClr val="FFFFFF"/>
            </a:solidFill>
            <a:prstDash val="solid"/>
          </a:ln>
        </p:spPr>
      </p:sp>
      <p:sp>
        <p:nvSpPr>
          <p:cNvPr id="64" name="Text 62"/>
          <p:cNvSpPr/>
          <p:nvPr/>
        </p:nvSpPr>
        <p:spPr>
          <a:xfrm>
            <a:off x="9564624" y="4453128"/>
            <a:ext cx="676656" cy="676656"/>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0.47</a:t>
            </a:r>
            <a:endParaRPr lang="en-US" sz="1050" dirty="0"/>
          </a:p>
        </p:txBody>
      </p:sp>
      <p:sp>
        <p:nvSpPr>
          <p:cNvPr id="65" name="Shape 63"/>
          <p:cNvSpPr/>
          <p:nvPr/>
        </p:nvSpPr>
        <p:spPr>
          <a:xfrm>
            <a:off x="6858000" y="5129784"/>
            <a:ext cx="676656" cy="676656"/>
          </a:xfrm>
          <a:prstGeom prst="rect">
            <a:avLst/>
          </a:prstGeom>
          <a:solidFill>
            <a:srgbClr val="1C7293">
              <a:alpha val="26000"/>
            </a:srgbClr>
          </a:solidFill>
          <a:ln w="12700">
            <a:solidFill>
              <a:srgbClr val="FFFFFF"/>
            </a:solidFill>
            <a:prstDash val="solid"/>
          </a:ln>
        </p:spPr>
      </p:sp>
      <p:sp>
        <p:nvSpPr>
          <p:cNvPr id="66" name="Text 64"/>
          <p:cNvSpPr/>
          <p:nvPr/>
        </p:nvSpPr>
        <p:spPr>
          <a:xfrm>
            <a:off x="6858000" y="5129784"/>
            <a:ext cx="676656" cy="676656"/>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0.51</a:t>
            </a:r>
            <a:endParaRPr lang="en-US" sz="1050" dirty="0"/>
          </a:p>
        </p:txBody>
      </p:sp>
      <p:sp>
        <p:nvSpPr>
          <p:cNvPr id="67" name="Shape 65"/>
          <p:cNvSpPr/>
          <p:nvPr/>
        </p:nvSpPr>
        <p:spPr>
          <a:xfrm>
            <a:off x="7534656" y="5129784"/>
            <a:ext cx="676656" cy="676656"/>
          </a:xfrm>
          <a:prstGeom prst="rect">
            <a:avLst/>
          </a:prstGeom>
          <a:solidFill>
            <a:srgbClr val="1C7293">
              <a:alpha val="38000"/>
            </a:srgbClr>
          </a:solidFill>
          <a:ln w="12700">
            <a:solidFill>
              <a:srgbClr val="FFFFFF"/>
            </a:solidFill>
            <a:prstDash val="solid"/>
          </a:ln>
        </p:spPr>
      </p:sp>
      <p:sp>
        <p:nvSpPr>
          <p:cNvPr id="68" name="Text 66"/>
          <p:cNvSpPr/>
          <p:nvPr/>
        </p:nvSpPr>
        <p:spPr>
          <a:xfrm>
            <a:off x="7534656" y="5129784"/>
            <a:ext cx="676656" cy="676656"/>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0.62</a:t>
            </a:r>
            <a:endParaRPr lang="en-US" sz="1050" dirty="0"/>
          </a:p>
        </p:txBody>
      </p:sp>
      <p:sp>
        <p:nvSpPr>
          <p:cNvPr id="69" name="Shape 67"/>
          <p:cNvSpPr/>
          <p:nvPr/>
        </p:nvSpPr>
        <p:spPr>
          <a:xfrm>
            <a:off x="8211312" y="5129784"/>
            <a:ext cx="676656" cy="676656"/>
          </a:xfrm>
          <a:prstGeom prst="rect">
            <a:avLst/>
          </a:prstGeom>
          <a:solidFill>
            <a:srgbClr val="1C7293">
              <a:alpha val="44000"/>
            </a:srgbClr>
          </a:solidFill>
          <a:ln w="12700">
            <a:solidFill>
              <a:srgbClr val="FFFFFF"/>
            </a:solidFill>
            <a:prstDash val="solid"/>
          </a:ln>
        </p:spPr>
      </p:sp>
      <p:sp>
        <p:nvSpPr>
          <p:cNvPr id="70" name="Text 68"/>
          <p:cNvSpPr/>
          <p:nvPr/>
        </p:nvSpPr>
        <p:spPr>
          <a:xfrm>
            <a:off x="8211312" y="5129784"/>
            <a:ext cx="676656" cy="676656"/>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0.66</a:t>
            </a:r>
            <a:endParaRPr lang="en-US" sz="1050" dirty="0"/>
          </a:p>
        </p:txBody>
      </p:sp>
      <p:sp>
        <p:nvSpPr>
          <p:cNvPr id="71" name="Shape 69"/>
          <p:cNvSpPr/>
          <p:nvPr/>
        </p:nvSpPr>
        <p:spPr>
          <a:xfrm>
            <a:off x="8887968" y="5129784"/>
            <a:ext cx="676656" cy="676656"/>
          </a:xfrm>
          <a:prstGeom prst="rect">
            <a:avLst/>
          </a:prstGeom>
          <a:solidFill>
            <a:srgbClr val="1C7293">
              <a:alpha val="22000"/>
            </a:srgbClr>
          </a:solidFill>
          <a:ln w="12700">
            <a:solidFill>
              <a:srgbClr val="FFFFFF"/>
            </a:solidFill>
            <a:prstDash val="solid"/>
          </a:ln>
        </p:spPr>
      </p:sp>
      <p:sp>
        <p:nvSpPr>
          <p:cNvPr id="72" name="Text 70"/>
          <p:cNvSpPr/>
          <p:nvPr/>
        </p:nvSpPr>
        <p:spPr>
          <a:xfrm>
            <a:off x="8887968" y="5129784"/>
            <a:ext cx="676656" cy="676656"/>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0.47</a:t>
            </a:r>
            <a:endParaRPr lang="en-US" sz="1050" dirty="0"/>
          </a:p>
        </p:txBody>
      </p:sp>
      <p:sp>
        <p:nvSpPr>
          <p:cNvPr id="73" name="Shape 71"/>
          <p:cNvSpPr/>
          <p:nvPr/>
        </p:nvSpPr>
        <p:spPr>
          <a:xfrm>
            <a:off x="9564624" y="5129784"/>
            <a:ext cx="676656" cy="676656"/>
          </a:xfrm>
          <a:prstGeom prst="rect">
            <a:avLst/>
          </a:prstGeom>
          <a:solidFill>
            <a:srgbClr val="1C7293">
              <a:alpha val="25000"/>
            </a:srgbClr>
          </a:solidFill>
          <a:ln w="12700">
            <a:solidFill>
              <a:srgbClr val="FFFFFF"/>
            </a:solidFill>
            <a:prstDash val="solid"/>
          </a:ln>
        </p:spPr>
      </p:sp>
      <p:sp>
        <p:nvSpPr>
          <p:cNvPr id="74" name="Text 72"/>
          <p:cNvSpPr/>
          <p:nvPr/>
        </p:nvSpPr>
        <p:spPr>
          <a:xfrm>
            <a:off x="9564624" y="5129784"/>
            <a:ext cx="676656" cy="676656"/>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1.00</a:t>
            </a:r>
            <a:endParaRPr lang="en-US" sz="1050" dirty="0"/>
          </a:p>
        </p:txBody>
      </p:sp>
      <p:sp>
        <p:nvSpPr>
          <p:cNvPr id="75" name="Text 73"/>
          <p:cNvSpPr/>
          <p:nvPr/>
        </p:nvSpPr>
        <p:spPr>
          <a:xfrm>
            <a:off x="457200" y="6537960"/>
            <a:ext cx="5486400" cy="274320"/>
          </a:xfrm>
          <a:prstGeom prst="rect">
            <a:avLst/>
          </a:prstGeom>
          <a:noFill/>
          <a:ln/>
        </p:spPr>
        <p:txBody>
          <a:bodyPr wrap="square" rtlCol="0" anchor="ctr"/>
          <a:lstStyle/>
          <a:p>
            <a:pPr marL="0" indent="0">
              <a:buNone/>
            </a:pPr>
            <a:r>
              <a:rPr lang="en-US" sz="1050" i="1" dirty="0">
                <a:solidFill>
                  <a:srgbClr val="5C6B73"/>
                </a:solidFill>
                <a:latin typeface="Calibri" pitchFamily="34" charset="0"/>
                <a:ea typeface="Calibri" pitchFamily="34" charset="-122"/>
                <a:cs typeface="Calibri" pitchFamily="34" charset="-120"/>
              </a:rPr>
              <a:t>Multiple Linear Regression</a:t>
            </a:r>
            <a:endParaRPr lang="en-US" sz="1050" dirty="0"/>
          </a:p>
        </p:txBody>
      </p:sp>
      <p:sp>
        <p:nvSpPr>
          <p:cNvPr id="76" name="Text 7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17</a:t>
            </a:r>
            <a:endParaRPr lang="en-US" sz="9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5346" y="754358"/>
            <a:ext cx="9313366" cy="4931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334698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18">
    <p:bg>
      <p:bgPr>
        <a:solidFill>
          <a:srgbClr val="0B2A4A"/>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365760"/>
          </a:xfrm>
          <a:prstGeom prst="roundRect">
            <a:avLst>
              <a:gd name="adj" fmla="val 20000"/>
            </a:avLst>
          </a:prstGeom>
          <a:solidFill>
            <a:srgbClr val="13416B"/>
          </a:solidFill>
          <a:ln/>
        </p:spPr>
      </p:sp>
      <p:sp>
        <p:nvSpPr>
          <p:cNvPr id="3" name="Text 1"/>
          <p:cNvSpPr/>
          <p:nvPr/>
        </p:nvSpPr>
        <p:spPr>
          <a:xfrm>
            <a:off x="457200" y="411480"/>
            <a:ext cx="2103120" cy="365760"/>
          </a:xfrm>
          <a:prstGeom prst="rect">
            <a:avLst/>
          </a:prstGeom>
          <a:noFill/>
          <a:ln/>
        </p:spPr>
        <p:txBody>
          <a:bodyPr wrap="square" rtlCol="0" anchor="ctr"/>
          <a:lstStyle/>
          <a:p>
            <a:pPr marL="0" indent="0" algn="ctr">
              <a:buNone/>
            </a:pPr>
            <a:r>
              <a:rPr lang="en-US" sz="1100" b="1" kern="0" spc="100" dirty="0">
                <a:solidFill>
                  <a:srgbClr val="F2A93B"/>
                </a:solidFill>
                <a:latin typeface="Calibri" pitchFamily="34" charset="0"/>
                <a:ea typeface="Calibri" pitchFamily="34" charset="-122"/>
                <a:cs typeface="Calibri" pitchFamily="34" charset="-120"/>
              </a:rPr>
              <a:t>PART 2 · DETECTION</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Detecting Multicollinearity: Variance Inflation Factor</a:t>
            </a:r>
            <a:endParaRPr lang="en-US" sz="3000" dirty="0"/>
          </a:p>
        </p:txBody>
      </p:sp>
      <p:sp>
        <p:nvSpPr>
          <p:cNvPr id="5" name="Text 3"/>
          <p:cNvSpPr/>
          <p:nvPr/>
        </p:nvSpPr>
        <p:spPr>
          <a:xfrm>
            <a:off x="457200" y="1508760"/>
            <a:ext cx="11247120" cy="548640"/>
          </a:xfrm>
          <a:prstGeom prst="rect">
            <a:avLst/>
          </a:prstGeom>
          <a:noFill/>
          <a:ln/>
        </p:spPr>
        <p:txBody>
          <a:bodyPr wrap="square" rtlCol="0" anchor="ctr"/>
          <a:lstStyle/>
          <a:p>
            <a:pPr marL="0" indent="0">
              <a:lnSpc>
                <a:spcPts val="1700"/>
              </a:lnSpc>
              <a:buNone/>
            </a:pPr>
            <a:r>
              <a:rPr lang="en-US" sz="1350" dirty="0">
                <a:solidFill>
                  <a:srgbClr val="D6E4EC"/>
                </a:solidFill>
                <a:latin typeface="Calibri" pitchFamily="34" charset="0"/>
                <a:ea typeface="Calibri" pitchFamily="34" charset="-122"/>
                <a:cs typeface="Calibri" pitchFamily="34" charset="-120"/>
              </a:rPr>
              <a:t>Pairwise correlation isn't always enough — a predictor can be well-explained by a combination of several other predictors together.</a:t>
            </a:r>
            <a:endParaRPr lang="en-US" sz="1350" dirty="0"/>
          </a:p>
        </p:txBody>
      </p:sp>
      <p:sp>
        <p:nvSpPr>
          <p:cNvPr id="6" name="Shape 4"/>
          <p:cNvSpPr/>
          <p:nvPr/>
        </p:nvSpPr>
        <p:spPr>
          <a:xfrm>
            <a:off x="457200" y="2240280"/>
            <a:ext cx="11247120" cy="1005840"/>
          </a:xfrm>
          <a:prstGeom prst="roundRect">
            <a:avLst>
              <a:gd name="adj" fmla="val 9091"/>
            </a:avLst>
          </a:prstGeom>
          <a:solidFill>
            <a:srgbClr val="0F3A5F"/>
          </a:solidFill>
          <a:ln w="12700">
            <a:solidFill>
              <a:srgbClr val="1C7293"/>
            </a:solidFill>
            <a:prstDash val="solid"/>
          </a:ln>
        </p:spPr>
      </p:sp>
      <p:sp>
        <p:nvSpPr>
          <p:cNvPr id="7" name="Text 5"/>
          <p:cNvSpPr/>
          <p:nvPr/>
        </p:nvSpPr>
        <p:spPr>
          <a:xfrm>
            <a:off x="731520" y="2240280"/>
            <a:ext cx="10698480" cy="1005840"/>
          </a:xfrm>
          <a:prstGeom prst="rect">
            <a:avLst/>
          </a:prstGeom>
          <a:noFill/>
          <a:ln/>
        </p:spPr>
        <p:txBody>
          <a:bodyPr wrap="square" rtlCol="0" anchor="ctr"/>
          <a:lstStyle/>
          <a:p>
            <a:pPr marL="0" indent="0">
              <a:lnSpc>
                <a:spcPts val="1800"/>
              </a:lnSpc>
              <a:buNone/>
            </a:pPr>
            <a:r>
              <a:rPr lang="en-US" sz="1400" b="1" dirty="0">
                <a:solidFill>
                  <a:srgbClr val="FFFFFF"/>
                </a:solidFill>
                <a:latin typeface="Calibri" pitchFamily="34" charset="0"/>
                <a:ea typeface="Calibri" pitchFamily="34" charset="-122"/>
                <a:cs typeface="Calibri" pitchFamily="34" charset="-120"/>
              </a:rPr>
              <a:t>IDEA: build a small regression that predicts one input column using all the other input columns as its predictors.</a:t>
            </a:r>
            <a:endParaRPr lang="en-US" sz="1400" dirty="0"/>
          </a:p>
        </p:txBody>
      </p:sp>
      <p:sp>
        <p:nvSpPr>
          <p:cNvPr id="8" name="Text 6"/>
          <p:cNvSpPr/>
          <p:nvPr/>
        </p:nvSpPr>
        <p:spPr>
          <a:xfrm>
            <a:off x="457200" y="3520440"/>
            <a:ext cx="5486400" cy="365760"/>
          </a:xfrm>
          <a:prstGeom prst="rect">
            <a:avLst/>
          </a:prstGeom>
          <a:noFill/>
          <a:ln/>
        </p:spPr>
        <p:txBody>
          <a:bodyPr wrap="square" rtlCol="0" anchor="ctr"/>
          <a:lstStyle/>
          <a:p>
            <a:pPr marL="0" indent="0">
              <a:buNone/>
            </a:pPr>
            <a:r>
              <a:rPr lang="en-US" sz="1300" b="1" dirty="0">
                <a:solidFill>
                  <a:srgbClr val="F2A93B"/>
                </a:solidFill>
                <a:latin typeface="Calibri" pitchFamily="34" charset="0"/>
                <a:ea typeface="Calibri" pitchFamily="34" charset="-122"/>
                <a:cs typeface="Calibri" pitchFamily="34" charset="-120"/>
              </a:rPr>
              <a:t>The Variance Inflation Factor for predictor i</a:t>
            </a:r>
            <a:endParaRPr lang="en-US" sz="1300" dirty="0"/>
          </a:p>
        </p:txBody>
      </p:sp>
      <p:sp>
        <p:nvSpPr>
          <p:cNvPr id="9" name="Shape 7"/>
          <p:cNvSpPr/>
          <p:nvPr/>
        </p:nvSpPr>
        <p:spPr>
          <a:xfrm>
            <a:off x="457200" y="3886200"/>
            <a:ext cx="5212080" cy="1051560"/>
          </a:xfrm>
          <a:prstGeom prst="roundRect">
            <a:avLst>
              <a:gd name="adj" fmla="val 6957"/>
            </a:avLst>
          </a:prstGeom>
          <a:solidFill>
            <a:srgbClr val="0F3A5F"/>
          </a:solidFill>
          <a:ln w="12700">
            <a:solidFill>
              <a:srgbClr val="1E4F73"/>
            </a:solidFill>
            <a:prstDash val="solid"/>
          </a:ln>
        </p:spPr>
      </p:sp>
      <p:sp>
        <p:nvSpPr>
          <p:cNvPr id="10" name="Text 8"/>
          <p:cNvSpPr/>
          <p:nvPr/>
        </p:nvSpPr>
        <p:spPr>
          <a:xfrm>
            <a:off x="457200" y="3886200"/>
            <a:ext cx="5212080" cy="1051560"/>
          </a:xfrm>
          <a:prstGeom prst="rect">
            <a:avLst/>
          </a:prstGeom>
          <a:noFill/>
          <a:ln/>
        </p:spPr>
        <p:txBody>
          <a:bodyPr wrap="square" rtlCol="0" anchor="ctr"/>
          <a:lstStyle/>
          <a:p>
            <a:pPr marL="0" indent="0" algn="ctr">
              <a:buNone/>
            </a:pPr>
            <a:r>
              <a:rPr lang="en-US" sz="2200" b="1" dirty="0">
                <a:solidFill>
                  <a:srgbClr val="FFFFFF"/>
                </a:solidFill>
                <a:latin typeface="Courier New" pitchFamily="34" charset="0"/>
                <a:ea typeface="Courier New" pitchFamily="34" charset="-122"/>
                <a:cs typeface="Courier New" pitchFamily="34" charset="-120"/>
              </a:rPr>
              <a:t>VIFᵢ = 1 / (1 − Rᵢ²)</a:t>
            </a:r>
            <a:endParaRPr lang="en-US" sz="2200" dirty="0"/>
          </a:p>
        </p:txBody>
      </p:sp>
      <p:sp>
        <p:nvSpPr>
          <p:cNvPr id="11" name="Text 9"/>
          <p:cNvSpPr/>
          <p:nvPr/>
        </p:nvSpPr>
        <p:spPr>
          <a:xfrm>
            <a:off x="457200" y="5029200"/>
            <a:ext cx="5212080" cy="548640"/>
          </a:xfrm>
          <a:prstGeom prst="rect">
            <a:avLst/>
          </a:prstGeom>
          <a:noFill/>
          <a:ln/>
        </p:spPr>
        <p:txBody>
          <a:bodyPr wrap="square" rtlCol="0" anchor="ctr"/>
          <a:lstStyle/>
          <a:p>
            <a:pPr marL="0" indent="0">
              <a:lnSpc>
                <a:spcPts val="1500"/>
              </a:lnSpc>
              <a:buNone/>
            </a:pPr>
            <a:r>
              <a:rPr lang="en-US" sz="1200" i="1" dirty="0">
                <a:solidFill>
                  <a:srgbClr val="9FBBCB"/>
                </a:solidFill>
                <a:latin typeface="Calibri" pitchFamily="34" charset="0"/>
                <a:ea typeface="Calibri" pitchFamily="34" charset="-122"/>
                <a:cs typeface="Calibri" pitchFamily="34" charset="-120"/>
              </a:rPr>
              <a:t>Rᵢ² = how well predictor i is explained by all the remaining predictors combined.</a:t>
            </a:r>
            <a:endParaRPr lang="en-US" sz="1200" dirty="0"/>
          </a:p>
        </p:txBody>
      </p:sp>
      <p:sp>
        <p:nvSpPr>
          <p:cNvPr id="12" name="Text 10"/>
          <p:cNvSpPr/>
          <p:nvPr/>
        </p:nvSpPr>
        <p:spPr>
          <a:xfrm>
            <a:off x="6035040" y="3520440"/>
            <a:ext cx="5669280" cy="365760"/>
          </a:xfrm>
          <a:prstGeom prst="rect">
            <a:avLst/>
          </a:prstGeom>
          <a:noFill/>
          <a:ln/>
        </p:spPr>
        <p:txBody>
          <a:bodyPr wrap="square" rtlCol="0" anchor="ctr"/>
          <a:lstStyle/>
          <a:p>
            <a:pPr marL="0" indent="0">
              <a:buNone/>
            </a:pPr>
            <a:r>
              <a:rPr lang="en-US" sz="1300" b="1" dirty="0">
                <a:solidFill>
                  <a:srgbClr val="F2A93B"/>
                </a:solidFill>
                <a:latin typeface="Calibri" pitchFamily="34" charset="0"/>
                <a:ea typeface="Calibri" pitchFamily="34" charset="-122"/>
                <a:cs typeface="Calibri" pitchFamily="34" charset="-120"/>
              </a:rPr>
              <a:t>Common heuristic</a:t>
            </a:r>
            <a:endParaRPr lang="en-US" sz="1300" dirty="0"/>
          </a:p>
        </p:txBody>
      </p:sp>
      <p:sp>
        <p:nvSpPr>
          <p:cNvPr id="13" name="Shape 11"/>
          <p:cNvSpPr/>
          <p:nvPr/>
        </p:nvSpPr>
        <p:spPr>
          <a:xfrm>
            <a:off x="6035040" y="3886200"/>
            <a:ext cx="1554480" cy="502920"/>
          </a:xfrm>
          <a:prstGeom prst="roundRect">
            <a:avLst>
              <a:gd name="adj" fmla="val 10909"/>
            </a:avLst>
          </a:prstGeom>
          <a:solidFill>
            <a:srgbClr val="0F3A5F"/>
          </a:solidFill>
          <a:ln w="9525">
            <a:solidFill>
              <a:srgbClr val="1C7293"/>
            </a:solidFill>
            <a:prstDash val="solid"/>
          </a:ln>
        </p:spPr>
      </p:sp>
      <p:sp>
        <p:nvSpPr>
          <p:cNvPr id="14" name="Text 12"/>
          <p:cNvSpPr/>
          <p:nvPr/>
        </p:nvSpPr>
        <p:spPr>
          <a:xfrm>
            <a:off x="6035040" y="3886200"/>
            <a:ext cx="1554480" cy="502920"/>
          </a:xfrm>
          <a:prstGeom prst="rect">
            <a:avLst/>
          </a:prstGeom>
          <a:noFill/>
          <a:ln/>
        </p:spPr>
        <p:txBody>
          <a:bodyPr wrap="square" rtlCol="0" anchor="ctr"/>
          <a:lstStyle/>
          <a:p>
            <a:pPr marL="0" indent="0" algn="ctr">
              <a:buNone/>
            </a:pPr>
            <a:r>
              <a:rPr lang="en-US" sz="1200" b="1" dirty="0">
                <a:solidFill>
                  <a:srgbClr val="F2A93B"/>
                </a:solidFill>
                <a:latin typeface="Courier New" pitchFamily="34" charset="0"/>
                <a:ea typeface="Courier New" pitchFamily="34" charset="-122"/>
                <a:cs typeface="Courier New" pitchFamily="34" charset="-120"/>
              </a:rPr>
              <a:t>VIF &lt; 5</a:t>
            </a:r>
            <a:endParaRPr lang="en-US" sz="1200" dirty="0"/>
          </a:p>
        </p:txBody>
      </p:sp>
      <p:sp>
        <p:nvSpPr>
          <p:cNvPr id="15" name="Text 13"/>
          <p:cNvSpPr/>
          <p:nvPr/>
        </p:nvSpPr>
        <p:spPr>
          <a:xfrm>
            <a:off x="7726680" y="3886200"/>
            <a:ext cx="3977640" cy="502920"/>
          </a:xfrm>
          <a:prstGeom prst="rect">
            <a:avLst/>
          </a:prstGeom>
          <a:noFill/>
          <a:ln/>
        </p:spPr>
        <p:txBody>
          <a:bodyPr wrap="square" rtlCol="0" anchor="ctr"/>
          <a:lstStyle/>
          <a:p>
            <a:pPr marL="0" indent="0">
              <a:buNone/>
            </a:pPr>
            <a:r>
              <a:rPr lang="en-US" sz="1200" dirty="0">
                <a:solidFill>
                  <a:srgbClr val="D6E4EC"/>
                </a:solidFill>
                <a:latin typeface="Calibri" pitchFamily="34" charset="0"/>
                <a:ea typeface="Calibri" pitchFamily="34" charset="-122"/>
                <a:cs typeface="Calibri" pitchFamily="34" charset="-120"/>
              </a:rPr>
              <a:t>Generally fine</a:t>
            </a:r>
            <a:endParaRPr lang="en-US" sz="1200" dirty="0"/>
          </a:p>
        </p:txBody>
      </p:sp>
      <p:sp>
        <p:nvSpPr>
          <p:cNvPr id="16" name="Shape 14"/>
          <p:cNvSpPr/>
          <p:nvPr/>
        </p:nvSpPr>
        <p:spPr>
          <a:xfrm>
            <a:off x="6035040" y="4507992"/>
            <a:ext cx="1554480" cy="502920"/>
          </a:xfrm>
          <a:prstGeom prst="roundRect">
            <a:avLst>
              <a:gd name="adj" fmla="val 10909"/>
            </a:avLst>
          </a:prstGeom>
          <a:solidFill>
            <a:srgbClr val="0F3A5F"/>
          </a:solidFill>
          <a:ln w="9525">
            <a:solidFill>
              <a:srgbClr val="1C7293"/>
            </a:solidFill>
            <a:prstDash val="solid"/>
          </a:ln>
        </p:spPr>
      </p:sp>
      <p:sp>
        <p:nvSpPr>
          <p:cNvPr id="17" name="Text 15"/>
          <p:cNvSpPr/>
          <p:nvPr/>
        </p:nvSpPr>
        <p:spPr>
          <a:xfrm>
            <a:off x="6035040" y="4507992"/>
            <a:ext cx="1554480" cy="502920"/>
          </a:xfrm>
          <a:prstGeom prst="rect">
            <a:avLst/>
          </a:prstGeom>
          <a:noFill/>
          <a:ln/>
        </p:spPr>
        <p:txBody>
          <a:bodyPr wrap="square" rtlCol="0" anchor="ctr"/>
          <a:lstStyle/>
          <a:p>
            <a:pPr marL="0" indent="0" algn="ctr">
              <a:buNone/>
            </a:pPr>
            <a:r>
              <a:rPr lang="en-US" sz="1200" b="1" dirty="0">
                <a:solidFill>
                  <a:srgbClr val="F2A93B"/>
                </a:solidFill>
                <a:latin typeface="Courier New" pitchFamily="34" charset="0"/>
                <a:ea typeface="Courier New" pitchFamily="34" charset="-122"/>
                <a:cs typeface="Courier New" pitchFamily="34" charset="-120"/>
              </a:rPr>
              <a:t>VIF 5–10</a:t>
            </a:r>
            <a:endParaRPr lang="en-US" sz="1200" dirty="0"/>
          </a:p>
        </p:txBody>
      </p:sp>
      <p:sp>
        <p:nvSpPr>
          <p:cNvPr id="18" name="Text 16"/>
          <p:cNvSpPr/>
          <p:nvPr/>
        </p:nvSpPr>
        <p:spPr>
          <a:xfrm>
            <a:off x="7726680" y="4507992"/>
            <a:ext cx="3977640" cy="502920"/>
          </a:xfrm>
          <a:prstGeom prst="rect">
            <a:avLst/>
          </a:prstGeom>
          <a:noFill/>
          <a:ln/>
        </p:spPr>
        <p:txBody>
          <a:bodyPr wrap="square" rtlCol="0" anchor="ctr"/>
          <a:lstStyle/>
          <a:p>
            <a:pPr marL="0" indent="0">
              <a:buNone/>
            </a:pPr>
            <a:r>
              <a:rPr lang="en-US" sz="1200" dirty="0">
                <a:solidFill>
                  <a:srgbClr val="D6E4EC"/>
                </a:solidFill>
                <a:latin typeface="Calibri" pitchFamily="34" charset="0"/>
                <a:ea typeface="Calibri" pitchFamily="34" charset="-122"/>
                <a:cs typeface="Calibri" pitchFamily="34" charset="-120"/>
              </a:rPr>
              <a:t>Worth a closer look</a:t>
            </a:r>
            <a:endParaRPr lang="en-US" sz="1200" dirty="0"/>
          </a:p>
        </p:txBody>
      </p:sp>
      <p:sp>
        <p:nvSpPr>
          <p:cNvPr id="19" name="Shape 17"/>
          <p:cNvSpPr/>
          <p:nvPr/>
        </p:nvSpPr>
        <p:spPr>
          <a:xfrm>
            <a:off x="6035040" y="5129784"/>
            <a:ext cx="1554480" cy="502920"/>
          </a:xfrm>
          <a:prstGeom prst="roundRect">
            <a:avLst>
              <a:gd name="adj" fmla="val 10909"/>
            </a:avLst>
          </a:prstGeom>
          <a:solidFill>
            <a:srgbClr val="0F3A5F"/>
          </a:solidFill>
          <a:ln w="9525">
            <a:solidFill>
              <a:srgbClr val="1C7293"/>
            </a:solidFill>
            <a:prstDash val="solid"/>
          </a:ln>
        </p:spPr>
      </p:sp>
      <p:sp>
        <p:nvSpPr>
          <p:cNvPr id="20" name="Text 18"/>
          <p:cNvSpPr/>
          <p:nvPr/>
        </p:nvSpPr>
        <p:spPr>
          <a:xfrm>
            <a:off x="6035040" y="5129784"/>
            <a:ext cx="1554480" cy="502920"/>
          </a:xfrm>
          <a:prstGeom prst="rect">
            <a:avLst/>
          </a:prstGeom>
          <a:noFill/>
          <a:ln/>
        </p:spPr>
        <p:txBody>
          <a:bodyPr wrap="square" rtlCol="0" anchor="ctr"/>
          <a:lstStyle/>
          <a:p>
            <a:pPr marL="0" indent="0" algn="ctr">
              <a:buNone/>
            </a:pPr>
            <a:r>
              <a:rPr lang="en-US" sz="1200" b="1" dirty="0">
                <a:solidFill>
                  <a:srgbClr val="F2A93B"/>
                </a:solidFill>
                <a:latin typeface="Courier New" pitchFamily="34" charset="0"/>
                <a:ea typeface="Courier New" pitchFamily="34" charset="-122"/>
                <a:cs typeface="Courier New" pitchFamily="34" charset="-120"/>
              </a:rPr>
              <a:t>VIF &gt; 10</a:t>
            </a:r>
            <a:endParaRPr lang="en-US" sz="1200" dirty="0"/>
          </a:p>
        </p:txBody>
      </p:sp>
      <p:sp>
        <p:nvSpPr>
          <p:cNvPr id="21" name="Text 19"/>
          <p:cNvSpPr/>
          <p:nvPr/>
        </p:nvSpPr>
        <p:spPr>
          <a:xfrm>
            <a:off x="7726680" y="5129784"/>
            <a:ext cx="3977640" cy="502920"/>
          </a:xfrm>
          <a:prstGeom prst="rect">
            <a:avLst/>
          </a:prstGeom>
          <a:noFill/>
          <a:ln/>
        </p:spPr>
        <p:txBody>
          <a:bodyPr wrap="square" rtlCol="0" anchor="ctr"/>
          <a:lstStyle/>
          <a:p>
            <a:pPr marL="0" indent="0">
              <a:buNone/>
            </a:pPr>
            <a:r>
              <a:rPr lang="en-US" sz="1200" dirty="0">
                <a:solidFill>
                  <a:srgbClr val="D6E4EC"/>
                </a:solidFill>
                <a:latin typeface="Calibri" pitchFamily="34" charset="0"/>
                <a:ea typeface="Calibri" pitchFamily="34" charset="-122"/>
                <a:cs typeface="Calibri" pitchFamily="34" charset="-120"/>
              </a:rPr>
              <a:t>Definitely high — investigate</a:t>
            </a:r>
            <a:endParaRPr lang="en-US" sz="1200" dirty="0"/>
          </a:p>
        </p:txBody>
      </p:sp>
      <p:sp>
        <p:nvSpPr>
          <p:cNvPr id="22" name="Text 20"/>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8FA6B3"/>
                </a:solidFill>
                <a:latin typeface="Calibri" pitchFamily="34" charset="0"/>
                <a:ea typeface="Calibri" pitchFamily="34" charset="-122"/>
                <a:cs typeface="Calibri" pitchFamily="34" charset="-120"/>
              </a:rPr>
              <a:t>Multiple Linear Regression</a:t>
            </a:r>
            <a:endParaRPr lang="en-US" sz="900" dirty="0"/>
          </a:p>
        </p:txBody>
      </p:sp>
      <p:sp>
        <p:nvSpPr>
          <p:cNvPr id="23" name="Text 21"/>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8FA6B3"/>
                </a:solidFill>
                <a:latin typeface="Calibri" pitchFamily="34" charset="0"/>
                <a:ea typeface="Calibri" pitchFamily="34" charset="-122"/>
                <a:cs typeface="Calibri" pitchFamily="34" charset="-120"/>
              </a:rPr>
              <a:t>18</a:t>
            </a:r>
            <a:endParaRPr lang="en-US" sz="9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365760"/>
          </a:xfrm>
          <a:prstGeom prst="roundRect">
            <a:avLst>
              <a:gd name="adj" fmla="val 20000"/>
            </a:avLst>
          </a:prstGeom>
          <a:solidFill>
            <a:srgbClr val="E5F0F4"/>
          </a:solidFill>
          <a:ln/>
        </p:spPr>
      </p:sp>
      <p:sp>
        <p:nvSpPr>
          <p:cNvPr id="3" name="Text 1"/>
          <p:cNvSpPr/>
          <p:nvPr/>
        </p:nvSpPr>
        <p:spPr>
          <a:xfrm>
            <a:off x="457200" y="411480"/>
            <a:ext cx="2103120" cy="365760"/>
          </a:xfrm>
          <a:prstGeom prst="rect">
            <a:avLst/>
          </a:prstGeom>
          <a:noFill/>
          <a:ln/>
        </p:spPr>
        <p:txBody>
          <a:bodyPr wrap="square" rtlCol="0" anchor="ctr"/>
          <a:lstStyle/>
          <a:p>
            <a:pPr marL="0" indent="0" algn="ctr">
              <a:buNone/>
            </a:pPr>
            <a:r>
              <a:rPr lang="en-US" sz="1100" b="1" kern="0" spc="100" dirty="0">
                <a:solidFill>
                  <a:srgbClr val="065A82"/>
                </a:solidFill>
                <a:latin typeface="Calibri" pitchFamily="34" charset="0"/>
                <a:ea typeface="Calibri" pitchFamily="34" charset="-122"/>
                <a:cs typeface="Calibri" pitchFamily="34" charset="-120"/>
              </a:rPr>
              <a:t>PART 2 · WORKED EXAMPLE</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3000" b="1" dirty="0">
                <a:solidFill>
                  <a:srgbClr val="0B2A4A"/>
                </a:solidFill>
                <a:latin typeface="Cambria" pitchFamily="34" charset="0"/>
                <a:ea typeface="Cambria" pitchFamily="34" charset="-122"/>
                <a:cs typeface="Cambria" pitchFamily="34" charset="-120"/>
              </a:rPr>
              <a:t>Calculating VIF: A Blood-Pressure Model</a:t>
            </a:r>
            <a:endParaRPr lang="en-US" sz="3000" dirty="0"/>
          </a:p>
        </p:txBody>
      </p:sp>
      <p:sp>
        <p:nvSpPr>
          <p:cNvPr id="5" name="Text 3"/>
          <p:cNvSpPr/>
          <p:nvPr/>
        </p:nvSpPr>
        <p:spPr>
          <a:xfrm>
            <a:off x="457200" y="1508760"/>
            <a:ext cx="11247120" cy="457200"/>
          </a:xfrm>
          <a:prstGeom prst="rect">
            <a:avLst/>
          </a:prstGeom>
          <a:noFill/>
          <a:ln/>
        </p:spPr>
        <p:txBody>
          <a:bodyPr wrap="square" rtlCol="0" anchor="ctr"/>
          <a:lstStyle/>
          <a:p>
            <a:pPr marL="0" indent="0">
              <a:buNone/>
            </a:pPr>
            <a:r>
              <a:rPr lang="en-US" sz="1300" dirty="0">
                <a:solidFill>
                  <a:srgbClr val="17232E"/>
                </a:solidFill>
                <a:latin typeface="Calibri" pitchFamily="34" charset="0"/>
                <a:ea typeface="Calibri" pitchFamily="34" charset="-122"/>
                <a:cs typeface="Calibri" pitchFamily="34" charset="-120"/>
              </a:rPr>
              <a:t>Predictors: Age, Weight, Body Surface Area (BSA), Duration of hypertension, Pulse, Stress — predicting Blood Pressure (BP).</a:t>
            </a:r>
            <a:endParaRPr lang="en-US" sz="1300" dirty="0"/>
          </a:p>
        </p:txBody>
      </p:sp>
      <p:sp>
        <p:nvSpPr>
          <p:cNvPr id="6" name="Shape 4"/>
          <p:cNvSpPr/>
          <p:nvPr/>
        </p:nvSpPr>
        <p:spPr>
          <a:xfrm>
            <a:off x="457200" y="2148840"/>
            <a:ext cx="2103120" cy="411480"/>
          </a:xfrm>
          <a:prstGeom prst="rect">
            <a:avLst/>
          </a:prstGeom>
          <a:solidFill>
            <a:srgbClr val="0B2A4A"/>
          </a:solidFill>
          <a:ln w="6350">
            <a:solidFill>
              <a:srgbClr val="FFFFFF"/>
            </a:solidFill>
            <a:prstDash val="solid"/>
          </a:ln>
        </p:spPr>
      </p:sp>
      <p:sp>
        <p:nvSpPr>
          <p:cNvPr id="7" name="Text 5"/>
          <p:cNvSpPr/>
          <p:nvPr/>
        </p:nvSpPr>
        <p:spPr>
          <a:xfrm>
            <a:off x="457200" y="2148840"/>
            <a:ext cx="210312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Term</a:t>
            </a:r>
            <a:endParaRPr lang="en-US" sz="1100" dirty="0"/>
          </a:p>
        </p:txBody>
      </p:sp>
      <p:sp>
        <p:nvSpPr>
          <p:cNvPr id="8" name="Shape 6"/>
          <p:cNvSpPr/>
          <p:nvPr/>
        </p:nvSpPr>
        <p:spPr>
          <a:xfrm>
            <a:off x="2560320" y="2148840"/>
            <a:ext cx="1554480" cy="411480"/>
          </a:xfrm>
          <a:prstGeom prst="rect">
            <a:avLst/>
          </a:prstGeom>
          <a:solidFill>
            <a:srgbClr val="0B2A4A"/>
          </a:solidFill>
          <a:ln w="6350">
            <a:solidFill>
              <a:srgbClr val="FFFFFF"/>
            </a:solidFill>
            <a:prstDash val="solid"/>
          </a:ln>
        </p:spPr>
      </p:sp>
      <p:sp>
        <p:nvSpPr>
          <p:cNvPr id="9" name="Text 7"/>
          <p:cNvSpPr/>
          <p:nvPr/>
        </p:nvSpPr>
        <p:spPr>
          <a:xfrm>
            <a:off x="2560320" y="2148840"/>
            <a:ext cx="1554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Coef</a:t>
            </a:r>
            <a:endParaRPr lang="en-US" sz="1100" dirty="0"/>
          </a:p>
        </p:txBody>
      </p:sp>
      <p:sp>
        <p:nvSpPr>
          <p:cNvPr id="10" name="Shape 8"/>
          <p:cNvSpPr/>
          <p:nvPr/>
        </p:nvSpPr>
        <p:spPr>
          <a:xfrm>
            <a:off x="4114800" y="2148840"/>
            <a:ext cx="1463040" cy="411480"/>
          </a:xfrm>
          <a:prstGeom prst="rect">
            <a:avLst/>
          </a:prstGeom>
          <a:solidFill>
            <a:srgbClr val="0B2A4A"/>
          </a:solidFill>
          <a:ln w="6350">
            <a:solidFill>
              <a:srgbClr val="FFFFFF"/>
            </a:solidFill>
            <a:prstDash val="solid"/>
          </a:ln>
        </p:spPr>
      </p:sp>
      <p:sp>
        <p:nvSpPr>
          <p:cNvPr id="11" name="Text 9"/>
          <p:cNvSpPr/>
          <p:nvPr/>
        </p:nvSpPr>
        <p:spPr>
          <a:xfrm>
            <a:off x="4114800" y="2148840"/>
            <a:ext cx="146304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P-Value</a:t>
            </a:r>
            <a:endParaRPr lang="en-US" sz="1100" dirty="0"/>
          </a:p>
        </p:txBody>
      </p:sp>
      <p:sp>
        <p:nvSpPr>
          <p:cNvPr id="12" name="Shape 10"/>
          <p:cNvSpPr/>
          <p:nvPr/>
        </p:nvSpPr>
        <p:spPr>
          <a:xfrm>
            <a:off x="5577840" y="2148840"/>
            <a:ext cx="1371600" cy="411480"/>
          </a:xfrm>
          <a:prstGeom prst="rect">
            <a:avLst/>
          </a:prstGeom>
          <a:solidFill>
            <a:srgbClr val="0B2A4A"/>
          </a:solidFill>
          <a:ln w="6350">
            <a:solidFill>
              <a:srgbClr val="FFFFFF"/>
            </a:solidFill>
            <a:prstDash val="solid"/>
          </a:ln>
        </p:spPr>
      </p:sp>
      <p:sp>
        <p:nvSpPr>
          <p:cNvPr id="13" name="Text 11"/>
          <p:cNvSpPr/>
          <p:nvPr/>
        </p:nvSpPr>
        <p:spPr>
          <a:xfrm>
            <a:off x="5577840" y="2148840"/>
            <a:ext cx="137160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VIF</a:t>
            </a:r>
            <a:endParaRPr lang="en-US" sz="1100" dirty="0"/>
          </a:p>
        </p:txBody>
      </p:sp>
      <p:sp>
        <p:nvSpPr>
          <p:cNvPr id="14" name="Shape 12"/>
          <p:cNvSpPr/>
          <p:nvPr/>
        </p:nvSpPr>
        <p:spPr>
          <a:xfrm>
            <a:off x="457200" y="2560320"/>
            <a:ext cx="2103120" cy="384048"/>
          </a:xfrm>
          <a:prstGeom prst="rect">
            <a:avLst/>
          </a:prstGeom>
          <a:solidFill>
            <a:srgbClr val="F0F5F6"/>
          </a:solidFill>
          <a:ln w="6350">
            <a:solidFill>
              <a:srgbClr val="D7E2E6"/>
            </a:solidFill>
            <a:prstDash val="solid"/>
          </a:ln>
        </p:spPr>
      </p:sp>
      <p:sp>
        <p:nvSpPr>
          <p:cNvPr id="15" name="Text 13"/>
          <p:cNvSpPr/>
          <p:nvPr/>
        </p:nvSpPr>
        <p:spPr>
          <a:xfrm>
            <a:off x="457200" y="2560320"/>
            <a:ext cx="2103120" cy="384048"/>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Constant</a:t>
            </a:r>
            <a:endParaRPr lang="en-US" sz="1050" dirty="0"/>
          </a:p>
        </p:txBody>
      </p:sp>
      <p:sp>
        <p:nvSpPr>
          <p:cNvPr id="16" name="Shape 14"/>
          <p:cNvSpPr/>
          <p:nvPr/>
        </p:nvSpPr>
        <p:spPr>
          <a:xfrm>
            <a:off x="2560320" y="2560320"/>
            <a:ext cx="1554480" cy="384048"/>
          </a:xfrm>
          <a:prstGeom prst="rect">
            <a:avLst/>
          </a:prstGeom>
          <a:solidFill>
            <a:srgbClr val="F0F5F6"/>
          </a:solidFill>
          <a:ln w="6350">
            <a:solidFill>
              <a:srgbClr val="D7E2E6"/>
            </a:solidFill>
            <a:prstDash val="solid"/>
          </a:ln>
        </p:spPr>
      </p:sp>
      <p:sp>
        <p:nvSpPr>
          <p:cNvPr id="17" name="Text 15"/>
          <p:cNvSpPr/>
          <p:nvPr/>
        </p:nvSpPr>
        <p:spPr>
          <a:xfrm>
            <a:off x="2560320" y="2560320"/>
            <a:ext cx="1554480" cy="384048"/>
          </a:xfrm>
          <a:prstGeom prst="rect">
            <a:avLst/>
          </a:prstGeom>
          <a:noFill/>
          <a:ln/>
        </p:spPr>
        <p:txBody>
          <a:bodyPr wrap="square" rtlCol="0" anchor="ctr"/>
          <a:lstStyle/>
          <a:p>
            <a:pPr marL="0" indent="0" algn="ctr">
              <a:buNone/>
            </a:pPr>
            <a:r>
              <a:rPr lang="en-US" sz="1050" dirty="0">
                <a:solidFill>
                  <a:srgbClr val="17232E"/>
                </a:solidFill>
                <a:latin typeface="Courier New" pitchFamily="34" charset="0"/>
                <a:ea typeface="Courier New" pitchFamily="34" charset="-122"/>
                <a:cs typeface="Courier New" pitchFamily="34" charset="-120"/>
              </a:rPr>
              <a:t>‒12.9</a:t>
            </a:r>
            <a:endParaRPr lang="en-US" sz="1050" dirty="0"/>
          </a:p>
        </p:txBody>
      </p:sp>
      <p:sp>
        <p:nvSpPr>
          <p:cNvPr id="18" name="Shape 16"/>
          <p:cNvSpPr/>
          <p:nvPr/>
        </p:nvSpPr>
        <p:spPr>
          <a:xfrm>
            <a:off x="4114800" y="2560320"/>
            <a:ext cx="1463040" cy="384048"/>
          </a:xfrm>
          <a:prstGeom prst="rect">
            <a:avLst/>
          </a:prstGeom>
          <a:solidFill>
            <a:srgbClr val="F0F5F6"/>
          </a:solidFill>
          <a:ln w="6350">
            <a:solidFill>
              <a:srgbClr val="D7E2E6"/>
            </a:solidFill>
            <a:prstDash val="solid"/>
          </a:ln>
        </p:spPr>
      </p:sp>
      <p:sp>
        <p:nvSpPr>
          <p:cNvPr id="19" name="Text 17"/>
          <p:cNvSpPr/>
          <p:nvPr/>
        </p:nvSpPr>
        <p:spPr>
          <a:xfrm>
            <a:off x="4114800" y="2560320"/>
            <a:ext cx="1463040" cy="384048"/>
          </a:xfrm>
          <a:prstGeom prst="rect">
            <a:avLst/>
          </a:prstGeom>
          <a:noFill/>
          <a:ln/>
        </p:spPr>
        <p:txBody>
          <a:bodyPr wrap="square" rtlCol="0" anchor="ctr"/>
          <a:lstStyle/>
          <a:p>
            <a:pPr marL="0" indent="0" algn="ctr">
              <a:buNone/>
            </a:pPr>
            <a:r>
              <a:rPr lang="en-US" sz="1050" dirty="0">
                <a:solidFill>
                  <a:srgbClr val="17232E"/>
                </a:solidFill>
                <a:latin typeface="Courier New" pitchFamily="34" charset="0"/>
                <a:ea typeface="Courier New" pitchFamily="34" charset="-122"/>
                <a:cs typeface="Courier New" pitchFamily="34" charset="-120"/>
              </a:rPr>
              <a:t>0.000</a:t>
            </a:r>
            <a:endParaRPr lang="en-US" sz="1050" dirty="0"/>
          </a:p>
        </p:txBody>
      </p:sp>
      <p:sp>
        <p:nvSpPr>
          <p:cNvPr id="20" name="Shape 18"/>
          <p:cNvSpPr/>
          <p:nvPr/>
        </p:nvSpPr>
        <p:spPr>
          <a:xfrm>
            <a:off x="5577840" y="2560320"/>
            <a:ext cx="1371600" cy="384048"/>
          </a:xfrm>
          <a:prstGeom prst="rect">
            <a:avLst/>
          </a:prstGeom>
          <a:solidFill>
            <a:srgbClr val="F0F5F6"/>
          </a:solidFill>
          <a:ln w="6350">
            <a:solidFill>
              <a:srgbClr val="D7E2E6"/>
            </a:solidFill>
            <a:prstDash val="solid"/>
          </a:ln>
        </p:spPr>
      </p:sp>
      <p:sp>
        <p:nvSpPr>
          <p:cNvPr id="21" name="Text 19"/>
          <p:cNvSpPr/>
          <p:nvPr/>
        </p:nvSpPr>
        <p:spPr>
          <a:xfrm>
            <a:off x="5577840" y="2560320"/>
            <a:ext cx="1371600" cy="384048"/>
          </a:xfrm>
          <a:prstGeom prst="rect">
            <a:avLst/>
          </a:prstGeom>
          <a:noFill/>
          <a:ln/>
        </p:spPr>
        <p:txBody>
          <a:bodyPr wrap="square" rtlCol="0" anchor="ctr"/>
          <a:lstStyle/>
          <a:p>
            <a:pPr marL="0" indent="0" algn="ctr">
              <a:buNone/>
            </a:pPr>
            <a:r>
              <a:rPr lang="en-US" sz="1050" dirty="0">
                <a:solidFill>
                  <a:srgbClr val="17232E"/>
                </a:solidFill>
                <a:latin typeface="Courier New" pitchFamily="34" charset="0"/>
                <a:ea typeface="Courier New" pitchFamily="34" charset="-122"/>
                <a:cs typeface="Courier New" pitchFamily="34" charset="-120"/>
              </a:rPr>
              <a:t>—</a:t>
            </a:r>
            <a:endParaRPr lang="en-US" sz="1050" dirty="0"/>
          </a:p>
        </p:txBody>
      </p:sp>
      <p:sp>
        <p:nvSpPr>
          <p:cNvPr id="22" name="Shape 20"/>
          <p:cNvSpPr/>
          <p:nvPr/>
        </p:nvSpPr>
        <p:spPr>
          <a:xfrm>
            <a:off x="457200" y="2944368"/>
            <a:ext cx="2103120" cy="384048"/>
          </a:xfrm>
          <a:prstGeom prst="rect">
            <a:avLst/>
          </a:prstGeom>
          <a:solidFill>
            <a:srgbClr val="FFFFFF"/>
          </a:solidFill>
          <a:ln w="6350">
            <a:solidFill>
              <a:srgbClr val="D7E2E6"/>
            </a:solidFill>
            <a:prstDash val="solid"/>
          </a:ln>
        </p:spPr>
      </p:sp>
      <p:sp>
        <p:nvSpPr>
          <p:cNvPr id="23" name="Text 21"/>
          <p:cNvSpPr/>
          <p:nvPr/>
        </p:nvSpPr>
        <p:spPr>
          <a:xfrm>
            <a:off x="457200" y="2944368"/>
            <a:ext cx="2103120" cy="384048"/>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Age</a:t>
            </a:r>
            <a:endParaRPr lang="en-US" sz="1050" dirty="0"/>
          </a:p>
        </p:txBody>
      </p:sp>
      <p:sp>
        <p:nvSpPr>
          <p:cNvPr id="24" name="Shape 22"/>
          <p:cNvSpPr/>
          <p:nvPr/>
        </p:nvSpPr>
        <p:spPr>
          <a:xfrm>
            <a:off x="2560320" y="2944368"/>
            <a:ext cx="1554480" cy="384048"/>
          </a:xfrm>
          <a:prstGeom prst="rect">
            <a:avLst/>
          </a:prstGeom>
          <a:solidFill>
            <a:srgbClr val="FFFFFF"/>
          </a:solidFill>
          <a:ln w="6350">
            <a:solidFill>
              <a:srgbClr val="D7E2E6"/>
            </a:solidFill>
            <a:prstDash val="solid"/>
          </a:ln>
        </p:spPr>
      </p:sp>
      <p:sp>
        <p:nvSpPr>
          <p:cNvPr id="25" name="Text 23"/>
          <p:cNvSpPr/>
          <p:nvPr/>
        </p:nvSpPr>
        <p:spPr>
          <a:xfrm>
            <a:off x="2560320" y="2944368"/>
            <a:ext cx="1554480" cy="384048"/>
          </a:xfrm>
          <a:prstGeom prst="rect">
            <a:avLst/>
          </a:prstGeom>
          <a:noFill/>
          <a:ln/>
        </p:spPr>
        <p:txBody>
          <a:bodyPr wrap="square" rtlCol="0" anchor="ctr"/>
          <a:lstStyle/>
          <a:p>
            <a:pPr marL="0" indent="0" algn="ctr">
              <a:buNone/>
            </a:pPr>
            <a:r>
              <a:rPr lang="en-US" sz="1050" dirty="0">
                <a:solidFill>
                  <a:srgbClr val="17232E"/>
                </a:solidFill>
                <a:latin typeface="Courier New" pitchFamily="34" charset="0"/>
                <a:ea typeface="Courier New" pitchFamily="34" charset="-122"/>
                <a:cs typeface="Courier New" pitchFamily="34" charset="-120"/>
              </a:rPr>
              <a:t>0.70</a:t>
            </a:r>
            <a:endParaRPr lang="en-US" sz="1050" dirty="0"/>
          </a:p>
        </p:txBody>
      </p:sp>
      <p:sp>
        <p:nvSpPr>
          <p:cNvPr id="26" name="Shape 24"/>
          <p:cNvSpPr/>
          <p:nvPr/>
        </p:nvSpPr>
        <p:spPr>
          <a:xfrm>
            <a:off x="4114800" y="2944368"/>
            <a:ext cx="1463040" cy="384048"/>
          </a:xfrm>
          <a:prstGeom prst="rect">
            <a:avLst/>
          </a:prstGeom>
          <a:solidFill>
            <a:srgbClr val="FFFFFF"/>
          </a:solidFill>
          <a:ln w="6350">
            <a:solidFill>
              <a:srgbClr val="D7E2E6"/>
            </a:solidFill>
            <a:prstDash val="solid"/>
          </a:ln>
        </p:spPr>
      </p:sp>
      <p:sp>
        <p:nvSpPr>
          <p:cNvPr id="27" name="Text 25"/>
          <p:cNvSpPr/>
          <p:nvPr/>
        </p:nvSpPr>
        <p:spPr>
          <a:xfrm>
            <a:off x="4114800" y="2944368"/>
            <a:ext cx="1463040" cy="384048"/>
          </a:xfrm>
          <a:prstGeom prst="rect">
            <a:avLst/>
          </a:prstGeom>
          <a:noFill/>
          <a:ln/>
        </p:spPr>
        <p:txBody>
          <a:bodyPr wrap="square" rtlCol="0" anchor="ctr"/>
          <a:lstStyle/>
          <a:p>
            <a:pPr marL="0" indent="0" algn="ctr">
              <a:buNone/>
            </a:pPr>
            <a:r>
              <a:rPr lang="en-US" sz="1050" dirty="0">
                <a:solidFill>
                  <a:srgbClr val="17232E"/>
                </a:solidFill>
                <a:latin typeface="Courier New" pitchFamily="34" charset="0"/>
                <a:ea typeface="Courier New" pitchFamily="34" charset="-122"/>
                <a:cs typeface="Courier New" pitchFamily="34" charset="-120"/>
              </a:rPr>
              <a:t>0.000</a:t>
            </a:r>
            <a:endParaRPr lang="en-US" sz="1050" dirty="0"/>
          </a:p>
        </p:txBody>
      </p:sp>
      <p:sp>
        <p:nvSpPr>
          <p:cNvPr id="28" name="Shape 26"/>
          <p:cNvSpPr/>
          <p:nvPr/>
        </p:nvSpPr>
        <p:spPr>
          <a:xfrm>
            <a:off x="5577840" y="2944368"/>
            <a:ext cx="1371600" cy="384048"/>
          </a:xfrm>
          <a:prstGeom prst="rect">
            <a:avLst/>
          </a:prstGeom>
          <a:solidFill>
            <a:srgbClr val="FFFFFF"/>
          </a:solidFill>
          <a:ln w="6350">
            <a:solidFill>
              <a:srgbClr val="D7E2E6"/>
            </a:solidFill>
            <a:prstDash val="solid"/>
          </a:ln>
        </p:spPr>
      </p:sp>
      <p:sp>
        <p:nvSpPr>
          <p:cNvPr id="29" name="Text 27"/>
          <p:cNvSpPr/>
          <p:nvPr/>
        </p:nvSpPr>
        <p:spPr>
          <a:xfrm>
            <a:off x="5577840" y="2944368"/>
            <a:ext cx="1371600" cy="384048"/>
          </a:xfrm>
          <a:prstGeom prst="rect">
            <a:avLst/>
          </a:prstGeom>
          <a:noFill/>
          <a:ln/>
        </p:spPr>
        <p:txBody>
          <a:bodyPr wrap="square" rtlCol="0" anchor="ctr"/>
          <a:lstStyle/>
          <a:p>
            <a:pPr marL="0" indent="0" algn="ctr">
              <a:buNone/>
            </a:pPr>
            <a:r>
              <a:rPr lang="en-US" sz="1050" dirty="0">
                <a:solidFill>
                  <a:srgbClr val="17232E"/>
                </a:solidFill>
                <a:latin typeface="Courier New" pitchFamily="34" charset="0"/>
                <a:ea typeface="Courier New" pitchFamily="34" charset="-122"/>
                <a:cs typeface="Courier New" pitchFamily="34" charset="-120"/>
              </a:rPr>
              <a:t>1.76</a:t>
            </a:r>
            <a:endParaRPr lang="en-US" sz="1050" dirty="0"/>
          </a:p>
        </p:txBody>
      </p:sp>
      <p:sp>
        <p:nvSpPr>
          <p:cNvPr id="30" name="Shape 28"/>
          <p:cNvSpPr/>
          <p:nvPr/>
        </p:nvSpPr>
        <p:spPr>
          <a:xfrm>
            <a:off x="457200" y="3328416"/>
            <a:ext cx="2103120" cy="384048"/>
          </a:xfrm>
          <a:prstGeom prst="rect">
            <a:avLst/>
          </a:prstGeom>
          <a:solidFill>
            <a:srgbClr val="F0F5F6"/>
          </a:solidFill>
          <a:ln w="6350">
            <a:solidFill>
              <a:srgbClr val="D7E2E6"/>
            </a:solidFill>
            <a:prstDash val="solid"/>
          </a:ln>
        </p:spPr>
      </p:sp>
      <p:sp>
        <p:nvSpPr>
          <p:cNvPr id="31" name="Text 29"/>
          <p:cNvSpPr/>
          <p:nvPr/>
        </p:nvSpPr>
        <p:spPr>
          <a:xfrm>
            <a:off x="457200" y="3328416"/>
            <a:ext cx="2103120" cy="384048"/>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Weight</a:t>
            </a:r>
            <a:endParaRPr lang="en-US" sz="1050" dirty="0"/>
          </a:p>
        </p:txBody>
      </p:sp>
      <p:sp>
        <p:nvSpPr>
          <p:cNvPr id="32" name="Shape 30"/>
          <p:cNvSpPr/>
          <p:nvPr/>
        </p:nvSpPr>
        <p:spPr>
          <a:xfrm>
            <a:off x="2560320" y="3328416"/>
            <a:ext cx="1554480" cy="384048"/>
          </a:xfrm>
          <a:prstGeom prst="rect">
            <a:avLst/>
          </a:prstGeom>
          <a:solidFill>
            <a:srgbClr val="F0F5F6"/>
          </a:solidFill>
          <a:ln w="6350">
            <a:solidFill>
              <a:srgbClr val="D7E2E6"/>
            </a:solidFill>
            <a:prstDash val="solid"/>
          </a:ln>
        </p:spPr>
      </p:sp>
      <p:sp>
        <p:nvSpPr>
          <p:cNvPr id="33" name="Text 31"/>
          <p:cNvSpPr/>
          <p:nvPr/>
        </p:nvSpPr>
        <p:spPr>
          <a:xfrm>
            <a:off x="2560320" y="3328416"/>
            <a:ext cx="1554480" cy="384048"/>
          </a:xfrm>
          <a:prstGeom prst="rect">
            <a:avLst/>
          </a:prstGeom>
          <a:noFill/>
          <a:ln/>
        </p:spPr>
        <p:txBody>
          <a:bodyPr wrap="square" rtlCol="0" anchor="ctr"/>
          <a:lstStyle/>
          <a:p>
            <a:pPr marL="0" indent="0" algn="ctr">
              <a:buNone/>
            </a:pPr>
            <a:r>
              <a:rPr lang="en-US" sz="1050" dirty="0">
                <a:solidFill>
                  <a:srgbClr val="17232E"/>
                </a:solidFill>
                <a:latin typeface="Courier New" pitchFamily="34" charset="0"/>
                <a:ea typeface="Courier New" pitchFamily="34" charset="-122"/>
                <a:cs typeface="Courier New" pitchFamily="34" charset="-120"/>
              </a:rPr>
              <a:t>0.97</a:t>
            </a:r>
            <a:endParaRPr lang="en-US" sz="1050" dirty="0"/>
          </a:p>
        </p:txBody>
      </p:sp>
      <p:sp>
        <p:nvSpPr>
          <p:cNvPr id="34" name="Shape 32"/>
          <p:cNvSpPr/>
          <p:nvPr/>
        </p:nvSpPr>
        <p:spPr>
          <a:xfrm>
            <a:off x="4114800" y="3328416"/>
            <a:ext cx="1463040" cy="384048"/>
          </a:xfrm>
          <a:prstGeom prst="rect">
            <a:avLst/>
          </a:prstGeom>
          <a:solidFill>
            <a:srgbClr val="F0F5F6"/>
          </a:solidFill>
          <a:ln w="6350">
            <a:solidFill>
              <a:srgbClr val="D7E2E6"/>
            </a:solidFill>
            <a:prstDash val="solid"/>
          </a:ln>
        </p:spPr>
      </p:sp>
      <p:sp>
        <p:nvSpPr>
          <p:cNvPr id="35" name="Text 33"/>
          <p:cNvSpPr/>
          <p:nvPr/>
        </p:nvSpPr>
        <p:spPr>
          <a:xfrm>
            <a:off x="4114800" y="3328416"/>
            <a:ext cx="1463040" cy="384048"/>
          </a:xfrm>
          <a:prstGeom prst="rect">
            <a:avLst/>
          </a:prstGeom>
          <a:noFill/>
          <a:ln/>
        </p:spPr>
        <p:txBody>
          <a:bodyPr wrap="square" rtlCol="0" anchor="ctr"/>
          <a:lstStyle/>
          <a:p>
            <a:pPr marL="0" indent="0" algn="ctr">
              <a:buNone/>
            </a:pPr>
            <a:r>
              <a:rPr lang="en-US" sz="1050" dirty="0">
                <a:solidFill>
                  <a:srgbClr val="17232E"/>
                </a:solidFill>
                <a:latin typeface="Courier New" pitchFamily="34" charset="0"/>
                <a:ea typeface="Courier New" pitchFamily="34" charset="-122"/>
                <a:cs typeface="Courier New" pitchFamily="34" charset="-120"/>
              </a:rPr>
              <a:t>0.000</a:t>
            </a:r>
            <a:endParaRPr lang="en-US" sz="1050" dirty="0"/>
          </a:p>
        </p:txBody>
      </p:sp>
      <p:sp>
        <p:nvSpPr>
          <p:cNvPr id="36" name="Shape 34"/>
          <p:cNvSpPr/>
          <p:nvPr/>
        </p:nvSpPr>
        <p:spPr>
          <a:xfrm>
            <a:off x="5577840" y="3328416"/>
            <a:ext cx="1371600" cy="384048"/>
          </a:xfrm>
          <a:prstGeom prst="rect">
            <a:avLst/>
          </a:prstGeom>
          <a:solidFill>
            <a:srgbClr val="FFF3E0"/>
          </a:solidFill>
          <a:ln w="6350">
            <a:solidFill>
              <a:srgbClr val="D7E2E6"/>
            </a:solidFill>
            <a:prstDash val="solid"/>
          </a:ln>
        </p:spPr>
      </p:sp>
      <p:sp>
        <p:nvSpPr>
          <p:cNvPr id="37" name="Text 35"/>
          <p:cNvSpPr/>
          <p:nvPr/>
        </p:nvSpPr>
        <p:spPr>
          <a:xfrm>
            <a:off x="5577840" y="3328416"/>
            <a:ext cx="1371600" cy="384048"/>
          </a:xfrm>
          <a:prstGeom prst="rect">
            <a:avLst/>
          </a:prstGeom>
          <a:noFill/>
          <a:ln/>
        </p:spPr>
        <p:txBody>
          <a:bodyPr wrap="square" rtlCol="0" anchor="ctr"/>
          <a:lstStyle/>
          <a:p>
            <a:pPr marL="0" indent="0" algn="ctr">
              <a:buNone/>
            </a:pPr>
            <a:r>
              <a:rPr lang="en-US" sz="1050" b="1" dirty="0">
                <a:solidFill>
                  <a:srgbClr val="8A5A17"/>
                </a:solidFill>
                <a:latin typeface="Courier New" pitchFamily="34" charset="0"/>
                <a:ea typeface="Courier New" pitchFamily="34" charset="-122"/>
                <a:cs typeface="Courier New" pitchFamily="34" charset="-120"/>
              </a:rPr>
              <a:t>8.42</a:t>
            </a:r>
            <a:endParaRPr lang="en-US" sz="1050" dirty="0"/>
          </a:p>
        </p:txBody>
      </p:sp>
      <p:sp>
        <p:nvSpPr>
          <p:cNvPr id="38" name="Shape 36"/>
          <p:cNvSpPr/>
          <p:nvPr/>
        </p:nvSpPr>
        <p:spPr>
          <a:xfrm>
            <a:off x="457200" y="3712464"/>
            <a:ext cx="2103120" cy="384048"/>
          </a:xfrm>
          <a:prstGeom prst="rect">
            <a:avLst/>
          </a:prstGeom>
          <a:solidFill>
            <a:srgbClr val="FFFFFF"/>
          </a:solidFill>
          <a:ln w="6350">
            <a:solidFill>
              <a:srgbClr val="D7E2E6"/>
            </a:solidFill>
            <a:prstDash val="solid"/>
          </a:ln>
        </p:spPr>
      </p:sp>
      <p:sp>
        <p:nvSpPr>
          <p:cNvPr id="39" name="Text 37"/>
          <p:cNvSpPr/>
          <p:nvPr/>
        </p:nvSpPr>
        <p:spPr>
          <a:xfrm>
            <a:off x="457200" y="3712464"/>
            <a:ext cx="2103120" cy="384048"/>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BSA</a:t>
            </a:r>
            <a:endParaRPr lang="en-US" sz="1050" dirty="0"/>
          </a:p>
        </p:txBody>
      </p:sp>
      <p:sp>
        <p:nvSpPr>
          <p:cNvPr id="40" name="Shape 38"/>
          <p:cNvSpPr/>
          <p:nvPr/>
        </p:nvSpPr>
        <p:spPr>
          <a:xfrm>
            <a:off x="2560320" y="3712464"/>
            <a:ext cx="1554480" cy="384048"/>
          </a:xfrm>
          <a:prstGeom prst="rect">
            <a:avLst/>
          </a:prstGeom>
          <a:solidFill>
            <a:srgbClr val="FFFFFF"/>
          </a:solidFill>
          <a:ln w="6350">
            <a:solidFill>
              <a:srgbClr val="D7E2E6"/>
            </a:solidFill>
            <a:prstDash val="solid"/>
          </a:ln>
        </p:spPr>
      </p:sp>
      <p:sp>
        <p:nvSpPr>
          <p:cNvPr id="41" name="Text 39"/>
          <p:cNvSpPr/>
          <p:nvPr/>
        </p:nvSpPr>
        <p:spPr>
          <a:xfrm>
            <a:off x="2560320" y="3712464"/>
            <a:ext cx="1554480" cy="384048"/>
          </a:xfrm>
          <a:prstGeom prst="rect">
            <a:avLst/>
          </a:prstGeom>
          <a:noFill/>
          <a:ln/>
        </p:spPr>
        <p:txBody>
          <a:bodyPr wrap="square" rtlCol="0" anchor="ctr"/>
          <a:lstStyle/>
          <a:p>
            <a:pPr marL="0" indent="0" algn="ctr">
              <a:buNone/>
            </a:pPr>
            <a:r>
              <a:rPr lang="en-US" sz="1050" dirty="0">
                <a:solidFill>
                  <a:srgbClr val="17232E"/>
                </a:solidFill>
                <a:latin typeface="Courier New" pitchFamily="34" charset="0"/>
                <a:ea typeface="Courier New" pitchFamily="34" charset="-122"/>
                <a:cs typeface="Courier New" pitchFamily="34" charset="-120"/>
              </a:rPr>
              <a:t>3.78</a:t>
            </a:r>
            <a:endParaRPr lang="en-US" sz="1050" dirty="0"/>
          </a:p>
        </p:txBody>
      </p:sp>
      <p:sp>
        <p:nvSpPr>
          <p:cNvPr id="42" name="Shape 40"/>
          <p:cNvSpPr/>
          <p:nvPr/>
        </p:nvSpPr>
        <p:spPr>
          <a:xfrm>
            <a:off x="4114800" y="3712464"/>
            <a:ext cx="1463040" cy="384048"/>
          </a:xfrm>
          <a:prstGeom prst="rect">
            <a:avLst/>
          </a:prstGeom>
          <a:solidFill>
            <a:srgbClr val="FFFFFF"/>
          </a:solidFill>
          <a:ln w="6350">
            <a:solidFill>
              <a:srgbClr val="D7E2E6"/>
            </a:solidFill>
            <a:prstDash val="solid"/>
          </a:ln>
        </p:spPr>
      </p:sp>
      <p:sp>
        <p:nvSpPr>
          <p:cNvPr id="43" name="Text 41"/>
          <p:cNvSpPr/>
          <p:nvPr/>
        </p:nvSpPr>
        <p:spPr>
          <a:xfrm>
            <a:off x="4114800" y="3712464"/>
            <a:ext cx="1463040" cy="384048"/>
          </a:xfrm>
          <a:prstGeom prst="rect">
            <a:avLst/>
          </a:prstGeom>
          <a:noFill/>
          <a:ln/>
        </p:spPr>
        <p:txBody>
          <a:bodyPr wrap="square" rtlCol="0" anchor="ctr"/>
          <a:lstStyle/>
          <a:p>
            <a:pPr marL="0" indent="0" algn="ctr">
              <a:buNone/>
            </a:pPr>
            <a:r>
              <a:rPr lang="en-US" sz="1050" dirty="0">
                <a:solidFill>
                  <a:srgbClr val="17232E"/>
                </a:solidFill>
                <a:latin typeface="Courier New" pitchFamily="34" charset="0"/>
                <a:ea typeface="Courier New" pitchFamily="34" charset="-122"/>
                <a:cs typeface="Courier New" pitchFamily="34" charset="-120"/>
              </a:rPr>
              <a:t>0.182</a:t>
            </a:r>
            <a:endParaRPr lang="en-US" sz="1050" dirty="0"/>
          </a:p>
        </p:txBody>
      </p:sp>
      <p:sp>
        <p:nvSpPr>
          <p:cNvPr id="44" name="Shape 42"/>
          <p:cNvSpPr/>
          <p:nvPr/>
        </p:nvSpPr>
        <p:spPr>
          <a:xfrm>
            <a:off x="5577840" y="3712464"/>
            <a:ext cx="1371600" cy="384048"/>
          </a:xfrm>
          <a:prstGeom prst="rect">
            <a:avLst/>
          </a:prstGeom>
          <a:solidFill>
            <a:srgbClr val="FFF3E0"/>
          </a:solidFill>
          <a:ln w="6350">
            <a:solidFill>
              <a:srgbClr val="D7E2E6"/>
            </a:solidFill>
            <a:prstDash val="solid"/>
          </a:ln>
        </p:spPr>
      </p:sp>
      <p:sp>
        <p:nvSpPr>
          <p:cNvPr id="45" name="Text 43"/>
          <p:cNvSpPr/>
          <p:nvPr/>
        </p:nvSpPr>
        <p:spPr>
          <a:xfrm>
            <a:off x="5577840" y="3712464"/>
            <a:ext cx="1371600" cy="384048"/>
          </a:xfrm>
          <a:prstGeom prst="rect">
            <a:avLst/>
          </a:prstGeom>
          <a:noFill/>
          <a:ln/>
        </p:spPr>
        <p:txBody>
          <a:bodyPr wrap="square" rtlCol="0" anchor="ctr"/>
          <a:lstStyle/>
          <a:p>
            <a:pPr marL="0" indent="0" algn="ctr">
              <a:buNone/>
            </a:pPr>
            <a:r>
              <a:rPr lang="en-US" sz="1050" b="1" dirty="0">
                <a:solidFill>
                  <a:srgbClr val="8A5A17"/>
                </a:solidFill>
                <a:latin typeface="Courier New" pitchFamily="34" charset="0"/>
                <a:ea typeface="Courier New" pitchFamily="34" charset="-122"/>
                <a:cs typeface="Courier New" pitchFamily="34" charset="-120"/>
              </a:rPr>
              <a:t>5.33</a:t>
            </a:r>
            <a:endParaRPr lang="en-US" sz="1050" dirty="0"/>
          </a:p>
        </p:txBody>
      </p:sp>
      <p:sp>
        <p:nvSpPr>
          <p:cNvPr id="46" name="Shape 44"/>
          <p:cNvSpPr/>
          <p:nvPr/>
        </p:nvSpPr>
        <p:spPr>
          <a:xfrm>
            <a:off x="457200" y="4096512"/>
            <a:ext cx="2103120" cy="384048"/>
          </a:xfrm>
          <a:prstGeom prst="rect">
            <a:avLst/>
          </a:prstGeom>
          <a:solidFill>
            <a:srgbClr val="F0F5F6"/>
          </a:solidFill>
          <a:ln w="6350">
            <a:solidFill>
              <a:srgbClr val="D7E2E6"/>
            </a:solidFill>
            <a:prstDash val="solid"/>
          </a:ln>
        </p:spPr>
      </p:sp>
      <p:sp>
        <p:nvSpPr>
          <p:cNvPr id="47" name="Text 45"/>
          <p:cNvSpPr/>
          <p:nvPr/>
        </p:nvSpPr>
        <p:spPr>
          <a:xfrm>
            <a:off x="457200" y="4096512"/>
            <a:ext cx="2103120" cy="384048"/>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Duration</a:t>
            </a:r>
            <a:endParaRPr lang="en-US" sz="1050" dirty="0"/>
          </a:p>
        </p:txBody>
      </p:sp>
      <p:sp>
        <p:nvSpPr>
          <p:cNvPr id="48" name="Shape 46"/>
          <p:cNvSpPr/>
          <p:nvPr/>
        </p:nvSpPr>
        <p:spPr>
          <a:xfrm>
            <a:off x="2560320" y="4096512"/>
            <a:ext cx="1554480" cy="384048"/>
          </a:xfrm>
          <a:prstGeom prst="rect">
            <a:avLst/>
          </a:prstGeom>
          <a:solidFill>
            <a:srgbClr val="F0F5F6"/>
          </a:solidFill>
          <a:ln w="6350">
            <a:solidFill>
              <a:srgbClr val="D7E2E6"/>
            </a:solidFill>
            <a:prstDash val="solid"/>
          </a:ln>
        </p:spPr>
      </p:sp>
      <p:sp>
        <p:nvSpPr>
          <p:cNvPr id="49" name="Text 47"/>
          <p:cNvSpPr/>
          <p:nvPr/>
        </p:nvSpPr>
        <p:spPr>
          <a:xfrm>
            <a:off x="2560320" y="4096512"/>
            <a:ext cx="1554480" cy="384048"/>
          </a:xfrm>
          <a:prstGeom prst="rect">
            <a:avLst/>
          </a:prstGeom>
          <a:noFill/>
          <a:ln/>
        </p:spPr>
        <p:txBody>
          <a:bodyPr wrap="square" rtlCol="0" anchor="ctr"/>
          <a:lstStyle/>
          <a:p>
            <a:pPr marL="0" indent="0" algn="ctr">
              <a:buNone/>
            </a:pPr>
            <a:r>
              <a:rPr lang="en-US" sz="1050" dirty="0">
                <a:solidFill>
                  <a:srgbClr val="17232E"/>
                </a:solidFill>
                <a:latin typeface="Courier New" pitchFamily="34" charset="0"/>
                <a:ea typeface="Courier New" pitchFamily="34" charset="-122"/>
                <a:cs typeface="Courier New" pitchFamily="34" charset="-120"/>
              </a:rPr>
              <a:t>0.068</a:t>
            </a:r>
            <a:endParaRPr lang="en-US" sz="1050" dirty="0"/>
          </a:p>
        </p:txBody>
      </p:sp>
      <p:sp>
        <p:nvSpPr>
          <p:cNvPr id="50" name="Shape 48"/>
          <p:cNvSpPr/>
          <p:nvPr/>
        </p:nvSpPr>
        <p:spPr>
          <a:xfrm>
            <a:off x="4114800" y="4096512"/>
            <a:ext cx="1463040" cy="384048"/>
          </a:xfrm>
          <a:prstGeom prst="rect">
            <a:avLst/>
          </a:prstGeom>
          <a:solidFill>
            <a:srgbClr val="F0F5F6"/>
          </a:solidFill>
          <a:ln w="6350">
            <a:solidFill>
              <a:srgbClr val="D7E2E6"/>
            </a:solidFill>
            <a:prstDash val="solid"/>
          </a:ln>
        </p:spPr>
      </p:sp>
      <p:sp>
        <p:nvSpPr>
          <p:cNvPr id="51" name="Text 49"/>
          <p:cNvSpPr/>
          <p:nvPr/>
        </p:nvSpPr>
        <p:spPr>
          <a:xfrm>
            <a:off x="4114800" y="4096512"/>
            <a:ext cx="1463040" cy="384048"/>
          </a:xfrm>
          <a:prstGeom prst="rect">
            <a:avLst/>
          </a:prstGeom>
          <a:noFill/>
          <a:ln/>
        </p:spPr>
        <p:txBody>
          <a:bodyPr wrap="square" rtlCol="0" anchor="ctr"/>
          <a:lstStyle/>
          <a:p>
            <a:pPr marL="0" indent="0" algn="ctr">
              <a:buNone/>
            </a:pPr>
            <a:r>
              <a:rPr lang="en-US" sz="1050" dirty="0">
                <a:solidFill>
                  <a:srgbClr val="17232E"/>
                </a:solidFill>
                <a:latin typeface="Courier New" pitchFamily="34" charset="0"/>
                <a:ea typeface="Courier New" pitchFamily="34" charset="-122"/>
                <a:cs typeface="Courier New" pitchFamily="34" charset="-120"/>
              </a:rPr>
              <a:t>0.126</a:t>
            </a:r>
            <a:endParaRPr lang="en-US" sz="1050" dirty="0"/>
          </a:p>
        </p:txBody>
      </p:sp>
      <p:sp>
        <p:nvSpPr>
          <p:cNvPr id="52" name="Shape 50"/>
          <p:cNvSpPr/>
          <p:nvPr/>
        </p:nvSpPr>
        <p:spPr>
          <a:xfrm>
            <a:off x="5577840" y="4096512"/>
            <a:ext cx="1371600" cy="384048"/>
          </a:xfrm>
          <a:prstGeom prst="rect">
            <a:avLst/>
          </a:prstGeom>
          <a:solidFill>
            <a:srgbClr val="F0F5F6"/>
          </a:solidFill>
          <a:ln w="6350">
            <a:solidFill>
              <a:srgbClr val="D7E2E6"/>
            </a:solidFill>
            <a:prstDash val="solid"/>
          </a:ln>
        </p:spPr>
      </p:sp>
      <p:sp>
        <p:nvSpPr>
          <p:cNvPr id="53" name="Text 51"/>
          <p:cNvSpPr/>
          <p:nvPr/>
        </p:nvSpPr>
        <p:spPr>
          <a:xfrm>
            <a:off x="5577840" y="4096512"/>
            <a:ext cx="1371600" cy="384048"/>
          </a:xfrm>
          <a:prstGeom prst="rect">
            <a:avLst/>
          </a:prstGeom>
          <a:noFill/>
          <a:ln/>
        </p:spPr>
        <p:txBody>
          <a:bodyPr wrap="square" rtlCol="0" anchor="ctr"/>
          <a:lstStyle/>
          <a:p>
            <a:pPr marL="0" indent="0" algn="ctr">
              <a:buNone/>
            </a:pPr>
            <a:r>
              <a:rPr lang="en-US" sz="1050" dirty="0">
                <a:solidFill>
                  <a:srgbClr val="17232E"/>
                </a:solidFill>
                <a:latin typeface="Courier New" pitchFamily="34" charset="0"/>
                <a:ea typeface="Courier New" pitchFamily="34" charset="-122"/>
                <a:cs typeface="Courier New" pitchFamily="34" charset="-120"/>
              </a:rPr>
              <a:t>1.24</a:t>
            </a:r>
            <a:endParaRPr lang="en-US" sz="1050" dirty="0"/>
          </a:p>
        </p:txBody>
      </p:sp>
      <p:sp>
        <p:nvSpPr>
          <p:cNvPr id="54" name="Shape 52"/>
          <p:cNvSpPr/>
          <p:nvPr/>
        </p:nvSpPr>
        <p:spPr>
          <a:xfrm>
            <a:off x="457200" y="4480560"/>
            <a:ext cx="2103120" cy="384048"/>
          </a:xfrm>
          <a:prstGeom prst="rect">
            <a:avLst/>
          </a:prstGeom>
          <a:solidFill>
            <a:srgbClr val="FFFFFF"/>
          </a:solidFill>
          <a:ln w="6350">
            <a:solidFill>
              <a:srgbClr val="D7E2E6"/>
            </a:solidFill>
            <a:prstDash val="solid"/>
          </a:ln>
        </p:spPr>
      </p:sp>
      <p:sp>
        <p:nvSpPr>
          <p:cNvPr id="55" name="Text 53"/>
          <p:cNvSpPr/>
          <p:nvPr/>
        </p:nvSpPr>
        <p:spPr>
          <a:xfrm>
            <a:off x="457200" y="4480560"/>
            <a:ext cx="2103120" cy="384048"/>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Pulse</a:t>
            </a:r>
            <a:endParaRPr lang="en-US" sz="1050" dirty="0"/>
          </a:p>
        </p:txBody>
      </p:sp>
      <p:sp>
        <p:nvSpPr>
          <p:cNvPr id="56" name="Shape 54"/>
          <p:cNvSpPr/>
          <p:nvPr/>
        </p:nvSpPr>
        <p:spPr>
          <a:xfrm>
            <a:off x="2560320" y="4480560"/>
            <a:ext cx="1554480" cy="384048"/>
          </a:xfrm>
          <a:prstGeom prst="rect">
            <a:avLst/>
          </a:prstGeom>
          <a:solidFill>
            <a:srgbClr val="FFFFFF"/>
          </a:solidFill>
          <a:ln w="6350">
            <a:solidFill>
              <a:srgbClr val="D7E2E6"/>
            </a:solidFill>
            <a:prstDash val="solid"/>
          </a:ln>
        </p:spPr>
      </p:sp>
      <p:sp>
        <p:nvSpPr>
          <p:cNvPr id="57" name="Text 55"/>
          <p:cNvSpPr/>
          <p:nvPr/>
        </p:nvSpPr>
        <p:spPr>
          <a:xfrm>
            <a:off x="2560320" y="4480560"/>
            <a:ext cx="1554480" cy="384048"/>
          </a:xfrm>
          <a:prstGeom prst="rect">
            <a:avLst/>
          </a:prstGeom>
          <a:noFill/>
          <a:ln/>
        </p:spPr>
        <p:txBody>
          <a:bodyPr wrap="square" rtlCol="0" anchor="ctr"/>
          <a:lstStyle/>
          <a:p>
            <a:pPr marL="0" indent="0" algn="ctr">
              <a:buNone/>
            </a:pPr>
            <a:r>
              <a:rPr lang="en-US" sz="1050" dirty="0">
                <a:solidFill>
                  <a:srgbClr val="17232E"/>
                </a:solidFill>
                <a:latin typeface="Courier New" pitchFamily="34" charset="0"/>
                <a:ea typeface="Courier New" pitchFamily="34" charset="-122"/>
                <a:cs typeface="Courier New" pitchFamily="34" charset="-120"/>
              </a:rPr>
              <a:t>−0.08</a:t>
            </a:r>
            <a:endParaRPr lang="en-US" sz="1050" dirty="0"/>
          </a:p>
        </p:txBody>
      </p:sp>
      <p:sp>
        <p:nvSpPr>
          <p:cNvPr id="58" name="Shape 56"/>
          <p:cNvSpPr/>
          <p:nvPr/>
        </p:nvSpPr>
        <p:spPr>
          <a:xfrm>
            <a:off x="4114800" y="4480560"/>
            <a:ext cx="1463040" cy="384048"/>
          </a:xfrm>
          <a:prstGeom prst="rect">
            <a:avLst/>
          </a:prstGeom>
          <a:solidFill>
            <a:srgbClr val="FFFFFF"/>
          </a:solidFill>
          <a:ln w="6350">
            <a:solidFill>
              <a:srgbClr val="D7E2E6"/>
            </a:solidFill>
            <a:prstDash val="solid"/>
          </a:ln>
        </p:spPr>
      </p:sp>
      <p:sp>
        <p:nvSpPr>
          <p:cNvPr id="59" name="Text 57"/>
          <p:cNvSpPr/>
          <p:nvPr/>
        </p:nvSpPr>
        <p:spPr>
          <a:xfrm>
            <a:off x="4114800" y="4480560"/>
            <a:ext cx="1463040" cy="384048"/>
          </a:xfrm>
          <a:prstGeom prst="rect">
            <a:avLst/>
          </a:prstGeom>
          <a:noFill/>
          <a:ln/>
        </p:spPr>
        <p:txBody>
          <a:bodyPr wrap="square" rtlCol="0" anchor="ctr"/>
          <a:lstStyle/>
          <a:p>
            <a:pPr marL="0" indent="0" algn="ctr">
              <a:buNone/>
            </a:pPr>
            <a:r>
              <a:rPr lang="en-US" sz="1050" dirty="0">
                <a:solidFill>
                  <a:srgbClr val="17232E"/>
                </a:solidFill>
                <a:latin typeface="Courier New" pitchFamily="34" charset="0"/>
                <a:ea typeface="Courier New" pitchFamily="34" charset="-122"/>
                <a:cs typeface="Courier New" pitchFamily="34" charset="-120"/>
              </a:rPr>
              <a:t>0.126</a:t>
            </a:r>
            <a:endParaRPr lang="en-US" sz="1050" dirty="0"/>
          </a:p>
        </p:txBody>
      </p:sp>
      <p:sp>
        <p:nvSpPr>
          <p:cNvPr id="60" name="Shape 58"/>
          <p:cNvSpPr/>
          <p:nvPr/>
        </p:nvSpPr>
        <p:spPr>
          <a:xfrm>
            <a:off x="5577840" y="4480560"/>
            <a:ext cx="1371600" cy="384048"/>
          </a:xfrm>
          <a:prstGeom prst="rect">
            <a:avLst/>
          </a:prstGeom>
          <a:solidFill>
            <a:srgbClr val="FFFFFF"/>
          </a:solidFill>
          <a:ln w="6350">
            <a:solidFill>
              <a:srgbClr val="D7E2E6"/>
            </a:solidFill>
            <a:prstDash val="solid"/>
          </a:ln>
        </p:spPr>
      </p:sp>
      <p:sp>
        <p:nvSpPr>
          <p:cNvPr id="61" name="Text 59"/>
          <p:cNvSpPr/>
          <p:nvPr/>
        </p:nvSpPr>
        <p:spPr>
          <a:xfrm>
            <a:off x="5577840" y="4480560"/>
            <a:ext cx="1371600" cy="384048"/>
          </a:xfrm>
          <a:prstGeom prst="rect">
            <a:avLst/>
          </a:prstGeom>
          <a:noFill/>
          <a:ln/>
        </p:spPr>
        <p:txBody>
          <a:bodyPr wrap="square" rtlCol="0" anchor="ctr"/>
          <a:lstStyle/>
          <a:p>
            <a:pPr marL="0" indent="0" algn="ctr">
              <a:buNone/>
            </a:pPr>
            <a:r>
              <a:rPr lang="en-US" sz="1050" dirty="0">
                <a:solidFill>
                  <a:srgbClr val="17232E"/>
                </a:solidFill>
                <a:latin typeface="Courier New" pitchFamily="34" charset="0"/>
                <a:ea typeface="Courier New" pitchFamily="34" charset="-122"/>
                <a:cs typeface="Courier New" pitchFamily="34" charset="-120"/>
              </a:rPr>
              <a:t>4.41</a:t>
            </a:r>
            <a:endParaRPr lang="en-US" sz="1050" dirty="0"/>
          </a:p>
        </p:txBody>
      </p:sp>
      <p:sp>
        <p:nvSpPr>
          <p:cNvPr id="62" name="Shape 60"/>
          <p:cNvSpPr/>
          <p:nvPr/>
        </p:nvSpPr>
        <p:spPr>
          <a:xfrm>
            <a:off x="457200" y="4864608"/>
            <a:ext cx="2103120" cy="384048"/>
          </a:xfrm>
          <a:prstGeom prst="rect">
            <a:avLst/>
          </a:prstGeom>
          <a:solidFill>
            <a:srgbClr val="F0F5F6"/>
          </a:solidFill>
          <a:ln w="6350">
            <a:solidFill>
              <a:srgbClr val="D7E2E6"/>
            </a:solidFill>
            <a:prstDash val="solid"/>
          </a:ln>
        </p:spPr>
      </p:sp>
      <p:sp>
        <p:nvSpPr>
          <p:cNvPr id="63" name="Text 61"/>
          <p:cNvSpPr/>
          <p:nvPr/>
        </p:nvSpPr>
        <p:spPr>
          <a:xfrm>
            <a:off x="457200" y="4864608"/>
            <a:ext cx="2103120" cy="384048"/>
          </a:xfrm>
          <a:prstGeom prst="rect">
            <a:avLst/>
          </a:prstGeom>
          <a:noFill/>
          <a:ln/>
        </p:spPr>
        <p:txBody>
          <a:bodyPr wrap="square" rtlCol="0" anchor="ctr"/>
          <a:lstStyle/>
          <a:p>
            <a:pPr marL="0" indent="0" algn="ctr">
              <a:buNone/>
            </a:pPr>
            <a:r>
              <a:rPr lang="en-US" sz="1050" dirty="0">
                <a:solidFill>
                  <a:srgbClr val="17232E"/>
                </a:solidFill>
                <a:latin typeface="Calibri" pitchFamily="34" charset="0"/>
                <a:ea typeface="Calibri" pitchFamily="34" charset="-122"/>
                <a:cs typeface="Calibri" pitchFamily="34" charset="-120"/>
              </a:rPr>
              <a:t>Stress</a:t>
            </a:r>
            <a:endParaRPr lang="en-US" sz="1050" dirty="0"/>
          </a:p>
        </p:txBody>
      </p:sp>
      <p:sp>
        <p:nvSpPr>
          <p:cNvPr id="64" name="Shape 62"/>
          <p:cNvSpPr/>
          <p:nvPr/>
        </p:nvSpPr>
        <p:spPr>
          <a:xfrm>
            <a:off x="2560320" y="4864608"/>
            <a:ext cx="1554480" cy="384048"/>
          </a:xfrm>
          <a:prstGeom prst="rect">
            <a:avLst/>
          </a:prstGeom>
          <a:solidFill>
            <a:srgbClr val="F0F5F6"/>
          </a:solidFill>
          <a:ln w="6350">
            <a:solidFill>
              <a:srgbClr val="D7E2E6"/>
            </a:solidFill>
            <a:prstDash val="solid"/>
          </a:ln>
        </p:spPr>
      </p:sp>
      <p:sp>
        <p:nvSpPr>
          <p:cNvPr id="65" name="Text 63"/>
          <p:cNvSpPr/>
          <p:nvPr/>
        </p:nvSpPr>
        <p:spPr>
          <a:xfrm>
            <a:off x="2560320" y="4864608"/>
            <a:ext cx="1554480" cy="384048"/>
          </a:xfrm>
          <a:prstGeom prst="rect">
            <a:avLst/>
          </a:prstGeom>
          <a:noFill/>
          <a:ln/>
        </p:spPr>
        <p:txBody>
          <a:bodyPr wrap="square" rtlCol="0" anchor="ctr"/>
          <a:lstStyle/>
          <a:p>
            <a:pPr marL="0" indent="0" algn="ctr">
              <a:buNone/>
            </a:pPr>
            <a:r>
              <a:rPr lang="en-US" sz="1050" dirty="0">
                <a:solidFill>
                  <a:srgbClr val="17232E"/>
                </a:solidFill>
                <a:latin typeface="Courier New" pitchFamily="34" charset="0"/>
                <a:ea typeface="Courier New" pitchFamily="34" charset="-122"/>
                <a:cs typeface="Courier New" pitchFamily="34" charset="-120"/>
              </a:rPr>
              <a:t>0.006</a:t>
            </a:r>
            <a:endParaRPr lang="en-US" sz="1050" dirty="0"/>
          </a:p>
        </p:txBody>
      </p:sp>
      <p:sp>
        <p:nvSpPr>
          <p:cNvPr id="66" name="Shape 64"/>
          <p:cNvSpPr/>
          <p:nvPr/>
        </p:nvSpPr>
        <p:spPr>
          <a:xfrm>
            <a:off x="4114800" y="4864608"/>
            <a:ext cx="1463040" cy="384048"/>
          </a:xfrm>
          <a:prstGeom prst="rect">
            <a:avLst/>
          </a:prstGeom>
          <a:solidFill>
            <a:srgbClr val="F0F5F6"/>
          </a:solidFill>
          <a:ln w="6350">
            <a:solidFill>
              <a:srgbClr val="D7E2E6"/>
            </a:solidFill>
            <a:prstDash val="solid"/>
          </a:ln>
        </p:spPr>
      </p:sp>
      <p:sp>
        <p:nvSpPr>
          <p:cNvPr id="67" name="Text 65"/>
          <p:cNvSpPr/>
          <p:nvPr/>
        </p:nvSpPr>
        <p:spPr>
          <a:xfrm>
            <a:off x="4114800" y="4864608"/>
            <a:ext cx="1463040" cy="384048"/>
          </a:xfrm>
          <a:prstGeom prst="rect">
            <a:avLst/>
          </a:prstGeom>
          <a:noFill/>
          <a:ln/>
        </p:spPr>
        <p:txBody>
          <a:bodyPr wrap="square" rtlCol="0" anchor="ctr"/>
          <a:lstStyle/>
          <a:p>
            <a:pPr marL="0" indent="0" algn="ctr">
              <a:buNone/>
            </a:pPr>
            <a:r>
              <a:rPr lang="en-US" sz="1050" dirty="0">
                <a:solidFill>
                  <a:srgbClr val="17232E"/>
                </a:solidFill>
                <a:latin typeface="Courier New" pitchFamily="34" charset="0"/>
                <a:ea typeface="Courier New" pitchFamily="34" charset="-122"/>
                <a:cs typeface="Courier New" pitchFamily="34" charset="-120"/>
              </a:rPr>
              <a:t>0.341</a:t>
            </a:r>
            <a:endParaRPr lang="en-US" sz="1050" dirty="0"/>
          </a:p>
        </p:txBody>
      </p:sp>
      <p:sp>
        <p:nvSpPr>
          <p:cNvPr id="68" name="Shape 66"/>
          <p:cNvSpPr/>
          <p:nvPr/>
        </p:nvSpPr>
        <p:spPr>
          <a:xfrm>
            <a:off x="5577840" y="4864608"/>
            <a:ext cx="1371600" cy="384048"/>
          </a:xfrm>
          <a:prstGeom prst="rect">
            <a:avLst/>
          </a:prstGeom>
          <a:solidFill>
            <a:srgbClr val="F0F5F6"/>
          </a:solidFill>
          <a:ln w="6350">
            <a:solidFill>
              <a:srgbClr val="D7E2E6"/>
            </a:solidFill>
            <a:prstDash val="solid"/>
          </a:ln>
        </p:spPr>
      </p:sp>
      <p:sp>
        <p:nvSpPr>
          <p:cNvPr id="69" name="Text 67"/>
          <p:cNvSpPr/>
          <p:nvPr/>
        </p:nvSpPr>
        <p:spPr>
          <a:xfrm>
            <a:off x="5577840" y="4864608"/>
            <a:ext cx="1371600" cy="384048"/>
          </a:xfrm>
          <a:prstGeom prst="rect">
            <a:avLst/>
          </a:prstGeom>
          <a:noFill/>
          <a:ln/>
        </p:spPr>
        <p:txBody>
          <a:bodyPr wrap="square" rtlCol="0" anchor="ctr"/>
          <a:lstStyle/>
          <a:p>
            <a:pPr marL="0" indent="0" algn="ctr">
              <a:buNone/>
            </a:pPr>
            <a:r>
              <a:rPr lang="en-US" sz="1050" dirty="0">
                <a:solidFill>
                  <a:srgbClr val="17232E"/>
                </a:solidFill>
                <a:latin typeface="Courier New" pitchFamily="34" charset="0"/>
                <a:ea typeface="Courier New" pitchFamily="34" charset="-122"/>
                <a:cs typeface="Courier New" pitchFamily="34" charset="-120"/>
              </a:rPr>
              <a:t>1.83</a:t>
            </a:r>
            <a:endParaRPr lang="en-US" sz="1050" dirty="0"/>
          </a:p>
        </p:txBody>
      </p:sp>
      <p:sp>
        <p:nvSpPr>
          <p:cNvPr id="70" name="Shape 68"/>
          <p:cNvSpPr/>
          <p:nvPr/>
        </p:nvSpPr>
        <p:spPr>
          <a:xfrm>
            <a:off x="7315200" y="2148840"/>
            <a:ext cx="4389120" cy="3429000"/>
          </a:xfrm>
          <a:prstGeom prst="roundRect">
            <a:avLst>
              <a:gd name="adj" fmla="val 2667"/>
            </a:avLst>
          </a:prstGeom>
          <a:solidFill>
            <a:srgbClr val="0B2A4A"/>
          </a:solidFill>
          <a:ln/>
        </p:spPr>
      </p:sp>
      <p:sp>
        <p:nvSpPr>
          <p:cNvPr id="71" name="Text 69"/>
          <p:cNvSpPr/>
          <p:nvPr/>
        </p:nvSpPr>
        <p:spPr>
          <a:xfrm>
            <a:off x="7589520" y="2377440"/>
            <a:ext cx="3840480" cy="274320"/>
          </a:xfrm>
          <a:prstGeom prst="rect">
            <a:avLst/>
          </a:prstGeom>
          <a:noFill/>
          <a:ln/>
        </p:spPr>
        <p:txBody>
          <a:bodyPr wrap="square" rtlCol="0" anchor="ctr"/>
          <a:lstStyle/>
          <a:p>
            <a:pPr marL="0" indent="0">
              <a:buNone/>
            </a:pPr>
            <a:r>
              <a:rPr lang="en-US" sz="1100" b="1" kern="0" spc="100" dirty="0">
                <a:solidFill>
                  <a:srgbClr val="F2A93B"/>
                </a:solidFill>
                <a:latin typeface="Calibri" pitchFamily="34" charset="0"/>
                <a:ea typeface="Calibri" pitchFamily="34" charset="-122"/>
                <a:cs typeface="Calibri" pitchFamily="34" charset="-120"/>
              </a:rPr>
              <a:t>VERIFYING VIF FOR WEIGHT</a:t>
            </a:r>
            <a:endParaRPr lang="en-US" sz="1100" dirty="0"/>
          </a:p>
        </p:txBody>
      </p:sp>
      <p:sp>
        <p:nvSpPr>
          <p:cNvPr id="72" name="Text 70"/>
          <p:cNvSpPr/>
          <p:nvPr/>
        </p:nvSpPr>
        <p:spPr>
          <a:xfrm>
            <a:off x="7589520" y="2743200"/>
            <a:ext cx="3840480" cy="548640"/>
          </a:xfrm>
          <a:prstGeom prst="rect">
            <a:avLst/>
          </a:prstGeom>
          <a:noFill/>
          <a:ln/>
        </p:spPr>
        <p:txBody>
          <a:bodyPr wrap="square" rtlCol="0" anchor="ctr"/>
          <a:lstStyle/>
          <a:p>
            <a:pPr marL="0" indent="0">
              <a:lnSpc>
                <a:spcPts val="1500"/>
              </a:lnSpc>
              <a:buNone/>
            </a:pPr>
            <a:r>
              <a:rPr lang="en-US" sz="1200" dirty="0">
                <a:solidFill>
                  <a:srgbClr val="DCEAF1"/>
                </a:solidFill>
                <a:latin typeface="Calibri" pitchFamily="34" charset="0"/>
                <a:ea typeface="Calibri" pitchFamily="34" charset="-122"/>
                <a:cs typeface="Calibri" pitchFamily="34" charset="-120"/>
              </a:rPr>
              <a:t>Regress Weight on the other five predictors (Age, BSA, Duration, Pulse, Stress):</a:t>
            </a:r>
            <a:endParaRPr lang="en-US" sz="1200" dirty="0"/>
          </a:p>
        </p:txBody>
      </p:sp>
      <p:sp>
        <p:nvSpPr>
          <p:cNvPr id="73" name="Shape 71"/>
          <p:cNvSpPr/>
          <p:nvPr/>
        </p:nvSpPr>
        <p:spPr>
          <a:xfrm>
            <a:off x="7589520" y="3383280"/>
            <a:ext cx="3840480" cy="502920"/>
          </a:xfrm>
          <a:prstGeom prst="roundRect">
            <a:avLst>
              <a:gd name="adj" fmla="val 10909"/>
            </a:avLst>
          </a:prstGeom>
          <a:solidFill>
            <a:srgbClr val="0F3A5F"/>
          </a:solidFill>
          <a:ln/>
        </p:spPr>
      </p:sp>
      <p:sp>
        <p:nvSpPr>
          <p:cNvPr id="74" name="Text 72"/>
          <p:cNvSpPr/>
          <p:nvPr/>
        </p:nvSpPr>
        <p:spPr>
          <a:xfrm>
            <a:off x="7589520" y="3383280"/>
            <a:ext cx="3840480" cy="502920"/>
          </a:xfrm>
          <a:prstGeom prst="rect">
            <a:avLst/>
          </a:prstGeom>
          <a:noFill/>
          <a:ln/>
        </p:spPr>
        <p:txBody>
          <a:bodyPr wrap="square" rtlCol="0" anchor="ctr"/>
          <a:lstStyle/>
          <a:p>
            <a:pPr marL="0" indent="0" algn="ctr">
              <a:buNone/>
            </a:pPr>
            <a:r>
              <a:rPr lang="en-US" sz="1500" b="1" dirty="0">
                <a:solidFill>
                  <a:srgbClr val="FFFFFF"/>
                </a:solidFill>
                <a:latin typeface="Courier New" pitchFamily="34" charset="0"/>
                <a:ea typeface="Courier New" pitchFamily="34" charset="-122"/>
                <a:cs typeface="Courier New" pitchFamily="34" charset="-120"/>
              </a:rPr>
              <a:t>R² = 0.881 (88.1%)</a:t>
            </a:r>
            <a:endParaRPr lang="en-US" sz="1500" dirty="0"/>
          </a:p>
        </p:txBody>
      </p:sp>
      <p:sp>
        <p:nvSpPr>
          <p:cNvPr id="75" name="Shape 73"/>
          <p:cNvSpPr/>
          <p:nvPr/>
        </p:nvSpPr>
        <p:spPr>
          <a:xfrm>
            <a:off x="7589520" y="4069080"/>
            <a:ext cx="3840480" cy="0"/>
          </a:xfrm>
          <a:prstGeom prst="line">
            <a:avLst/>
          </a:prstGeom>
          <a:noFill/>
          <a:ln w="12700">
            <a:solidFill>
              <a:srgbClr val="2C5578"/>
            </a:solidFill>
            <a:prstDash val="solid"/>
          </a:ln>
        </p:spPr>
      </p:sp>
      <p:sp>
        <p:nvSpPr>
          <p:cNvPr id="76" name="Text 74"/>
          <p:cNvSpPr/>
          <p:nvPr/>
        </p:nvSpPr>
        <p:spPr>
          <a:xfrm>
            <a:off x="7589520" y="4206240"/>
            <a:ext cx="3840480" cy="1188720"/>
          </a:xfrm>
          <a:prstGeom prst="rect">
            <a:avLst/>
          </a:prstGeom>
          <a:noFill/>
          <a:ln/>
        </p:spPr>
        <p:txBody>
          <a:bodyPr wrap="square" rtlCol="0" anchor="ctr"/>
          <a:lstStyle/>
          <a:p>
            <a:pPr marL="0" indent="0">
              <a:lnSpc>
                <a:spcPts val="2000"/>
              </a:lnSpc>
              <a:buNone/>
            </a:pPr>
            <a:r>
              <a:rPr lang="en-US" sz="1400" b="1" dirty="0">
                <a:solidFill>
                  <a:srgbClr val="F2A93B"/>
                </a:solidFill>
                <a:latin typeface="Courier New" pitchFamily="34" charset="0"/>
                <a:ea typeface="Courier New" pitchFamily="34" charset="-122"/>
                <a:cs typeface="Courier New" pitchFamily="34" charset="-120"/>
              </a:rPr>
              <a:t>VIF = 1 / (1 − 0.881)</a:t>
            </a:r>
            <a:endParaRPr lang="en-US" sz="1400" dirty="0"/>
          </a:p>
          <a:p>
            <a:pPr marL="0" indent="0">
              <a:lnSpc>
                <a:spcPts val="2000"/>
              </a:lnSpc>
              <a:buNone/>
            </a:pPr>
            <a:r>
              <a:rPr lang="en-US" sz="1400" b="1" dirty="0">
                <a:solidFill>
                  <a:srgbClr val="F2A93B"/>
                </a:solidFill>
                <a:latin typeface="Courier New" pitchFamily="34" charset="0"/>
                <a:ea typeface="Courier New" pitchFamily="34" charset="-122"/>
                <a:cs typeface="Courier New" pitchFamily="34" charset="-120"/>
              </a:rPr>
              <a:t>     = 1 / 0.119</a:t>
            </a:r>
            <a:endParaRPr lang="en-US" sz="1400" dirty="0"/>
          </a:p>
          <a:p>
            <a:pPr marL="0" indent="0">
              <a:lnSpc>
                <a:spcPts val="2000"/>
              </a:lnSpc>
              <a:buNone/>
            </a:pPr>
            <a:r>
              <a:rPr lang="en-US" sz="1400" b="1" dirty="0">
                <a:solidFill>
                  <a:srgbClr val="F2A93B"/>
                </a:solidFill>
                <a:latin typeface="Courier New" pitchFamily="34" charset="0"/>
                <a:ea typeface="Courier New" pitchFamily="34" charset="-122"/>
                <a:cs typeface="Courier New" pitchFamily="34" charset="-120"/>
              </a:rPr>
              <a:t>     ≈ 8.42</a:t>
            </a:r>
            <a:endParaRPr lang="en-US" sz="1400" dirty="0"/>
          </a:p>
        </p:txBody>
      </p:sp>
      <p:sp>
        <p:nvSpPr>
          <p:cNvPr id="77" name="Text 75"/>
          <p:cNvSpPr/>
          <p:nvPr/>
        </p:nvSpPr>
        <p:spPr>
          <a:xfrm>
            <a:off x="457200" y="5715000"/>
            <a:ext cx="11247120" cy="594360"/>
          </a:xfrm>
          <a:prstGeom prst="rect">
            <a:avLst/>
          </a:prstGeom>
          <a:noFill/>
          <a:ln/>
        </p:spPr>
        <p:txBody>
          <a:bodyPr wrap="square" rtlCol="0" anchor="ctr"/>
          <a:lstStyle/>
          <a:p>
            <a:pPr marL="0" indent="0">
              <a:lnSpc>
                <a:spcPts val="1500"/>
              </a:lnSpc>
              <a:buNone/>
            </a:pPr>
            <a:r>
              <a:rPr lang="en-US" sz="1200" i="1" dirty="0">
                <a:solidFill>
                  <a:srgbClr val="5C6B73"/>
                </a:solidFill>
                <a:latin typeface="Calibri" pitchFamily="34" charset="0"/>
                <a:ea typeface="Calibri" pitchFamily="34" charset="-122"/>
                <a:cs typeface="Calibri" pitchFamily="34" charset="-120"/>
              </a:rPr>
              <a:t>Weight's VIF of 8.42 means its coefficient's variance is inflated 8.4× because Weight is highly correlated with at least one other predictor in the model.</a:t>
            </a:r>
            <a:endParaRPr lang="en-US" sz="1200" dirty="0"/>
          </a:p>
        </p:txBody>
      </p:sp>
      <p:sp>
        <p:nvSpPr>
          <p:cNvPr id="78" name="Text 76"/>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5C6B73"/>
                </a:solidFill>
                <a:latin typeface="Calibri" pitchFamily="34" charset="0"/>
                <a:ea typeface="Calibri" pitchFamily="34" charset="-122"/>
                <a:cs typeface="Calibri" pitchFamily="34" charset="-120"/>
              </a:rPr>
              <a:t>Multiple Linear Regression</a:t>
            </a:r>
            <a:endParaRPr lang="en-US" sz="900" dirty="0"/>
          </a:p>
        </p:txBody>
      </p:sp>
      <p:sp>
        <p:nvSpPr>
          <p:cNvPr id="79" name="Text 7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19</a:t>
            </a:r>
            <a:endParaRPr lang="en-US" sz="9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0">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365760"/>
          </a:xfrm>
          <a:prstGeom prst="roundRect">
            <a:avLst>
              <a:gd name="adj" fmla="val 20000"/>
            </a:avLst>
          </a:prstGeom>
          <a:solidFill>
            <a:srgbClr val="E5F0F4"/>
          </a:solidFill>
          <a:ln/>
        </p:spPr>
      </p:sp>
      <p:sp>
        <p:nvSpPr>
          <p:cNvPr id="3" name="Text 1"/>
          <p:cNvSpPr/>
          <p:nvPr/>
        </p:nvSpPr>
        <p:spPr>
          <a:xfrm>
            <a:off x="457200" y="411480"/>
            <a:ext cx="2103120" cy="365760"/>
          </a:xfrm>
          <a:prstGeom prst="rect">
            <a:avLst/>
          </a:prstGeom>
          <a:noFill/>
          <a:ln/>
        </p:spPr>
        <p:txBody>
          <a:bodyPr wrap="square" rtlCol="0" anchor="ctr"/>
          <a:lstStyle/>
          <a:p>
            <a:pPr marL="0" indent="0" algn="ctr">
              <a:buNone/>
            </a:pPr>
            <a:r>
              <a:rPr lang="en-US" sz="1100" b="1" kern="0" spc="100" dirty="0">
                <a:solidFill>
                  <a:srgbClr val="065A82"/>
                </a:solidFill>
                <a:latin typeface="Calibri" pitchFamily="34" charset="0"/>
                <a:ea typeface="Calibri" pitchFamily="34" charset="-122"/>
                <a:cs typeface="Calibri" pitchFamily="34" charset="-120"/>
              </a:rPr>
              <a:t>PART 2 · SOLUTIONS</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3000" b="1" dirty="0">
                <a:solidFill>
                  <a:srgbClr val="0B2A4A"/>
                </a:solidFill>
                <a:latin typeface="Cambria" pitchFamily="34" charset="0"/>
                <a:ea typeface="Cambria" pitchFamily="34" charset="-122"/>
                <a:cs typeface="Cambria" pitchFamily="34" charset="-120"/>
              </a:rPr>
              <a:t>Dealing With Multicollinearity</a:t>
            </a:r>
            <a:endParaRPr lang="en-US" sz="3000" dirty="0"/>
          </a:p>
        </p:txBody>
      </p:sp>
      <p:sp>
        <p:nvSpPr>
          <p:cNvPr id="5" name="Shape 3"/>
          <p:cNvSpPr/>
          <p:nvPr/>
        </p:nvSpPr>
        <p:spPr>
          <a:xfrm>
            <a:off x="457200" y="1691640"/>
            <a:ext cx="3566160" cy="4206240"/>
          </a:xfrm>
          <a:prstGeom prst="roundRect">
            <a:avLst>
              <a:gd name="adj" fmla="val 2564"/>
            </a:avLst>
          </a:prstGeom>
          <a:solidFill>
            <a:srgbClr val="FFFFFF"/>
          </a:solidFill>
          <a:ln w="12700">
            <a:solidFill>
              <a:srgbClr val="D7E2E6"/>
            </a:solidFill>
            <a:prstDash val="solid"/>
          </a:ln>
          <a:effectLst>
            <a:outerShdw blurRad="76200" dist="25400" dir="5400000" algn="bl" rotWithShape="0">
              <a:srgbClr val="1A1A2E">
                <a:alpha val="10000"/>
              </a:srgbClr>
            </a:outerShdw>
          </a:effectLst>
        </p:spPr>
      </p:sp>
      <p:sp>
        <p:nvSpPr>
          <p:cNvPr id="6" name="Shape 4"/>
          <p:cNvSpPr/>
          <p:nvPr/>
        </p:nvSpPr>
        <p:spPr>
          <a:xfrm>
            <a:off x="777240" y="2011680"/>
            <a:ext cx="594360" cy="594360"/>
          </a:xfrm>
          <a:prstGeom prst="ellipse">
            <a:avLst/>
          </a:prstGeom>
          <a:solidFill>
            <a:srgbClr val="065A82"/>
          </a:solidFill>
          <a:ln/>
        </p:spPr>
      </p:sp>
      <p:sp>
        <p:nvSpPr>
          <p:cNvPr id="7" name="Text 5"/>
          <p:cNvSpPr/>
          <p:nvPr/>
        </p:nvSpPr>
        <p:spPr>
          <a:xfrm>
            <a:off x="777240" y="2011680"/>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731520" y="2743200"/>
            <a:ext cx="3017520" cy="548640"/>
          </a:xfrm>
          <a:prstGeom prst="rect">
            <a:avLst/>
          </a:prstGeom>
          <a:noFill/>
          <a:ln/>
        </p:spPr>
        <p:txBody>
          <a:bodyPr wrap="square" rtlCol="0" anchor="ctr"/>
          <a:lstStyle/>
          <a:p>
            <a:pPr marL="0" indent="0">
              <a:buNone/>
            </a:pPr>
            <a:r>
              <a:rPr lang="en-US" sz="1700" b="1" dirty="0">
                <a:solidFill>
                  <a:srgbClr val="0B2A4A"/>
                </a:solidFill>
                <a:latin typeface="Cambria" pitchFamily="34" charset="0"/>
                <a:ea typeface="Cambria" pitchFamily="34" charset="-122"/>
                <a:cs typeface="Cambria" pitchFamily="34" charset="-120"/>
              </a:rPr>
              <a:t>Drop Variables</a:t>
            </a:r>
            <a:endParaRPr lang="en-US" sz="1700" dirty="0"/>
          </a:p>
        </p:txBody>
      </p:sp>
      <p:sp>
        <p:nvSpPr>
          <p:cNvPr id="9" name="Text 7"/>
          <p:cNvSpPr/>
          <p:nvPr/>
        </p:nvSpPr>
        <p:spPr>
          <a:xfrm>
            <a:off x="731520" y="3337560"/>
            <a:ext cx="3017520" cy="1554480"/>
          </a:xfrm>
          <a:prstGeom prst="rect">
            <a:avLst/>
          </a:prstGeom>
          <a:noFill/>
          <a:ln/>
        </p:spPr>
        <p:txBody>
          <a:bodyPr wrap="square" rtlCol="0" anchor="ctr"/>
          <a:lstStyle/>
          <a:p>
            <a:pPr marL="0" indent="0">
              <a:lnSpc>
                <a:spcPts val="1600"/>
              </a:lnSpc>
              <a:buNone/>
            </a:pPr>
            <a:r>
              <a:rPr lang="en-US" sz="1250" dirty="0">
                <a:solidFill>
                  <a:srgbClr val="5C6B73"/>
                </a:solidFill>
                <a:latin typeface="Calibri" pitchFamily="34" charset="0"/>
                <a:ea typeface="Calibri" pitchFamily="34" charset="-122"/>
                <a:cs typeface="Calibri" pitchFamily="34" charset="-120"/>
              </a:rPr>
              <a:t>Remove the predictor that is highly correlated with others, or pick the one that's more business-interpretable.</a:t>
            </a:r>
            <a:endParaRPr lang="en-US" sz="1250" dirty="0"/>
          </a:p>
        </p:txBody>
      </p:sp>
      <p:sp>
        <p:nvSpPr>
          <p:cNvPr id="10" name="Shape 8"/>
          <p:cNvSpPr/>
          <p:nvPr/>
        </p:nvSpPr>
        <p:spPr>
          <a:xfrm>
            <a:off x="4343400" y="1691640"/>
            <a:ext cx="3566160" cy="4206240"/>
          </a:xfrm>
          <a:prstGeom prst="roundRect">
            <a:avLst>
              <a:gd name="adj" fmla="val 2564"/>
            </a:avLst>
          </a:prstGeom>
          <a:solidFill>
            <a:srgbClr val="FFFFFF"/>
          </a:solidFill>
          <a:ln w="12700">
            <a:solidFill>
              <a:srgbClr val="D7E2E6"/>
            </a:solidFill>
            <a:prstDash val="solid"/>
          </a:ln>
          <a:effectLst>
            <a:outerShdw blurRad="76200" dist="25400" dir="5400000" algn="bl" rotWithShape="0">
              <a:srgbClr val="1A1A2E">
                <a:alpha val="10000"/>
              </a:srgbClr>
            </a:outerShdw>
          </a:effectLst>
        </p:spPr>
      </p:sp>
      <p:sp>
        <p:nvSpPr>
          <p:cNvPr id="11" name="Shape 9"/>
          <p:cNvSpPr/>
          <p:nvPr/>
        </p:nvSpPr>
        <p:spPr>
          <a:xfrm>
            <a:off x="4663440" y="2011680"/>
            <a:ext cx="594360" cy="594360"/>
          </a:xfrm>
          <a:prstGeom prst="ellipse">
            <a:avLst/>
          </a:prstGeom>
          <a:solidFill>
            <a:srgbClr val="065A82"/>
          </a:solidFill>
          <a:ln/>
        </p:spPr>
      </p:sp>
      <p:sp>
        <p:nvSpPr>
          <p:cNvPr id="12" name="Text 10"/>
          <p:cNvSpPr/>
          <p:nvPr/>
        </p:nvSpPr>
        <p:spPr>
          <a:xfrm>
            <a:off x="4663440" y="2011680"/>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1"/>
          <p:cNvSpPr/>
          <p:nvPr/>
        </p:nvSpPr>
        <p:spPr>
          <a:xfrm>
            <a:off x="4617720" y="2743200"/>
            <a:ext cx="3017520" cy="548640"/>
          </a:xfrm>
          <a:prstGeom prst="rect">
            <a:avLst/>
          </a:prstGeom>
          <a:noFill/>
          <a:ln/>
        </p:spPr>
        <p:txBody>
          <a:bodyPr wrap="square" rtlCol="0" anchor="ctr"/>
          <a:lstStyle/>
          <a:p>
            <a:pPr marL="0" indent="0">
              <a:buNone/>
            </a:pPr>
            <a:r>
              <a:rPr lang="en-US" sz="1700" b="1" dirty="0">
                <a:solidFill>
                  <a:srgbClr val="0B2A4A"/>
                </a:solidFill>
                <a:latin typeface="Cambria" pitchFamily="34" charset="0"/>
                <a:ea typeface="Cambria" pitchFamily="34" charset="-122"/>
                <a:cs typeface="Cambria" pitchFamily="34" charset="-120"/>
              </a:rPr>
              <a:t>Create New Variables</a:t>
            </a:r>
            <a:endParaRPr lang="en-US" sz="1700" dirty="0"/>
          </a:p>
        </p:txBody>
      </p:sp>
      <p:sp>
        <p:nvSpPr>
          <p:cNvPr id="14" name="Text 12"/>
          <p:cNvSpPr/>
          <p:nvPr/>
        </p:nvSpPr>
        <p:spPr>
          <a:xfrm>
            <a:off x="4617720" y="3337560"/>
            <a:ext cx="3017520" cy="1554480"/>
          </a:xfrm>
          <a:prstGeom prst="rect">
            <a:avLst/>
          </a:prstGeom>
          <a:noFill/>
          <a:ln/>
        </p:spPr>
        <p:txBody>
          <a:bodyPr wrap="square" rtlCol="0" anchor="ctr"/>
          <a:lstStyle/>
          <a:p>
            <a:pPr marL="0" indent="0">
              <a:lnSpc>
                <a:spcPts val="1600"/>
              </a:lnSpc>
              <a:buNone/>
            </a:pPr>
            <a:r>
              <a:rPr lang="en-US" sz="1250" dirty="0">
                <a:solidFill>
                  <a:srgbClr val="5C6B73"/>
                </a:solidFill>
                <a:latin typeface="Calibri" pitchFamily="34" charset="0"/>
                <a:ea typeface="Calibri" pitchFamily="34" charset="-122"/>
                <a:cs typeface="Calibri" pitchFamily="34" charset="-120"/>
              </a:rPr>
              <a:t>Combine correlated predictors into a single engineered feature, e.g. an interaction or ratio term.</a:t>
            </a:r>
            <a:endParaRPr lang="en-US" sz="1250" dirty="0"/>
          </a:p>
        </p:txBody>
      </p:sp>
      <p:sp>
        <p:nvSpPr>
          <p:cNvPr id="15" name="Shape 13"/>
          <p:cNvSpPr/>
          <p:nvPr/>
        </p:nvSpPr>
        <p:spPr>
          <a:xfrm>
            <a:off x="8229600" y="1691640"/>
            <a:ext cx="3566160" cy="4206240"/>
          </a:xfrm>
          <a:prstGeom prst="roundRect">
            <a:avLst>
              <a:gd name="adj" fmla="val 2564"/>
            </a:avLst>
          </a:prstGeom>
          <a:solidFill>
            <a:srgbClr val="FFFFFF"/>
          </a:solidFill>
          <a:ln w="12700">
            <a:solidFill>
              <a:srgbClr val="D7E2E6"/>
            </a:solidFill>
            <a:prstDash val="solid"/>
          </a:ln>
          <a:effectLst>
            <a:outerShdw blurRad="76200" dist="25400" dir="5400000" algn="bl" rotWithShape="0">
              <a:srgbClr val="1A1A2E">
                <a:alpha val="10000"/>
              </a:srgbClr>
            </a:outerShdw>
          </a:effectLst>
        </p:spPr>
      </p:sp>
      <p:sp>
        <p:nvSpPr>
          <p:cNvPr id="16" name="Shape 14"/>
          <p:cNvSpPr/>
          <p:nvPr/>
        </p:nvSpPr>
        <p:spPr>
          <a:xfrm>
            <a:off x="8549640" y="2011680"/>
            <a:ext cx="594360" cy="594360"/>
          </a:xfrm>
          <a:prstGeom prst="ellipse">
            <a:avLst/>
          </a:prstGeom>
          <a:solidFill>
            <a:srgbClr val="065A82"/>
          </a:solidFill>
          <a:ln/>
        </p:spPr>
      </p:sp>
      <p:sp>
        <p:nvSpPr>
          <p:cNvPr id="17" name="Text 15"/>
          <p:cNvSpPr/>
          <p:nvPr/>
        </p:nvSpPr>
        <p:spPr>
          <a:xfrm>
            <a:off x="8549640" y="2011680"/>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8" name="Text 16"/>
          <p:cNvSpPr/>
          <p:nvPr/>
        </p:nvSpPr>
        <p:spPr>
          <a:xfrm>
            <a:off x="8503920" y="2743200"/>
            <a:ext cx="3017520" cy="548640"/>
          </a:xfrm>
          <a:prstGeom prst="rect">
            <a:avLst/>
          </a:prstGeom>
          <a:noFill/>
          <a:ln/>
        </p:spPr>
        <p:txBody>
          <a:bodyPr wrap="square" rtlCol="0" anchor="ctr"/>
          <a:lstStyle/>
          <a:p>
            <a:pPr marL="0" indent="0">
              <a:buNone/>
            </a:pPr>
            <a:r>
              <a:rPr lang="en-US" sz="1700" b="1" dirty="0">
                <a:solidFill>
                  <a:srgbClr val="0B2A4A"/>
                </a:solidFill>
                <a:latin typeface="Cambria" pitchFamily="34" charset="0"/>
                <a:ea typeface="Cambria" pitchFamily="34" charset="-122"/>
                <a:cs typeface="Cambria" pitchFamily="34" charset="-120"/>
              </a:rPr>
              <a:t>Transform Variables</a:t>
            </a:r>
            <a:endParaRPr lang="en-US" sz="1700" dirty="0"/>
          </a:p>
        </p:txBody>
      </p:sp>
      <p:sp>
        <p:nvSpPr>
          <p:cNvPr id="19" name="Text 17"/>
          <p:cNvSpPr/>
          <p:nvPr/>
        </p:nvSpPr>
        <p:spPr>
          <a:xfrm>
            <a:off x="8503920" y="3337560"/>
            <a:ext cx="3017520" cy="1554480"/>
          </a:xfrm>
          <a:prstGeom prst="rect">
            <a:avLst/>
          </a:prstGeom>
          <a:noFill/>
          <a:ln/>
        </p:spPr>
        <p:txBody>
          <a:bodyPr wrap="square" rtlCol="0" anchor="ctr"/>
          <a:lstStyle/>
          <a:p>
            <a:pPr marL="0" indent="0">
              <a:lnSpc>
                <a:spcPts val="1600"/>
              </a:lnSpc>
              <a:buNone/>
            </a:pPr>
            <a:r>
              <a:rPr lang="en-US" sz="1250" dirty="0">
                <a:solidFill>
                  <a:srgbClr val="5C6B73"/>
                </a:solidFill>
                <a:latin typeface="Calibri" pitchFamily="34" charset="0"/>
                <a:ea typeface="Calibri" pitchFamily="34" charset="-122"/>
                <a:cs typeface="Calibri" pitchFamily="34" charset="-120"/>
              </a:rPr>
              <a:t>Apply techniques like Principal Component Analysis (PCA) to convert correlated features into uncorrelated components.</a:t>
            </a:r>
            <a:endParaRPr lang="en-US" sz="1250" dirty="0"/>
          </a:p>
        </p:txBody>
      </p:sp>
      <p:sp>
        <p:nvSpPr>
          <p:cNvPr id="20" name="Shape 18"/>
          <p:cNvSpPr/>
          <p:nvPr/>
        </p:nvSpPr>
        <p:spPr>
          <a:xfrm>
            <a:off x="731520" y="5212080"/>
            <a:ext cx="3017520" cy="457200"/>
          </a:xfrm>
          <a:prstGeom prst="roundRect">
            <a:avLst>
              <a:gd name="adj" fmla="val 12000"/>
            </a:avLst>
          </a:prstGeom>
          <a:solidFill>
            <a:srgbClr val="E5F0F4"/>
          </a:solidFill>
          <a:ln/>
        </p:spPr>
      </p:sp>
      <p:sp>
        <p:nvSpPr>
          <p:cNvPr id="21" name="Text 19"/>
          <p:cNvSpPr/>
          <p:nvPr/>
        </p:nvSpPr>
        <p:spPr>
          <a:xfrm>
            <a:off x="731520" y="5212080"/>
            <a:ext cx="3017520" cy="457200"/>
          </a:xfrm>
          <a:prstGeom prst="rect">
            <a:avLst/>
          </a:prstGeom>
          <a:noFill/>
          <a:ln/>
        </p:spPr>
        <p:txBody>
          <a:bodyPr wrap="square" rtlCol="0" anchor="ctr"/>
          <a:lstStyle/>
          <a:p>
            <a:pPr marL="0" indent="0" algn="ctr">
              <a:buNone/>
            </a:pPr>
            <a:r>
              <a:rPr lang="en-US" sz="1050" i="1" dirty="0">
                <a:solidFill>
                  <a:srgbClr val="065A82"/>
                </a:solidFill>
                <a:latin typeface="Calibri" pitchFamily="34" charset="0"/>
                <a:ea typeface="Calibri" pitchFamily="34" charset="-122"/>
                <a:cs typeface="Calibri" pitchFamily="34" charset="-120"/>
              </a:rPr>
              <a:t>e.g. drop Weight, keep BSA</a:t>
            </a:r>
            <a:endParaRPr lang="en-US" sz="1050" dirty="0"/>
          </a:p>
        </p:txBody>
      </p:sp>
      <p:sp>
        <p:nvSpPr>
          <p:cNvPr id="22" name="Shape 20"/>
          <p:cNvSpPr/>
          <p:nvPr/>
        </p:nvSpPr>
        <p:spPr>
          <a:xfrm>
            <a:off x="4617720" y="5212080"/>
            <a:ext cx="3017520" cy="457200"/>
          </a:xfrm>
          <a:prstGeom prst="roundRect">
            <a:avLst>
              <a:gd name="adj" fmla="val 12000"/>
            </a:avLst>
          </a:prstGeom>
          <a:solidFill>
            <a:srgbClr val="E5F0F4"/>
          </a:solidFill>
          <a:ln/>
        </p:spPr>
      </p:sp>
      <p:sp>
        <p:nvSpPr>
          <p:cNvPr id="23" name="Text 21"/>
          <p:cNvSpPr/>
          <p:nvPr/>
        </p:nvSpPr>
        <p:spPr>
          <a:xfrm>
            <a:off x="4617720" y="5212080"/>
            <a:ext cx="3017520" cy="457200"/>
          </a:xfrm>
          <a:prstGeom prst="rect">
            <a:avLst/>
          </a:prstGeom>
          <a:noFill/>
          <a:ln/>
        </p:spPr>
        <p:txBody>
          <a:bodyPr wrap="square" rtlCol="0" anchor="ctr"/>
          <a:lstStyle/>
          <a:p>
            <a:pPr marL="0" indent="0" algn="ctr">
              <a:buNone/>
            </a:pPr>
            <a:r>
              <a:rPr lang="en-US" sz="1050" i="1" dirty="0">
                <a:solidFill>
                  <a:srgbClr val="065A82"/>
                </a:solidFill>
                <a:latin typeface="Calibri" pitchFamily="34" charset="0"/>
                <a:ea typeface="Calibri" pitchFamily="34" charset="-122"/>
                <a:cs typeface="Calibri" pitchFamily="34" charset="-120"/>
              </a:rPr>
              <a:t>e.g. BMI from Weight + Height</a:t>
            </a:r>
            <a:endParaRPr lang="en-US" sz="1050" dirty="0"/>
          </a:p>
        </p:txBody>
      </p:sp>
      <p:sp>
        <p:nvSpPr>
          <p:cNvPr id="24" name="Shape 22"/>
          <p:cNvSpPr/>
          <p:nvPr/>
        </p:nvSpPr>
        <p:spPr>
          <a:xfrm>
            <a:off x="8503920" y="5212080"/>
            <a:ext cx="3017520" cy="457200"/>
          </a:xfrm>
          <a:prstGeom prst="roundRect">
            <a:avLst>
              <a:gd name="adj" fmla="val 12000"/>
            </a:avLst>
          </a:prstGeom>
          <a:solidFill>
            <a:srgbClr val="E5F0F4"/>
          </a:solidFill>
          <a:ln/>
        </p:spPr>
      </p:sp>
      <p:sp>
        <p:nvSpPr>
          <p:cNvPr id="25" name="Text 23"/>
          <p:cNvSpPr/>
          <p:nvPr/>
        </p:nvSpPr>
        <p:spPr>
          <a:xfrm>
            <a:off x="8503920" y="5212080"/>
            <a:ext cx="3017520" cy="457200"/>
          </a:xfrm>
          <a:prstGeom prst="rect">
            <a:avLst/>
          </a:prstGeom>
          <a:noFill/>
          <a:ln/>
        </p:spPr>
        <p:txBody>
          <a:bodyPr wrap="square" rtlCol="0" anchor="ctr"/>
          <a:lstStyle/>
          <a:p>
            <a:pPr marL="0" indent="0" algn="ctr">
              <a:buNone/>
            </a:pPr>
            <a:r>
              <a:rPr lang="en-US" sz="1050" i="1" dirty="0">
                <a:solidFill>
                  <a:srgbClr val="065A82"/>
                </a:solidFill>
                <a:latin typeface="Calibri" pitchFamily="34" charset="0"/>
                <a:ea typeface="Calibri" pitchFamily="34" charset="-122"/>
                <a:cs typeface="Calibri" pitchFamily="34" charset="-120"/>
              </a:rPr>
              <a:t>covered in a later module</a:t>
            </a:r>
            <a:endParaRPr lang="en-US" sz="1050" dirty="0"/>
          </a:p>
        </p:txBody>
      </p:sp>
      <p:sp>
        <p:nvSpPr>
          <p:cNvPr id="26" name="Text 24"/>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5C6B73"/>
                </a:solidFill>
                <a:latin typeface="Calibri" pitchFamily="34" charset="0"/>
                <a:ea typeface="Calibri" pitchFamily="34" charset="-122"/>
                <a:cs typeface="Calibri" pitchFamily="34" charset="-120"/>
              </a:rPr>
              <a:t>Multiple Linear Regression</a:t>
            </a:r>
            <a:endParaRPr lang="en-US" sz="900" dirty="0"/>
          </a:p>
        </p:txBody>
      </p:sp>
      <p:sp>
        <p:nvSpPr>
          <p:cNvPr id="27" name="Text 25"/>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20</a:t>
            </a:r>
            <a:endParaRPr lang="en-US" sz="9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1">
    <p:bg>
      <p:bgPr>
        <a:solidFill>
          <a:srgbClr val="0B2A4A"/>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365760"/>
          </a:xfrm>
          <a:prstGeom prst="roundRect">
            <a:avLst>
              <a:gd name="adj" fmla="val 20000"/>
            </a:avLst>
          </a:prstGeom>
          <a:solidFill>
            <a:srgbClr val="13416B"/>
          </a:solidFill>
          <a:ln/>
        </p:spPr>
      </p:sp>
      <p:sp>
        <p:nvSpPr>
          <p:cNvPr id="3" name="Text 1"/>
          <p:cNvSpPr/>
          <p:nvPr/>
        </p:nvSpPr>
        <p:spPr>
          <a:xfrm>
            <a:off x="457200" y="411480"/>
            <a:ext cx="2103120" cy="365760"/>
          </a:xfrm>
          <a:prstGeom prst="rect">
            <a:avLst/>
          </a:prstGeom>
          <a:noFill/>
          <a:ln/>
        </p:spPr>
        <p:txBody>
          <a:bodyPr wrap="square" rtlCol="0" anchor="ctr"/>
          <a:lstStyle/>
          <a:p>
            <a:pPr marL="0" indent="0" algn="ctr">
              <a:buNone/>
            </a:pPr>
            <a:r>
              <a:rPr lang="en-US" sz="1100" b="1" kern="0" spc="100" dirty="0">
                <a:solidFill>
                  <a:srgbClr val="F2A93B"/>
                </a:solidFill>
                <a:latin typeface="Calibri" pitchFamily="34" charset="0"/>
                <a:ea typeface="Calibri" pitchFamily="34" charset="-122"/>
                <a:cs typeface="Calibri" pitchFamily="34" charset="-120"/>
              </a:rPr>
              <a:t>PART 2 · NEW CONCEPT</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Handling Categorical Variables</a:t>
            </a:r>
            <a:endParaRPr lang="en-US" sz="3000" dirty="0"/>
          </a:p>
        </p:txBody>
      </p:sp>
      <p:sp>
        <p:nvSpPr>
          <p:cNvPr id="5" name="Text 3"/>
          <p:cNvSpPr/>
          <p:nvPr/>
        </p:nvSpPr>
        <p:spPr>
          <a:xfrm>
            <a:off x="457200" y="1508760"/>
            <a:ext cx="11247120" cy="640080"/>
          </a:xfrm>
          <a:prstGeom prst="rect">
            <a:avLst/>
          </a:prstGeom>
          <a:noFill/>
          <a:ln/>
        </p:spPr>
        <p:txBody>
          <a:bodyPr wrap="square" rtlCol="0" anchor="ctr"/>
          <a:lstStyle/>
          <a:p>
            <a:pPr marL="0" indent="0">
              <a:lnSpc>
                <a:spcPts val="1800"/>
              </a:lnSpc>
              <a:buNone/>
            </a:pPr>
            <a:r>
              <a:rPr lang="en-US" sz="1400" dirty="0">
                <a:solidFill>
                  <a:srgbClr val="D6E4EC"/>
                </a:solidFill>
                <a:latin typeface="Calibri" pitchFamily="34" charset="0"/>
                <a:ea typeface="Calibri" pitchFamily="34" charset="-122"/>
                <a:cs typeface="Calibri" pitchFamily="34" charset="-120"/>
              </a:rPr>
              <a:t>Not every column is numeric. Categorical variables (like Gender or Relationship Status) can't be plugged into the equation directly — they need to become numbers first.</a:t>
            </a:r>
            <a:endParaRPr lang="en-US" sz="1400" dirty="0"/>
          </a:p>
        </p:txBody>
      </p:sp>
      <p:sp>
        <p:nvSpPr>
          <p:cNvPr id="6" name="Text 4"/>
          <p:cNvSpPr/>
          <p:nvPr/>
        </p:nvSpPr>
        <p:spPr>
          <a:xfrm>
            <a:off x="457200" y="2286000"/>
            <a:ext cx="5486400" cy="320040"/>
          </a:xfrm>
          <a:prstGeom prst="rect">
            <a:avLst/>
          </a:prstGeom>
          <a:noFill/>
          <a:ln/>
        </p:spPr>
        <p:txBody>
          <a:bodyPr wrap="square" rtlCol="0" anchor="ctr"/>
          <a:lstStyle/>
          <a:p>
            <a:pPr marL="0" indent="0">
              <a:buNone/>
            </a:pPr>
            <a:r>
              <a:rPr lang="en-US" sz="1300" b="1" dirty="0">
                <a:solidFill>
                  <a:srgbClr val="F2A93B"/>
                </a:solidFill>
                <a:latin typeface="Calibri" pitchFamily="34" charset="0"/>
                <a:ea typeface="Calibri" pitchFamily="34" charset="-122"/>
                <a:cs typeface="Calibri" pitchFamily="34" charset="-120"/>
              </a:rPr>
              <a:t>Two-level example: Gender</a:t>
            </a:r>
            <a:endParaRPr lang="en-US" sz="1300" dirty="0"/>
          </a:p>
        </p:txBody>
      </p:sp>
      <p:sp>
        <p:nvSpPr>
          <p:cNvPr id="7" name="Shape 5"/>
          <p:cNvSpPr/>
          <p:nvPr/>
        </p:nvSpPr>
        <p:spPr>
          <a:xfrm>
            <a:off x="457200" y="2651760"/>
            <a:ext cx="2103120" cy="411480"/>
          </a:xfrm>
          <a:prstGeom prst="rect">
            <a:avLst/>
          </a:prstGeom>
          <a:solidFill>
            <a:srgbClr val="065A82"/>
          </a:solidFill>
          <a:ln w="6350">
            <a:solidFill>
              <a:srgbClr val="FFFFFF"/>
            </a:solidFill>
            <a:prstDash val="solid"/>
          </a:ln>
        </p:spPr>
      </p:sp>
      <p:sp>
        <p:nvSpPr>
          <p:cNvPr id="8" name="Text 6"/>
          <p:cNvSpPr/>
          <p:nvPr/>
        </p:nvSpPr>
        <p:spPr>
          <a:xfrm>
            <a:off x="457200" y="2651760"/>
            <a:ext cx="210312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Value</a:t>
            </a:r>
            <a:endParaRPr lang="en-US" sz="1100" dirty="0"/>
          </a:p>
        </p:txBody>
      </p:sp>
      <p:sp>
        <p:nvSpPr>
          <p:cNvPr id="9" name="Shape 7"/>
          <p:cNvSpPr/>
          <p:nvPr/>
        </p:nvSpPr>
        <p:spPr>
          <a:xfrm>
            <a:off x="2560320" y="2651760"/>
            <a:ext cx="2103120" cy="411480"/>
          </a:xfrm>
          <a:prstGeom prst="rect">
            <a:avLst/>
          </a:prstGeom>
          <a:solidFill>
            <a:srgbClr val="065A82"/>
          </a:solidFill>
          <a:ln w="6350">
            <a:solidFill>
              <a:srgbClr val="FFFFFF"/>
            </a:solidFill>
            <a:prstDash val="solid"/>
          </a:ln>
        </p:spPr>
      </p:sp>
      <p:sp>
        <p:nvSpPr>
          <p:cNvPr id="10" name="Text 8"/>
          <p:cNvSpPr/>
          <p:nvPr/>
        </p:nvSpPr>
        <p:spPr>
          <a:xfrm>
            <a:off x="2560320" y="2651760"/>
            <a:ext cx="210312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Dummy (Female)</a:t>
            </a:r>
            <a:endParaRPr lang="en-US" sz="1100" dirty="0"/>
          </a:p>
        </p:txBody>
      </p:sp>
      <p:sp>
        <p:nvSpPr>
          <p:cNvPr id="11" name="Shape 9"/>
          <p:cNvSpPr/>
          <p:nvPr/>
        </p:nvSpPr>
        <p:spPr>
          <a:xfrm>
            <a:off x="457200" y="3063240"/>
            <a:ext cx="2103120" cy="411480"/>
          </a:xfrm>
          <a:prstGeom prst="rect">
            <a:avLst/>
          </a:prstGeom>
          <a:solidFill>
            <a:srgbClr val="0F3A5F"/>
          </a:solidFill>
          <a:ln w="6350">
            <a:solidFill>
              <a:srgbClr val="1E4F73"/>
            </a:solidFill>
            <a:prstDash val="solid"/>
          </a:ln>
        </p:spPr>
      </p:sp>
      <p:sp>
        <p:nvSpPr>
          <p:cNvPr id="12" name="Text 10"/>
          <p:cNvSpPr/>
          <p:nvPr/>
        </p:nvSpPr>
        <p:spPr>
          <a:xfrm>
            <a:off x="457200" y="3063240"/>
            <a:ext cx="2103120" cy="411480"/>
          </a:xfrm>
          <a:prstGeom prst="rect">
            <a:avLst/>
          </a:prstGeom>
          <a:noFill/>
          <a:ln/>
        </p:spPr>
        <p:txBody>
          <a:bodyPr wrap="square" rtlCol="0" anchor="ctr"/>
          <a:lstStyle/>
          <a:p>
            <a:pPr marL="0" indent="0" algn="ctr">
              <a:buNone/>
            </a:pPr>
            <a:r>
              <a:rPr lang="en-US" sz="1150" dirty="0">
                <a:solidFill>
                  <a:srgbClr val="D6E4EC"/>
                </a:solidFill>
                <a:latin typeface="Calibri" pitchFamily="34" charset="0"/>
                <a:ea typeface="Calibri" pitchFamily="34" charset="-122"/>
                <a:cs typeface="Calibri" pitchFamily="34" charset="-120"/>
              </a:rPr>
              <a:t>Male</a:t>
            </a:r>
            <a:endParaRPr lang="en-US" sz="1150" dirty="0"/>
          </a:p>
        </p:txBody>
      </p:sp>
      <p:sp>
        <p:nvSpPr>
          <p:cNvPr id="13" name="Shape 11"/>
          <p:cNvSpPr/>
          <p:nvPr/>
        </p:nvSpPr>
        <p:spPr>
          <a:xfrm>
            <a:off x="2560320" y="3063240"/>
            <a:ext cx="2103120" cy="411480"/>
          </a:xfrm>
          <a:prstGeom prst="rect">
            <a:avLst/>
          </a:prstGeom>
          <a:solidFill>
            <a:srgbClr val="0F3A5F"/>
          </a:solidFill>
          <a:ln w="6350">
            <a:solidFill>
              <a:srgbClr val="1E4F73"/>
            </a:solidFill>
            <a:prstDash val="solid"/>
          </a:ln>
        </p:spPr>
      </p:sp>
      <p:sp>
        <p:nvSpPr>
          <p:cNvPr id="14" name="Text 12"/>
          <p:cNvSpPr/>
          <p:nvPr/>
        </p:nvSpPr>
        <p:spPr>
          <a:xfrm>
            <a:off x="2560320" y="3063240"/>
            <a:ext cx="2103120" cy="411480"/>
          </a:xfrm>
          <a:prstGeom prst="rect">
            <a:avLst/>
          </a:prstGeom>
          <a:noFill/>
          <a:ln/>
        </p:spPr>
        <p:txBody>
          <a:bodyPr wrap="square" rtlCol="0" anchor="ctr"/>
          <a:lstStyle/>
          <a:p>
            <a:pPr marL="0" indent="0" algn="ctr">
              <a:buNone/>
            </a:pPr>
            <a:r>
              <a:rPr lang="en-US" sz="1150" dirty="0">
                <a:solidFill>
                  <a:srgbClr val="D6E4EC"/>
                </a:solidFill>
                <a:latin typeface="Calibri" pitchFamily="34" charset="0"/>
                <a:ea typeface="Calibri" pitchFamily="34" charset="-122"/>
                <a:cs typeface="Calibri" pitchFamily="34" charset="-120"/>
              </a:rPr>
              <a:t>0</a:t>
            </a:r>
            <a:endParaRPr lang="en-US" sz="1150" dirty="0"/>
          </a:p>
        </p:txBody>
      </p:sp>
      <p:sp>
        <p:nvSpPr>
          <p:cNvPr id="15" name="Shape 13"/>
          <p:cNvSpPr/>
          <p:nvPr/>
        </p:nvSpPr>
        <p:spPr>
          <a:xfrm>
            <a:off x="457200" y="3474720"/>
            <a:ext cx="2103120" cy="411480"/>
          </a:xfrm>
          <a:prstGeom prst="rect">
            <a:avLst/>
          </a:prstGeom>
          <a:solidFill>
            <a:srgbClr val="0F3A5F"/>
          </a:solidFill>
          <a:ln w="6350">
            <a:solidFill>
              <a:srgbClr val="1E4F73"/>
            </a:solidFill>
            <a:prstDash val="solid"/>
          </a:ln>
        </p:spPr>
      </p:sp>
      <p:sp>
        <p:nvSpPr>
          <p:cNvPr id="16" name="Text 14"/>
          <p:cNvSpPr/>
          <p:nvPr/>
        </p:nvSpPr>
        <p:spPr>
          <a:xfrm>
            <a:off x="457200" y="3474720"/>
            <a:ext cx="2103120" cy="411480"/>
          </a:xfrm>
          <a:prstGeom prst="rect">
            <a:avLst/>
          </a:prstGeom>
          <a:noFill/>
          <a:ln/>
        </p:spPr>
        <p:txBody>
          <a:bodyPr wrap="square" rtlCol="0" anchor="ctr"/>
          <a:lstStyle/>
          <a:p>
            <a:pPr marL="0" indent="0" algn="ctr">
              <a:buNone/>
            </a:pPr>
            <a:r>
              <a:rPr lang="en-US" sz="1150" dirty="0">
                <a:solidFill>
                  <a:srgbClr val="D6E4EC"/>
                </a:solidFill>
                <a:latin typeface="Calibri" pitchFamily="34" charset="0"/>
                <a:ea typeface="Calibri" pitchFamily="34" charset="-122"/>
                <a:cs typeface="Calibri" pitchFamily="34" charset="-120"/>
              </a:rPr>
              <a:t>Female</a:t>
            </a:r>
            <a:endParaRPr lang="en-US" sz="1150" dirty="0"/>
          </a:p>
        </p:txBody>
      </p:sp>
      <p:sp>
        <p:nvSpPr>
          <p:cNvPr id="17" name="Shape 15"/>
          <p:cNvSpPr/>
          <p:nvPr/>
        </p:nvSpPr>
        <p:spPr>
          <a:xfrm>
            <a:off x="2560320" y="3474720"/>
            <a:ext cx="2103120" cy="411480"/>
          </a:xfrm>
          <a:prstGeom prst="rect">
            <a:avLst/>
          </a:prstGeom>
          <a:solidFill>
            <a:srgbClr val="0F3A5F"/>
          </a:solidFill>
          <a:ln w="6350">
            <a:solidFill>
              <a:srgbClr val="1E4F73"/>
            </a:solidFill>
            <a:prstDash val="solid"/>
          </a:ln>
        </p:spPr>
      </p:sp>
      <p:sp>
        <p:nvSpPr>
          <p:cNvPr id="18" name="Text 16"/>
          <p:cNvSpPr/>
          <p:nvPr/>
        </p:nvSpPr>
        <p:spPr>
          <a:xfrm>
            <a:off x="2560320" y="3474720"/>
            <a:ext cx="2103120" cy="411480"/>
          </a:xfrm>
          <a:prstGeom prst="rect">
            <a:avLst/>
          </a:prstGeom>
          <a:noFill/>
          <a:ln/>
        </p:spPr>
        <p:txBody>
          <a:bodyPr wrap="square" rtlCol="0" anchor="ctr"/>
          <a:lstStyle/>
          <a:p>
            <a:pPr marL="0" indent="0" algn="ctr">
              <a:buNone/>
            </a:pPr>
            <a:r>
              <a:rPr lang="en-US" sz="1150" dirty="0">
                <a:solidFill>
                  <a:srgbClr val="D6E4EC"/>
                </a:solidFill>
                <a:latin typeface="Calibri" pitchFamily="34" charset="0"/>
                <a:ea typeface="Calibri" pitchFamily="34" charset="-122"/>
                <a:cs typeface="Calibri" pitchFamily="34" charset="-120"/>
              </a:rPr>
              <a:t>1</a:t>
            </a:r>
            <a:endParaRPr lang="en-US" sz="1150" dirty="0"/>
          </a:p>
        </p:txBody>
      </p:sp>
      <p:sp>
        <p:nvSpPr>
          <p:cNvPr id="19" name="Shape 17"/>
          <p:cNvSpPr/>
          <p:nvPr/>
        </p:nvSpPr>
        <p:spPr>
          <a:xfrm>
            <a:off x="457200" y="4069080"/>
            <a:ext cx="5120640" cy="594360"/>
          </a:xfrm>
          <a:prstGeom prst="roundRect">
            <a:avLst>
              <a:gd name="adj" fmla="val 12308"/>
            </a:avLst>
          </a:prstGeom>
          <a:solidFill>
            <a:srgbClr val="0F3A5F"/>
          </a:solidFill>
          <a:ln w="12700">
            <a:solidFill>
              <a:srgbClr val="1C7293"/>
            </a:solidFill>
            <a:prstDash val="solid"/>
          </a:ln>
        </p:spPr>
      </p:sp>
      <p:sp>
        <p:nvSpPr>
          <p:cNvPr id="20" name="Text 18"/>
          <p:cNvSpPr/>
          <p:nvPr/>
        </p:nvSpPr>
        <p:spPr>
          <a:xfrm>
            <a:off x="457200" y="4069080"/>
            <a:ext cx="5120640" cy="594360"/>
          </a:xfrm>
          <a:prstGeom prst="rect">
            <a:avLst/>
          </a:prstGeom>
          <a:noFill/>
          <a:ln/>
        </p:spPr>
        <p:txBody>
          <a:bodyPr wrap="square"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y = β₀ + β₁x₁ + β₂·[Female]</a:t>
            </a:r>
            <a:endParaRPr lang="en-US" sz="1400" dirty="0"/>
          </a:p>
        </p:txBody>
      </p:sp>
      <p:sp>
        <p:nvSpPr>
          <p:cNvPr id="21" name="Text 19"/>
          <p:cNvSpPr/>
          <p:nvPr/>
        </p:nvSpPr>
        <p:spPr>
          <a:xfrm>
            <a:off x="6126480" y="2286000"/>
            <a:ext cx="5486400" cy="320040"/>
          </a:xfrm>
          <a:prstGeom prst="rect">
            <a:avLst/>
          </a:prstGeom>
          <a:noFill/>
          <a:ln/>
        </p:spPr>
        <p:txBody>
          <a:bodyPr wrap="square" rtlCol="0" anchor="ctr"/>
          <a:lstStyle/>
          <a:p>
            <a:pPr marL="0" indent="0">
              <a:buNone/>
            </a:pPr>
            <a:r>
              <a:rPr lang="en-US" sz="1300" b="1" dirty="0">
                <a:solidFill>
                  <a:srgbClr val="F2A93B"/>
                </a:solidFill>
                <a:latin typeface="Calibri" pitchFamily="34" charset="0"/>
                <a:ea typeface="Calibri" pitchFamily="34" charset="-122"/>
                <a:cs typeface="Calibri" pitchFamily="34" charset="-120"/>
              </a:rPr>
              <a:t>n-level rule: n − 1 dummy columns</a:t>
            </a:r>
            <a:endParaRPr lang="en-US" sz="1300" dirty="0"/>
          </a:p>
        </p:txBody>
      </p:sp>
      <p:sp>
        <p:nvSpPr>
          <p:cNvPr id="22" name="Text 20"/>
          <p:cNvSpPr/>
          <p:nvPr/>
        </p:nvSpPr>
        <p:spPr>
          <a:xfrm>
            <a:off x="6126480" y="2651760"/>
            <a:ext cx="5577840" cy="822960"/>
          </a:xfrm>
          <a:prstGeom prst="rect">
            <a:avLst/>
          </a:prstGeom>
          <a:noFill/>
          <a:ln/>
        </p:spPr>
        <p:txBody>
          <a:bodyPr wrap="square" rtlCol="0" anchor="ctr"/>
          <a:lstStyle/>
          <a:p>
            <a:pPr marL="0" indent="0">
              <a:lnSpc>
                <a:spcPts val="1600"/>
              </a:lnSpc>
              <a:buNone/>
            </a:pPr>
            <a:r>
              <a:rPr lang="en-US" sz="1250" dirty="0">
                <a:solidFill>
                  <a:srgbClr val="D6E4EC"/>
                </a:solidFill>
                <a:latin typeface="Calibri" pitchFamily="34" charset="0"/>
                <a:ea typeface="Calibri" pitchFamily="34" charset="-122"/>
                <a:cs typeface="Calibri" pitchFamily="34" charset="-120"/>
              </a:rPr>
              <a:t>For “Relationship Status” with 3 levels (Single, In a relationship, Married), you only need 2 dummy columns — the third is implied when both are 0.</a:t>
            </a:r>
            <a:endParaRPr lang="en-US" sz="1250" dirty="0"/>
          </a:p>
        </p:txBody>
      </p:sp>
      <p:sp>
        <p:nvSpPr>
          <p:cNvPr id="23" name="Shape 21"/>
          <p:cNvSpPr/>
          <p:nvPr/>
        </p:nvSpPr>
        <p:spPr>
          <a:xfrm>
            <a:off x="6126480" y="3566160"/>
            <a:ext cx="2011680" cy="384048"/>
          </a:xfrm>
          <a:prstGeom prst="rect">
            <a:avLst/>
          </a:prstGeom>
          <a:solidFill>
            <a:srgbClr val="065A82"/>
          </a:solidFill>
          <a:ln w="6350">
            <a:solidFill>
              <a:srgbClr val="FFFFFF"/>
            </a:solidFill>
            <a:prstDash val="solid"/>
          </a:ln>
        </p:spPr>
      </p:sp>
      <p:sp>
        <p:nvSpPr>
          <p:cNvPr id="24" name="Text 22"/>
          <p:cNvSpPr/>
          <p:nvPr/>
        </p:nvSpPr>
        <p:spPr>
          <a:xfrm>
            <a:off x="6126480" y="3566160"/>
            <a:ext cx="2011680" cy="38404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Status</a:t>
            </a:r>
            <a:endParaRPr lang="en-US" sz="1000" dirty="0"/>
          </a:p>
        </p:txBody>
      </p:sp>
      <p:sp>
        <p:nvSpPr>
          <p:cNvPr id="25" name="Shape 23"/>
          <p:cNvSpPr/>
          <p:nvPr/>
        </p:nvSpPr>
        <p:spPr>
          <a:xfrm>
            <a:off x="8138160" y="3566160"/>
            <a:ext cx="1828800" cy="384048"/>
          </a:xfrm>
          <a:prstGeom prst="rect">
            <a:avLst/>
          </a:prstGeom>
          <a:solidFill>
            <a:srgbClr val="065A82"/>
          </a:solidFill>
          <a:ln w="6350">
            <a:solidFill>
              <a:srgbClr val="FFFFFF"/>
            </a:solidFill>
            <a:prstDash val="solid"/>
          </a:ln>
        </p:spPr>
      </p:sp>
      <p:sp>
        <p:nvSpPr>
          <p:cNvPr id="26" name="Text 24"/>
          <p:cNvSpPr/>
          <p:nvPr/>
        </p:nvSpPr>
        <p:spPr>
          <a:xfrm>
            <a:off x="8138160" y="3566160"/>
            <a:ext cx="1828800" cy="38404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In a relationship</a:t>
            </a:r>
            <a:endParaRPr lang="en-US" sz="1000" dirty="0"/>
          </a:p>
        </p:txBody>
      </p:sp>
      <p:sp>
        <p:nvSpPr>
          <p:cNvPr id="27" name="Shape 25"/>
          <p:cNvSpPr/>
          <p:nvPr/>
        </p:nvSpPr>
        <p:spPr>
          <a:xfrm>
            <a:off x="9966960" y="3566160"/>
            <a:ext cx="1737360" cy="384048"/>
          </a:xfrm>
          <a:prstGeom prst="rect">
            <a:avLst/>
          </a:prstGeom>
          <a:solidFill>
            <a:srgbClr val="065A82"/>
          </a:solidFill>
          <a:ln w="6350">
            <a:solidFill>
              <a:srgbClr val="FFFFFF"/>
            </a:solidFill>
            <a:prstDash val="solid"/>
          </a:ln>
        </p:spPr>
      </p:sp>
      <p:sp>
        <p:nvSpPr>
          <p:cNvPr id="28" name="Text 26"/>
          <p:cNvSpPr/>
          <p:nvPr/>
        </p:nvSpPr>
        <p:spPr>
          <a:xfrm>
            <a:off x="9966960" y="3566160"/>
            <a:ext cx="1737360" cy="38404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Married</a:t>
            </a:r>
            <a:endParaRPr lang="en-US" sz="1000" dirty="0"/>
          </a:p>
        </p:txBody>
      </p:sp>
      <p:sp>
        <p:nvSpPr>
          <p:cNvPr id="29" name="Shape 27"/>
          <p:cNvSpPr/>
          <p:nvPr/>
        </p:nvSpPr>
        <p:spPr>
          <a:xfrm>
            <a:off x="6126480" y="3950208"/>
            <a:ext cx="2011680" cy="384048"/>
          </a:xfrm>
          <a:prstGeom prst="rect">
            <a:avLst/>
          </a:prstGeom>
          <a:solidFill>
            <a:srgbClr val="0F3A5F"/>
          </a:solidFill>
          <a:ln w="6350">
            <a:solidFill>
              <a:srgbClr val="1E4F73"/>
            </a:solidFill>
            <a:prstDash val="solid"/>
          </a:ln>
        </p:spPr>
      </p:sp>
      <p:sp>
        <p:nvSpPr>
          <p:cNvPr id="30" name="Text 28"/>
          <p:cNvSpPr/>
          <p:nvPr/>
        </p:nvSpPr>
        <p:spPr>
          <a:xfrm>
            <a:off x="6126480" y="3950208"/>
            <a:ext cx="2011680" cy="384048"/>
          </a:xfrm>
          <a:prstGeom prst="rect">
            <a:avLst/>
          </a:prstGeom>
          <a:noFill/>
          <a:ln/>
        </p:spPr>
        <p:txBody>
          <a:bodyPr wrap="square" rtlCol="0" anchor="ctr"/>
          <a:lstStyle/>
          <a:p>
            <a:pPr marL="0" indent="0" algn="ctr">
              <a:buNone/>
            </a:pPr>
            <a:r>
              <a:rPr lang="en-US" sz="1050" dirty="0">
                <a:solidFill>
                  <a:srgbClr val="D6E4EC"/>
                </a:solidFill>
                <a:latin typeface="Calibri" pitchFamily="34" charset="0"/>
                <a:ea typeface="Calibri" pitchFamily="34" charset="-122"/>
                <a:cs typeface="Calibri" pitchFamily="34" charset="-120"/>
              </a:rPr>
              <a:t>Single</a:t>
            </a:r>
            <a:endParaRPr lang="en-US" sz="1050" dirty="0"/>
          </a:p>
        </p:txBody>
      </p:sp>
      <p:sp>
        <p:nvSpPr>
          <p:cNvPr id="31" name="Shape 29"/>
          <p:cNvSpPr/>
          <p:nvPr/>
        </p:nvSpPr>
        <p:spPr>
          <a:xfrm>
            <a:off x="8138160" y="3950208"/>
            <a:ext cx="1828800" cy="384048"/>
          </a:xfrm>
          <a:prstGeom prst="rect">
            <a:avLst/>
          </a:prstGeom>
          <a:solidFill>
            <a:srgbClr val="0F3A5F"/>
          </a:solidFill>
          <a:ln w="6350">
            <a:solidFill>
              <a:srgbClr val="1E4F73"/>
            </a:solidFill>
            <a:prstDash val="solid"/>
          </a:ln>
        </p:spPr>
      </p:sp>
      <p:sp>
        <p:nvSpPr>
          <p:cNvPr id="32" name="Text 30"/>
          <p:cNvSpPr/>
          <p:nvPr/>
        </p:nvSpPr>
        <p:spPr>
          <a:xfrm>
            <a:off x="8138160" y="3950208"/>
            <a:ext cx="1828800" cy="384048"/>
          </a:xfrm>
          <a:prstGeom prst="rect">
            <a:avLst/>
          </a:prstGeom>
          <a:noFill/>
          <a:ln/>
        </p:spPr>
        <p:txBody>
          <a:bodyPr wrap="square" rtlCol="0" anchor="ctr"/>
          <a:lstStyle/>
          <a:p>
            <a:pPr marL="0" indent="0" algn="ctr">
              <a:buNone/>
            </a:pPr>
            <a:r>
              <a:rPr lang="en-US" sz="1050" dirty="0">
                <a:solidFill>
                  <a:srgbClr val="D6E4EC"/>
                </a:solidFill>
                <a:latin typeface="Calibri" pitchFamily="34" charset="0"/>
                <a:ea typeface="Calibri" pitchFamily="34" charset="-122"/>
                <a:cs typeface="Calibri" pitchFamily="34" charset="-120"/>
              </a:rPr>
              <a:t>0</a:t>
            </a:r>
            <a:endParaRPr lang="en-US" sz="1050" dirty="0"/>
          </a:p>
        </p:txBody>
      </p:sp>
      <p:sp>
        <p:nvSpPr>
          <p:cNvPr id="33" name="Shape 31"/>
          <p:cNvSpPr/>
          <p:nvPr/>
        </p:nvSpPr>
        <p:spPr>
          <a:xfrm>
            <a:off x="9966960" y="3950208"/>
            <a:ext cx="1737360" cy="384048"/>
          </a:xfrm>
          <a:prstGeom prst="rect">
            <a:avLst/>
          </a:prstGeom>
          <a:solidFill>
            <a:srgbClr val="0F3A5F"/>
          </a:solidFill>
          <a:ln w="6350">
            <a:solidFill>
              <a:srgbClr val="1E4F73"/>
            </a:solidFill>
            <a:prstDash val="solid"/>
          </a:ln>
        </p:spPr>
      </p:sp>
      <p:sp>
        <p:nvSpPr>
          <p:cNvPr id="34" name="Text 32"/>
          <p:cNvSpPr/>
          <p:nvPr/>
        </p:nvSpPr>
        <p:spPr>
          <a:xfrm>
            <a:off x="9966960" y="3950208"/>
            <a:ext cx="1737360" cy="384048"/>
          </a:xfrm>
          <a:prstGeom prst="rect">
            <a:avLst/>
          </a:prstGeom>
          <a:noFill/>
          <a:ln/>
        </p:spPr>
        <p:txBody>
          <a:bodyPr wrap="square" rtlCol="0" anchor="ctr"/>
          <a:lstStyle/>
          <a:p>
            <a:pPr marL="0" indent="0" algn="ctr">
              <a:buNone/>
            </a:pPr>
            <a:r>
              <a:rPr lang="en-US" sz="1050" dirty="0">
                <a:solidFill>
                  <a:srgbClr val="D6E4EC"/>
                </a:solidFill>
                <a:latin typeface="Calibri" pitchFamily="34" charset="0"/>
                <a:ea typeface="Calibri" pitchFamily="34" charset="-122"/>
                <a:cs typeface="Calibri" pitchFamily="34" charset="-120"/>
              </a:rPr>
              <a:t>0</a:t>
            </a:r>
            <a:endParaRPr lang="en-US" sz="1050" dirty="0"/>
          </a:p>
        </p:txBody>
      </p:sp>
      <p:sp>
        <p:nvSpPr>
          <p:cNvPr id="35" name="Shape 33"/>
          <p:cNvSpPr/>
          <p:nvPr/>
        </p:nvSpPr>
        <p:spPr>
          <a:xfrm>
            <a:off x="6126480" y="4334256"/>
            <a:ext cx="2011680" cy="384048"/>
          </a:xfrm>
          <a:prstGeom prst="rect">
            <a:avLst/>
          </a:prstGeom>
          <a:solidFill>
            <a:srgbClr val="0F3A5F"/>
          </a:solidFill>
          <a:ln w="6350">
            <a:solidFill>
              <a:srgbClr val="1E4F73"/>
            </a:solidFill>
            <a:prstDash val="solid"/>
          </a:ln>
        </p:spPr>
      </p:sp>
      <p:sp>
        <p:nvSpPr>
          <p:cNvPr id="36" name="Text 34"/>
          <p:cNvSpPr/>
          <p:nvPr/>
        </p:nvSpPr>
        <p:spPr>
          <a:xfrm>
            <a:off x="6126480" y="4334256"/>
            <a:ext cx="2011680" cy="384048"/>
          </a:xfrm>
          <a:prstGeom prst="rect">
            <a:avLst/>
          </a:prstGeom>
          <a:noFill/>
          <a:ln/>
        </p:spPr>
        <p:txBody>
          <a:bodyPr wrap="square" rtlCol="0" anchor="ctr"/>
          <a:lstStyle/>
          <a:p>
            <a:pPr marL="0" indent="0" algn="ctr">
              <a:buNone/>
            </a:pPr>
            <a:r>
              <a:rPr lang="en-US" sz="1050" dirty="0">
                <a:solidFill>
                  <a:srgbClr val="D6E4EC"/>
                </a:solidFill>
                <a:latin typeface="Calibri" pitchFamily="34" charset="0"/>
                <a:ea typeface="Calibri" pitchFamily="34" charset="-122"/>
                <a:cs typeface="Calibri" pitchFamily="34" charset="-120"/>
              </a:rPr>
              <a:t>In a relationship</a:t>
            </a:r>
            <a:endParaRPr lang="en-US" sz="1050" dirty="0"/>
          </a:p>
        </p:txBody>
      </p:sp>
      <p:sp>
        <p:nvSpPr>
          <p:cNvPr id="37" name="Shape 35"/>
          <p:cNvSpPr/>
          <p:nvPr/>
        </p:nvSpPr>
        <p:spPr>
          <a:xfrm>
            <a:off x="8138160" y="4334256"/>
            <a:ext cx="1828800" cy="384048"/>
          </a:xfrm>
          <a:prstGeom prst="rect">
            <a:avLst/>
          </a:prstGeom>
          <a:solidFill>
            <a:srgbClr val="0F3A5F"/>
          </a:solidFill>
          <a:ln w="6350">
            <a:solidFill>
              <a:srgbClr val="1E4F73"/>
            </a:solidFill>
            <a:prstDash val="solid"/>
          </a:ln>
        </p:spPr>
      </p:sp>
      <p:sp>
        <p:nvSpPr>
          <p:cNvPr id="38" name="Text 36"/>
          <p:cNvSpPr/>
          <p:nvPr/>
        </p:nvSpPr>
        <p:spPr>
          <a:xfrm>
            <a:off x="8138160" y="4334256"/>
            <a:ext cx="1828800" cy="384048"/>
          </a:xfrm>
          <a:prstGeom prst="rect">
            <a:avLst/>
          </a:prstGeom>
          <a:noFill/>
          <a:ln/>
        </p:spPr>
        <p:txBody>
          <a:bodyPr wrap="square" rtlCol="0" anchor="ctr"/>
          <a:lstStyle/>
          <a:p>
            <a:pPr marL="0" indent="0" algn="ctr">
              <a:buNone/>
            </a:pPr>
            <a:r>
              <a:rPr lang="en-US" sz="1050" dirty="0">
                <a:solidFill>
                  <a:srgbClr val="D6E4EC"/>
                </a:solidFill>
                <a:latin typeface="Calibri" pitchFamily="34" charset="0"/>
                <a:ea typeface="Calibri" pitchFamily="34" charset="-122"/>
                <a:cs typeface="Calibri" pitchFamily="34" charset="-120"/>
              </a:rPr>
              <a:t>1</a:t>
            </a:r>
            <a:endParaRPr lang="en-US" sz="1050" dirty="0"/>
          </a:p>
        </p:txBody>
      </p:sp>
      <p:sp>
        <p:nvSpPr>
          <p:cNvPr id="39" name="Shape 37"/>
          <p:cNvSpPr/>
          <p:nvPr/>
        </p:nvSpPr>
        <p:spPr>
          <a:xfrm>
            <a:off x="9966960" y="4334256"/>
            <a:ext cx="1737360" cy="384048"/>
          </a:xfrm>
          <a:prstGeom prst="rect">
            <a:avLst/>
          </a:prstGeom>
          <a:solidFill>
            <a:srgbClr val="0F3A5F"/>
          </a:solidFill>
          <a:ln w="6350">
            <a:solidFill>
              <a:srgbClr val="1E4F73"/>
            </a:solidFill>
            <a:prstDash val="solid"/>
          </a:ln>
        </p:spPr>
      </p:sp>
      <p:sp>
        <p:nvSpPr>
          <p:cNvPr id="40" name="Text 38"/>
          <p:cNvSpPr/>
          <p:nvPr/>
        </p:nvSpPr>
        <p:spPr>
          <a:xfrm>
            <a:off x="9966960" y="4334256"/>
            <a:ext cx="1737360" cy="384048"/>
          </a:xfrm>
          <a:prstGeom prst="rect">
            <a:avLst/>
          </a:prstGeom>
          <a:noFill/>
          <a:ln/>
        </p:spPr>
        <p:txBody>
          <a:bodyPr wrap="square" rtlCol="0" anchor="ctr"/>
          <a:lstStyle/>
          <a:p>
            <a:pPr marL="0" indent="0" algn="ctr">
              <a:buNone/>
            </a:pPr>
            <a:r>
              <a:rPr lang="en-US" sz="1050" dirty="0">
                <a:solidFill>
                  <a:srgbClr val="D6E4EC"/>
                </a:solidFill>
                <a:latin typeface="Calibri" pitchFamily="34" charset="0"/>
                <a:ea typeface="Calibri" pitchFamily="34" charset="-122"/>
                <a:cs typeface="Calibri" pitchFamily="34" charset="-120"/>
              </a:rPr>
              <a:t>0</a:t>
            </a:r>
            <a:endParaRPr lang="en-US" sz="1050" dirty="0"/>
          </a:p>
        </p:txBody>
      </p:sp>
      <p:sp>
        <p:nvSpPr>
          <p:cNvPr id="41" name="Shape 39"/>
          <p:cNvSpPr/>
          <p:nvPr/>
        </p:nvSpPr>
        <p:spPr>
          <a:xfrm>
            <a:off x="6126480" y="4718304"/>
            <a:ext cx="2011680" cy="384048"/>
          </a:xfrm>
          <a:prstGeom prst="rect">
            <a:avLst/>
          </a:prstGeom>
          <a:solidFill>
            <a:srgbClr val="0F3A5F"/>
          </a:solidFill>
          <a:ln w="6350">
            <a:solidFill>
              <a:srgbClr val="1E4F73"/>
            </a:solidFill>
            <a:prstDash val="solid"/>
          </a:ln>
        </p:spPr>
      </p:sp>
      <p:sp>
        <p:nvSpPr>
          <p:cNvPr id="42" name="Text 40"/>
          <p:cNvSpPr/>
          <p:nvPr/>
        </p:nvSpPr>
        <p:spPr>
          <a:xfrm>
            <a:off x="6126480" y="4718304"/>
            <a:ext cx="2011680" cy="384048"/>
          </a:xfrm>
          <a:prstGeom prst="rect">
            <a:avLst/>
          </a:prstGeom>
          <a:noFill/>
          <a:ln/>
        </p:spPr>
        <p:txBody>
          <a:bodyPr wrap="square" rtlCol="0" anchor="ctr"/>
          <a:lstStyle/>
          <a:p>
            <a:pPr marL="0" indent="0" algn="ctr">
              <a:buNone/>
            </a:pPr>
            <a:r>
              <a:rPr lang="en-US" sz="1050" dirty="0">
                <a:solidFill>
                  <a:srgbClr val="D6E4EC"/>
                </a:solidFill>
                <a:latin typeface="Calibri" pitchFamily="34" charset="0"/>
                <a:ea typeface="Calibri" pitchFamily="34" charset="-122"/>
                <a:cs typeface="Calibri" pitchFamily="34" charset="-120"/>
              </a:rPr>
              <a:t>Married</a:t>
            </a:r>
            <a:endParaRPr lang="en-US" sz="1050" dirty="0"/>
          </a:p>
        </p:txBody>
      </p:sp>
      <p:sp>
        <p:nvSpPr>
          <p:cNvPr id="43" name="Shape 41"/>
          <p:cNvSpPr/>
          <p:nvPr/>
        </p:nvSpPr>
        <p:spPr>
          <a:xfrm>
            <a:off x="8138160" y="4718304"/>
            <a:ext cx="1828800" cy="384048"/>
          </a:xfrm>
          <a:prstGeom prst="rect">
            <a:avLst/>
          </a:prstGeom>
          <a:solidFill>
            <a:srgbClr val="0F3A5F"/>
          </a:solidFill>
          <a:ln w="6350">
            <a:solidFill>
              <a:srgbClr val="1E4F73"/>
            </a:solidFill>
            <a:prstDash val="solid"/>
          </a:ln>
        </p:spPr>
      </p:sp>
      <p:sp>
        <p:nvSpPr>
          <p:cNvPr id="44" name="Text 42"/>
          <p:cNvSpPr/>
          <p:nvPr/>
        </p:nvSpPr>
        <p:spPr>
          <a:xfrm>
            <a:off x="8138160" y="4718304"/>
            <a:ext cx="1828800" cy="384048"/>
          </a:xfrm>
          <a:prstGeom prst="rect">
            <a:avLst/>
          </a:prstGeom>
          <a:noFill/>
          <a:ln/>
        </p:spPr>
        <p:txBody>
          <a:bodyPr wrap="square" rtlCol="0" anchor="ctr"/>
          <a:lstStyle/>
          <a:p>
            <a:pPr marL="0" indent="0" algn="ctr">
              <a:buNone/>
            </a:pPr>
            <a:r>
              <a:rPr lang="en-US" sz="1050" dirty="0">
                <a:solidFill>
                  <a:srgbClr val="D6E4EC"/>
                </a:solidFill>
                <a:latin typeface="Calibri" pitchFamily="34" charset="0"/>
                <a:ea typeface="Calibri" pitchFamily="34" charset="-122"/>
                <a:cs typeface="Calibri" pitchFamily="34" charset="-120"/>
              </a:rPr>
              <a:t>0</a:t>
            </a:r>
            <a:endParaRPr lang="en-US" sz="1050" dirty="0"/>
          </a:p>
        </p:txBody>
      </p:sp>
      <p:sp>
        <p:nvSpPr>
          <p:cNvPr id="45" name="Shape 43"/>
          <p:cNvSpPr/>
          <p:nvPr/>
        </p:nvSpPr>
        <p:spPr>
          <a:xfrm>
            <a:off x="9966960" y="4718304"/>
            <a:ext cx="1737360" cy="384048"/>
          </a:xfrm>
          <a:prstGeom prst="rect">
            <a:avLst/>
          </a:prstGeom>
          <a:solidFill>
            <a:srgbClr val="0F3A5F"/>
          </a:solidFill>
          <a:ln w="6350">
            <a:solidFill>
              <a:srgbClr val="1E4F73"/>
            </a:solidFill>
            <a:prstDash val="solid"/>
          </a:ln>
        </p:spPr>
      </p:sp>
      <p:sp>
        <p:nvSpPr>
          <p:cNvPr id="46" name="Text 44"/>
          <p:cNvSpPr/>
          <p:nvPr/>
        </p:nvSpPr>
        <p:spPr>
          <a:xfrm>
            <a:off x="9966960" y="4718304"/>
            <a:ext cx="1737360" cy="384048"/>
          </a:xfrm>
          <a:prstGeom prst="rect">
            <a:avLst/>
          </a:prstGeom>
          <a:noFill/>
          <a:ln/>
        </p:spPr>
        <p:txBody>
          <a:bodyPr wrap="square" rtlCol="0" anchor="ctr"/>
          <a:lstStyle/>
          <a:p>
            <a:pPr marL="0" indent="0" algn="ctr">
              <a:buNone/>
            </a:pPr>
            <a:r>
              <a:rPr lang="en-US" sz="1050" dirty="0">
                <a:solidFill>
                  <a:srgbClr val="D6E4EC"/>
                </a:solidFill>
                <a:latin typeface="Calibri" pitchFamily="34" charset="0"/>
                <a:ea typeface="Calibri" pitchFamily="34" charset="-122"/>
                <a:cs typeface="Calibri" pitchFamily="34" charset="-120"/>
              </a:rPr>
              <a:t>1</a:t>
            </a:r>
            <a:endParaRPr lang="en-US" sz="1050" dirty="0"/>
          </a:p>
        </p:txBody>
      </p:sp>
      <p:sp>
        <p:nvSpPr>
          <p:cNvPr id="47" name="Shape 45"/>
          <p:cNvSpPr/>
          <p:nvPr/>
        </p:nvSpPr>
        <p:spPr>
          <a:xfrm>
            <a:off x="457200" y="5715000"/>
            <a:ext cx="11247120" cy="685800"/>
          </a:xfrm>
          <a:prstGeom prst="roundRect">
            <a:avLst>
              <a:gd name="adj" fmla="val 10667"/>
            </a:avLst>
          </a:prstGeom>
          <a:solidFill>
            <a:srgbClr val="13416B"/>
          </a:solidFill>
          <a:ln/>
        </p:spPr>
      </p:sp>
      <p:sp>
        <p:nvSpPr>
          <p:cNvPr id="48" name="Text 46"/>
          <p:cNvSpPr/>
          <p:nvPr/>
        </p:nvSpPr>
        <p:spPr>
          <a:xfrm>
            <a:off x="640080" y="5715000"/>
            <a:ext cx="10881360" cy="685800"/>
          </a:xfrm>
          <a:prstGeom prst="rect">
            <a:avLst/>
          </a:prstGeom>
          <a:noFill/>
          <a:ln/>
        </p:spPr>
        <p:txBody>
          <a:bodyPr wrap="square" rtlCol="0" anchor="ctr"/>
          <a:lstStyle/>
          <a:p>
            <a:pPr marL="0" indent="0">
              <a:lnSpc>
                <a:spcPts val="1500"/>
              </a:lnSpc>
              <a:buNone/>
            </a:pPr>
            <a:r>
              <a:rPr lang="en-US" sz="1250" dirty="0">
                <a:solidFill>
                  <a:srgbClr val="FFFFFF"/>
                </a:solidFill>
                <a:latin typeface="Calibri" pitchFamily="34" charset="0"/>
                <a:ea typeface="Calibri" pitchFamily="34" charset="-122"/>
                <a:cs typeface="Calibri" pitchFamily="34" charset="-120"/>
              </a:rPr>
              <a:t>Why n − 1, not n? If every dummy for a row is 0, that row must be the one remaining category — including all n would be redundant information.</a:t>
            </a:r>
            <a:endParaRPr lang="en-US" sz="1250" dirty="0"/>
          </a:p>
        </p:txBody>
      </p:sp>
      <p:sp>
        <p:nvSpPr>
          <p:cNvPr id="49" name="Text 47"/>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8FA6B3"/>
                </a:solidFill>
                <a:latin typeface="Calibri" pitchFamily="34" charset="0"/>
                <a:ea typeface="Calibri" pitchFamily="34" charset="-122"/>
                <a:cs typeface="Calibri" pitchFamily="34" charset="-120"/>
              </a:rPr>
              <a:t>Multiple Linear Regression</a:t>
            </a:r>
            <a:endParaRPr lang="en-US" sz="900" dirty="0"/>
          </a:p>
        </p:txBody>
      </p:sp>
      <p:sp>
        <p:nvSpPr>
          <p:cNvPr id="50" name="Text 48"/>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8FA6B3"/>
                </a:solidFill>
                <a:latin typeface="Calibri" pitchFamily="34" charset="0"/>
                <a:ea typeface="Calibri" pitchFamily="34" charset="-122"/>
                <a:cs typeface="Calibri" pitchFamily="34" charset="-120"/>
              </a:rPr>
              <a:t>21</a:t>
            </a:r>
            <a:endParaRPr lang="en-US" sz="900"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2">
    <p:bg>
      <p:bgPr>
        <a:solidFill>
          <a:srgbClr val="F5F9FA"/>
        </a:solidFill>
        <a:effectLst/>
      </p:bgPr>
    </p:bg>
    <p:spTree>
      <p:nvGrpSpPr>
        <p:cNvPr id="1" name=""/>
        <p:cNvGrpSpPr/>
        <p:nvPr/>
      </p:nvGrpSpPr>
      <p:grpSpPr>
        <a:xfrm>
          <a:off x="0" y="0"/>
          <a:ext cx="0" cy="0"/>
          <a:chOff x="0" y="0"/>
          <a:chExt cx="0" cy="0"/>
        </a:xfrm>
      </p:grpSpPr>
      <p:sp>
        <p:nvSpPr>
          <p:cNvPr id="2" name="Shape 0"/>
          <p:cNvSpPr/>
          <p:nvPr/>
        </p:nvSpPr>
        <p:spPr>
          <a:xfrm>
            <a:off x="457200" y="411480"/>
            <a:ext cx="2103120" cy="365760"/>
          </a:xfrm>
          <a:prstGeom prst="roundRect">
            <a:avLst>
              <a:gd name="adj" fmla="val 20000"/>
            </a:avLst>
          </a:prstGeom>
          <a:solidFill>
            <a:srgbClr val="E5F0F4"/>
          </a:solidFill>
          <a:ln/>
        </p:spPr>
      </p:sp>
      <p:sp>
        <p:nvSpPr>
          <p:cNvPr id="3" name="Text 1"/>
          <p:cNvSpPr/>
          <p:nvPr/>
        </p:nvSpPr>
        <p:spPr>
          <a:xfrm>
            <a:off x="457200" y="411480"/>
            <a:ext cx="2103120" cy="365760"/>
          </a:xfrm>
          <a:prstGeom prst="rect">
            <a:avLst/>
          </a:prstGeom>
          <a:noFill/>
          <a:ln/>
        </p:spPr>
        <p:txBody>
          <a:bodyPr wrap="square" rtlCol="0" anchor="ctr"/>
          <a:lstStyle/>
          <a:p>
            <a:pPr marL="0" indent="0" algn="ctr">
              <a:buNone/>
            </a:pPr>
            <a:r>
              <a:rPr lang="en-US" sz="1100" b="1" kern="0" spc="100" dirty="0">
                <a:solidFill>
                  <a:srgbClr val="065A82"/>
                </a:solidFill>
                <a:latin typeface="Calibri" pitchFamily="34" charset="0"/>
                <a:ea typeface="Calibri" pitchFamily="34" charset="-122"/>
                <a:cs typeface="Calibri" pitchFamily="34" charset="-120"/>
              </a:rPr>
              <a:t>FULL SUMMARY</a:t>
            </a:r>
            <a:endParaRPr lang="en-US" sz="1100" dirty="0"/>
          </a:p>
        </p:txBody>
      </p:sp>
      <p:sp>
        <p:nvSpPr>
          <p:cNvPr id="4" name="Text 2"/>
          <p:cNvSpPr/>
          <p:nvPr/>
        </p:nvSpPr>
        <p:spPr>
          <a:xfrm>
            <a:off x="457200" y="868680"/>
            <a:ext cx="11247120" cy="685800"/>
          </a:xfrm>
          <a:prstGeom prst="rect">
            <a:avLst/>
          </a:prstGeom>
          <a:noFill/>
          <a:ln/>
        </p:spPr>
        <p:txBody>
          <a:bodyPr wrap="square" rtlCol="0" anchor="ctr"/>
          <a:lstStyle/>
          <a:p>
            <a:pPr marL="0" indent="0">
              <a:buNone/>
            </a:pPr>
            <a:r>
              <a:rPr lang="en-US" sz="3000" b="1" dirty="0">
                <a:solidFill>
                  <a:srgbClr val="0B2A4A"/>
                </a:solidFill>
                <a:latin typeface="Cambria" pitchFamily="34" charset="0"/>
                <a:ea typeface="Cambria" pitchFamily="34" charset="-122"/>
                <a:cs typeface="Cambria" pitchFamily="34" charset="-120"/>
              </a:rPr>
              <a:t>Putting It All Together</a:t>
            </a:r>
            <a:endParaRPr lang="en-US" sz="3000" dirty="0"/>
          </a:p>
        </p:txBody>
      </p:sp>
      <p:sp>
        <p:nvSpPr>
          <p:cNvPr id="5" name="Shape 3"/>
          <p:cNvSpPr/>
          <p:nvPr/>
        </p:nvSpPr>
        <p:spPr>
          <a:xfrm>
            <a:off x="457200" y="1554480"/>
            <a:ext cx="5486400" cy="1417320"/>
          </a:xfrm>
          <a:prstGeom prst="roundRect">
            <a:avLst>
              <a:gd name="adj" fmla="val 6452"/>
            </a:avLst>
          </a:prstGeom>
          <a:solidFill>
            <a:srgbClr val="FFFFFF"/>
          </a:solidFill>
          <a:ln w="12700">
            <a:solidFill>
              <a:srgbClr val="D7E2E6"/>
            </a:solidFill>
            <a:prstDash val="solid"/>
          </a:ln>
          <a:effectLst>
            <a:outerShdw blurRad="63500" dist="25400" dir="5400000" algn="bl" rotWithShape="0">
              <a:srgbClr val="1A1A2E">
                <a:alpha val="8000"/>
              </a:srgbClr>
            </a:outerShdw>
          </a:effectLst>
        </p:spPr>
      </p:sp>
      <p:sp>
        <p:nvSpPr>
          <p:cNvPr id="6" name="Shape 4"/>
          <p:cNvSpPr/>
          <p:nvPr/>
        </p:nvSpPr>
        <p:spPr>
          <a:xfrm>
            <a:off x="731520" y="1810512"/>
            <a:ext cx="502920" cy="502920"/>
          </a:xfrm>
          <a:prstGeom prst="ellipse">
            <a:avLst/>
          </a:prstGeom>
          <a:solidFill>
            <a:srgbClr val="E5F0F4"/>
          </a:solidFill>
          <a:ln/>
        </p:spPr>
      </p:sp>
      <p:sp>
        <p:nvSpPr>
          <p:cNvPr id="7" name="Text 5"/>
          <p:cNvSpPr/>
          <p:nvPr/>
        </p:nvSpPr>
        <p:spPr>
          <a:xfrm>
            <a:off x="731520" y="1810512"/>
            <a:ext cx="502920" cy="502920"/>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417320" y="1719072"/>
            <a:ext cx="4297680" cy="365760"/>
          </a:xfrm>
          <a:prstGeom prst="rect">
            <a:avLst/>
          </a:prstGeom>
          <a:noFill/>
          <a:ln/>
        </p:spPr>
        <p:txBody>
          <a:bodyPr wrap="square" rtlCol="0" anchor="ctr"/>
          <a:lstStyle/>
          <a:p>
            <a:pPr marL="0" indent="0">
              <a:buNone/>
            </a:pPr>
            <a:r>
              <a:rPr lang="en-US" sz="1500" b="1" dirty="0">
                <a:solidFill>
                  <a:srgbClr val="0B2A4A"/>
                </a:solidFill>
                <a:latin typeface="Cambria" pitchFamily="34" charset="0"/>
                <a:ea typeface="Cambria" pitchFamily="34" charset="-122"/>
                <a:cs typeface="Cambria" pitchFamily="34" charset="-120"/>
              </a:rPr>
              <a:t>Core Model</a:t>
            </a:r>
            <a:endParaRPr lang="en-US" sz="1500" dirty="0"/>
          </a:p>
        </p:txBody>
      </p:sp>
      <p:sp>
        <p:nvSpPr>
          <p:cNvPr id="9" name="Text 7"/>
          <p:cNvSpPr/>
          <p:nvPr/>
        </p:nvSpPr>
        <p:spPr>
          <a:xfrm>
            <a:off x="731520" y="2212848"/>
            <a:ext cx="4937760" cy="640080"/>
          </a:xfrm>
          <a:prstGeom prst="rect">
            <a:avLst/>
          </a:prstGeom>
          <a:noFill/>
          <a:ln/>
        </p:spPr>
        <p:txBody>
          <a:bodyPr wrap="square" rtlCol="0" anchor="ctr"/>
          <a:lstStyle/>
          <a:p>
            <a:pPr marL="0" indent="0">
              <a:lnSpc>
                <a:spcPts val="1350"/>
              </a:lnSpc>
              <a:buNone/>
            </a:pPr>
            <a:r>
              <a:rPr lang="en-US" sz="1100" dirty="0">
                <a:solidFill>
                  <a:srgbClr val="5C6B73"/>
                </a:solidFill>
                <a:latin typeface="Calibri" pitchFamily="34" charset="0"/>
                <a:ea typeface="Calibri" pitchFamily="34" charset="-122"/>
                <a:cs typeface="Calibri" pitchFamily="34" charset="-120"/>
              </a:rPr>
              <a:t>y = β₀ + β₁x₁ + … + βₙxₙ — a hyperplane fit through n-dimensional data, with n+1 coefficients to solve for.</a:t>
            </a:r>
            <a:endParaRPr lang="en-US" sz="1100" dirty="0"/>
          </a:p>
        </p:txBody>
      </p:sp>
      <p:sp>
        <p:nvSpPr>
          <p:cNvPr id="10" name="Shape 8"/>
          <p:cNvSpPr/>
          <p:nvPr/>
        </p:nvSpPr>
        <p:spPr>
          <a:xfrm>
            <a:off x="6217920" y="1554480"/>
            <a:ext cx="5486400" cy="1417320"/>
          </a:xfrm>
          <a:prstGeom prst="roundRect">
            <a:avLst>
              <a:gd name="adj" fmla="val 6452"/>
            </a:avLst>
          </a:prstGeom>
          <a:solidFill>
            <a:srgbClr val="FFFFFF"/>
          </a:solidFill>
          <a:ln w="12700">
            <a:solidFill>
              <a:srgbClr val="D7E2E6"/>
            </a:solidFill>
            <a:prstDash val="solid"/>
          </a:ln>
          <a:effectLst>
            <a:outerShdw blurRad="63500" dist="25400" dir="5400000" algn="bl" rotWithShape="0">
              <a:srgbClr val="1A1A2E">
                <a:alpha val="8000"/>
              </a:srgbClr>
            </a:outerShdw>
          </a:effectLst>
        </p:spPr>
      </p:sp>
      <p:sp>
        <p:nvSpPr>
          <p:cNvPr id="11" name="Shape 9"/>
          <p:cNvSpPr/>
          <p:nvPr/>
        </p:nvSpPr>
        <p:spPr>
          <a:xfrm>
            <a:off x="6492240" y="1810512"/>
            <a:ext cx="502920" cy="502920"/>
          </a:xfrm>
          <a:prstGeom prst="ellipse">
            <a:avLst/>
          </a:prstGeom>
          <a:solidFill>
            <a:srgbClr val="E5F0F4"/>
          </a:solidFill>
          <a:ln/>
        </p:spPr>
      </p:sp>
      <p:sp>
        <p:nvSpPr>
          <p:cNvPr id="12" name="Text 10"/>
          <p:cNvSpPr/>
          <p:nvPr/>
        </p:nvSpPr>
        <p:spPr>
          <a:xfrm>
            <a:off x="6492240" y="1810512"/>
            <a:ext cx="502920" cy="502920"/>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7178040" y="1719072"/>
            <a:ext cx="4297680" cy="365760"/>
          </a:xfrm>
          <a:prstGeom prst="rect">
            <a:avLst/>
          </a:prstGeom>
          <a:noFill/>
          <a:ln/>
        </p:spPr>
        <p:txBody>
          <a:bodyPr wrap="square" rtlCol="0" anchor="ctr"/>
          <a:lstStyle/>
          <a:p>
            <a:pPr marL="0" indent="0">
              <a:buNone/>
            </a:pPr>
            <a:r>
              <a:rPr lang="en-US" sz="1500" b="1" dirty="0">
                <a:solidFill>
                  <a:srgbClr val="0B2A4A"/>
                </a:solidFill>
                <a:latin typeface="Cambria" pitchFamily="34" charset="0"/>
                <a:ea typeface="Cambria" pitchFamily="34" charset="-122"/>
                <a:cs typeface="Cambria" pitchFamily="34" charset="-120"/>
              </a:rPr>
              <a:t>Model Quality</a:t>
            </a:r>
            <a:endParaRPr lang="en-US" sz="1500" dirty="0"/>
          </a:p>
        </p:txBody>
      </p:sp>
      <p:sp>
        <p:nvSpPr>
          <p:cNvPr id="14" name="Text 12"/>
          <p:cNvSpPr/>
          <p:nvPr/>
        </p:nvSpPr>
        <p:spPr>
          <a:xfrm>
            <a:off x="6492240" y="2212848"/>
            <a:ext cx="4937760" cy="640080"/>
          </a:xfrm>
          <a:prstGeom prst="rect">
            <a:avLst/>
          </a:prstGeom>
          <a:noFill/>
          <a:ln/>
        </p:spPr>
        <p:txBody>
          <a:bodyPr wrap="square" rtlCol="0" anchor="ctr"/>
          <a:lstStyle/>
          <a:p>
            <a:pPr marL="0" indent="0">
              <a:lnSpc>
                <a:spcPts val="1350"/>
              </a:lnSpc>
              <a:buNone/>
            </a:pPr>
            <a:r>
              <a:rPr lang="en-US" sz="1100" dirty="0">
                <a:solidFill>
                  <a:srgbClr val="5C6B73"/>
                </a:solidFill>
                <a:latin typeface="Calibri" pitchFamily="34" charset="0"/>
                <a:ea typeface="Calibri" pitchFamily="34" charset="-122"/>
                <a:cs typeface="Calibri" pitchFamily="34" charset="-120"/>
              </a:rPr>
              <a:t>R² tells you how much variance is explained; watch for overfitting when adding more predictors.</a:t>
            </a:r>
            <a:endParaRPr lang="en-US" sz="1100" dirty="0"/>
          </a:p>
        </p:txBody>
      </p:sp>
      <p:sp>
        <p:nvSpPr>
          <p:cNvPr id="15" name="Shape 13"/>
          <p:cNvSpPr/>
          <p:nvPr/>
        </p:nvSpPr>
        <p:spPr>
          <a:xfrm>
            <a:off x="457200" y="3154680"/>
            <a:ext cx="5486400" cy="1417320"/>
          </a:xfrm>
          <a:prstGeom prst="roundRect">
            <a:avLst>
              <a:gd name="adj" fmla="val 6452"/>
            </a:avLst>
          </a:prstGeom>
          <a:solidFill>
            <a:srgbClr val="FFFFFF"/>
          </a:solidFill>
          <a:ln w="12700">
            <a:solidFill>
              <a:srgbClr val="D7E2E6"/>
            </a:solidFill>
            <a:prstDash val="solid"/>
          </a:ln>
          <a:effectLst>
            <a:outerShdw blurRad="63500" dist="25400" dir="5400000" algn="bl" rotWithShape="0">
              <a:srgbClr val="1A1A2E">
                <a:alpha val="8000"/>
              </a:srgbClr>
            </a:outerShdw>
          </a:effectLst>
        </p:spPr>
      </p:sp>
      <p:sp>
        <p:nvSpPr>
          <p:cNvPr id="16" name="Shape 14"/>
          <p:cNvSpPr/>
          <p:nvPr/>
        </p:nvSpPr>
        <p:spPr>
          <a:xfrm>
            <a:off x="731520" y="3410712"/>
            <a:ext cx="502920" cy="502920"/>
          </a:xfrm>
          <a:prstGeom prst="ellipse">
            <a:avLst/>
          </a:prstGeom>
          <a:solidFill>
            <a:srgbClr val="E5F0F4"/>
          </a:solidFill>
          <a:ln/>
        </p:spPr>
      </p:sp>
      <p:sp>
        <p:nvSpPr>
          <p:cNvPr id="17" name="Text 15"/>
          <p:cNvSpPr/>
          <p:nvPr/>
        </p:nvSpPr>
        <p:spPr>
          <a:xfrm>
            <a:off x="731520" y="3410712"/>
            <a:ext cx="502920" cy="502920"/>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1417320" y="3319272"/>
            <a:ext cx="4297680" cy="365760"/>
          </a:xfrm>
          <a:prstGeom prst="rect">
            <a:avLst/>
          </a:prstGeom>
          <a:noFill/>
          <a:ln/>
        </p:spPr>
        <p:txBody>
          <a:bodyPr wrap="square" rtlCol="0" anchor="ctr"/>
          <a:lstStyle/>
          <a:p>
            <a:pPr marL="0" indent="0">
              <a:buNone/>
            </a:pPr>
            <a:r>
              <a:rPr lang="en-US" sz="1500" b="1" dirty="0">
                <a:solidFill>
                  <a:srgbClr val="0B2A4A"/>
                </a:solidFill>
                <a:latin typeface="Cambria" pitchFamily="34" charset="0"/>
                <a:ea typeface="Cambria" pitchFamily="34" charset="-122"/>
                <a:cs typeface="Cambria" pitchFamily="34" charset="-120"/>
              </a:rPr>
              <a:t>Multicollinearity</a:t>
            </a:r>
            <a:endParaRPr lang="en-US" sz="1500" dirty="0"/>
          </a:p>
        </p:txBody>
      </p:sp>
      <p:sp>
        <p:nvSpPr>
          <p:cNvPr id="19" name="Text 17"/>
          <p:cNvSpPr/>
          <p:nvPr/>
        </p:nvSpPr>
        <p:spPr>
          <a:xfrm>
            <a:off x="731520" y="3813048"/>
            <a:ext cx="4937760" cy="640080"/>
          </a:xfrm>
          <a:prstGeom prst="rect">
            <a:avLst/>
          </a:prstGeom>
          <a:noFill/>
          <a:ln/>
        </p:spPr>
        <p:txBody>
          <a:bodyPr wrap="square" rtlCol="0" anchor="ctr"/>
          <a:lstStyle/>
          <a:p>
            <a:pPr marL="0" indent="0">
              <a:lnSpc>
                <a:spcPts val="1350"/>
              </a:lnSpc>
              <a:buNone/>
            </a:pPr>
            <a:r>
              <a:rPr lang="en-US" sz="1100" dirty="0">
                <a:solidFill>
                  <a:srgbClr val="5C6B73"/>
                </a:solidFill>
                <a:latin typeface="Calibri" pitchFamily="34" charset="0"/>
                <a:ea typeface="Calibri" pitchFamily="34" charset="-122"/>
                <a:cs typeface="Calibri" pitchFamily="34" charset="-120"/>
              </a:rPr>
              <a:t>Correlated predictors make coefficients unstable. Detect with correlation matrices and VIF; VIF &gt; 5–10 is a red flag.</a:t>
            </a:r>
            <a:endParaRPr lang="en-US" sz="1100" dirty="0"/>
          </a:p>
        </p:txBody>
      </p:sp>
      <p:sp>
        <p:nvSpPr>
          <p:cNvPr id="20" name="Shape 18"/>
          <p:cNvSpPr/>
          <p:nvPr/>
        </p:nvSpPr>
        <p:spPr>
          <a:xfrm>
            <a:off x="6217920" y="3154680"/>
            <a:ext cx="5486400" cy="1417320"/>
          </a:xfrm>
          <a:prstGeom prst="roundRect">
            <a:avLst>
              <a:gd name="adj" fmla="val 6452"/>
            </a:avLst>
          </a:prstGeom>
          <a:solidFill>
            <a:srgbClr val="FFFFFF"/>
          </a:solidFill>
          <a:ln w="12700">
            <a:solidFill>
              <a:srgbClr val="D7E2E6"/>
            </a:solidFill>
            <a:prstDash val="solid"/>
          </a:ln>
          <a:effectLst>
            <a:outerShdw blurRad="63500" dist="25400" dir="5400000" algn="bl" rotWithShape="0">
              <a:srgbClr val="1A1A2E">
                <a:alpha val="8000"/>
              </a:srgbClr>
            </a:outerShdw>
          </a:effectLst>
        </p:spPr>
      </p:sp>
      <p:sp>
        <p:nvSpPr>
          <p:cNvPr id="21" name="Shape 19"/>
          <p:cNvSpPr/>
          <p:nvPr/>
        </p:nvSpPr>
        <p:spPr>
          <a:xfrm>
            <a:off x="6492240" y="3410712"/>
            <a:ext cx="502920" cy="502920"/>
          </a:xfrm>
          <a:prstGeom prst="ellipse">
            <a:avLst/>
          </a:prstGeom>
          <a:solidFill>
            <a:srgbClr val="E5F0F4"/>
          </a:solidFill>
          <a:ln/>
        </p:spPr>
      </p:sp>
      <p:sp>
        <p:nvSpPr>
          <p:cNvPr id="22" name="Text 20"/>
          <p:cNvSpPr/>
          <p:nvPr/>
        </p:nvSpPr>
        <p:spPr>
          <a:xfrm>
            <a:off x="6492240" y="3410712"/>
            <a:ext cx="502920" cy="502920"/>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7178040" y="3319272"/>
            <a:ext cx="4297680" cy="365760"/>
          </a:xfrm>
          <a:prstGeom prst="rect">
            <a:avLst/>
          </a:prstGeom>
          <a:noFill/>
          <a:ln/>
        </p:spPr>
        <p:txBody>
          <a:bodyPr wrap="square" rtlCol="0" anchor="ctr"/>
          <a:lstStyle/>
          <a:p>
            <a:pPr marL="0" indent="0">
              <a:buNone/>
            </a:pPr>
            <a:r>
              <a:rPr lang="en-US" sz="1500" b="1" dirty="0">
                <a:solidFill>
                  <a:srgbClr val="0B2A4A"/>
                </a:solidFill>
                <a:latin typeface="Cambria" pitchFamily="34" charset="0"/>
                <a:ea typeface="Cambria" pitchFamily="34" charset="-122"/>
                <a:cs typeface="Cambria" pitchFamily="34" charset="-120"/>
              </a:rPr>
              <a:t>Fixing It</a:t>
            </a:r>
            <a:endParaRPr lang="en-US" sz="1500" dirty="0"/>
          </a:p>
        </p:txBody>
      </p:sp>
      <p:sp>
        <p:nvSpPr>
          <p:cNvPr id="24" name="Text 22"/>
          <p:cNvSpPr/>
          <p:nvPr/>
        </p:nvSpPr>
        <p:spPr>
          <a:xfrm>
            <a:off x="6492240" y="3813048"/>
            <a:ext cx="4937760" cy="640080"/>
          </a:xfrm>
          <a:prstGeom prst="rect">
            <a:avLst/>
          </a:prstGeom>
          <a:noFill/>
          <a:ln/>
        </p:spPr>
        <p:txBody>
          <a:bodyPr wrap="square" rtlCol="0" anchor="ctr"/>
          <a:lstStyle/>
          <a:p>
            <a:pPr marL="0" indent="0">
              <a:lnSpc>
                <a:spcPts val="1350"/>
              </a:lnSpc>
              <a:buNone/>
            </a:pPr>
            <a:r>
              <a:rPr lang="en-US" sz="1100" dirty="0">
                <a:solidFill>
                  <a:srgbClr val="5C6B73"/>
                </a:solidFill>
                <a:latin typeface="Calibri" pitchFamily="34" charset="0"/>
                <a:ea typeface="Calibri" pitchFamily="34" charset="-122"/>
                <a:cs typeface="Calibri" pitchFamily="34" charset="-120"/>
              </a:rPr>
              <a:t>Drop redundant variables, engineer combined features, or use dimensionality reduction like PCA.</a:t>
            </a:r>
            <a:endParaRPr lang="en-US" sz="1100" dirty="0"/>
          </a:p>
        </p:txBody>
      </p:sp>
      <p:sp>
        <p:nvSpPr>
          <p:cNvPr id="25" name="Shape 23"/>
          <p:cNvSpPr/>
          <p:nvPr/>
        </p:nvSpPr>
        <p:spPr>
          <a:xfrm>
            <a:off x="457200" y="4754880"/>
            <a:ext cx="5486400" cy="1417320"/>
          </a:xfrm>
          <a:prstGeom prst="roundRect">
            <a:avLst>
              <a:gd name="adj" fmla="val 6452"/>
            </a:avLst>
          </a:prstGeom>
          <a:solidFill>
            <a:srgbClr val="FFFFFF"/>
          </a:solidFill>
          <a:ln w="12700">
            <a:solidFill>
              <a:srgbClr val="D7E2E6"/>
            </a:solidFill>
            <a:prstDash val="solid"/>
          </a:ln>
          <a:effectLst>
            <a:outerShdw blurRad="63500" dist="25400" dir="5400000" algn="bl" rotWithShape="0">
              <a:srgbClr val="1A1A2E">
                <a:alpha val="8000"/>
              </a:srgbClr>
            </a:outerShdw>
          </a:effectLst>
        </p:spPr>
      </p:sp>
      <p:sp>
        <p:nvSpPr>
          <p:cNvPr id="26" name="Shape 24"/>
          <p:cNvSpPr/>
          <p:nvPr/>
        </p:nvSpPr>
        <p:spPr>
          <a:xfrm>
            <a:off x="731520" y="5010912"/>
            <a:ext cx="502920" cy="502920"/>
          </a:xfrm>
          <a:prstGeom prst="ellipse">
            <a:avLst/>
          </a:prstGeom>
          <a:solidFill>
            <a:srgbClr val="E5F0F4"/>
          </a:solidFill>
          <a:ln/>
        </p:spPr>
      </p:sp>
      <p:sp>
        <p:nvSpPr>
          <p:cNvPr id="27" name="Text 25"/>
          <p:cNvSpPr/>
          <p:nvPr/>
        </p:nvSpPr>
        <p:spPr>
          <a:xfrm>
            <a:off x="731520" y="5010912"/>
            <a:ext cx="502920" cy="502920"/>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5</a:t>
            </a:r>
            <a:endParaRPr lang="en-US" sz="1600" dirty="0"/>
          </a:p>
        </p:txBody>
      </p:sp>
      <p:sp>
        <p:nvSpPr>
          <p:cNvPr id="28" name="Text 26"/>
          <p:cNvSpPr/>
          <p:nvPr/>
        </p:nvSpPr>
        <p:spPr>
          <a:xfrm>
            <a:off x="1417320" y="4919472"/>
            <a:ext cx="4297680" cy="365760"/>
          </a:xfrm>
          <a:prstGeom prst="rect">
            <a:avLst/>
          </a:prstGeom>
          <a:noFill/>
          <a:ln/>
        </p:spPr>
        <p:txBody>
          <a:bodyPr wrap="square" rtlCol="0" anchor="ctr"/>
          <a:lstStyle/>
          <a:p>
            <a:pPr marL="0" indent="0">
              <a:buNone/>
            </a:pPr>
            <a:r>
              <a:rPr lang="en-US" sz="1500" b="1" dirty="0">
                <a:solidFill>
                  <a:srgbClr val="0B2A4A"/>
                </a:solidFill>
                <a:latin typeface="Cambria" pitchFamily="34" charset="0"/>
                <a:ea typeface="Cambria" pitchFamily="34" charset="-122"/>
                <a:cs typeface="Cambria" pitchFamily="34" charset="-120"/>
              </a:rPr>
              <a:t>Categorical Data</a:t>
            </a:r>
            <a:endParaRPr lang="en-US" sz="1500" dirty="0"/>
          </a:p>
        </p:txBody>
      </p:sp>
      <p:sp>
        <p:nvSpPr>
          <p:cNvPr id="29" name="Text 27"/>
          <p:cNvSpPr/>
          <p:nvPr/>
        </p:nvSpPr>
        <p:spPr>
          <a:xfrm>
            <a:off x="731520" y="5413248"/>
            <a:ext cx="4937760" cy="640080"/>
          </a:xfrm>
          <a:prstGeom prst="rect">
            <a:avLst/>
          </a:prstGeom>
          <a:noFill/>
          <a:ln/>
        </p:spPr>
        <p:txBody>
          <a:bodyPr wrap="square" rtlCol="0" anchor="ctr"/>
          <a:lstStyle/>
          <a:p>
            <a:pPr marL="0" indent="0">
              <a:lnSpc>
                <a:spcPts val="1350"/>
              </a:lnSpc>
              <a:buNone/>
            </a:pPr>
            <a:r>
              <a:rPr lang="en-US" sz="1100" dirty="0">
                <a:solidFill>
                  <a:srgbClr val="5C6B73"/>
                </a:solidFill>
                <a:latin typeface="Calibri" pitchFamily="34" charset="0"/>
                <a:ea typeface="Calibri" pitchFamily="34" charset="-122"/>
                <a:cs typeface="Calibri" pitchFamily="34" charset="-120"/>
              </a:rPr>
              <a:t>Convert categories into n−1 dummy/indicator variables before fitting the model.</a:t>
            </a:r>
            <a:endParaRPr lang="en-US" sz="1100" dirty="0"/>
          </a:p>
        </p:txBody>
      </p:sp>
      <p:sp>
        <p:nvSpPr>
          <p:cNvPr id="30" name="Shape 28"/>
          <p:cNvSpPr/>
          <p:nvPr/>
        </p:nvSpPr>
        <p:spPr>
          <a:xfrm>
            <a:off x="6217920" y="4754880"/>
            <a:ext cx="5486400" cy="1417320"/>
          </a:xfrm>
          <a:prstGeom prst="roundRect">
            <a:avLst>
              <a:gd name="adj" fmla="val 6452"/>
            </a:avLst>
          </a:prstGeom>
          <a:solidFill>
            <a:srgbClr val="FFFFFF"/>
          </a:solidFill>
          <a:ln w="12700">
            <a:solidFill>
              <a:srgbClr val="D7E2E6"/>
            </a:solidFill>
            <a:prstDash val="solid"/>
          </a:ln>
          <a:effectLst>
            <a:outerShdw blurRad="63500" dist="25400" dir="5400000" algn="bl" rotWithShape="0">
              <a:srgbClr val="1A1A2E">
                <a:alpha val="8000"/>
              </a:srgbClr>
            </a:outerShdw>
          </a:effectLst>
        </p:spPr>
      </p:sp>
      <p:sp>
        <p:nvSpPr>
          <p:cNvPr id="31" name="Shape 29"/>
          <p:cNvSpPr/>
          <p:nvPr/>
        </p:nvSpPr>
        <p:spPr>
          <a:xfrm>
            <a:off x="6492240" y="5010912"/>
            <a:ext cx="502920" cy="502920"/>
          </a:xfrm>
          <a:prstGeom prst="ellipse">
            <a:avLst/>
          </a:prstGeom>
          <a:solidFill>
            <a:srgbClr val="E5F0F4"/>
          </a:solidFill>
          <a:ln/>
        </p:spPr>
      </p:sp>
      <p:sp>
        <p:nvSpPr>
          <p:cNvPr id="32" name="Text 30"/>
          <p:cNvSpPr/>
          <p:nvPr/>
        </p:nvSpPr>
        <p:spPr>
          <a:xfrm>
            <a:off x="6492240" y="5010912"/>
            <a:ext cx="502920" cy="502920"/>
          </a:xfrm>
          <a:prstGeom prst="rect">
            <a:avLst/>
          </a:prstGeom>
          <a:noFill/>
          <a:ln/>
        </p:spPr>
        <p:txBody>
          <a:bodyPr wrap="square" rtlCol="0" anchor="ctr"/>
          <a:lstStyle/>
          <a:p>
            <a:pPr marL="0" indent="0" algn="ctr">
              <a:buNone/>
            </a:pPr>
            <a:r>
              <a:rPr lang="en-US" sz="1600" b="1" dirty="0">
                <a:solidFill>
                  <a:srgbClr val="065A82"/>
                </a:solidFill>
                <a:latin typeface="Calibri" pitchFamily="34" charset="0"/>
                <a:ea typeface="Calibri" pitchFamily="34" charset="-122"/>
                <a:cs typeface="Calibri" pitchFamily="34" charset="-120"/>
              </a:rPr>
              <a:t>6</a:t>
            </a:r>
            <a:endParaRPr lang="en-US" sz="1600" dirty="0"/>
          </a:p>
        </p:txBody>
      </p:sp>
      <p:sp>
        <p:nvSpPr>
          <p:cNvPr id="33" name="Text 31"/>
          <p:cNvSpPr/>
          <p:nvPr/>
        </p:nvSpPr>
        <p:spPr>
          <a:xfrm>
            <a:off x="7178040" y="4919472"/>
            <a:ext cx="4297680" cy="365760"/>
          </a:xfrm>
          <a:prstGeom prst="rect">
            <a:avLst/>
          </a:prstGeom>
          <a:noFill/>
          <a:ln/>
        </p:spPr>
        <p:txBody>
          <a:bodyPr wrap="square" rtlCol="0" anchor="ctr"/>
          <a:lstStyle/>
          <a:p>
            <a:pPr marL="0" indent="0">
              <a:buNone/>
            </a:pPr>
            <a:r>
              <a:rPr lang="en-US" sz="1500" b="1" dirty="0">
                <a:solidFill>
                  <a:srgbClr val="0B2A4A"/>
                </a:solidFill>
                <a:latin typeface="Cambria" pitchFamily="34" charset="0"/>
                <a:ea typeface="Cambria" pitchFamily="34" charset="-122"/>
                <a:cs typeface="Cambria" pitchFamily="34" charset="-120"/>
              </a:rPr>
              <a:t>Tooling</a:t>
            </a:r>
            <a:endParaRPr lang="en-US" sz="1500" dirty="0"/>
          </a:p>
        </p:txBody>
      </p:sp>
      <p:sp>
        <p:nvSpPr>
          <p:cNvPr id="34" name="Text 32"/>
          <p:cNvSpPr/>
          <p:nvPr/>
        </p:nvSpPr>
        <p:spPr>
          <a:xfrm>
            <a:off x="6492240" y="5413248"/>
            <a:ext cx="4937760" cy="640080"/>
          </a:xfrm>
          <a:prstGeom prst="rect">
            <a:avLst/>
          </a:prstGeom>
          <a:noFill/>
          <a:ln/>
        </p:spPr>
        <p:txBody>
          <a:bodyPr wrap="square" rtlCol="0" anchor="ctr"/>
          <a:lstStyle/>
          <a:p>
            <a:pPr marL="0" indent="0">
              <a:lnSpc>
                <a:spcPts val="1350"/>
              </a:lnSpc>
              <a:buNone/>
            </a:pPr>
            <a:r>
              <a:rPr lang="en-US" sz="1100" dirty="0">
                <a:solidFill>
                  <a:srgbClr val="5C6B73"/>
                </a:solidFill>
                <a:latin typeface="Calibri" pitchFamily="34" charset="0"/>
                <a:ea typeface="Calibri" pitchFamily="34" charset="-122"/>
                <a:cs typeface="Calibri" pitchFamily="34" charset="-120"/>
              </a:rPr>
              <a:t>scikit-learn's LinearRegression handles fitting; statsmodels or similar libraries report VIF and p-values.</a:t>
            </a:r>
            <a:endParaRPr lang="en-US" sz="1100" dirty="0"/>
          </a:p>
        </p:txBody>
      </p:sp>
      <p:sp>
        <p:nvSpPr>
          <p:cNvPr id="35" name="Text 33"/>
          <p:cNvSpPr/>
          <p:nvPr/>
        </p:nvSpPr>
        <p:spPr>
          <a:xfrm>
            <a:off x="457200" y="6537960"/>
            <a:ext cx="5486400" cy="274320"/>
          </a:xfrm>
          <a:prstGeom prst="rect">
            <a:avLst/>
          </a:prstGeom>
          <a:noFill/>
          <a:ln/>
        </p:spPr>
        <p:txBody>
          <a:bodyPr wrap="square" rtlCol="0" anchor="ctr"/>
          <a:lstStyle/>
          <a:p>
            <a:pPr marL="0" indent="0">
              <a:buNone/>
            </a:pPr>
            <a:r>
              <a:rPr lang="en-US" sz="900" i="1" dirty="0">
                <a:solidFill>
                  <a:srgbClr val="5C6B73"/>
                </a:solidFill>
                <a:latin typeface="Calibri" pitchFamily="34" charset="0"/>
                <a:ea typeface="Calibri" pitchFamily="34" charset="-122"/>
                <a:cs typeface="Calibri" pitchFamily="34" charset="-120"/>
              </a:rPr>
              <a:t>Multiple Linear Regression</a:t>
            </a:r>
            <a:endParaRPr lang="en-US" sz="900" dirty="0"/>
          </a:p>
        </p:txBody>
      </p:sp>
      <p:sp>
        <p:nvSpPr>
          <p:cNvPr id="36" name="Text 3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22</a:t>
            </a:r>
            <a:endParaRPr lang="en-US" sz="9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1717</TotalTime>
  <Words>2926</Words>
  <Application>Microsoft Office PowerPoint</Application>
  <PresentationFormat>Custom</PresentationFormat>
  <Paragraphs>513</Paragraphs>
  <Slides>26</Slides>
  <Notes>22</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win</cp:lastModifiedBy>
  <cp:revision>11</cp:revision>
  <dcterms:created xsi:type="dcterms:W3CDTF">2026-09-05T10:21:54Z</dcterms:created>
  <dcterms:modified xsi:type="dcterms:W3CDTF">2026-09-10T14:09:36Z</dcterms:modified>
</cp:coreProperties>
</file>