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5" d="100"/>
          <a:sy n="95" d="100"/>
        </p:scale>
        <p:origin x="-178" y="2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1AB42E-7AAF-417B-83D7-9B10B157BD65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003276-357E-46FC-B926-D6D7752742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6039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84"/>
            <a:ext cx="12191695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640080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8430768" y="640080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06256" y="640080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9381744" y="640080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9857232" y="640080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Shape 6"/>
          <p:cNvSpPr/>
          <p:nvPr/>
        </p:nvSpPr>
        <p:spPr>
          <a:xfrm>
            <a:off x="10332720" y="640080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Shape 7"/>
          <p:cNvSpPr/>
          <p:nvPr/>
        </p:nvSpPr>
        <p:spPr>
          <a:xfrm>
            <a:off x="10808208" y="640080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Shape 8"/>
          <p:cNvSpPr/>
          <p:nvPr/>
        </p:nvSpPr>
        <p:spPr>
          <a:xfrm>
            <a:off x="11283696" y="640080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7955280" y="1143000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Shape 10"/>
          <p:cNvSpPr/>
          <p:nvPr/>
        </p:nvSpPr>
        <p:spPr>
          <a:xfrm>
            <a:off x="8430768" y="1143000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Shape 11"/>
          <p:cNvSpPr/>
          <p:nvPr/>
        </p:nvSpPr>
        <p:spPr>
          <a:xfrm>
            <a:off x="8906256" y="1143000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Shape 12"/>
          <p:cNvSpPr/>
          <p:nvPr/>
        </p:nvSpPr>
        <p:spPr>
          <a:xfrm>
            <a:off x="9381744" y="1143000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Shape 13"/>
          <p:cNvSpPr/>
          <p:nvPr/>
        </p:nvSpPr>
        <p:spPr>
          <a:xfrm>
            <a:off x="9857232" y="1143000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Shape 14"/>
          <p:cNvSpPr/>
          <p:nvPr/>
        </p:nvSpPr>
        <p:spPr>
          <a:xfrm>
            <a:off x="10332720" y="1143000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Shape 15"/>
          <p:cNvSpPr/>
          <p:nvPr/>
        </p:nvSpPr>
        <p:spPr>
          <a:xfrm>
            <a:off x="10808208" y="1143000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Shape 16"/>
          <p:cNvSpPr/>
          <p:nvPr/>
        </p:nvSpPr>
        <p:spPr>
          <a:xfrm>
            <a:off x="11283696" y="1143000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Shape 17"/>
          <p:cNvSpPr/>
          <p:nvPr/>
        </p:nvSpPr>
        <p:spPr>
          <a:xfrm>
            <a:off x="7955280" y="1645920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Shape 18"/>
          <p:cNvSpPr/>
          <p:nvPr/>
        </p:nvSpPr>
        <p:spPr>
          <a:xfrm>
            <a:off x="8430768" y="1645920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Shape 19"/>
          <p:cNvSpPr/>
          <p:nvPr/>
        </p:nvSpPr>
        <p:spPr>
          <a:xfrm>
            <a:off x="8906256" y="1645920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Shape 20"/>
          <p:cNvSpPr/>
          <p:nvPr/>
        </p:nvSpPr>
        <p:spPr>
          <a:xfrm>
            <a:off x="9381744" y="1645920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Shape 21"/>
          <p:cNvSpPr/>
          <p:nvPr/>
        </p:nvSpPr>
        <p:spPr>
          <a:xfrm>
            <a:off x="9857232" y="1645920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Shape 22"/>
          <p:cNvSpPr/>
          <p:nvPr/>
        </p:nvSpPr>
        <p:spPr>
          <a:xfrm>
            <a:off x="10332720" y="1645920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Shape 23"/>
          <p:cNvSpPr/>
          <p:nvPr/>
        </p:nvSpPr>
        <p:spPr>
          <a:xfrm>
            <a:off x="10808208" y="1645920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Shape 24"/>
          <p:cNvSpPr/>
          <p:nvPr/>
        </p:nvSpPr>
        <p:spPr>
          <a:xfrm>
            <a:off x="11283696" y="1645920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Shape 25"/>
          <p:cNvSpPr/>
          <p:nvPr/>
        </p:nvSpPr>
        <p:spPr>
          <a:xfrm>
            <a:off x="7955280" y="2148840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8" name="Shape 26"/>
          <p:cNvSpPr/>
          <p:nvPr/>
        </p:nvSpPr>
        <p:spPr>
          <a:xfrm>
            <a:off x="8430768" y="2148840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Shape 27"/>
          <p:cNvSpPr/>
          <p:nvPr/>
        </p:nvSpPr>
        <p:spPr>
          <a:xfrm>
            <a:off x="8906256" y="2148840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Shape 28"/>
          <p:cNvSpPr/>
          <p:nvPr/>
        </p:nvSpPr>
        <p:spPr>
          <a:xfrm>
            <a:off x="9381744" y="2148840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Shape 29"/>
          <p:cNvSpPr/>
          <p:nvPr/>
        </p:nvSpPr>
        <p:spPr>
          <a:xfrm>
            <a:off x="9857232" y="2148840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Shape 30"/>
          <p:cNvSpPr/>
          <p:nvPr/>
        </p:nvSpPr>
        <p:spPr>
          <a:xfrm>
            <a:off x="10332720" y="2148840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3" name="Shape 31"/>
          <p:cNvSpPr/>
          <p:nvPr/>
        </p:nvSpPr>
        <p:spPr>
          <a:xfrm>
            <a:off x="10808208" y="2148840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4" name="Shape 32"/>
          <p:cNvSpPr/>
          <p:nvPr/>
        </p:nvSpPr>
        <p:spPr>
          <a:xfrm>
            <a:off x="11283696" y="2148840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5" name="Shape 33"/>
          <p:cNvSpPr/>
          <p:nvPr/>
        </p:nvSpPr>
        <p:spPr>
          <a:xfrm>
            <a:off x="7955280" y="2651760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6" name="Shape 34"/>
          <p:cNvSpPr/>
          <p:nvPr/>
        </p:nvSpPr>
        <p:spPr>
          <a:xfrm>
            <a:off x="8430768" y="2651760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7" name="Shape 35"/>
          <p:cNvSpPr/>
          <p:nvPr/>
        </p:nvSpPr>
        <p:spPr>
          <a:xfrm>
            <a:off x="8906256" y="2651760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8" name="Shape 36"/>
          <p:cNvSpPr/>
          <p:nvPr/>
        </p:nvSpPr>
        <p:spPr>
          <a:xfrm>
            <a:off x="9381744" y="2651760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9" name="Shape 37"/>
          <p:cNvSpPr/>
          <p:nvPr/>
        </p:nvSpPr>
        <p:spPr>
          <a:xfrm>
            <a:off x="9857232" y="2651760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0" name="Shape 38"/>
          <p:cNvSpPr/>
          <p:nvPr/>
        </p:nvSpPr>
        <p:spPr>
          <a:xfrm>
            <a:off x="10332720" y="2651760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1" name="Shape 39"/>
          <p:cNvSpPr/>
          <p:nvPr/>
        </p:nvSpPr>
        <p:spPr>
          <a:xfrm>
            <a:off x="10808208" y="2651760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2" name="Shape 40"/>
          <p:cNvSpPr/>
          <p:nvPr/>
        </p:nvSpPr>
        <p:spPr>
          <a:xfrm>
            <a:off x="11283696" y="2651760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3" name="Text 41"/>
          <p:cNvSpPr/>
          <p:nvPr/>
        </p:nvSpPr>
        <p:spPr>
          <a:xfrm>
            <a:off x="64008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7F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 · REGRESSION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94360" y="2331720"/>
            <a:ext cx="8686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Linear</a:t>
            </a:r>
            <a:endParaRPr lang="en-US" sz="5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</a:t>
            </a:r>
            <a:endParaRPr lang="en-US" sz="5400" dirty="0"/>
          </a:p>
        </p:txBody>
      </p:sp>
      <p:sp>
        <p:nvSpPr>
          <p:cNvPr id="45" name="Text 43"/>
          <p:cNvSpPr/>
          <p:nvPr/>
        </p:nvSpPr>
        <p:spPr>
          <a:xfrm>
            <a:off x="640080" y="43434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7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one outcome from two or more inputs — with a worked, step-by-step numerical example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40080" y="5074920"/>
            <a:ext cx="128016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5257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FC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b₀ + b₁x₁ + b₂x₂ + ... + bₙxₙ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Left Off: Simple Linear Regression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last class, we built a model with exactly one independent variable predicting one dependent variable.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430" dirty="0"/>
          </a:p>
        </p:txBody>
      </p:sp>
      <p:sp>
        <p:nvSpPr>
          <p:cNvPr id="7" name="Text 5"/>
          <p:cNvSpPr/>
          <p:nvPr/>
        </p:nvSpPr>
        <p:spPr>
          <a:xfrm>
            <a:off x="1234440" y="24505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Variable (x)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276148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of the house — used to help predict the outcome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6118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430" dirty="0"/>
          </a:p>
        </p:txBody>
      </p:sp>
      <p:sp>
        <p:nvSpPr>
          <p:cNvPr id="11" name="Text 9"/>
          <p:cNvSpPr/>
          <p:nvPr/>
        </p:nvSpPr>
        <p:spPr>
          <a:xfrm>
            <a:off x="1234440" y="35935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 Variable (y)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390448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of the house — the value we want to predict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92240" y="1737360"/>
            <a:ext cx="5120640" cy="3291840"/>
          </a:xfrm>
          <a:prstGeom prst="roundRect">
            <a:avLst>
              <a:gd name="adj" fmla="val 2778"/>
            </a:avLst>
          </a:prstGeom>
          <a:solidFill>
            <a:srgbClr val="EAF3F7"/>
          </a:solidFill>
          <a:ln w="12700">
            <a:solidFill>
              <a:srgbClr val="D3E3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19659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EQUATION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0" y="233172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b₀ + b₁x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6858000" y="320040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b₀</a:t>
            </a:r>
            <a:endParaRPr lang="en-US" sz="1092" dirty="0"/>
          </a:p>
        </p:txBody>
      </p:sp>
      <p:sp>
        <p:nvSpPr>
          <p:cNvPr id="18" name="Text 16"/>
          <p:cNvSpPr/>
          <p:nvPr/>
        </p:nvSpPr>
        <p:spPr>
          <a:xfrm>
            <a:off x="7406640" y="317296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 — value of y when x = 0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858000" y="388620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0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b₁</a:t>
            </a:r>
            <a:endParaRPr lang="en-US" sz="1092" dirty="0"/>
          </a:p>
        </p:txBody>
      </p:sp>
      <p:sp>
        <p:nvSpPr>
          <p:cNvPr id="21" name="Text 19"/>
          <p:cNvSpPr/>
          <p:nvPr/>
        </p:nvSpPr>
        <p:spPr>
          <a:xfrm>
            <a:off x="7406640" y="385876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— change in y for a unit change in x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8920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489204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focus: numerical, calculation-based questions are far more likely than pure theory — expect to compute values, not just define terms.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Linear Regression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Changes in Multiple Linear Regression?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thing changes: the number of independent variables. MLR uses two or more inputs (x₁, x₂, ... xₙ) to predict a single dependent variable (y).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257800" cy="3566160"/>
          </a:xfrm>
          <a:prstGeom prst="roundRect">
            <a:avLst>
              <a:gd name="adj" fmla="val 2564"/>
            </a:avLst>
          </a:prstGeom>
          <a:solidFill>
            <a:srgbClr val="EAF3F7"/>
          </a:solidFill>
          <a:ln w="12700">
            <a:solidFill>
              <a:srgbClr val="D3E3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587752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REGRESSION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301752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independent variable  →  1 dependent variable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68680" y="361188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611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783080" y="4023360"/>
            <a:ext cx="1005840" cy="0"/>
          </a:xfrm>
          <a:prstGeom prst="line">
            <a:avLst/>
          </a:prstGeom>
          <a:noFill/>
          <a:ln w="25400">
            <a:solidFill>
              <a:srgbClr val="21295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880360" y="361188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2880360" y="3611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68680" y="475488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b₀ + b₁x₁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68680" y="52578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predict price from house size alone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55080" y="2331720"/>
            <a:ext cx="5257800" cy="3566160"/>
          </a:xfrm>
          <a:prstGeom prst="roundRect">
            <a:avLst>
              <a:gd name="adj" fmla="val 2564"/>
            </a:avLst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0" y="2587752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7F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LINEAR REGRESSION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75120" y="301752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 independent variables  →  1 dependent variable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675120" y="3611880"/>
            <a:ext cx="640080" cy="640080"/>
          </a:xfrm>
          <a:prstGeom prst="ellipse">
            <a:avLst/>
          </a:prstGeom>
          <a:solidFill>
            <a:srgbClr val="7FC8E8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3611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x₁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498080" y="3611880"/>
            <a:ext cx="640080" cy="640080"/>
          </a:xfrm>
          <a:prstGeom prst="ellipse">
            <a:avLst/>
          </a:prstGeom>
          <a:solidFill>
            <a:srgbClr val="7FC8E8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0" y="3611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x₂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321040" y="3611880"/>
            <a:ext cx="640080" cy="640080"/>
          </a:xfrm>
          <a:prstGeom prst="ellipse">
            <a:avLst/>
          </a:prstGeom>
          <a:solidFill>
            <a:srgbClr val="7FC8E8"/>
          </a:solidFill>
          <a:ln/>
        </p:spPr>
      </p:sp>
      <p:sp>
        <p:nvSpPr>
          <p:cNvPr id="23" name="Text 21"/>
          <p:cNvSpPr/>
          <p:nvPr/>
        </p:nvSpPr>
        <p:spPr>
          <a:xfrm>
            <a:off x="8321040" y="3611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x₃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961120" y="3931920"/>
            <a:ext cx="77724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921240" y="36118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9921240" y="3611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675120" y="475488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b₀ + b₁x₁ + b₂x₂ + ...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675120" y="52578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7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predict price from house size AND bedrooms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Linear Regression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General MLR Equation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EAF3F7"/>
          </a:solidFill>
          <a:ln w="12700">
            <a:solidFill>
              <a:srgbClr val="D3E3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b₀ + b₁x₁ + b₂x₂ + b₃x₃ + ... + bₙxₙ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560" dirty="0"/>
          </a:p>
        </p:txBody>
      </p:sp>
      <p:sp>
        <p:nvSpPr>
          <p:cNvPr id="8" name="Text 6"/>
          <p:cNvSpPr/>
          <p:nvPr/>
        </p:nvSpPr>
        <p:spPr>
          <a:xfrm>
            <a:off x="1371600" y="277063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 variable — the value being predicted (e.g. price)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36576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b₀</a:t>
            </a:r>
            <a:endParaRPr lang="en-US" sz="1560" dirty="0"/>
          </a:p>
        </p:txBody>
      </p:sp>
      <p:sp>
        <p:nvSpPr>
          <p:cNvPr id="11" name="Text 9"/>
          <p:cNvSpPr/>
          <p:nvPr/>
        </p:nvSpPr>
        <p:spPr>
          <a:xfrm>
            <a:off x="1371600" y="363931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 — the baseline value of y when every x is zero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45262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526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b₁</a:t>
            </a:r>
            <a:endParaRPr lang="en-US" sz="1560" dirty="0"/>
          </a:p>
        </p:txBody>
      </p:sp>
      <p:sp>
        <p:nvSpPr>
          <p:cNvPr id="14" name="Text 12"/>
          <p:cNvSpPr/>
          <p:nvPr/>
        </p:nvSpPr>
        <p:spPr>
          <a:xfrm>
            <a:off x="1371600" y="450799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Coefficients / slopes — how much y changes per unit change in that xᵢ, holding others fixed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8640" y="53949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5394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x₁</a:t>
            </a:r>
            <a:endParaRPr lang="en-US" sz="1560" dirty="0"/>
          </a:p>
        </p:txBody>
      </p:sp>
      <p:sp>
        <p:nvSpPr>
          <p:cNvPr id="17" name="Text 15"/>
          <p:cNvSpPr/>
          <p:nvPr/>
        </p:nvSpPr>
        <p:spPr>
          <a:xfrm>
            <a:off x="1371600" y="53766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variables — two or more predictors feeding the model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Linear Regression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Example Dataset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variables, kept small on purpose so every calculation stays easy to follow.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43000" y="207568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of house, in kanal (1 kanal ≈ a large plot)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20574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03720" y="207568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bedrooms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692640" y="205740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2" name="Text 10"/>
          <p:cNvSpPr/>
          <p:nvPr/>
        </p:nvSpPr>
        <p:spPr>
          <a:xfrm>
            <a:off x="96926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287000" y="207568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(₹ crore)</a:t>
            </a:r>
            <a:endParaRPr lang="en-US" sz="12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737360" y="2880360"/>
          <a:ext cx="8686800" cy="2011680"/>
        </p:xfrm>
        <a:graphic>
          <a:graphicData uri="http://schemas.openxmlformats.org/drawingml/2006/table">
            <a:tbl>
              <a:tblPr/>
              <a:tblGrid>
                <a:gridCol w="2171700"/>
                <a:gridCol w="2171700"/>
                <a:gridCol w="2171700"/>
                <a:gridCol w="2171700"/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x₁ (Size, kanal)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x₂ (Bedrooms)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 (Price, ₹ crore)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548640" y="521208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065A82"/>
          </a:solidFill>
          <a:ln/>
        </p:spPr>
      </p:sp>
      <p:sp>
        <p:nvSpPr>
          <p:cNvPr id="16" name="Text 13"/>
          <p:cNvSpPr/>
          <p:nvPr/>
        </p:nvSpPr>
        <p:spPr>
          <a:xfrm>
            <a:off x="868680" y="52120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labelled data: the model reads x₁, x₂ and y for every house, learns the relationship, and later predicts y for a brand-new house.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Linear Regression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Arrange the Data as Matrices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of X starts with a 1 (paired with b₀, which has no independent variable of its own), followed by that row's x₁ and x₂ values.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4206240" cy="2926080"/>
          </a:xfrm>
          <a:prstGeom prst="roundRect">
            <a:avLst>
              <a:gd name="adj" fmla="val 2500"/>
            </a:avLst>
          </a:prstGeom>
          <a:solidFill>
            <a:srgbClr val="EAF3F7"/>
          </a:solidFill>
          <a:ln w="12700">
            <a:solidFill>
              <a:srgbClr val="D3E3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30428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X  (3 × 3)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651760"/>
            <a:ext cx="42062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7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1   1   3</a:t>
            </a:r>
            <a:endParaRPr lang="en-US" sz="17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7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1   2   4</a:t>
            </a:r>
            <a:endParaRPr lang="en-US" sz="17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7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1   3   7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513892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b₀      b₁      b₂  ↔ columns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92040" y="32918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5486400" y="2194560"/>
            <a:ext cx="1920240" cy="2926080"/>
          </a:xfrm>
          <a:prstGeom prst="roundRect">
            <a:avLst>
              <a:gd name="adj" fmla="val 3810"/>
            </a:avLst>
          </a:prstGeom>
          <a:solidFill>
            <a:srgbClr val="065A82"/>
          </a:solidFill>
          <a:ln w="12700">
            <a:solidFill>
              <a:srgbClr val="D3E3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0" y="23042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0" y="2651760"/>
            <a:ext cx="19202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7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b₀</a:t>
            </a:r>
            <a:endParaRPr lang="en-US" sz="17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7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b₁</a:t>
            </a:r>
            <a:endParaRPr lang="en-US" sz="17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7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486400" y="2651760"/>
            <a:ext cx="19202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b₀</a:t>
            </a:r>
            <a:endParaRPr lang="en-US" sz="17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b₁</a:t>
            </a:r>
            <a:endParaRPr lang="en-US" sz="17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543800" y="32918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8138160" y="2194560"/>
            <a:ext cx="1828800" cy="2926080"/>
          </a:xfrm>
          <a:prstGeom prst="roundRect">
            <a:avLst>
              <a:gd name="adj" fmla="val 4000"/>
            </a:avLst>
          </a:prstGeom>
          <a:solidFill>
            <a:srgbClr val="1C7293"/>
          </a:solidFill>
          <a:ln w="12700">
            <a:solidFill>
              <a:srgbClr val="D3E3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0" y="23042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38160" y="2651760"/>
            <a:ext cx="1828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7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7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7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7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7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138160" y="2651760"/>
            <a:ext cx="1828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7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7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10195560" y="2194560"/>
            <a:ext cx="1417320" cy="2926080"/>
          </a:xfrm>
          <a:prstGeom prst="roundRect">
            <a:avLst>
              <a:gd name="adj" fmla="val 5161"/>
            </a:avLst>
          </a:prstGeom>
          <a:solidFill>
            <a:srgbClr val="EAF3F7"/>
          </a:solidFill>
          <a:ln w="12700">
            <a:solidFill>
              <a:srgbClr val="D3E3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41280" y="2194560"/>
            <a:ext cx="1325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b₀, b₁, b₂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Linear Regression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F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Normal Equation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737360" y="1600200"/>
            <a:ext cx="8686800" cy="1280160"/>
          </a:xfrm>
          <a:prstGeom prst="roundRect">
            <a:avLst>
              <a:gd name="adj" fmla="val 7143"/>
            </a:avLst>
          </a:prstGeom>
          <a:solidFill>
            <a:srgbClr val="16204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737360" y="1600200"/>
            <a:ext cx="8686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7FC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(Xᵀ X)⁻¹ Xᵀ y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16204A"/>
          </a:solidFill>
          <a:ln w="12700">
            <a:solidFill>
              <a:srgbClr val="2C3B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31620" y="35204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153162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20" dirty="0"/>
          </a:p>
        </p:txBody>
      </p:sp>
      <p:sp>
        <p:nvSpPr>
          <p:cNvPr id="9" name="Text 7"/>
          <p:cNvSpPr/>
          <p:nvPr/>
        </p:nvSpPr>
        <p:spPr>
          <a:xfrm>
            <a:off x="685800" y="43434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Transpose X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47548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7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rows and columns of X to get Xᵀ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72968" y="4572000"/>
            <a:ext cx="237744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474720" y="324612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16204A"/>
          </a:solidFill>
          <a:ln w="12700">
            <a:solidFill>
              <a:srgbClr val="2C3B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57700" y="35204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445770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20" dirty="0"/>
          </a:p>
        </p:txBody>
      </p:sp>
      <p:sp>
        <p:nvSpPr>
          <p:cNvPr id="15" name="Text 13"/>
          <p:cNvSpPr/>
          <p:nvPr/>
        </p:nvSpPr>
        <p:spPr>
          <a:xfrm>
            <a:off x="3611880" y="43434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657600" y="47548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7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Xᵀ X, a square matrix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99048" y="4572000"/>
            <a:ext cx="237744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400800" y="324612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16204A"/>
          </a:solidFill>
          <a:ln w="12700">
            <a:solidFill>
              <a:srgbClr val="2C3B6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83780" y="35204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738378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20" dirty="0"/>
          </a:p>
        </p:txBody>
      </p:sp>
      <p:sp>
        <p:nvSpPr>
          <p:cNvPr id="21" name="Text 19"/>
          <p:cNvSpPr/>
          <p:nvPr/>
        </p:nvSpPr>
        <p:spPr>
          <a:xfrm>
            <a:off x="6537960" y="43434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583680" y="47548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7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(Xᵀ X)⁻¹ — the matrix inverse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025128" y="4572000"/>
            <a:ext cx="237744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326880" y="324612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16204A"/>
          </a:solidFill>
          <a:ln w="12700">
            <a:solidFill>
              <a:srgbClr val="2C3B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09860" y="35204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1030986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20" dirty="0"/>
          </a:p>
        </p:txBody>
      </p:sp>
      <p:sp>
        <p:nvSpPr>
          <p:cNvPr id="27" name="Text 25"/>
          <p:cNvSpPr/>
          <p:nvPr/>
        </p:nvSpPr>
        <p:spPr>
          <a:xfrm>
            <a:off x="9464040" y="43434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again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509760" y="47548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7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the inverse by Xᵀ y to get b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Linear Regression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Through the Matrix Algebra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834640" cy="1874520"/>
          </a:xfrm>
          <a:prstGeom prst="roundRect">
            <a:avLst>
              <a:gd name="adj" fmla="val 3902"/>
            </a:avLst>
          </a:prstGeom>
          <a:solidFill>
            <a:srgbClr val="EAF3F7"/>
          </a:solidFill>
          <a:ln w="12700">
            <a:solidFill>
              <a:srgbClr val="D3E3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Xᵀ  (transpose)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847088"/>
            <a:ext cx="283464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1   1   1</a:t>
            </a:r>
            <a:endParaRPr lang="en-US" sz="13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1   2   3</a:t>
            </a:r>
            <a:endParaRPr lang="en-US" sz="13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3   4   7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29000" y="21031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977640" y="1463040"/>
            <a:ext cx="3063240" cy="1874520"/>
          </a:xfrm>
          <a:prstGeom prst="roundRect">
            <a:avLst>
              <a:gd name="adj" fmla="val 3902"/>
            </a:avLst>
          </a:prstGeom>
          <a:solidFill>
            <a:srgbClr val="EAF3F7"/>
          </a:solidFill>
          <a:ln w="12700">
            <a:solidFill>
              <a:srgbClr val="D3E3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77640" y="155448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Xᵀ X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977640" y="1847088"/>
            <a:ext cx="306324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3    6    14</a:t>
            </a:r>
            <a:endParaRPr lang="en-US" sz="13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6   14   32</a:t>
            </a:r>
            <a:endParaRPr lang="en-US" sz="13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14  32   74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086600" y="21031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invert →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321040" y="1463040"/>
            <a:ext cx="3291840" cy="1874520"/>
          </a:xfrm>
          <a:prstGeom prst="roundRect">
            <a:avLst>
              <a:gd name="adj" fmla="val 3902"/>
            </a:avLst>
          </a:prstGeom>
          <a:solidFill>
            <a:srgbClr val="EAF3F7"/>
          </a:solidFill>
          <a:ln w="12700">
            <a:solidFill>
              <a:srgbClr val="D3E3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15544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(Xᵀ X)⁻¹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321040" y="1847088"/>
            <a:ext cx="329184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computed via</a:t>
            </a:r>
            <a:endParaRPr lang="en-US" sz="14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adjoint ÷ determinant</a:t>
            </a:r>
            <a:endParaRPr lang="en-US" sz="14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(or calculator)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657600"/>
            <a:ext cx="2834640" cy="1737360"/>
          </a:xfrm>
          <a:prstGeom prst="roundRect">
            <a:avLst>
              <a:gd name="adj" fmla="val 4211"/>
            </a:avLst>
          </a:prstGeom>
          <a:solidFill>
            <a:srgbClr val="EAF3F7"/>
          </a:solidFill>
          <a:ln w="12700">
            <a:solidFill>
              <a:srgbClr val="D3E3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74904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Xᵀ 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4041648"/>
            <a:ext cx="28346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3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</a:t>
            </a:r>
            <a:endParaRPr lang="en-US" sz="13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89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11880" y="397764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Xᵀ multiplied by the y vector (2, 5, 9)ᵀ — a 3×1 result.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62356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6235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tip: with a calculator, invert (Xᵀ X) directly. By hand for 3×3, use adjoint ÷ determinant — correct, but time-consuming.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Linear Regression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F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Final Coefficients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Multiplying (Xᵀ X)⁻¹ by Xᵀ y gives a 3 × 1 result — exactly the three coefficients we set out to find.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33172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16204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6060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FC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b₀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-2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1051560" y="46634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7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233172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16204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26060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FC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b₁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480560" y="320040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4709160" y="46634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7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of x₁ (size)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233172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16204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0" y="26060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FC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b₂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138160" y="320040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</a:t>
            </a:r>
            <a:endParaRPr lang="en-US" sz="5600" dirty="0"/>
          </a:p>
        </p:txBody>
      </p:sp>
      <p:sp>
        <p:nvSpPr>
          <p:cNvPr id="16" name="Text 14"/>
          <p:cNvSpPr/>
          <p:nvPr/>
        </p:nvSpPr>
        <p:spPr>
          <a:xfrm>
            <a:off x="8366760" y="46634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7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of x₂ (bedrooms)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Linear Regression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the Model to Predict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house: 1.5 kanal, 3 bedrooms. What price does the model predict?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931920" cy="3566160"/>
          </a:xfrm>
          <a:prstGeom prst="roundRect">
            <a:avLst>
              <a:gd name="adj" fmla="val 2564"/>
            </a:avLst>
          </a:prstGeom>
          <a:solidFill>
            <a:srgbClr val="EAF3F7"/>
          </a:solidFill>
          <a:ln w="12700">
            <a:solidFill>
              <a:srgbClr val="D3E3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331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788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x₁ (size)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0" y="2788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1.5 kanal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3337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x₂ (bedrooms)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0" y="3337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3886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b₀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43200" y="3886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68680" y="4434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b₁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0" y="4434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2.5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4983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43200" y="49834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754880" y="2103120"/>
            <a:ext cx="6858000" cy="3566160"/>
          </a:xfrm>
          <a:prstGeom prst="roundRect">
            <a:avLst>
              <a:gd name="adj" fmla="val 2564"/>
            </a:avLst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5074920" y="23317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F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74920" y="274320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b₀ + b₁x₁ + b₂x₂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074920" y="32918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-2 + (2.5 × 1.5) + (0.5 × 3)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074920" y="384048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-2 + 3.75 + 1.5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074920" y="4434840"/>
            <a:ext cx="6217920" cy="0"/>
          </a:xfrm>
          <a:prstGeom prst="line">
            <a:avLst/>
          </a:prstGeom>
          <a:noFill/>
          <a:ln w="12700">
            <a:solidFill>
              <a:srgbClr val="3D7F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4920" y="457200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Predicted Price  ≈  ₹3.25 crore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Linear Regression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F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30" dirty="0"/>
          </a:p>
        </p:txBody>
      </p:sp>
      <p:sp>
        <p:nvSpPr>
          <p:cNvPr id="6" name="Text 4"/>
          <p:cNvSpPr/>
          <p:nvPr/>
        </p:nvSpPr>
        <p:spPr>
          <a:xfrm>
            <a:off x="1280160" y="16459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MLR = more inputs, same idea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203911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dependent variable y, but two or more independent variables x₁...xₙ predicting it.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30" dirty="0"/>
          </a:p>
        </p:txBody>
      </p:sp>
      <p:sp>
        <p:nvSpPr>
          <p:cNvPr id="10" name="Text 8"/>
          <p:cNvSpPr/>
          <p:nvPr/>
        </p:nvSpPr>
        <p:spPr>
          <a:xfrm>
            <a:off x="1280160" y="27432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equation just extends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313639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b₀ + b₁x₁ + b₂x₂ + ... + bₙxₙ — every extra variable adds one more term and one more coefficient.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30" dirty="0"/>
          </a:p>
        </p:txBody>
      </p:sp>
      <p:sp>
        <p:nvSpPr>
          <p:cNvPr id="14" name="Text 12"/>
          <p:cNvSpPr/>
          <p:nvPr/>
        </p:nvSpPr>
        <p:spPr>
          <a:xfrm>
            <a:off x="1280160" y="38404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Matrices carry the math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423367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X (with a leading column of 1s for b₀) and y, then solve b = (Xᵀ X)⁻¹ Xᵀ 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9834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983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30" dirty="0"/>
          </a:p>
        </p:txBody>
      </p:sp>
      <p:sp>
        <p:nvSpPr>
          <p:cNvPr id="18" name="Text 16"/>
          <p:cNvSpPr/>
          <p:nvPr/>
        </p:nvSpPr>
        <p:spPr>
          <a:xfrm>
            <a:off x="1280160" y="493776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the numericals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533095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Exams lean heavily on calculation-based questions — comfort with matrix transpose, multiplication and inversion pays off directly.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Linear Regression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1075</Words>
  <Application>Microsoft Office PowerPoint</Application>
  <PresentationFormat>Custom</PresentationFormat>
  <Paragraphs>215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win</cp:lastModifiedBy>
  <cp:revision>3</cp:revision>
  <dcterms:created xsi:type="dcterms:W3CDTF">2026-09-09T06:20:28Z</dcterms:created>
  <dcterms:modified xsi:type="dcterms:W3CDTF">2026-09-09T10:49:08Z</dcterms:modified>
</cp:coreProperties>
</file>