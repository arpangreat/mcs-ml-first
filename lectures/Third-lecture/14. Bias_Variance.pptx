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640080"/>
            <a:ext cx="3108960" cy="3108960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297680"/>
            <a:ext cx="3931920" cy="3931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Tradeoff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Overfitting, Underfitting, and the Generalized Model through one worked example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1280160" cy="0"/>
          </a:xfrm>
          <a:prstGeom prst="line">
            <a:avLst/>
          </a:prstGeom>
          <a:noFill/>
          <a:ln w="38100">
            <a:solidFill>
              <a:srgbClr val="CE9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 ·  High Variance  ·  Underfit  ·  Overfit  ·  Balanced / Generalized Model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training-error story, with the formal definition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2057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Variance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0" y="244144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fluctuation between training error and test error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85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Underfit Model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08760" y="40873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in action — a simple linear regression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35204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85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37033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Overfit Model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0" y="408736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high variance — a complex polynomial model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309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08760" y="5349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Generalized Model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508760" y="57332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bias and variance are low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55080" y="5166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3309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D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5349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the Balance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0" y="57332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regularization, and ensemble learning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Training and Testing Actually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have a dataset of 1,000 entries. We split it into two parts.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616952" cy="822960"/>
          </a:xfrm>
          <a:prstGeom prst="roundRect">
            <a:avLst>
              <a:gd name="adj" fmla="val 8889"/>
            </a:avLst>
          </a:prstGeom>
          <a:solidFill>
            <a:srgbClr val="6D2E46"/>
          </a:solidFill>
          <a:ln/>
        </p:spPr>
      </p:sp>
      <p:sp>
        <p:nvSpPr>
          <p:cNvPr id="7" name="Shape 5"/>
          <p:cNvSpPr/>
          <p:nvPr/>
        </p:nvSpPr>
        <p:spPr>
          <a:xfrm>
            <a:off x="8311896" y="2148840"/>
            <a:ext cx="3209544" cy="822960"/>
          </a:xfrm>
          <a:prstGeom prst="roundRect">
            <a:avLst>
              <a:gd name="adj" fmla="val 8889"/>
            </a:avLst>
          </a:prstGeom>
          <a:solidFill>
            <a:srgbClr val="3E8C8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7616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— 700 Entries (70%)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11896" y="214884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(30%)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49300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given the training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3708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the underlying pattern in that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49300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 is compared to actual output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3708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comparison is exactly what gives us the training error.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58200" y="3493008"/>
            <a:ext cx="384048" cy="38404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8458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then given the test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43708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data the model has never seen before.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9D6DD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29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it's like a student who first studies the concepts (training), then takes a class test, and finally sits the real GATE exam (validation).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Bias?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“Bias refers to the errors due to overly simplistic assumptions in the learning algorithm.”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pick a model that's too simple, it can't understand the true pattern in the data — and it gives the wrong output.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CE9A4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to Remember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36576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always tied to the training data.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training error = High Bias.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training error = Low Bias.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E9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UNDERFIT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Regression — High Bias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straight-line model can't follow the curve in the training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035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9280"/>
            <a:ext cx="6035040" cy="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0" cy="342900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52029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1430122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1912925" y="49971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572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8181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61334" y="38313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0448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7291" y="34884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0445" y="376275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3949" y="31455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7453" y="28712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671523" y="45171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9232" y="41742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389991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92547" y="335127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640080" y="3954780"/>
            <a:ext cx="6035040" cy="754380"/>
          </a:xfrm>
          <a:prstGeom prst="line">
            <a:avLst/>
          </a:prstGeom>
          <a:noFill/>
          <a:ln w="38100">
            <a:solidFill>
              <a:srgbClr val="CE9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Maroon = Training, Teal = Test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95160" y="2240280"/>
            <a:ext cx="4617720" cy="1234440"/>
          </a:xfrm>
          <a:prstGeom prst="roundRect">
            <a:avLst>
              <a:gd name="adj" fmla="val 7407"/>
            </a:avLst>
          </a:prstGeom>
          <a:solidFill>
            <a:srgbClr val="CE9A44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2377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6151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Bias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9951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3954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326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326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9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High*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6995160" y="475488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4992624"/>
            <a:ext cx="100584" cy="100584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48646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best-fit line sits far from the training points themselves — so training error is already high.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5559552"/>
            <a:ext cx="100584" cy="100584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39" name="Text 37"/>
          <p:cNvSpPr/>
          <p:nvPr/>
        </p:nvSpPr>
        <p:spPr>
          <a:xfrm>
            <a:off x="7452360" y="54315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can't even understand its own training data, it won't do well on the test data either.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3760" y="6126480"/>
            <a:ext cx="100584" cy="100584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599846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an Underfit Model. (*Test error is likely to be high too)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Variance?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understand this with a mock-test example — one error during training, and a very different one during testing.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During 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During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1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C14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huge (70) — this is called High Variance.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9D6D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to remember: variance tells you how big the gap is between training error and test error — the bigger the gap, the higher the variance.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E9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 MODEL — 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 Often Brings High Bias AND High Variance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training error is already so high, there's a strong chance things get even worse on the test 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Exam Analogy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test score was only 20 (high training error). When the real GATE exam came, the score stayed about that low too. Both results were poor — with high bias, there's a strong chance variance ends up high as well.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CE9A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2793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an Underfit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9028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already fails at training — testing is beside the point. It simply can't capture the basic pattern in the training data.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148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OVERFIT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Polynomial Model — Low Bias, High Variance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model fits every single training point almost perfectly.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035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9280"/>
            <a:ext cx="6035040" cy="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0" cy="342900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52029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1430122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1912925" y="49971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572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8181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61334" y="38313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0448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7291" y="34884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0445" y="376275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3949" y="31455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7453" y="28712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671523" y="45171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9232" y="41742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389991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92547" y="335127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941832" y="4709160"/>
            <a:ext cx="543154" cy="54864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4986" y="4709160"/>
            <a:ext cx="482803" cy="34290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967789" y="4297680"/>
            <a:ext cx="482803" cy="75438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4297680"/>
            <a:ext cx="422453" cy="41148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873045" y="3886200"/>
            <a:ext cx="543154" cy="82296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6198" y="3886200"/>
            <a:ext cx="543154" cy="41148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959352" y="3543300"/>
            <a:ext cx="482803" cy="75438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42155" y="3543300"/>
            <a:ext cx="543154" cy="27432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985309" y="3200400"/>
            <a:ext cx="603504" cy="61722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588813" y="2926080"/>
            <a:ext cx="603504" cy="274320"/>
          </a:xfrm>
          <a:prstGeom prst="line">
            <a:avLst/>
          </a:prstGeom>
          <a:noFill/>
          <a:ln w="38100">
            <a:solidFill>
              <a:srgbClr val="C14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Maroon = Training, Teal = Test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2240280"/>
            <a:ext cx="4617720" cy="1234440"/>
          </a:xfrm>
          <a:prstGeom prst="roundRect">
            <a:avLst>
              <a:gd name="adj" fmla="val 7407"/>
            </a:avLst>
          </a:prstGeom>
          <a:solidFill>
            <a:srgbClr val="C1484B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2377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26151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69951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93954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326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326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High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6995160" y="475488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4992624"/>
            <a:ext cx="100584" cy="100584"/>
          </a:xfrm>
          <a:prstGeom prst="ellipse">
            <a:avLst/>
          </a:prstGeom>
          <a:solidFill>
            <a:srgbClr val="C1484B"/>
          </a:solidFill>
          <a:ln/>
        </p:spPr>
      </p:sp>
      <p:sp>
        <p:nvSpPr>
          <p:cNvPr id="46" name="Text 44"/>
          <p:cNvSpPr/>
          <p:nvPr/>
        </p:nvSpPr>
        <p:spPr>
          <a:xfrm>
            <a:off x="7452360" y="48646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point lands right on the curve — training error is almost zero (Low Bias).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223760" y="5559552"/>
            <a:ext cx="100584" cy="100584"/>
          </a:xfrm>
          <a:prstGeom prst="ellipse">
            <a:avLst/>
          </a:prstGeom>
          <a:solidFill>
            <a:srgbClr val="C1484B"/>
          </a:solidFill>
          <a:ln/>
        </p:spPr>
      </p:sp>
      <p:sp>
        <p:nvSpPr>
          <p:cNvPr id="48" name="Text 46"/>
          <p:cNvSpPr/>
          <p:nvPr/>
        </p:nvSpPr>
        <p:spPr>
          <a:xfrm>
            <a:off x="7452360" y="54315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when given the test data, predictions miss badly — the error is very high.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223760" y="6126480"/>
            <a:ext cx="100584" cy="100584"/>
          </a:xfrm>
          <a:prstGeom prst="ellipse">
            <a:avLst/>
          </a:prstGeom>
          <a:solidFill>
            <a:srgbClr val="C1484B"/>
          </a:solidFill>
          <a:ln/>
        </p:spPr>
      </p:sp>
      <p:sp>
        <p:nvSpPr>
          <p:cNvPr id="50" name="Text 48"/>
          <p:cNvSpPr/>
          <p:nvPr/>
        </p:nvSpPr>
        <p:spPr>
          <a:xfrm>
            <a:off x="7452360" y="599846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98–99 out of 100 in class tests, but only 30–40–50 marks in the real GATE exam.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 vs. Overfit — Both Are Problems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173736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274320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Error (Bias)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Error (Variance)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at the Real Exam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the class test too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9A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(≈ 0)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class test, fails GATE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484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9D6D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931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want either model — whether it fails at training (Underfit) or at the real test (Overfit), the result isn't good.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5B8C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GENERALIZED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We Actually Want — Low Bias, Low Variance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moderately curved regression model captures the pattern well, without forcing itself through every single point.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0350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9280"/>
            <a:ext cx="6035040" cy="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0" cy="3429000"/>
          </a:xfrm>
          <a:prstGeom prst="line">
            <a:avLst/>
          </a:prstGeom>
          <a:noFill/>
          <a:ln w="12700">
            <a:solidFill>
              <a:srgbClr val="CBB9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52029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1430122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Shape 9"/>
          <p:cNvSpPr/>
          <p:nvPr/>
        </p:nvSpPr>
        <p:spPr>
          <a:xfrm>
            <a:off x="1912925" y="49971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572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Shape 11"/>
          <p:cNvSpPr/>
          <p:nvPr/>
        </p:nvSpPr>
        <p:spPr>
          <a:xfrm>
            <a:off x="2818181" y="465429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Shape 12"/>
          <p:cNvSpPr/>
          <p:nvPr/>
        </p:nvSpPr>
        <p:spPr>
          <a:xfrm>
            <a:off x="3361334" y="38313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3904488" y="42428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7291" y="34884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0445" y="376275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Shape 16"/>
          <p:cNvSpPr/>
          <p:nvPr/>
        </p:nvSpPr>
        <p:spPr>
          <a:xfrm>
            <a:off x="5533949" y="314553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7453" y="2871216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671523" y="45171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999232" y="417423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389991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92547" y="3351276"/>
            <a:ext cx="109728" cy="109728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640080" y="4777740"/>
            <a:ext cx="1207008" cy="377190"/>
          </a:xfrm>
          <a:prstGeom prst="line">
            <a:avLst/>
          </a:prstGeom>
          <a:noFill/>
          <a:ln w="38100">
            <a:solidFill>
              <a:srgbClr val="5B8C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847088" y="4366260"/>
            <a:ext cx="1207008" cy="411480"/>
          </a:xfrm>
          <a:prstGeom prst="line">
            <a:avLst/>
          </a:prstGeom>
          <a:noFill/>
          <a:ln w="38100">
            <a:solidFill>
              <a:srgbClr val="5B8C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054096" y="3954780"/>
            <a:ext cx="1207008" cy="411480"/>
          </a:xfrm>
          <a:prstGeom prst="line">
            <a:avLst/>
          </a:prstGeom>
          <a:noFill/>
          <a:ln w="38100">
            <a:solidFill>
              <a:srgbClr val="5B8C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261104" y="3474720"/>
            <a:ext cx="1207008" cy="480060"/>
          </a:xfrm>
          <a:prstGeom prst="line">
            <a:avLst/>
          </a:prstGeom>
          <a:noFill/>
          <a:ln w="38100">
            <a:solidFill>
              <a:srgbClr val="5B8C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468112" y="2994660"/>
            <a:ext cx="1207008" cy="480060"/>
          </a:xfrm>
          <a:prstGeom prst="line">
            <a:avLst/>
          </a:prstGeom>
          <a:noFill/>
          <a:ln w="38100">
            <a:solidFill>
              <a:srgbClr val="5B8C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Maroon = Training, Teal = Test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95160" y="2240280"/>
            <a:ext cx="4617720" cy="1234440"/>
          </a:xfrm>
          <a:prstGeom prst="roundRect">
            <a:avLst>
              <a:gd name="adj" fmla="val 7407"/>
            </a:avLst>
          </a:prstGeom>
          <a:solidFill>
            <a:srgbClr val="5B8C72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2377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26151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/ Generalized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9951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9395460" y="3611880"/>
            <a:ext cx="22174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32620" y="3721608"/>
            <a:ext cx="1943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532620" y="3959352"/>
            <a:ext cx="1943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995160" y="475488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4992624"/>
            <a:ext cx="100584" cy="100584"/>
          </a:xfrm>
          <a:prstGeom prst="ellipse">
            <a:avLst/>
          </a:prstGeom>
          <a:solidFill>
            <a:srgbClr val="5B8C72"/>
          </a:solidFill>
          <a:ln/>
        </p:spPr>
      </p:sp>
      <p:sp>
        <p:nvSpPr>
          <p:cNvPr id="41" name="Text 39"/>
          <p:cNvSpPr/>
          <p:nvPr/>
        </p:nvSpPr>
        <p:spPr>
          <a:xfrm>
            <a:off x="7452360" y="48646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is neither zero nor very high — medium-low, meaning Low Bias.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5559552"/>
            <a:ext cx="100584" cy="100584"/>
          </a:xfrm>
          <a:prstGeom prst="ellipse">
            <a:avLst/>
          </a:prstGeom>
          <a:solidFill>
            <a:srgbClr val="5B8C72"/>
          </a:solidFill>
          <a:ln/>
        </p:spPr>
      </p:sp>
      <p:sp>
        <p:nvSpPr>
          <p:cNvPr id="43" name="Text 41"/>
          <p:cNvSpPr/>
          <p:nvPr/>
        </p:nvSpPr>
        <p:spPr>
          <a:xfrm>
            <a:off x="7452360" y="543153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 stays low too — meaning Low Variance.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23760" y="6126480"/>
            <a:ext cx="100584" cy="100584"/>
          </a:xfrm>
          <a:prstGeom prst="ellipse">
            <a:avLst/>
          </a:prstGeom>
          <a:solidFill>
            <a:srgbClr val="5B8C72"/>
          </a:solidFill>
          <a:ln/>
        </p:spPr>
      </p:sp>
      <p:sp>
        <p:nvSpPr>
          <p:cNvPr id="45" name="Text 43"/>
          <p:cNvSpPr/>
          <p:nvPr/>
        </p:nvSpPr>
        <p:spPr>
          <a:xfrm>
            <a:off x="7452360" y="599846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marks in the class test, 62 in the real GATE exam — nearly identical, balanced performance.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and Variance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always talks about TRAINING data — how accurate the model is on the data it already learned from.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DC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365760" cy="365760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0574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tells you how much fluctuation there is between the training error and the test error.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CE9A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22192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8160" y="356616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C1484B"/>
          </a:solidFill>
          <a:ln/>
        </p:spPr>
      </p:sp>
      <p:sp>
        <p:nvSpPr>
          <p:cNvPr id="17" name="Text 15"/>
          <p:cNvSpPr/>
          <p:nvPr/>
        </p:nvSpPr>
        <p:spPr>
          <a:xfrm>
            <a:off x="4511040" y="3822192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11040" y="434340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High Variance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7680" y="356616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5B8C72"/>
          </a:solidFill>
          <a:ln/>
        </p:spPr>
      </p:sp>
      <p:sp>
        <p:nvSpPr>
          <p:cNvPr id="20" name="Text 18"/>
          <p:cNvSpPr/>
          <p:nvPr/>
        </p:nvSpPr>
        <p:spPr>
          <a:xfrm>
            <a:off x="8290560" y="3822192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90560" y="434340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Bias, Low Variance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Bias–Variance Tradeoff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869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4114800" cy="4114800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Balance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4A2033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model across multiple random splits, not just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4A2033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2148840"/>
            <a:ext cx="502920" cy="502920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Regularization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(Lasso – L1, Ridge – L2)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34747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model complexity so it stays simpler.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4A2033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148840"/>
            <a:ext cx="502920" cy="502920"/>
          </a:xfrm>
          <a:prstGeom prst="ellipse">
            <a:avLst/>
          </a:prstGeom>
          <a:solidFill>
            <a:srgbClr val="CE9A44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1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(Bagging &amp; Boosting)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347472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models into one strong, balanced model.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280160" cy="0"/>
          </a:xfrm>
          <a:prstGeom prst="line">
            <a:avLst/>
          </a:prstGeom>
          <a:noFill/>
          <a:ln w="38100">
            <a:solidFill>
              <a:srgbClr val="CE9A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Underfit = High Bias  ·  Overfit = Low Bias, High Variance  ·  Generalized Model = Low Bias, Low Variance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2026-09-08T10:38:13Z</dcterms:created>
  <dcterms:modified xsi:type="dcterms:W3CDTF">2026-09-08T10:38:13Z</dcterms:modified>
</cp:coreProperties>
</file>