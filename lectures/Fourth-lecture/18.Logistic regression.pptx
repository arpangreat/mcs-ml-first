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77" r:id="rId7"/>
    <p:sldId id="261" r:id="rId8"/>
    <p:sldId id="263" r:id="rId9"/>
    <p:sldId id="264" r:id="rId10"/>
    <p:sldId id="278"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9" r:id="rId24"/>
    <p:sldId id="280" r:id="rId25"/>
    <p:sldId id="281" r:id="rId26"/>
    <p:sldId id="282" r:id="rId27"/>
    <p:sldId id="283" r:id="rId28"/>
    <p:sldId id="284"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10" d="100"/>
          <a:sy n="110" d="100"/>
        </p:scale>
        <p:origin x="-658" y="80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51A9F0A6-B745-465C-A45A-8FEF70FD74A1}" type="datetimeFigureOut">
              <a:rPr lang="en-IN" smtClean="0"/>
              <a:t>20-09-2026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F5B4FC-79D7-4B85-A5A2-3002E2D19D55}" type="slidenum">
              <a:rPr lang="en-IN" smtClean="0"/>
              <a:t>‹#›</a:t>
            </a:fld>
            <a:endParaRPr lang="en-IN"/>
          </a:p>
        </p:txBody>
      </p:sp>
    </p:spTree>
    <p:extLst>
      <p:ext uri="{BB962C8B-B14F-4D97-AF65-F5344CB8AC3E}">
        <p14:creationId xmlns:p14="http://schemas.microsoft.com/office/powerpoint/2010/main" val="3990737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1A9F0A6-B745-465C-A45A-8FEF70FD74A1}" type="datetimeFigureOut">
              <a:rPr lang="en-IN" smtClean="0"/>
              <a:t>20-09-2026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F5B4FC-79D7-4B85-A5A2-3002E2D19D55}" type="slidenum">
              <a:rPr lang="en-IN" smtClean="0"/>
              <a:t>‹#›</a:t>
            </a:fld>
            <a:endParaRPr lang="en-IN"/>
          </a:p>
        </p:txBody>
      </p:sp>
    </p:spTree>
    <p:extLst>
      <p:ext uri="{BB962C8B-B14F-4D97-AF65-F5344CB8AC3E}">
        <p14:creationId xmlns:p14="http://schemas.microsoft.com/office/powerpoint/2010/main" val="898558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1A9F0A6-B745-465C-A45A-8FEF70FD74A1}" type="datetimeFigureOut">
              <a:rPr lang="en-IN" smtClean="0"/>
              <a:t>20-09-2026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F5B4FC-79D7-4B85-A5A2-3002E2D19D55}" type="slidenum">
              <a:rPr lang="en-IN" smtClean="0"/>
              <a:t>‹#›</a:t>
            </a:fld>
            <a:endParaRPr lang="en-IN"/>
          </a:p>
        </p:txBody>
      </p:sp>
    </p:spTree>
    <p:extLst>
      <p:ext uri="{BB962C8B-B14F-4D97-AF65-F5344CB8AC3E}">
        <p14:creationId xmlns:p14="http://schemas.microsoft.com/office/powerpoint/2010/main" val="16752553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51A9F0A6-B745-465C-A45A-8FEF70FD74A1}" type="datetimeFigureOut">
              <a:rPr lang="en-IN" smtClean="0"/>
              <a:t>20-09-2026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DF5B4FC-79D7-4B85-A5A2-3002E2D19D55}" type="slidenum">
              <a:rPr lang="en-IN" smtClean="0"/>
              <a:t>‹#›</a:t>
            </a:fld>
            <a:endParaRPr lang="en-IN"/>
          </a:p>
        </p:txBody>
      </p:sp>
    </p:spTree>
    <p:extLst>
      <p:ext uri="{BB962C8B-B14F-4D97-AF65-F5344CB8AC3E}">
        <p14:creationId xmlns:p14="http://schemas.microsoft.com/office/powerpoint/2010/main" val="38547956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51A9F0A6-B745-465C-A45A-8FEF70FD74A1}" type="datetimeFigureOut">
              <a:rPr lang="en-IN" smtClean="0"/>
              <a:t>20-09-2026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DF5B4FC-79D7-4B85-A5A2-3002E2D19D55}" type="slidenum">
              <a:rPr lang="en-IN" smtClean="0"/>
              <a:t>‹#›</a:t>
            </a:fld>
            <a:endParaRPr lang="en-IN"/>
          </a:p>
        </p:txBody>
      </p:sp>
    </p:spTree>
    <p:extLst>
      <p:ext uri="{BB962C8B-B14F-4D97-AF65-F5344CB8AC3E}">
        <p14:creationId xmlns:p14="http://schemas.microsoft.com/office/powerpoint/2010/main" val="2596793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51A9F0A6-B745-465C-A45A-8FEF70FD74A1}" type="datetimeFigureOut">
              <a:rPr lang="en-IN" smtClean="0"/>
              <a:t>20-09-2026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DF5B4FC-79D7-4B85-A5A2-3002E2D19D55}" type="slidenum">
              <a:rPr lang="en-IN" smtClean="0"/>
              <a:t>‹#›</a:t>
            </a:fld>
            <a:endParaRPr lang="en-IN"/>
          </a:p>
        </p:txBody>
      </p:sp>
    </p:spTree>
    <p:extLst>
      <p:ext uri="{BB962C8B-B14F-4D97-AF65-F5344CB8AC3E}">
        <p14:creationId xmlns:p14="http://schemas.microsoft.com/office/powerpoint/2010/main" val="4714362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A9F0A6-B745-465C-A45A-8FEF70FD74A1}" type="datetimeFigureOut">
              <a:rPr lang="en-IN" smtClean="0"/>
              <a:t>20-09-2026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DF5B4FC-79D7-4B85-A5A2-3002E2D19D55}" type="slidenum">
              <a:rPr lang="en-IN" smtClean="0"/>
              <a:t>‹#›</a:t>
            </a:fld>
            <a:endParaRPr lang="en-IN"/>
          </a:p>
        </p:txBody>
      </p:sp>
    </p:spTree>
    <p:extLst>
      <p:ext uri="{BB962C8B-B14F-4D97-AF65-F5344CB8AC3E}">
        <p14:creationId xmlns:p14="http://schemas.microsoft.com/office/powerpoint/2010/main" val="9450537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1A9F0A6-B745-465C-A45A-8FEF70FD74A1}" type="datetimeFigureOut">
              <a:rPr lang="en-IN" smtClean="0"/>
              <a:t>20-09-2026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DF5B4FC-79D7-4B85-A5A2-3002E2D19D55}" type="slidenum">
              <a:rPr lang="en-IN" smtClean="0"/>
              <a:t>‹#›</a:t>
            </a:fld>
            <a:endParaRPr lang="en-IN"/>
          </a:p>
        </p:txBody>
      </p:sp>
    </p:spTree>
    <p:extLst>
      <p:ext uri="{BB962C8B-B14F-4D97-AF65-F5344CB8AC3E}">
        <p14:creationId xmlns:p14="http://schemas.microsoft.com/office/powerpoint/2010/main" val="3893816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1A9F0A6-B745-465C-A45A-8FEF70FD74A1}" type="datetimeFigureOut">
              <a:rPr lang="en-IN" smtClean="0"/>
              <a:t>20-09-2026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DF5B4FC-79D7-4B85-A5A2-3002E2D19D55}" type="slidenum">
              <a:rPr lang="en-IN" smtClean="0"/>
              <a:t>‹#›</a:t>
            </a:fld>
            <a:endParaRPr lang="en-IN"/>
          </a:p>
        </p:txBody>
      </p:sp>
    </p:spTree>
    <p:extLst>
      <p:ext uri="{BB962C8B-B14F-4D97-AF65-F5344CB8AC3E}">
        <p14:creationId xmlns:p14="http://schemas.microsoft.com/office/powerpoint/2010/main" val="3730745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1A9F0A6-B745-465C-A45A-8FEF70FD74A1}" type="datetimeFigureOut">
              <a:rPr lang="en-IN" smtClean="0"/>
              <a:t>20-09-2026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F5B4FC-79D7-4B85-A5A2-3002E2D19D55}" type="slidenum">
              <a:rPr lang="en-IN" smtClean="0"/>
              <a:t>‹#›</a:t>
            </a:fld>
            <a:endParaRPr lang="en-IN"/>
          </a:p>
        </p:txBody>
      </p:sp>
    </p:spTree>
    <p:extLst>
      <p:ext uri="{BB962C8B-B14F-4D97-AF65-F5344CB8AC3E}">
        <p14:creationId xmlns:p14="http://schemas.microsoft.com/office/powerpoint/2010/main" val="4099536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1A9F0A6-B745-465C-A45A-8FEF70FD74A1}" type="datetimeFigureOut">
              <a:rPr lang="en-IN" smtClean="0"/>
              <a:t>20-09-2026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DF5B4FC-79D7-4B85-A5A2-3002E2D19D55}" type="slidenum">
              <a:rPr lang="en-IN" smtClean="0"/>
              <a:t>‹#›</a:t>
            </a:fld>
            <a:endParaRPr lang="en-IN"/>
          </a:p>
        </p:txBody>
      </p:sp>
    </p:spTree>
    <p:extLst>
      <p:ext uri="{BB962C8B-B14F-4D97-AF65-F5344CB8AC3E}">
        <p14:creationId xmlns:p14="http://schemas.microsoft.com/office/powerpoint/2010/main" val="1432397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1A9F0A6-B745-465C-A45A-8FEF70FD74A1}" type="datetimeFigureOut">
              <a:rPr lang="en-IN" smtClean="0"/>
              <a:t>20-09-2026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F5B4FC-79D7-4B85-A5A2-3002E2D19D55}" type="slidenum">
              <a:rPr lang="en-IN" smtClean="0"/>
              <a:t>‹#›</a:t>
            </a:fld>
            <a:endParaRPr lang="en-IN"/>
          </a:p>
        </p:txBody>
      </p:sp>
    </p:spTree>
    <p:extLst>
      <p:ext uri="{BB962C8B-B14F-4D97-AF65-F5344CB8AC3E}">
        <p14:creationId xmlns:p14="http://schemas.microsoft.com/office/powerpoint/2010/main" val="35922949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Logistic regression</a:t>
            </a:r>
            <a:endParaRPr lang="en-IN" dirty="0"/>
          </a:p>
        </p:txBody>
      </p:sp>
    </p:spTree>
    <p:extLst>
      <p:ext uri="{BB962C8B-B14F-4D97-AF65-F5344CB8AC3E}">
        <p14:creationId xmlns:p14="http://schemas.microsoft.com/office/powerpoint/2010/main" val="42723760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243670"/>
            <a:ext cx="8496944" cy="6369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0849538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5109" y="1144938"/>
            <a:ext cx="3750469" cy="4264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5242" y="1276945"/>
            <a:ext cx="3268266" cy="4150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3277425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5844" y="696516"/>
            <a:ext cx="7383862" cy="5143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0501431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02" y="780728"/>
            <a:ext cx="4791219" cy="443602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6017" y="780727"/>
            <a:ext cx="4604146" cy="442343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851629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63688" y="764704"/>
            <a:ext cx="5662679" cy="50690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5067400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5109" y="321469"/>
            <a:ext cx="6911578" cy="6229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5917668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347" y="46381"/>
            <a:ext cx="8995957" cy="535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411857" y="5602014"/>
            <a:ext cx="8424936" cy="923330"/>
          </a:xfrm>
          <a:prstGeom prst="rect">
            <a:avLst/>
          </a:prstGeom>
        </p:spPr>
        <p:txBody>
          <a:bodyPr wrap="square">
            <a:spAutoFit/>
          </a:bodyPr>
          <a:lstStyle/>
          <a:p>
            <a:r>
              <a:rPr lang="en-US" dirty="0"/>
              <a:t>since the </a:t>
            </a:r>
            <a:r>
              <a:rPr lang="en-US" b="1" dirty="0"/>
              <a:t>sigmoid curve </a:t>
            </a:r>
            <a:r>
              <a:rPr lang="en-US" dirty="0"/>
              <a:t>has all the properties you would want — extremely low values in the start, extremely high values in the end, and intermediate values in the middle — it’s a good choice for </a:t>
            </a:r>
            <a:r>
              <a:rPr lang="en-US" dirty="0" err="1"/>
              <a:t>modelling</a:t>
            </a:r>
            <a:r>
              <a:rPr lang="en-US" dirty="0"/>
              <a:t> the value of the </a:t>
            </a:r>
            <a:r>
              <a:rPr lang="en-US" b="1" dirty="0"/>
              <a:t>probability of diabetes</a:t>
            </a:r>
            <a:r>
              <a:rPr lang="en-US" dirty="0"/>
              <a:t>.</a:t>
            </a:r>
            <a:endParaRPr lang="en-IN" dirty="0"/>
          </a:p>
        </p:txBody>
      </p:sp>
    </p:spTree>
    <p:extLst>
      <p:ext uri="{BB962C8B-B14F-4D97-AF65-F5344CB8AC3E}">
        <p14:creationId xmlns:p14="http://schemas.microsoft.com/office/powerpoint/2010/main" val="96676602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985" y="188640"/>
            <a:ext cx="8514417" cy="4661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950" y="5157192"/>
            <a:ext cx="9005050" cy="1368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6142775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5850" y="44624"/>
            <a:ext cx="6972300" cy="535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5328172"/>
            <a:ext cx="8424936" cy="149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0044980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200829"/>
            <a:ext cx="6283474" cy="5627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827584" y="404664"/>
            <a:ext cx="8028384" cy="923330"/>
          </a:xfrm>
          <a:prstGeom prst="rect">
            <a:avLst/>
          </a:prstGeom>
        </p:spPr>
        <p:txBody>
          <a:bodyPr wrap="square">
            <a:spAutoFit/>
          </a:bodyPr>
          <a:lstStyle/>
          <a:p>
            <a:r>
              <a:rPr lang="en-US" dirty="0"/>
              <a:t>you saw what a sigmoid function is and why it is a good choice for </a:t>
            </a:r>
            <a:r>
              <a:rPr lang="en-US" dirty="0" err="1"/>
              <a:t>modelling</a:t>
            </a:r>
            <a:r>
              <a:rPr lang="en-US" dirty="0"/>
              <a:t> the probability of a class. Now, in this section, you will learn how you can find the </a:t>
            </a:r>
            <a:r>
              <a:rPr lang="en-US" b="1" dirty="0"/>
              <a:t>best fit sigmoid curve</a:t>
            </a:r>
            <a:r>
              <a:rPr lang="en-US" dirty="0"/>
              <a:t>.</a:t>
            </a:r>
            <a:endParaRPr lang="en-IN" dirty="0"/>
          </a:p>
        </p:txBody>
      </p:sp>
      <p:sp>
        <p:nvSpPr>
          <p:cNvPr id="3" name="Rectangle 2"/>
          <p:cNvSpPr/>
          <p:nvPr/>
        </p:nvSpPr>
        <p:spPr>
          <a:xfrm>
            <a:off x="6228184" y="2690336"/>
            <a:ext cx="2625756" cy="2308324"/>
          </a:xfrm>
          <a:prstGeom prst="rect">
            <a:avLst/>
          </a:prstGeom>
        </p:spPr>
        <p:txBody>
          <a:bodyPr wrap="square">
            <a:spAutoFit/>
          </a:bodyPr>
          <a:lstStyle/>
          <a:p>
            <a:pPr algn="just"/>
            <a:r>
              <a:rPr lang="en-US" dirty="0"/>
              <a:t>So, by varying the values of β0 and β1, you get different sigmoid curves. Now, based on some function that you have to </a:t>
            </a:r>
            <a:r>
              <a:rPr lang="en-US" dirty="0" err="1"/>
              <a:t>minimise</a:t>
            </a:r>
            <a:r>
              <a:rPr lang="en-US" dirty="0"/>
              <a:t> or </a:t>
            </a:r>
            <a:r>
              <a:rPr lang="en-US" dirty="0" err="1"/>
              <a:t>maximise</a:t>
            </a:r>
            <a:r>
              <a:rPr lang="en-US" dirty="0"/>
              <a:t>, you will get the best fit sigmoid curve.</a:t>
            </a:r>
            <a:endParaRPr lang="en-IN" dirty="0"/>
          </a:p>
        </p:txBody>
      </p:sp>
    </p:spTree>
    <p:extLst>
      <p:ext uri="{BB962C8B-B14F-4D97-AF65-F5344CB8AC3E}">
        <p14:creationId xmlns:p14="http://schemas.microsoft.com/office/powerpoint/2010/main" val="52354110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399" y="-25673"/>
            <a:ext cx="8662061" cy="4356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339828"/>
            <a:ext cx="9144000" cy="25271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297520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39453"/>
            <a:ext cx="9109808" cy="3214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3362083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016" y="1178719"/>
            <a:ext cx="8572500" cy="4646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6313761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016" y="1416472"/>
            <a:ext cx="8689033" cy="43699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2417402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7953" y="2089547"/>
            <a:ext cx="7393781" cy="1757691"/>
          </a:xfrm>
          <a:prstGeom prst="rect">
            <a:avLst/>
          </a:prstGeom>
        </p:spPr>
        <p:txBody>
          <a:bodyPr wrap="square" lIns="64291" tIns="32146" rIns="64291" bIns="32146">
            <a:spAutoFit/>
          </a:bodyPr>
          <a:lstStyle/>
          <a:p>
            <a:pPr marL="321457" indent="-321457">
              <a:buFont typeface="Arial" pitchFamily="34" charset="0"/>
              <a:buChar char="•"/>
            </a:pPr>
            <a:r>
              <a:rPr lang="en-US" sz="2200" dirty="0"/>
              <a:t>How do you find the optimal values of β0 and β1 such that the likelihood function is maximized?</a:t>
            </a:r>
          </a:p>
          <a:p>
            <a:endParaRPr lang="en-US" sz="2200" dirty="0"/>
          </a:p>
          <a:p>
            <a:r>
              <a:rPr lang="en-US" sz="2200" dirty="0"/>
              <a:t>The </a:t>
            </a:r>
            <a:r>
              <a:rPr lang="en-US" sz="2200" dirty="0" err="1"/>
              <a:t>optimisation</a:t>
            </a:r>
            <a:r>
              <a:rPr lang="en-US" sz="2200" dirty="0"/>
              <a:t> methods used to do that are an optional part of the course (maximum likelihood estimation, or MLE). </a:t>
            </a:r>
            <a:endParaRPr lang="en-IN" sz="2200" dirty="0"/>
          </a:p>
        </p:txBody>
      </p:sp>
    </p:spTree>
    <p:extLst>
      <p:ext uri="{BB962C8B-B14F-4D97-AF65-F5344CB8AC3E}">
        <p14:creationId xmlns:p14="http://schemas.microsoft.com/office/powerpoint/2010/main" val="305666384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375047"/>
            <a:ext cx="8947547" cy="3053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133945" y="3789040"/>
            <a:ext cx="8724305" cy="2219356"/>
          </a:xfrm>
          <a:prstGeom prst="rect">
            <a:avLst/>
          </a:prstGeom>
        </p:spPr>
        <p:txBody>
          <a:bodyPr wrap="square" lIns="64291" tIns="32146" rIns="64291" bIns="32146">
            <a:spAutoFit/>
          </a:bodyPr>
          <a:lstStyle/>
          <a:p>
            <a:pPr algn="just" rtl="0"/>
            <a:r>
              <a:rPr lang="en-US" sz="2000" dirty="0"/>
              <a:t>While the equation is correct, it is not very intuitive. In other words, the relationship between P and x is so complex that it is difficult to understand what kind of trend exists between the two.  </a:t>
            </a:r>
          </a:p>
          <a:p>
            <a:pPr algn="just"/>
            <a:endParaRPr lang="en-US" sz="2000" dirty="0"/>
          </a:p>
          <a:p>
            <a:pPr algn="just" rtl="0"/>
            <a:r>
              <a:rPr lang="en-US" sz="2000" dirty="0"/>
              <a:t>So, clearly, the relationship between P and x is too complex to see any apparent trends. However, if you convert the equation to a slightly different form, you can achieve a much more intuitive relationship. </a:t>
            </a:r>
            <a:endParaRPr lang="en-US" sz="1700" dirty="0"/>
          </a:p>
        </p:txBody>
      </p:sp>
    </p:spTree>
    <p:extLst>
      <p:ext uri="{BB962C8B-B14F-4D97-AF65-F5344CB8AC3E}">
        <p14:creationId xmlns:p14="http://schemas.microsoft.com/office/powerpoint/2010/main" val="149762312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3735" y="642938"/>
            <a:ext cx="5146849" cy="5734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1567185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906" y="857250"/>
            <a:ext cx="3936742" cy="5036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848320"/>
            <a:ext cx="4265448" cy="4348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0831579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6484" y="389749"/>
            <a:ext cx="5925716" cy="6008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2687371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401332"/>
            <a:ext cx="7560840" cy="60525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9075590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589924"/>
            <a:ext cx="7560839" cy="57327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7184410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9552" y="836712"/>
            <a:ext cx="8064896" cy="5016758"/>
          </a:xfrm>
          <a:prstGeom prst="rect">
            <a:avLst/>
          </a:prstGeom>
        </p:spPr>
        <p:txBody>
          <a:bodyPr wrap="square">
            <a:spAutoFit/>
          </a:bodyPr>
          <a:lstStyle/>
          <a:p>
            <a:pPr algn="just"/>
            <a:r>
              <a:rPr lang="en-US" sz="2000" dirty="0"/>
              <a:t>So, the relationship between x and probability is not intuitive, while that between x and </a:t>
            </a:r>
            <a:r>
              <a:rPr lang="en-US" sz="2000" b="1" dirty="0"/>
              <a:t>odds/log odds</a:t>
            </a:r>
            <a:r>
              <a:rPr lang="en-US" sz="2000" dirty="0"/>
              <a:t> is</a:t>
            </a:r>
            <a:r>
              <a:rPr lang="en-US" sz="2000" dirty="0" smtClean="0"/>
              <a:t>.</a:t>
            </a:r>
          </a:p>
          <a:p>
            <a:pPr algn="just"/>
            <a:endParaRPr lang="en-US" sz="2000" dirty="0"/>
          </a:p>
          <a:p>
            <a:pPr algn="just"/>
            <a:r>
              <a:rPr lang="en-US" sz="2000" dirty="0" smtClean="0"/>
              <a:t> </a:t>
            </a:r>
            <a:r>
              <a:rPr lang="en-US" sz="2000" dirty="0"/>
              <a:t>This has important implications. Suppose you are discussing sugar levels and the probability they correspond to. While talking about 4 patients with sugar levels of </a:t>
            </a:r>
            <a:r>
              <a:rPr lang="en-US" sz="2000" b="1" dirty="0"/>
              <a:t>180, 200, 220 and 240</a:t>
            </a:r>
            <a:r>
              <a:rPr lang="en-US" sz="2000" dirty="0"/>
              <a:t>, you will not be able to intuitively understand the relationship between their probabilities (</a:t>
            </a:r>
            <a:r>
              <a:rPr lang="en-US" sz="2000" b="1" dirty="0"/>
              <a:t>10%, 28%, 58%, 83</a:t>
            </a:r>
            <a:r>
              <a:rPr lang="en-US" sz="2000" b="1" dirty="0" smtClean="0"/>
              <a:t>%</a:t>
            </a:r>
            <a:r>
              <a:rPr lang="en-US" sz="2000" dirty="0" smtClean="0"/>
              <a:t>)</a:t>
            </a:r>
            <a:r>
              <a:rPr lang="en-US" sz="2000" b="1" dirty="0" smtClean="0"/>
              <a:t>.</a:t>
            </a:r>
          </a:p>
          <a:p>
            <a:pPr algn="just"/>
            <a:endParaRPr lang="en-US" sz="2000" dirty="0"/>
          </a:p>
          <a:p>
            <a:pPr algn="just"/>
            <a:r>
              <a:rPr lang="en-US" sz="2000" dirty="0" smtClean="0"/>
              <a:t>However</a:t>
            </a:r>
            <a:r>
              <a:rPr lang="en-US" sz="2000" dirty="0"/>
              <a:t>, if you are talking about the log odds of these 4 patients, you know that their log odds are in a </a:t>
            </a:r>
            <a:r>
              <a:rPr lang="en-US" sz="2000" b="1" dirty="0"/>
              <a:t>linearly increasing pattern</a:t>
            </a:r>
            <a:r>
              <a:rPr lang="en-US" sz="2000" dirty="0"/>
              <a:t> </a:t>
            </a:r>
            <a:r>
              <a:rPr lang="en-US" sz="2000" b="1" dirty="0"/>
              <a:t>(-2.18, -0.92, 0.34, 1.60</a:t>
            </a:r>
            <a:r>
              <a:rPr lang="en-US" sz="2000" b="1" dirty="0" smtClean="0"/>
              <a:t>).</a:t>
            </a:r>
          </a:p>
          <a:p>
            <a:pPr algn="just"/>
            <a:endParaRPr lang="en-US" sz="2000" dirty="0"/>
          </a:p>
          <a:p>
            <a:pPr algn="just"/>
            <a:r>
              <a:rPr lang="en-US" sz="2000" dirty="0"/>
              <a:t>I</a:t>
            </a:r>
            <a:r>
              <a:rPr lang="en-US" sz="2000" dirty="0" smtClean="0"/>
              <a:t>t </a:t>
            </a:r>
            <a:r>
              <a:rPr lang="en-US" sz="2000" dirty="0"/>
              <a:t>makes more sense to present a logistic regression model’s results in terms of log odds or odds than to talk in terms of probability. This happens especially a lot in industries like finance, banking, etc.</a:t>
            </a:r>
            <a:endParaRPr lang="en-IN" sz="2000" dirty="0"/>
          </a:p>
        </p:txBody>
      </p:sp>
    </p:spTree>
    <p:extLst>
      <p:ext uri="{BB962C8B-B14F-4D97-AF65-F5344CB8AC3E}">
        <p14:creationId xmlns:p14="http://schemas.microsoft.com/office/powerpoint/2010/main" val="23971238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404664"/>
            <a:ext cx="4782328" cy="5721499"/>
          </a:xfrm>
        </p:spPr>
        <p:txBody>
          <a:bodyPr>
            <a:normAutofit fontScale="62500" lnSpcReduction="20000"/>
          </a:bodyPr>
          <a:lstStyle/>
          <a:p>
            <a:pPr algn="just"/>
            <a:r>
              <a:rPr lang="en-US" b="1" dirty="0" smtClean="0"/>
              <a:t>Summary</a:t>
            </a:r>
          </a:p>
          <a:p>
            <a:pPr marL="0" indent="0" algn="just">
              <a:buNone/>
            </a:pPr>
            <a:endParaRPr lang="en-US" b="1" dirty="0"/>
          </a:p>
          <a:p>
            <a:pPr algn="just"/>
            <a:r>
              <a:rPr lang="en-US" dirty="0"/>
              <a:t>You first learnt what a </a:t>
            </a:r>
            <a:r>
              <a:rPr lang="en-US" b="1" dirty="0"/>
              <a:t>binary classification</a:t>
            </a:r>
            <a:r>
              <a:rPr lang="en-US" dirty="0"/>
              <a:t> is. Basically, it is a classification problem in which the target variable has only 2 possible values.</a:t>
            </a:r>
          </a:p>
          <a:p>
            <a:pPr marL="0" indent="0" algn="just">
              <a:buNone/>
            </a:pPr>
            <a:r>
              <a:rPr lang="en-US" dirty="0"/>
              <a:t> </a:t>
            </a:r>
          </a:p>
          <a:p>
            <a:pPr algn="just"/>
            <a:r>
              <a:rPr lang="en-US" dirty="0"/>
              <a:t>You then went through the </a:t>
            </a:r>
            <a:r>
              <a:rPr lang="en-US" b="1" dirty="0"/>
              <a:t>diabetes example</a:t>
            </a:r>
            <a:r>
              <a:rPr lang="en-US" dirty="0"/>
              <a:t> in detail, wherein you tried to predict whether a person has diabetes or not based on that person’s blood sugar level.</a:t>
            </a:r>
          </a:p>
          <a:p>
            <a:pPr marL="0" indent="0" algn="just">
              <a:buNone/>
            </a:pPr>
            <a:endParaRPr lang="en-US" dirty="0"/>
          </a:p>
          <a:p>
            <a:pPr algn="just"/>
            <a:r>
              <a:rPr lang="en-US" dirty="0"/>
              <a:t>You saw why a </a:t>
            </a:r>
            <a:r>
              <a:rPr lang="en-US" b="1" dirty="0"/>
              <a:t>simple boundary decision approach</a:t>
            </a:r>
            <a:r>
              <a:rPr lang="en-US" dirty="0"/>
              <a:t> does not work very well for this example. It would be too risky to decide the class blatantly on the basis of the cutoff because, especially in the middle, the patients could belong to any class — diabetic or non-diabetic.</a:t>
            </a:r>
          </a:p>
          <a:p>
            <a:pPr algn="just"/>
            <a:endParaRPr lang="en-IN" dirty="0"/>
          </a:p>
        </p:txBody>
      </p:sp>
      <p:pic>
        <p:nvPicPr>
          <p:cNvPr id="2050" name="Picture 2" descr="Diabetes Dat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5568" y="2204864"/>
            <a:ext cx="3888432" cy="32749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171417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908720"/>
            <a:ext cx="3250704" cy="4525963"/>
          </a:xfrm>
        </p:spPr>
        <p:txBody>
          <a:bodyPr>
            <a:normAutofit fontScale="85000" lnSpcReduction="20000"/>
          </a:bodyPr>
          <a:lstStyle/>
          <a:p>
            <a:r>
              <a:rPr lang="en-US" dirty="0"/>
              <a:t>Hence, you learnt that it is better to talk in terms of </a:t>
            </a:r>
            <a:r>
              <a:rPr lang="en-US" b="1" dirty="0"/>
              <a:t>probability</a:t>
            </a:r>
            <a:r>
              <a:rPr lang="en-US" dirty="0"/>
              <a:t>. One such curve which can model the probability of diabetes very well is the </a:t>
            </a:r>
            <a:r>
              <a:rPr lang="en-US" b="1" dirty="0"/>
              <a:t>sigmoid curve</a:t>
            </a:r>
            <a:r>
              <a:rPr lang="en-US" dirty="0"/>
              <a:t>.</a:t>
            </a:r>
          </a:p>
          <a:p>
            <a:r>
              <a:rPr lang="en-US" dirty="0"/>
              <a:t/>
            </a:r>
            <a:br>
              <a:rPr lang="en-US" dirty="0"/>
            </a:br>
            <a:endParaRPr lang="en-IN" dirty="0"/>
          </a:p>
        </p:txBody>
      </p:sp>
      <p:pic>
        <p:nvPicPr>
          <p:cNvPr id="3074" name="Picture 2" descr="Sigmoid Curv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29064" y="908720"/>
            <a:ext cx="4419600" cy="3686176"/>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0506" y="5589240"/>
            <a:ext cx="4869836" cy="906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895900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55576" y="404664"/>
            <a:ext cx="7632848" cy="1938992"/>
          </a:xfrm>
          <a:prstGeom prst="rect">
            <a:avLst/>
          </a:prstGeom>
        </p:spPr>
        <p:txBody>
          <a:bodyPr wrap="square">
            <a:spAutoFit/>
          </a:bodyPr>
          <a:lstStyle/>
          <a:p>
            <a:pPr algn="just"/>
            <a:r>
              <a:rPr lang="en-US" sz="2400" dirty="0"/>
              <a:t>Then, you learnt that in order to find the </a:t>
            </a:r>
            <a:r>
              <a:rPr lang="en-US" sz="2400" b="1" dirty="0"/>
              <a:t>best-fit sigmoid curve</a:t>
            </a:r>
            <a:r>
              <a:rPr lang="en-US" sz="2400" dirty="0"/>
              <a:t>, you need to vary β0 and β1 until you get the combination of beta values that </a:t>
            </a:r>
            <a:r>
              <a:rPr lang="en-US" sz="2400" dirty="0" smtClean="0"/>
              <a:t>maximizes </a:t>
            </a:r>
            <a:r>
              <a:rPr lang="en-US" sz="2400" dirty="0"/>
              <a:t>the </a:t>
            </a:r>
            <a:r>
              <a:rPr lang="en-US" sz="2400" b="1" dirty="0"/>
              <a:t>likelihood</a:t>
            </a:r>
            <a:r>
              <a:rPr lang="en-US" sz="2400" dirty="0"/>
              <a:t>. For the diabetes example, the likelihood is given by the expression:</a:t>
            </a:r>
            <a:endParaRPr lang="en-IN" sz="2400" dirty="0"/>
          </a:p>
        </p:txBody>
      </p:sp>
      <p:pic>
        <p:nvPicPr>
          <p:cNvPr id="4098" name="Picture 2" descr="Likelihood for Sigmoid Curv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2708920"/>
            <a:ext cx="5040560" cy="401687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1043608" y="2385754"/>
            <a:ext cx="7704856" cy="369332"/>
          </a:xfrm>
          <a:prstGeom prst="rect">
            <a:avLst/>
          </a:prstGeom>
        </p:spPr>
        <p:txBody>
          <a:bodyPr wrap="square">
            <a:spAutoFit/>
          </a:bodyPr>
          <a:lstStyle/>
          <a:p>
            <a:r>
              <a:rPr lang="en-US" dirty="0"/>
              <a:t>Likelihood=(1−P1)(1−P2)(1−P3)(1−P4)(P5)(1−P6)(P7)(P8)(P9)(P10)</a:t>
            </a:r>
          </a:p>
        </p:txBody>
      </p:sp>
    </p:spTree>
    <p:extLst>
      <p:ext uri="{BB962C8B-B14F-4D97-AF65-F5344CB8AC3E}">
        <p14:creationId xmlns:p14="http://schemas.microsoft.com/office/powerpoint/2010/main" val="379665336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70420" y="692696"/>
            <a:ext cx="8064896" cy="3170099"/>
          </a:xfrm>
          <a:prstGeom prst="rect">
            <a:avLst/>
          </a:prstGeom>
        </p:spPr>
        <p:txBody>
          <a:bodyPr wrap="square">
            <a:spAutoFit/>
          </a:bodyPr>
          <a:lstStyle/>
          <a:p>
            <a:r>
              <a:rPr lang="en-US" sz="2000" dirty="0"/>
              <a:t>Likelihood=(1−P1)(1−P2)(1−P3)(1−P4)(P5)(1−P6)(P7)(P8)(P9)(P10)</a:t>
            </a:r>
          </a:p>
          <a:p>
            <a:r>
              <a:rPr lang="en-US" sz="2000" dirty="0"/>
              <a:t> </a:t>
            </a:r>
          </a:p>
          <a:p>
            <a:r>
              <a:rPr lang="en-US" sz="2000" dirty="0"/>
              <a:t>It is the product of:</a:t>
            </a:r>
          </a:p>
          <a:p>
            <a:r>
              <a:rPr lang="en-US" sz="2000" dirty="0"/>
              <a:t> </a:t>
            </a:r>
          </a:p>
          <a:p>
            <a:r>
              <a:rPr lang="en-US" sz="2000" dirty="0"/>
              <a:t>[(1−Pi)(1−Pi) ------ for all non-diabetics --------] * [(Pi)(Pi) -------- for all diabetics -------]</a:t>
            </a:r>
          </a:p>
          <a:p>
            <a:r>
              <a:rPr lang="en-US" sz="2000" dirty="0"/>
              <a:t> </a:t>
            </a:r>
          </a:p>
          <a:p>
            <a:r>
              <a:rPr lang="en-US" sz="2000" dirty="0"/>
              <a:t>This process, where you vary the betas until you find the best fit curve for the probability of diabetes, is called </a:t>
            </a:r>
            <a:r>
              <a:rPr lang="en-US" sz="2000" b="1" dirty="0"/>
              <a:t>logistic regression.</a:t>
            </a:r>
            <a:endParaRPr lang="en-US" sz="2000" dirty="0"/>
          </a:p>
          <a:p>
            <a:r>
              <a:rPr lang="en-US" sz="2000" dirty="0"/>
              <a:t> </a:t>
            </a:r>
          </a:p>
        </p:txBody>
      </p:sp>
      <p:sp>
        <p:nvSpPr>
          <p:cNvPr id="5" name="Rectangle 4"/>
          <p:cNvSpPr/>
          <p:nvPr/>
        </p:nvSpPr>
        <p:spPr>
          <a:xfrm>
            <a:off x="621792" y="4119463"/>
            <a:ext cx="8044372" cy="1077218"/>
          </a:xfrm>
          <a:prstGeom prst="rect">
            <a:avLst/>
          </a:prstGeom>
        </p:spPr>
        <p:txBody>
          <a:bodyPr wrap="square">
            <a:spAutoFit/>
          </a:bodyPr>
          <a:lstStyle/>
          <a:p>
            <a:r>
              <a:rPr lang="en-US" sz="2000" dirty="0"/>
              <a:t>After this, you saw a simpler way of interpreting the equation for logistic regression. You saw that the following </a:t>
            </a:r>
            <a:r>
              <a:rPr lang="en-US" sz="2400" dirty="0" smtClean="0"/>
              <a:t>linearized</a:t>
            </a:r>
            <a:r>
              <a:rPr lang="en-US" sz="2000" dirty="0" smtClean="0"/>
              <a:t> </a:t>
            </a:r>
            <a:r>
              <a:rPr lang="en-US" sz="2000" dirty="0"/>
              <a:t>equation is much easier to interpret:</a:t>
            </a:r>
            <a:endParaRPr lang="en-IN" sz="2000"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7824" y="5301208"/>
            <a:ext cx="3209925"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7692693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941340"/>
            <a:ext cx="8229600" cy="4525963"/>
          </a:xfrm>
        </p:spPr>
        <p:txBody>
          <a:bodyPr>
            <a:normAutofit/>
          </a:bodyPr>
          <a:lstStyle/>
          <a:p>
            <a:pPr marL="0" indent="0" algn="just">
              <a:buNone/>
            </a:pPr>
            <a:endParaRPr lang="en-US" sz="2400" dirty="0"/>
          </a:p>
          <a:p>
            <a:pPr algn="just"/>
            <a:r>
              <a:rPr lang="en-US" sz="2400" dirty="0" smtClean="0"/>
              <a:t>The </a:t>
            </a:r>
            <a:r>
              <a:rPr lang="en-US" sz="2400" dirty="0"/>
              <a:t>left-hand side of this equation is what is called </a:t>
            </a:r>
            <a:r>
              <a:rPr lang="en-US" sz="2400" b="1" dirty="0"/>
              <a:t>log odds</a:t>
            </a:r>
            <a:r>
              <a:rPr lang="en-US" sz="2400" dirty="0"/>
              <a:t>. Basically, the </a:t>
            </a:r>
            <a:r>
              <a:rPr lang="en-US" sz="2400" b="1" dirty="0"/>
              <a:t>odds</a:t>
            </a:r>
            <a:r>
              <a:rPr lang="en-US" sz="2400" dirty="0"/>
              <a:t> of having diabetes (P/1-P), indicate how much likelier a person is to have diabetes than to not have it. For example, a person for whom the odds of having diabetes are equal to 3, is 3 times more likely to have diabetes than to not have it. </a:t>
            </a:r>
            <a:endParaRPr lang="en-US" sz="2400" dirty="0" smtClean="0"/>
          </a:p>
          <a:p>
            <a:pPr algn="just"/>
            <a:r>
              <a:rPr lang="en-US" sz="2400" dirty="0" smtClean="0"/>
              <a:t>In </a:t>
            </a:r>
            <a:r>
              <a:rPr lang="en-US" sz="2400" dirty="0"/>
              <a:t>other words, P(Diabetes) = 3 * P(No diabetes).</a:t>
            </a:r>
          </a:p>
          <a:p>
            <a:pPr algn="just"/>
            <a:endParaRPr lang="en-IN" sz="2400"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5049" y="548680"/>
            <a:ext cx="3209925"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683568" y="4241899"/>
            <a:ext cx="7920880" cy="2616101"/>
          </a:xfrm>
          <a:prstGeom prst="rect">
            <a:avLst/>
          </a:prstGeom>
        </p:spPr>
        <p:txBody>
          <a:bodyPr wrap="square">
            <a:spAutoFit/>
          </a:bodyPr>
          <a:lstStyle/>
          <a:p>
            <a:pPr algn="just"/>
            <a:endParaRPr lang="en-US" sz="2000" dirty="0"/>
          </a:p>
          <a:p>
            <a:pPr algn="just"/>
            <a:r>
              <a:rPr lang="en-US" sz="2400" dirty="0"/>
              <a:t>You also saw how odds vary with variation in x. Basically, with every </a:t>
            </a:r>
            <a:r>
              <a:rPr lang="en-US" sz="2400" b="1" dirty="0"/>
              <a:t>linear increase</a:t>
            </a:r>
            <a:r>
              <a:rPr lang="en-US" sz="2400" dirty="0"/>
              <a:t> in x, the increase in odds is </a:t>
            </a:r>
            <a:r>
              <a:rPr lang="en-US" sz="2400" b="1" dirty="0"/>
              <a:t>multiplicative</a:t>
            </a:r>
            <a:r>
              <a:rPr lang="en-US" sz="2400" dirty="0"/>
              <a:t>. For example, in the diabetes case, after every increase of 11.5 in the value of x, the odds are approximately doubled, i.e. they increase by a multiplicative factor of about 2.</a:t>
            </a:r>
          </a:p>
        </p:txBody>
      </p:sp>
    </p:spTree>
    <p:extLst>
      <p:ext uri="{BB962C8B-B14F-4D97-AF65-F5344CB8AC3E}">
        <p14:creationId xmlns:p14="http://schemas.microsoft.com/office/powerpoint/2010/main" val="238714800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1100</TotalTime>
  <Words>260</Words>
  <Application>Microsoft Office PowerPoint</Application>
  <PresentationFormat>On-screen Show (4:3)</PresentationFormat>
  <Paragraphs>42</Paragraphs>
  <Slides>28</Slides>
  <Notes>0</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Logistic regression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Logistic regression</dc:title>
  <dc:creator>hp</dc:creator>
  <cp:lastModifiedBy>win</cp:lastModifiedBy>
  <cp:revision>19</cp:revision>
  <dcterms:created xsi:type="dcterms:W3CDTF">2024-03-14T16:21:17Z</dcterms:created>
  <dcterms:modified xsi:type="dcterms:W3CDTF">2026-09-20T19:15:08Z</dcterms:modified>
</cp:coreProperties>
</file>