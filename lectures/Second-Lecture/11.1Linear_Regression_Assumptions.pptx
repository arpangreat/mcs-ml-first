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" y="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63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377440" cy="237744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846320"/>
            <a:ext cx="3108960" cy="3108960"/>
          </a:xfrm>
          <a:prstGeom prst="ellipse">
            <a:avLst/>
          </a:prstGeom>
          <a:solidFill>
            <a:srgbClr val="0F3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1341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·  REGRESSION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of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fitting a line isn't enough — the conditions that make its inferences trustworthy.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846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3444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46120" y="48463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846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48463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846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2940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41080" y="48463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0F3A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8463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26880" y="4846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Variance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Lecture Deck  ·  Simple &amp; Multiple Linear Regression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Assumptions At All?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line through data is easy — any two points determine one. The hard part is trusting what that line tells you beyond the data you already have.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→ POPULATION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fit a regression line on a sample — a small slice of data. But the real goal is to make inferences about the entire population.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4572000" cy="0"/>
          </a:xfrm>
          <a:prstGeom prst="line">
            <a:avLst/>
          </a:prstGeom>
          <a:noFill/>
          <a:ln w="12700">
            <a:solidFill>
              <a:srgbClr val="2C5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alone (“X and Y move together”) isn't enough to justify that leap. Without further guarantees on how the errors behave, any conclusions drawn from the sample could be misleading when applied more broadly.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52578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0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the four assumptions provide.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237744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63347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633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514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coefficients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28620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β₀, β₁, … reflect real relationships, not artifacts of this one sample.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361188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386791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p-values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409651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on coefficients only mean what they claim to mean if the assumptions roughly hold.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484632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510235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4983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predictions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533095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prediction intervals around forecasts are only as good as the assumptions behind them.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Key Assumptions,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them with the acronym L.I.N.E. — each targets a different way a regression model can quietly go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446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39446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1605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X and Y is genuinely a straight line, not curved.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054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2054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41605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terms don't depend on each other — no hidden pattern across observations.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662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24662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41605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terms are normally distributed with mean zero (not X or Y themselves).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235440" y="2194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7270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17270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418320" y="3566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Variance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64040" y="41605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the errors stays constant across all fitted values (homoscedasticity).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each one, why it matters, and how to visually spot a violation.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Linearity: X and Y Move Together in a Straight 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assumption: the true relationship between each predictor and the output is linear — not curved, not cyclical.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Pattern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5349240"/>
            <a:ext cx="457200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51760"/>
            <a:ext cx="0" cy="2697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9012" y="50383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696212" y="471464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7692" y="482254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3452" y="44179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4932" y="422910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3250692" y="40402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616452" y="382447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982212" y="36086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9412" y="328498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6612" y="309615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5216652" y="282641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484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(Curved) Pattern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349240"/>
            <a:ext cx="457200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651760"/>
            <a:ext cx="0" cy="2697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6852" y="382447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7182612" y="44988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7548372" y="490347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5572" y="509229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8462772" y="498439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8828532" y="463372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9194292" y="417515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9560052" y="368960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17252" y="320405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74452" y="293431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40212" y="279943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0412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1010412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Violated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5F0F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check: plot X against Y (or residuals against fitted values) and look for any visible curve or bend.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Independence: Errors Don't Depend on Each Other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for one observation shouldn't tell you anything about the error for another — e.g. in time-series data, today's error shouldn't predict tomorrow's.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Pattern — Independent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66344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2960" y="3579876"/>
            <a:ext cx="423949" cy="10607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246909" y="3182112"/>
            <a:ext cx="423949" cy="145846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0858" y="3182112"/>
            <a:ext cx="423949" cy="10607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94807" y="3845052"/>
            <a:ext cx="423949" cy="39776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8756" y="3845052"/>
            <a:ext cx="423949" cy="9281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942705" y="3447288"/>
            <a:ext cx="423949" cy="1325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6655" y="3447288"/>
            <a:ext cx="423949" cy="9281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3790604" y="3314700"/>
            <a:ext cx="423949" cy="10607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4553" y="3314700"/>
            <a:ext cx="423949" cy="79552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638502" y="3712464"/>
            <a:ext cx="423949" cy="39776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2451" y="3712464"/>
            <a:ext cx="423949" cy="79552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354330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0333" y="460400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1634282" y="314553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8231" y="420624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2482180" y="380847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2906129" y="473659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0079" y="341071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3754028" y="433882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4177977" y="327812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4601926" y="407365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5875" y="367588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Shape 29"/>
          <p:cNvSpPr/>
          <p:nvPr/>
        </p:nvSpPr>
        <p:spPr>
          <a:xfrm>
            <a:off x="5449824" y="447141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Shape 30"/>
          <p:cNvSpPr/>
          <p:nvPr/>
        </p:nvSpPr>
        <p:spPr>
          <a:xfrm>
            <a:off x="443484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Pattern — Errors Dependent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3977640"/>
            <a:ext cx="466344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92240" y="3182112"/>
            <a:ext cx="423949" cy="1325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16189" y="3314700"/>
            <a:ext cx="423949" cy="26517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40138" y="3579876"/>
            <a:ext cx="423949" cy="26517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64087" y="3845052"/>
            <a:ext cx="423949" cy="39776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88036" y="4242816"/>
            <a:ext cx="423949" cy="26517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11985" y="4507992"/>
            <a:ext cx="423949" cy="26517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035935" y="4640580"/>
            <a:ext cx="423949" cy="1325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459884" y="4375404"/>
            <a:ext cx="423949" cy="26517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883833" y="3977640"/>
            <a:ext cx="423949" cy="39776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307782" y="3579876"/>
            <a:ext cx="423949" cy="39776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731731" y="3248406"/>
            <a:ext cx="423949" cy="33147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55664" y="314553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613" y="327812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7303562" y="354330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1" name="Shape 49"/>
          <p:cNvSpPr/>
          <p:nvPr/>
        </p:nvSpPr>
        <p:spPr>
          <a:xfrm>
            <a:off x="7727511" y="380847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2" name="Shape 50"/>
          <p:cNvSpPr/>
          <p:nvPr/>
        </p:nvSpPr>
        <p:spPr>
          <a:xfrm>
            <a:off x="8151460" y="420624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8575409" y="447141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4" name="Shape 52"/>
          <p:cNvSpPr/>
          <p:nvPr/>
        </p:nvSpPr>
        <p:spPr>
          <a:xfrm>
            <a:off x="8999359" y="473659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5" name="Shape 53"/>
          <p:cNvSpPr/>
          <p:nvPr/>
        </p:nvSpPr>
        <p:spPr>
          <a:xfrm>
            <a:off x="9423308" y="460400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6" name="Shape 54"/>
          <p:cNvSpPr/>
          <p:nvPr/>
        </p:nvSpPr>
        <p:spPr>
          <a:xfrm>
            <a:off x="9847257" y="433882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7" name="Shape 55"/>
          <p:cNvSpPr/>
          <p:nvPr/>
        </p:nvSpPr>
        <p:spPr>
          <a:xfrm>
            <a:off x="10271206" y="394106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95155" y="354330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11119104" y="321183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1010412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61" name="Text 59"/>
          <p:cNvSpPr/>
          <p:nvPr/>
        </p:nvSpPr>
        <p:spPr>
          <a:xfrm>
            <a:off x="1010412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Violated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Normality: Error Terms Follow a Normal Distribution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X or Y themselves — the error terms (residuals) should be normally distributed with a mean of zero, forming the familiar bell curve.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Normal (“Bell Curve”) Looks Like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4480560" cy="0"/>
          </a:xfrm>
          <a:prstGeom prst="line">
            <a:avLst/>
          </a:prstGeom>
          <a:noFill/>
          <a:ln w="15875">
            <a:solidFill>
              <a:srgbClr val="6E8C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14400" y="5196282"/>
            <a:ext cx="112014" cy="6607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26414" y="5185669"/>
            <a:ext cx="112014" cy="1061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38428" y="5169136"/>
            <a:ext cx="112014" cy="1653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250442" y="5144167"/>
            <a:ext cx="112014" cy="24969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362456" y="5107623"/>
            <a:ext cx="112014" cy="3654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474470" y="5055814"/>
            <a:ext cx="112014" cy="5180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586484" y="4984715"/>
            <a:ext cx="112014" cy="7110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698498" y="4890328"/>
            <a:ext cx="112014" cy="94386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810512" y="4769233"/>
            <a:ext cx="112014" cy="12109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922526" y="4619260"/>
            <a:ext cx="112014" cy="14997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034540" y="4440238"/>
            <a:ext cx="112014" cy="179022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146554" y="4234685"/>
            <a:ext cx="112014" cy="20555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258568" y="4008297"/>
            <a:ext cx="112014" cy="22638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370582" y="3770090"/>
            <a:ext cx="112014" cy="23820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482596" y="3532066"/>
            <a:ext cx="112014" cy="238024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94610" y="3308375"/>
            <a:ext cx="112014" cy="223691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706624" y="3113997"/>
            <a:ext cx="112014" cy="19437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818638" y="2963118"/>
            <a:ext cx="112014" cy="15087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930652" y="2867432"/>
            <a:ext cx="112014" cy="95686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042666" y="2834640"/>
            <a:ext cx="112014" cy="32792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2834640"/>
            <a:ext cx="112014" cy="32792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6694" y="2867432"/>
            <a:ext cx="112014" cy="95686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78708" y="2963118"/>
            <a:ext cx="112014" cy="15087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0722" y="3113997"/>
            <a:ext cx="112014" cy="19437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02736" y="3308375"/>
            <a:ext cx="112014" cy="223691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4750" y="3532066"/>
            <a:ext cx="112014" cy="238024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26764" y="3770090"/>
            <a:ext cx="112014" cy="23820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8778" y="4008297"/>
            <a:ext cx="112014" cy="22638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50792" y="4234685"/>
            <a:ext cx="112014" cy="20555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2806" y="4440238"/>
            <a:ext cx="112014" cy="179022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4820" y="4619260"/>
            <a:ext cx="112014" cy="14997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6834" y="4769233"/>
            <a:ext cx="112014" cy="12109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98848" y="4890328"/>
            <a:ext cx="112014" cy="94386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0862" y="4984715"/>
            <a:ext cx="112014" cy="7110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2876" y="5055814"/>
            <a:ext cx="112014" cy="51808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34890" y="5107623"/>
            <a:ext cx="112014" cy="3654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46904" y="5144167"/>
            <a:ext cx="112014" cy="24969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58918" y="5169136"/>
            <a:ext cx="112014" cy="1653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70932" y="5185669"/>
            <a:ext cx="112014" cy="10613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82946" y="5196282"/>
            <a:ext cx="112014" cy="6607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5212080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528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26480" y="219456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304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Distributed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0" y="3566160"/>
            <a:ext cx="4846320" cy="0"/>
          </a:xfrm>
          <a:prstGeom prst="line">
            <a:avLst/>
          </a:prstGeom>
          <a:noFill/>
          <a:ln w="12700">
            <a:solidFill>
              <a:srgbClr val="6E8C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54648" y="3429000"/>
            <a:ext cx="430784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6993128" y="3246120"/>
            <a:ext cx="430784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7531608" y="3017520"/>
            <a:ext cx="430784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8070088" y="2788920"/>
            <a:ext cx="43078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Shape 56"/>
          <p:cNvSpPr/>
          <p:nvPr/>
        </p:nvSpPr>
        <p:spPr>
          <a:xfrm>
            <a:off x="8608568" y="2651760"/>
            <a:ext cx="43078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9147048" y="2788920"/>
            <a:ext cx="43078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9685528" y="3017520"/>
            <a:ext cx="430784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24008" y="3246120"/>
            <a:ext cx="430784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2" name="Shape 60"/>
          <p:cNvSpPr/>
          <p:nvPr/>
        </p:nvSpPr>
        <p:spPr>
          <a:xfrm>
            <a:off x="10762488" y="3429000"/>
            <a:ext cx="430784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87000" y="35387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353872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26480" y="40690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09360" y="41788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/ Non-Normal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0" y="5440680"/>
            <a:ext cx="4846320" cy="0"/>
          </a:xfrm>
          <a:prstGeom prst="line">
            <a:avLst/>
          </a:prstGeom>
          <a:noFill/>
          <a:ln w="12700">
            <a:solidFill>
              <a:srgbClr val="6E8C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54648" y="4617720"/>
            <a:ext cx="430784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6993128" y="4526280"/>
            <a:ext cx="430784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0" name="Shape 68"/>
          <p:cNvSpPr/>
          <p:nvPr/>
        </p:nvSpPr>
        <p:spPr>
          <a:xfrm>
            <a:off x="7531608" y="4754880"/>
            <a:ext cx="430784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1" name="Shape 69"/>
          <p:cNvSpPr/>
          <p:nvPr/>
        </p:nvSpPr>
        <p:spPr>
          <a:xfrm>
            <a:off x="8070088" y="4937760"/>
            <a:ext cx="43078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8608568" y="5120640"/>
            <a:ext cx="430784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3" name="Shape 71"/>
          <p:cNvSpPr/>
          <p:nvPr/>
        </p:nvSpPr>
        <p:spPr>
          <a:xfrm>
            <a:off x="9147048" y="5239512"/>
            <a:ext cx="430784" cy="2011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4" name="Shape 72"/>
          <p:cNvSpPr/>
          <p:nvPr/>
        </p:nvSpPr>
        <p:spPr>
          <a:xfrm>
            <a:off x="9685528" y="5312664"/>
            <a:ext cx="430784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5" name="Shape 73"/>
          <p:cNvSpPr/>
          <p:nvPr/>
        </p:nvSpPr>
        <p:spPr>
          <a:xfrm>
            <a:off x="10224008" y="5367528"/>
            <a:ext cx="430784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6" name="Shape 74"/>
          <p:cNvSpPr/>
          <p:nvPr/>
        </p:nvSpPr>
        <p:spPr>
          <a:xfrm>
            <a:off x="10762488" y="5404104"/>
            <a:ext cx="430784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7" name="Shape 75"/>
          <p:cNvSpPr/>
          <p:nvPr/>
        </p:nvSpPr>
        <p:spPr>
          <a:xfrm>
            <a:off x="10287000" y="54132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8" name="Text 76"/>
          <p:cNvSpPr/>
          <p:nvPr/>
        </p:nvSpPr>
        <p:spPr>
          <a:xfrm>
            <a:off x="10287000" y="541324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Violated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Variance: Errors Spread Consistently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variance of the errors should stay roughly constant across all fitted values — it shouldn't grow or shrink as predictions get larger.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Variance (Homoscedastic)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5349240"/>
            <a:ext cx="457200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51760"/>
            <a:ext cx="0" cy="2697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252" y="39593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585" y="354022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211919" y="438254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1381252" y="39511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0585" y="354440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1719919" y="438648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889252" y="394302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8585" y="354870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7919" y="439030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2397252" y="393486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6585" y="355311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735919" y="439400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05252" y="392671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3074585" y="355764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3919" y="43975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3413252" y="391857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3582585" y="356228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3751919" y="440103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3921252" y="391044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4090585" y="356704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4259919" y="440436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4429252" y="390233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4598585" y="357190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4767919" y="44075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252" y="389423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5106585" y="357688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5275919" y="44106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5252" y="388615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443484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9" name="Text 37"/>
          <p:cNvSpPr/>
          <p:nvPr/>
        </p:nvSpPr>
        <p:spPr>
          <a:xfrm>
            <a:off x="443484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3042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Variance (Heteroscedastic)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5349240"/>
            <a:ext cx="4572000" cy="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2651760"/>
            <a:ext cx="0" cy="2697480"/>
          </a:xfrm>
          <a:prstGeom prst="line">
            <a:avLst/>
          </a:prstGeom>
          <a:noFill/>
          <a:ln w="15875">
            <a:solidFill>
              <a:srgbClr val="5C6B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42532" y="383341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6711865" y="407958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Shape 44"/>
          <p:cNvSpPr/>
          <p:nvPr/>
        </p:nvSpPr>
        <p:spPr>
          <a:xfrm>
            <a:off x="6881199" y="385036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7050532" y="4100461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Shape 46"/>
          <p:cNvSpPr/>
          <p:nvPr/>
        </p:nvSpPr>
        <p:spPr>
          <a:xfrm>
            <a:off x="7219865" y="368087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7389199" y="42068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Shape 48"/>
          <p:cNvSpPr/>
          <p:nvPr/>
        </p:nvSpPr>
        <p:spPr>
          <a:xfrm>
            <a:off x="7558532" y="376817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7727865" y="438339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Shape 50"/>
          <p:cNvSpPr/>
          <p:nvPr/>
        </p:nvSpPr>
        <p:spPr>
          <a:xfrm>
            <a:off x="7897199" y="348377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3" name="Shape 51"/>
          <p:cNvSpPr/>
          <p:nvPr/>
        </p:nvSpPr>
        <p:spPr>
          <a:xfrm>
            <a:off x="8066532" y="449664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4" name="Shape 52"/>
          <p:cNvSpPr/>
          <p:nvPr/>
        </p:nvSpPr>
        <p:spPr>
          <a:xfrm>
            <a:off x="8235865" y="341048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8405199" y="436943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8574532" y="342068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8743865" y="458175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8" name="Shape 56"/>
          <p:cNvSpPr/>
          <p:nvPr/>
        </p:nvSpPr>
        <p:spPr>
          <a:xfrm>
            <a:off x="8913199" y="321648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9082532" y="45818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9251865" y="3449367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1" name="Shape 59"/>
          <p:cNvSpPr/>
          <p:nvPr/>
        </p:nvSpPr>
        <p:spPr>
          <a:xfrm>
            <a:off x="9421199" y="47633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2" name="Shape 60"/>
          <p:cNvSpPr/>
          <p:nvPr/>
        </p:nvSpPr>
        <p:spPr>
          <a:xfrm>
            <a:off x="9590532" y="305337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3" name="Shape 61"/>
          <p:cNvSpPr/>
          <p:nvPr/>
        </p:nvSpPr>
        <p:spPr>
          <a:xfrm>
            <a:off x="9759865" y="448715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4" name="Shape 62"/>
          <p:cNvSpPr/>
          <p:nvPr/>
        </p:nvSpPr>
        <p:spPr>
          <a:xfrm>
            <a:off x="9929199" y="3128515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98532" y="46729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" name="Shape 64"/>
          <p:cNvSpPr/>
          <p:nvPr/>
        </p:nvSpPr>
        <p:spPr>
          <a:xfrm>
            <a:off x="10267865" y="314405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7" name="Shape 65"/>
          <p:cNvSpPr/>
          <p:nvPr/>
        </p:nvSpPr>
        <p:spPr>
          <a:xfrm>
            <a:off x="10437199" y="48514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8" name="Shape 66"/>
          <p:cNvSpPr/>
          <p:nvPr/>
        </p:nvSpPr>
        <p:spPr>
          <a:xfrm>
            <a:off x="10606532" y="311223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75865" y="4655599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5199" y="317739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1" name="Shape 69"/>
          <p:cNvSpPr/>
          <p:nvPr/>
        </p:nvSpPr>
        <p:spPr>
          <a:xfrm>
            <a:off x="11114532" y="4851473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04120" y="537667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3" name="Text 71"/>
          <p:cNvSpPr/>
          <p:nvPr/>
        </p:nvSpPr>
        <p:spPr>
          <a:xfrm>
            <a:off x="10104120" y="53766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Violated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14400" y="4000500"/>
            <a:ext cx="4572000" cy="0"/>
          </a:xfrm>
          <a:prstGeom prst="line">
            <a:avLst/>
          </a:prstGeom>
          <a:noFill/>
          <a:ln w="9525">
            <a:solidFill>
              <a:srgbClr val="5C6B73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583680" y="4000500"/>
            <a:ext cx="4572000" cy="0"/>
          </a:xfrm>
          <a:prstGeom prst="line">
            <a:avLst/>
          </a:prstGeom>
          <a:noFill/>
          <a:ln w="9525">
            <a:solidFill>
              <a:srgbClr val="5C6B73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457200" y="59436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5F0F4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check: plot residuals against fitted values. A widening “funnel” or “cone” shape is the classic sign of heteroscedasticity.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341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an Assumption Is Violated?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Linearity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7680" y="160020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biased; the model systematically under- or over-predicts in parts of the range.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9748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Independence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97680" y="269748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are wrong (usually too small) — tests look more significant than they really are.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0233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79476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Normality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97680" y="379476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estimates stay valid, but p-values and confidence intervals become unreliable, especially in small samples.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0F3A5F"/>
          </a:solidFill>
          <a:ln w="12700">
            <a:solidFill>
              <a:srgbClr val="1E4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1206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8920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Variance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297680" y="4892040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errors are distorted, again undermining hypothesis tests — though point predictions may still be roughly right.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Each Assumption: A Quick Reference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37744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457200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Plot / Test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600200"/>
            <a:ext cx="4297680" cy="502920"/>
          </a:xfrm>
          <a:prstGeom prst="rect">
            <a:avLst/>
          </a:prstGeom>
          <a:solidFill>
            <a:srgbClr val="0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6002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37744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031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457200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1031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Fitted plot; scatter plots of X vs. 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2103120"/>
            <a:ext cx="429768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1031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polynomial terms, transform X or Y (e.g. log)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377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34640" y="2971800"/>
            <a:ext cx="4572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9718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Order plot; Durbin–Watson test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06640" y="297180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29718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 trend/lag term, use time-series 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237744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4048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834640" y="3840480"/>
            <a:ext cx="457200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84048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or Q-Q plot of residuals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06640" y="3840480"/>
            <a:ext cx="4297680" cy="868680"/>
          </a:xfrm>
          <a:prstGeom prst="rect">
            <a:avLst/>
          </a:prstGeom>
          <a:solidFill>
            <a:srgbClr val="F0F5F6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8404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 (e.g. log, Box-Cox), collect more data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2377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7091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Variance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834640" y="4709160"/>
            <a:ext cx="4572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709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Fitted (“scale-location”) plot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06640" y="470916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7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43800" y="47091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7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Y, use weighted least squares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look at residual plots before trusting p-values — diagnostics take minutes and can save a misleading conclusion.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5F0F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— Linearity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2585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X–Y relationship must be a straight line; check with scatter or residual plots.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8562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7647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— Independence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22585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shouldn't follow each other in a pattern; check residuals in collection order.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564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— Normality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(not X or Y) should be roughly bell-shaped with mean zero; check with a histogram or Q-Q plot.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4564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— Equal Variance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8587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spread should stay constant across fitted values; check for a funnel shape in residual plots.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800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0566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965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 vs. Inference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1520" y="54589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Violating normality/variance mostly hurts p-values and intervals, not necessarily the coefficients.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800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blurRad="63500" dist="25400" dir="5400000" algn="bl" rotWithShape="0">
              <a:srgbClr val="1A1A2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5056632"/>
            <a:ext cx="502920" cy="502920"/>
          </a:xfrm>
          <a:prstGeom prst="ellipse">
            <a:avLst/>
          </a:prstGeom>
          <a:solidFill>
            <a:srgbClr val="E5F0F4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4965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visualize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492240" y="545896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plots are the single most useful diagnostic tool — use them before trusting any regression output.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of Linear Regression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985</Words>
  <Application>Microsoft Office PowerPoint</Application>
  <PresentationFormat>Custom</PresentationFormat>
  <Paragraphs>157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3</cp:revision>
  <dcterms:created xsi:type="dcterms:W3CDTF">2026-09-05T10:58:08Z</dcterms:created>
  <dcterms:modified xsi:type="dcterms:W3CDTF">2026-09-05T12:03:23Z</dcterms:modified>
</cp:coreProperties>
</file>