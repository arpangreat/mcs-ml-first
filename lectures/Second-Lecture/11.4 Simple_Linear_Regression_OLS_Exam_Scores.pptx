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-307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1F66CA-9048-4668-8977-10DA47D7D6BD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2D8AB-1603-4F51-BE0F-00F21E9CA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332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846320"/>
            <a:ext cx="3108960" cy="3108960"/>
          </a:xfrm>
          <a:prstGeom prst="ellipse">
            <a:avLst/>
          </a:prstGeom>
          <a:solidFill>
            <a:srgbClr val="0F3A5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23444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1341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 · 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Linear Regression: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Ordinary Least Squares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student's external exam score from their internal exam score.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6035040" cy="685800"/>
          </a:xfrm>
          <a:prstGeom prst="roundRect">
            <a:avLst>
              <a:gd name="adj" fmla="val 13333"/>
            </a:avLst>
          </a:prstGeom>
          <a:solidFill>
            <a:srgbClr val="0F3A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0624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a + bx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Lecture Deck  ·  Regression &amp; Residual Errors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 Better Internal Score Predict a Better External Score?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0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college professor believes that when a student's internal examination score is high, their external examination score will also be high. To test this, the professor collected data from 15 sample students.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3566160"/>
            <a:ext cx="548640" cy="54864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exam score and external exam score are positively related.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32918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3566160"/>
            <a:ext cx="548640" cy="54864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4297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students, each with an internal score (X) and an external score (Y).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32918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3920" y="3566160"/>
            <a:ext cx="548640" cy="54864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4297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line through this data to predict Y for any new student's X.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use the Ordinary Least Squares (OLS) method to find the best-fit line for this data.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· OLS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Plotting Internal vs. External Scores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is one student. Internal exam score on the x-axis, external exam score on the y-axis.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2103120"/>
            <a:ext cx="59436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221284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Exam Score (X) vs. External Exam Score (Y)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5532120"/>
            <a:ext cx="5074920" cy="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2560320"/>
            <a:ext cx="0" cy="297180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13800" y="4773437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936513" y="4423813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7869" y="407419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9226" y="3724566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6320582" y="3549755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6781939" y="3724566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7243295" y="3200131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7704651" y="2850508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8166008" y="2675696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0582" y="529787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 flipV="1">
            <a:off x="3611880" y="2719224"/>
            <a:ext cx="5074920" cy="2522883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5687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Exam Score 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2560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612648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E5F0F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not every point sits exactly on the line. Some students scored higher externally than predicted, some lower.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· OLS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341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Residual Error?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 line gives a predicted value for every X. The residual is the gap between what actually happened and what the line predicted.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6400800" cy="3840480"/>
          </a:xfrm>
          <a:prstGeom prst="roundRect">
            <a:avLst>
              <a:gd name="adj" fmla="val 1905"/>
            </a:avLst>
          </a:prstGeom>
          <a:solidFill>
            <a:srgbClr val="0F3A5F"/>
          </a:solidFill>
          <a:ln w="12700">
            <a:solidFill>
              <a:srgbClr val="1E4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9572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Point vs. Predicted Point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5715000"/>
            <a:ext cx="5532120" cy="0"/>
          </a:xfrm>
          <a:prstGeom prst="line">
            <a:avLst/>
          </a:prstGeom>
          <a:noFill/>
          <a:ln w="15875">
            <a:solidFill>
              <a:srgbClr val="6E8C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743200"/>
            <a:ext cx="0" cy="2971800"/>
          </a:xfrm>
          <a:prstGeom prst="line">
            <a:avLst/>
          </a:prstGeom>
          <a:noFill/>
          <a:ln w="15875">
            <a:solidFill>
              <a:srgbClr val="6E8C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60120" y="2902104"/>
            <a:ext cx="5532120" cy="2522883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04488" y="5467036"/>
            <a:ext cx="146304" cy="146304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13632" y="3984861"/>
            <a:ext cx="128016" cy="128016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3977640" y="4048869"/>
            <a:ext cx="914" cy="1491319"/>
          </a:xfrm>
          <a:prstGeom prst="line">
            <a:avLst/>
          </a:prstGeom>
          <a:noFill/>
          <a:ln w="25400">
            <a:solidFill>
              <a:srgbClr val="F2A93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657600" y="3728829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(ŷ)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56133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(y)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4657369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residual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78040" y="228600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0F3A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286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y − ŷ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178040" y="347472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0F3A5F"/>
          </a:solidFill>
          <a:ln w="12700">
            <a:solidFill>
              <a:srgbClr val="1E4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4747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41080" y="34747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observed score for that student.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78040" y="4370832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0F3A5F"/>
          </a:solidFill>
          <a:ln w="12700">
            <a:solidFill>
              <a:srgbClr val="1E4F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4370832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(y-hat)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4108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the regression line predicts for that student's X.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78040" y="5266944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0F3A5F"/>
          </a:solidFill>
          <a:ln w="12700">
            <a:solidFill>
              <a:srgbClr val="1E4F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5266944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41080" y="5266944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residual — how far off the prediction was.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· OLS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Line That Minimizes Total Error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aim is to choose a and b so that the overall error across all 15 students is as small as possible.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37360" y="2194560"/>
            <a:ext cx="8686800" cy="1051560"/>
          </a:xfrm>
          <a:prstGeom prst="roundRect">
            <a:avLst>
              <a:gd name="adj" fmla="val 8696"/>
            </a:avLst>
          </a:prstGeom>
          <a:solidFill>
            <a:srgbClr val="0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2194560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 = Σ eᵢ²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37360" y="32918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Squared Errors — the standard measure OLS minimizes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160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sum the errors?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negative residuals would cancel out, hiding how wrong the line really 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39776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4160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square instead of absolute value?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0" y="47548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keeps everything positive AND makes the math differentiable — needed to solve for the minimum.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that finds the a and b minimizing SSE is called Ordinary Least Squares (OLS).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· OLS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341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Model: y = a + bx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unknowns to solve for: b (the slope) and a (the intercept). Each has its own direct formula.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0F3A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(b)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13416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432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Σ(xᵢ−x̄)(yᵢ−ȳ) / Σ(xᵢ−x̄)²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9FB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covariance of X and Y, divided by the variance of X.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how much do X and Y move together, relative to how much X alone varies?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0F3A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377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(a)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74320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13416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7432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ȳ − b·x̄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= mean of X,  ȳ = mean of 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42519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once you know the slope, the line must pass through the point (x̄, ȳ) — this formula guarantees that.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· OLS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OLS Recipe,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1051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105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600200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mean of X and the mean of 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9088" y="181051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8105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600200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deviations: xᵢ − x̄ and yᵢ − ȳ, for every row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88036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880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2670048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two deviations together for each row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2670048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288036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2880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86600" y="2670048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all the products from Step 3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739896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95020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950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3739896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each x-deviation from Step 2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3739896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9088" y="395020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419088" y="3950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3739896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all the squared x-deviations from Step 5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4809744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502005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50200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25880" y="4809744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Step 4's sum by Step 6's sum — that's b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17920" y="4809744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19088" y="502005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6419088" y="50200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86600" y="4809744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= ȳ − b·x̄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· OLS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Dataset: 10 Students' Scores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exam score (X) and external exam score (Y) for a sample of students, consistent with the professor's data (mean X = 19.9, mean Y = 56.8).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7360" y="2148840"/>
            <a:ext cx="1280160" cy="411480"/>
          </a:xfrm>
          <a:prstGeom prst="rect">
            <a:avLst/>
          </a:prstGeom>
          <a:solidFill>
            <a:srgbClr val="0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2148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2148840"/>
            <a:ext cx="1280160" cy="411480"/>
          </a:xfrm>
          <a:prstGeom prst="rect">
            <a:avLst/>
          </a:prstGeom>
          <a:solidFill>
            <a:srgbClr val="0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148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(Internal)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1280160" cy="411480"/>
          </a:xfrm>
          <a:prstGeom prst="rect">
            <a:avLst/>
          </a:prstGeom>
          <a:solidFill>
            <a:srgbClr val="0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148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(External)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560320"/>
            <a:ext cx="1280160" cy="36576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560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2560320"/>
            <a:ext cx="1280160" cy="36576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560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2560320"/>
            <a:ext cx="1280160" cy="36576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560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737360" y="292608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2926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292608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2926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97680" y="292608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2926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737360" y="3291840"/>
            <a:ext cx="1280160" cy="36576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3291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3291840"/>
            <a:ext cx="1280160" cy="36576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3291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97680" y="3291840"/>
            <a:ext cx="1280160" cy="36576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3291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737360" y="365760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3657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17520" y="365760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3657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97680" y="365760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3657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737360" y="4023360"/>
            <a:ext cx="1280160" cy="36576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37360" y="4023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17520" y="4023360"/>
            <a:ext cx="1280160" cy="36576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4023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297680" y="4023360"/>
            <a:ext cx="1280160" cy="36576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4023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737360" y="438912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37360" y="4389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017520" y="438912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4389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297680" y="438912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4389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737360" y="4754880"/>
            <a:ext cx="1280160" cy="36576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0" y="4754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017520" y="4754880"/>
            <a:ext cx="1280160" cy="36576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17520" y="4754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297680" y="4754880"/>
            <a:ext cx="1280160" cy="36576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0" y="4754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1737360" y="512064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37360" y="5120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017520" y="512064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0" y="5120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297680" y="512064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0" y="5120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1737360" y="5486400"/>
            <a:ext cx="1280160" cy="36576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37360" y="5486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017520" y="5486400"/>
            <a:ext cx="1280160" cy="36576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17520" y="5486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4297680" y="5486400"/>
            <a:ext cx="1280160" cy="36576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97680" y="5486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1737360" y="585216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37360" y="5852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017520" y="585216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17520" y="5852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4297680" y="585216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97680" y="5852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6035040" y="35204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E5F0F4"/>
          </a:solidFill>
          <a:ln/>
        </p:spPr>
      </p:sp>
      <p:sp>
        <p:nvSpPr>
          <p:cNvPr id="73" name="Text 71"/>
          <p:cNvSpPr/>
          <p:nvPr/>
        </p:nvSpPr>
        <p:spPr>
          <a:xfrm>
            <a:off x="6217920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Result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217920" y="39776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x̄ = 19.9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ȳ = 56.8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· OLS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2–4: Deviations and Their Product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1188720" cy="347472"/>
          </a:xfrm>
          <a:prstGeom prst="rect">
            <a:avLst/>
          </a:prstGeom>
          <a:solidFill>
            <a:srgbClr val="0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554480"/>
            <a:ext cx="1188720" cy="347472"/>
          </a:xfrm>
          <a:prstGeom prst="rect">
            <a:avLst/>
          </a:prstGeom>
          <a:solidFill>
            <a:srgbClr val="0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554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1554480" cy="347472"/>
          </a:xfrm>
          <a:prstGeom prst="rect">
            <a:avLst/>
          </a:prstGeom>
          <a:solidFill>
            <a:srgbClr val="0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554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x−x̄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554480" cy="347472"/>
          </a:xfrm>
          <a:prstGeom prst="rect">
            <a:avLst/>
          </a:prstGeom>
          <a:solidFill>
            <a:srgbClr val="0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54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y−ȳ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1737360" cy="347472"/>
          </a:xfrm>
          <a:prstGeom prst="rect">
            <a:avLst/>
          </a:prstGeom>
          <a:solidFill>
            <a:srgbClr val="0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554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1901952"/>
            <a:ext cx="118872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90195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1901952"/>
            <a:ext cx="118872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190195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901952"/>
            <a:ext cx="155448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90195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-4.9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901952"/>
            <a:ext cx="155448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90195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-10.8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1901952"/>
            <a:ext cx="173736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901952"/>
            <a:ext cx="1737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52.92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2199132"/>
            <a:ext cx="1188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219913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11680" y="2199132"/>
            <a:ext cx="1188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219913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199132"/>
            <a:ext cx="1554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19913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-2.9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199132"/>
            <a:ext cx="1554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19913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-6.8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2199132"/>
            <a:ext cx="17373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2199132"/>
            <a:ext cx="1737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19.72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" y="2496312"/>
            <a:ext cx="118872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49631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11680" y="2496312"/>
            <a:ext cx="118872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0" y="249631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2496312"/>
            <a:ext cx="155448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0" y="249631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-1.9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2496312"/>
            <a:ext cx="155448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49631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-2.8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09360" y="2496312"/>
            <a:ext cx="173736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2496312"/>
            <a:ext cx="1737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960" y="2793492"/>
            <a:ext cx="1188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279349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011680" y="2793492"/>
            <a:ext cx="1188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0" y="279349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0" y="2793492"/>
            <a:ext cx="1554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0" y="279349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-0.9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2793492"/>
            <a:ext cx="1554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279349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+1.2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9360" y="2793492"/>
            <a:ext cx="17373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2793492"/>
            <a:ext cx="1737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-1.08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22960" y="3090672"/>
            <a:ext cx="118872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" y="309067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011680" y="3090672"/>
            <a:ext cx="118872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11680" y="309067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0" y="3090672"/>
            <a:ext cx="155448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0" y="309067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54880" y="3090672"/>
            <a:ext cx="155448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309067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+3.2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309360" y="3090672"/>
            <a:ext cx="173736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3090672"/>
            <a:ext cx="1737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0.32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22960" y="3387852"/>
            <a:ext cx="1188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2960" y="338785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011680" y="3387852"/>
            <a:ext cx="1188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11680" y="338785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00400" y="3387852"/>
            <a:ext cx="1554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0" y="338785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754880" y="3387852"/>
            <a:ext cx="1554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54880" y="338785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+1.2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309360" y="3387852"/>
            <a:ext cx="17373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09360" y="3387852"/>
            <a:ext cx="1737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1.32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822960" y="3685032"/>
            <a:ext cx="118872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2960" y="368503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011680" y="3685032"/>
            <a:ext cx="118872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011680" y="368503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200400" y="3685032"/>
            <a:ext cx="155448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00400" y="368503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+2.1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754880" y="3685032"/>
            <a:ext cx="155448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54880" y="368503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+7.2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309360" y="3685032"/>
            <a:ext cx="173736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09360" y="3685032"/>
            <a:ext cx="1737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15.12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822960" y="3982212"/>
            <a:ext cx="1188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2960" y="398221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2011680" y="3982212"/>
            <a:ext cx="1188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11680" y="398221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200400" y="3982212"/>
            <a:ext cx="1554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00400" y="398221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+3.1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754880" y="3982212"/>
            <a:ext cx="1554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754880" y="398221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+11.2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309360" y="3982212"/>
            <a:ext cx="17373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309360" y="3982212"/>
            <a:ext cx="1737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34.72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22960" y="4279392"/>
            <a:ext cx="118872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2960" y="427939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2011680" y="4279392"/>
            <a:ext cx="118872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011680" y="427939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3200400" y="4279392"/>
            <a:ext cx="155448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200400" y="427939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+4.1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4754880" y="4279392"/>
            <a:ext cx="155448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754880" y="427939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+13.2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6309360" y="4279392"/>
            <a:ext cx="173736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309360" y="4279392"/>
            <a:ext cx="1737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54.12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822960" y="4576572"/>
            <a:ext cx="1188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22960" y="457657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2011680" y="4576572"/>
            <a:ext cx="1188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011680" y="4576572"/>
            <a:ext cx="1188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3200400" y="4576572"/>
            <a:ext cx="1554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200400" y="457657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4754880" y="4576572"/>
            <a:ext cx="1554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754880" y="4576572"/>
            <a:ext cx="1554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-16.8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6309360" y="4576572"/>
            <a:ext cx="17373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309360" y="4576572"/>
            <a:ext cx="1737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-1.68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822960" y="4873752"/>
            <a:ext cx="118872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22960" y="48737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17" name="Shape 115"/>
          <p:cNvSpPr/>
          <p:nvPr/>
        </p:nvSpPr>
        <p:spPr>
          <a:xfrm>
            <a:off x="2011680" y="4873752"/>
            <a:ext cx="118872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011680" y="48737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19" name="Shape 117"/>
          <p:cNvSpPr/>
          <p:nvPr/>
        </p:nvSpPr>
        <p:spPr>
          <a:xfrm>
            <a:off x="3200400" y="4873752"/>
            <a:ext cx="155448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200400" y="48737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21" name="Shape 119"/>
          <p:cNvSpPr/>
          <p:nvPr/>
        </p:nvSpPr>
        <p:spPr>
          <a:xfrm>
            <a:off x="4754880" y="4873752"/>
            <a:ext cx="155448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754880" y="48737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A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</a:t>
            </a:r>
            <a:endParaRPr lang="en-US" sz="1150" dirty="0"/>
          </a:p>
        </p:txBody>
      </p:sp>
      <p:sp>
        <p:nvSpPr>
          <p:cNvPr id="123" name="Shape 121"/>
          <p:cNvSpPr/>
          <p:nvPr/>
        </p:nvSpPr>
        <p:spPr>
          <a:xfrm>
            <a:off x="6309360" y="4873752"/>
            <a:ext cx="173736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309360" y="48737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A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180.8</a:t>
            </a:r>
            <a:endParaRPr lang="en-US" sz="1150" dirty="0"/>
          </a:p>
        </p:txBody>
      </p:sp>
      <p:sp>
        <p:nvSpPr>
          <p:cNvPr id="125" name="Shape 123"/>
          <p:cNvSpPr/>
          <p:nvPr/>
        </p:nvSpPr>
        <p:spPr>
          <a:xfrm>
            <a:off x="8229600" y="155448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0B2A4A"/>
          </a:solidFill>
          <a:ln/>
        </p:spPr>
      </p:sp>
      <p:sp>
        <p:nvSpPr>
          <p:cNvPr id="126" name="Text 124"/>
          <p:cNvSpPr/>
          <p:nvPr/>
        </p:nvSpPr>
        <p:spPr>
          <a:xfrm>
            <a:off x="845820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COLUMN IS BUILT</a:t>
            </a:r>
            <a:endParaRPr lang="en-US" sz="1050" dirty="0"/>
          </a:p>
        </p:txBody>
      </p:sp>
      <p:sp>
        <p:nvSpPr>
          <p:cNvPr id="127" name="Text 125"/>
          <p:cNvSpPr/>
          <p:nvPr/>
        </p:nvSpPr>
        <p:spPr>
          <a:xfrm>
            <a:off x="8458200" y="21031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x−x̄:  </a:t>
            </a:r>
            <a:r>
              <a:rPr lang="en-US" sz="12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19.9 from each X
</a:t>
            </a: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y−ȳ:  </a:t>
            </a:r>
            <a:r>
              <a:rPr lang="en-US" sz="12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56.8 from each Y
</a:t>
            </a: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 </a:t>
            </a:r>
            <a:r>
              <a:rPr lang="en-US" sz="12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those two deviations for each row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457200" y="544068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E5F0F4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0080" y="54406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products Σ(xᵢ−x̄)(yᵢ−ȳ) = 180.8  — this is the numerator we'll need for b.</a:t>
            </a:r>
            <a:endParaRPr lang="en-US" sz="1300" dirty="0"/>
          </a:p>
        </p:txBody>
      </p:sp>
      <p:sp>
        <p:nvSpPr>
          <p:cNvPr id="130" name="Text 1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· OLS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5–6: Squaring the X-Deviations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554480"/>
            <a:ext cx="1463040" cy="347472"/>
          </a:xfrm>
          <a:prstGeom prst="rect">
            <a:avLst/>
          </a:prstGeom>
          <a:solidFill>
            <a:srgbClr val="0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554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34640" y="1554480"/>
            <a:ext cx="1645920" cy="347472"/>
          </a:xfrm>
          <a:prstGeom prst="rect">
            <a:avLst/>
          </a:prstGeom>
          <a:solidFill>
            <a:srgbClr val="0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5544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x−x̄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1828800" cy="347472"/>
          </a:xfrm>
          <a:prstGeom prst="rect">
            <a:avLst/>
          </a:prstGeom>
          <a:solidFill>
            <a:srgbClr val="0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554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(x−x̄)²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371600" y="1901952"/>
            <a:ext cx="146304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901952"/>
            <a:ext cx="14630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34640" y="1901952"/>
            <a:ext cx="164592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901952"/>
            <a:ext cx="16459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-4.9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1901952"/>
            <a:ext cx="182880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901952"/>
            <a:ext cx="1828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24.01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371600" y="2199132"/>
            <a:ext cx="14630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2199132"/>
            <a:ext cx="14630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34640" y="2199132"/>
            <a:ext cx="16459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2199132"/>
            <a:ext cx="16459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-2.9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2199132"/>
            <a:ext cx="182880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199132"/>
            <a:ext cx="1828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8.41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371600" y="2496312"/>
            <a:ext cx="146304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2496312"/>
            <a:ext cx="14630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34640" y="2496312"/>
            <a:ext cx="164592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2496312"/>
            <a:ext cx="16459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-1.9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80560" y="2496312"/>
            <a:ext cx="182880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2496312"/>
            <a:ext cx="1828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371600" y="2793492"/>
            <a:ext cx="14630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2793492"/>
            <a:ext cx="14630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834640" y="2793492"/>
            <a:ext cx="16459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2793492"/>
            <a:ext cx="16459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-0.9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80560" y="2793492"/>
            <a:ext cx="182880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2793492"/>
            <a:ext cx="1828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371600" y="3090672"/>
            <a:ext cx="146304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1600" y="3090672"/>
            <a:ext cx="14630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834640" y="3090672"/>
            <a:ext cx="164592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0" y="3090672"/>
            <a:ext cx="16459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80560" y="3090672"/>
            <a:ext cx="182880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3090672"/>
            <a:ext cx="1828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371600" y="3387852"/>
            <a:ext cx="14630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0" y="3387852"/>
            <a:ext cx="14630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834640" y="3387852"/>
            <a:ext cx="16459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4640" y="3387852"/>
            <a:ext cx="16459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+1.1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480560" y="3387852"/>
            <a:ext cx="182880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0" y="3387852"/>
            <a:ext cx="1828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1.21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371600" y="3685032"/>
            <a:ext cx="146304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71600" y="3685032"/>
            <a:ext cx="14630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834640" y="3685032"/>
            <a:ext cx="164592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34640" y="3685032"/>
            <a:ext cx="16459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+2.1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480560" y="3685032"/>
            <a:ext cx="182880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80560" y="3685032"/>
            <a:ext cx="1828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4.41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371600" y="3982212"/>
            <a:ext cx="14630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0" y="3982212"/>
            <a:ext cx="14630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834640" y="3982212"/>
            <a:ext cx="16459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34640" y="3982212"/>
            <a:ext cx="16459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+3.1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480560" y="3982212"/>
            <a:ext cx="182880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80560" y="3982212"/>
            <a:ext cx="1828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9.61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371600" y="4279392"/>
            <a:ext cx="146304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71600" y="4279392"/>
            <a:ext cx="14630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834640" y="4279392"/>
            <a:ext cx="164592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34640" y="4279392"/>
            <a:ext cx="16459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+4.1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480560" y="4279392"/>
            <a:ext cx="1828800" cy="2971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80560" y="4279392"/>
            <a:ext cx="1828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16.81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1371600" y="4576572"/>
            <a:ext cx="14630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371600" y="4576572"/>
            <a:ext cx="14630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834640" y="4576572"/>
            <a:ext cx="16459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0" y="4576572"/>
            <a:ext cx="16459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480560" y="4576572"/>
            <a:ext cx="182880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80560" y="4576572"/>
            <a:ext cx="1828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1371600" y="4873752"/>
            <a:ext cx="146304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371600" y="48737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2834640" y="4873752"/>
            <a:ext cx="164592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834640" y="48737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4480560" y="4873752"/>
            <a:ext cx="182880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80560" y="4873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68.9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498080" y="155448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0B2A4A"/>
          </a:solidFill>
          <a:ln/>
        </p:spPr>
      </p:sp>
      <p:sp>
        <p:nvSpPr>
          <p:cNvPr id="78" name="Text 76"/>
          <p:cNvSpPr/>
          <p:nvPr/>
        </p:nvSpPr>
        <p:spPr>
          <a:xfrm>
            <a:off x="772668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THIS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7726680" y="21031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column measures how spread out the X values are — the variance of X (before dividing by n). It becomes the denominator of the slope formula.</a:t>
            </a:r>
            <a:endParaRPr lang="en-US" sz="1250" dirty="0"/>
          </a:p>
        </p:txBody>
      </p:sp>
      <p:sp>
        <p:nvSpPr>
          <p:cNvPr id="80" name="Shape 78"/>
          <p:cNvSpPr/>
          <p:nvPr/>
        </p:nvSpPr>
        <p:spPr>
          <a:xfrm>
            <a:off x="7726680" y="3657600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13416B"/>
          </a:solidFill>
          <a:ln/>
        </p:spPr>
      </p:sp>
      <p:sp>
        <p:nvSpPr>
          <p:cNvPr id="81" name="Text 79"/>
          <p:cNvSpPr/>
          <p:nvPr/>
        </p:nvSpPr>
        <p:spPr>
          <a:xfrm>
            <a:off x="7726680" y="3657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Σ(xᵢ−x̄)² = 68.9</a:t>
            </a:r>
            <a:endParaRPr lang="en-US" sz="1500" dirty="0"/>
          </a:p>
        </p:txBody>
      </p:sp>
      <p:sp>
        <p:nvSpPr>
          <p:cNvPr id="82" name="Shape 80"/>
          <p:cNvSpPr/>
          <p:nvPr/>
        </p:nvSpPr>
        <p:spPr>
          <a:xfrm>
            <a:off x="457200" y="544068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E5F0F4"/>
          </a:solidFill>
          <a:ln/>
        </p:spPr>
      </p:sp>
      <p:sp>
        <p:nvSpPr>
          <p:cNvPr id="83" name="Text 81"/>
          <p:cNvSpPr/>
          <p:nvPr/>
        </p:nvSpPr>
        <p:spPr>
          <a:xfrm>
            <a:off x="640080" y="54406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have both pieces: Σ product = 180.8  and  Σ(xᵢ−x̄)² = 68.9. Time to compute b and a.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· OLS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341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7–8: Solving for b and 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0F3A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SLOPE (b)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180.8 / 68.9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13416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803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2.624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1-point increase in internal score is associated with a 2.624-point increase in external score.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0F3A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— INTERCEPT (a)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286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56.8 − (2.624)(19.9)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0" y="288036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13416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8803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4.582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384048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student's internal score were 0, the model predicts an external score of about 4.6.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· OLS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Fitted Regression Equation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737360" y="1645920"/>
            <a:ext cx="8686800" cy="1097280"/>
          </a:xfrm>
          <a:prstGeom prst="roundRect">
            <a:avLst>
              <a:gd name="adj" fmla="val 8333"/>
            </a:avLst>
          </a:prstGeom>
          <a:solidFill>
            <a:srgbClr val="0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64592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= 4.582 + 2.624·x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interpretation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point on the internal exam is associated with roughly 2.624 extra points on the external exam — a strong positive relationship.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301752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3291840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Intercept interpretation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4526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intercept (4.6) is a mathematical anchor point; since no student actually scores 0 internally, it shouldn't be read too literally.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301752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3920" y="3291840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it to predict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0" y="4526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new student with internal score 20: ŷ = 4.582 + 2.624×20 = 57.1.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· OLS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FIT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Scores vs. the Fitted 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points sit close to the line — but one student (internal 20, external 40) sits far below it, a large residual.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0" y="2103120"/>
            <a:ext cx="66751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221284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Line:  ŷ = 4.582 + 2.624x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5623560"/>
            <a:ext cx="5806440" cy="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2560320"/>
            <a:ext cx="0" cy="306324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246120" y="2724113"/>
            <a:ext cx="5806440" cy="2600511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19114" y="484793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4774831" y="448755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2689" y="4127171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5830547" y="376679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8405" y="358660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886263" y="376679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7414121" y="322621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7941980" y="2865837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8469838" y="2685647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5545" y="5365645"/>
            <a:ext cx="155448" cy="15544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413269" y="3906164"/>
            <a:ext cx="914" cy="1537206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081549" y="5580529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residual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617220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E5F0F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6172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expected — OLS minimizes total squared error across all points, not the error for any one student.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· OLS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635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56232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7647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error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5856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y − ŷ — the gap between an actual value and what the line predicts.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635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856232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17647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25856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finds the line that minimizes the sum of squared errors (SSE), not raw or absolute error.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635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456432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56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3649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formula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85876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covariance(x,y) / variance(x) — how X and Y move together, scaled by X's spread.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635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3456432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456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3649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Intercept formula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385876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ȳ − b·x̄ — anchors the line through the point of averages.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635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5056632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056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49651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8-step recipe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545896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→ deviations → products → sum → squared deviations → sum → divide → back out 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8006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635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92240" y="5056632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5056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49651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result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92240" y="545896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4.582 + 2.624x — internal score is a strong positive predictor of external score.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· OLS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1469</Words>
  <Application>Microsoft Office PowerPoint</Application>
  <PresentationFormat>Custom</PresentationFormat>
  <Paragraphs>310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</cp:lastModifiedBy>
  <cp:revision>3</cp:revision>
  <dcterms:created xsi:type="dcterms:W3CDTF">2026-09-06T07:29:56Z</dcterms:created>
  <dcterms:modified xsi:type="dcterms:W3CDTF">2026-09-06T15:19:12Z</dcterms:modified>
</cp:coreProperties>
</file>