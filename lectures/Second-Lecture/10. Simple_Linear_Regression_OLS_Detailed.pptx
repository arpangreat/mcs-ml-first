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-499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1837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630936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594360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9235440" y="612648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557784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0" y="576072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0" y="521208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0" y="539496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0" y="484632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8183880" y="6400800"/>
            <a:ext cx="365760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 ·  LECTURE 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4231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Deriving the OLS Formula from Scratch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33756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mathematics behind the best-fit line, plus building and testing the algorithm in Python without scikit-learn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3434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Mathematical derivation      Part 2: Code it, test it, verify against scikit-learn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•  Regression Series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Covering Today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end-to-end lecture in two parts — the full math first, then the code, so you can check that both agree.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5257800" cy="932688"/>
          </a:xfrm>
          <a:prstGeom prst="roundRect">
            <a:avLst>
              <a:gd name="adj" fmla="val 9804"/>
            </a:avLst>
          </a:prstGeom>
          <a:solidFill>
            <a:srgbClr val="EAF6F6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245973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28600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61518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Simple Linear Regression left off, and today's goal: find m and b.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61304" y="2194560"/>
            <a:ext cx="5257800" cy="932688"/>
          </a:xfrm>
          <a:prstGeom prst="roundRect">
            <a:avLst>
              <a:gd name="adj" fmla="val 9804"/>
            </a:avLst>
          </a:prstGeom>
          <a:solidFill>
            <a:srgbClr val="F4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6025896" y="245973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25896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611112" y="228600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solution paths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11112" y="261518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OLS vs. iterative Gradient Descent — and why both exist.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73552"/>
            <a:ext cx="5257800" cy="932688"/>
          </a:xfrm>
          <a:prstGeom prst="roundRect">
            <a:avLst>
              <a:gd name="adj" fmla="val 9804"/>
            </a:avLst>
          </a:prstGeom>
          <a:solidFill>
            <a:srgbClr val="EAF6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" y="353872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" y="3538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336499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loss function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207008" y="369417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'closest to every point' into a precise mathematical expression.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61304" y="3273552"/>
            <a:ext cx="5257800" cy="932688"/>
          </a:xfrm>
          <a:prstGeom prst="roundRect">
            <a:avLst>
              <a:gd name="adj" fmla="val 9804"/>
            </a:avLst>
          </a:prstGeom>
          <a:solidFill>
            <a:srgbClr val="F4F4F4"/>
          </a:solidFill>
          <a:ln/>
        </p:spPr>
      </p:sp>
      <p:sp>
        <p:nvSpPr>
          <p:cNvPr id="22" name="Shape 20"/>
          <p:cNvSpPr/>
          <p:nvPr/>
        </p:nvSpPr>
        <p:spPr>
          <a:xfrm>
            <a:off x="6025896" y="353872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025896" y="3538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611112" y="336499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it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611112" y="369417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why the error surface is a bowl, with geometric intuition for m and b.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352544"/>
            <a:ext cx="5257800" cy="932688"/>
          </a:xfrm>
          <a:prstGeom prst="roundRect">
            <a:avLst>
              <a:gd name="adj" fmla="val 9804"/>
            </a:avLst>
          </a:prstGeom>
          <a:solidFill>
            <a:srgbClr val="EAF6F6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" y="46177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1792" y="4617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207008" y="4443984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with calculus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207008" y="477316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partial derivatives to zero and solve for b, then m, step by step.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61304" y="4352544"/>
            <a:ext cx="5257800" cy="932688"/>
          </a:xfrm>
          <a:prstGeom prst="roundRect">
            <a:avLst>
              <a:gd name="adj" fmla="val 9804"/>
            </a:avLst>
          </a:prstGeom>
          <a:solidFill>
            <a:srgbClr val="F4F4F4"/>
          </a:solidFill>
          <a:ln/>
        </p:spPr>
      </p:sp>
      <p:sp>
        <p:nvSpPr>
          <p:cNvPr id="32" name="Shape 30"/>
          <p:cNvSpPr/>
          <p:nvPr/>
        </p:nvSpPr>
        <p:spPr>
          <a:xfrm>
            <a:off x="6025896" y="46177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025896" y="4617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611112" y="4443984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it from scratch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611112" y="477316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class with fit() and predict() — no sklearn required.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5431536"/>
            <a:ext cx="5257800" cy="932688"/>
          </a:xfrm>
          <a:prstGeom prst="roundRect">
            <a:avLst>
              <a:gd name="adj" fmla="val 9804"/>
            </a:avLst>
          </a:prstGeom>
          <a:solidFill>
            <a:srgbClr val="EAF6F6"/>
          </a:solidFill>
          <a:ln/>
        </p:spPr>
      </p:sp>
      <p:sp>
        <p:nvSpPr>
          <p:cNvPr id="37" name="Shape 35"/>
          <p:cNvSpPr/>
          <p:nvPr/>
        </p:nvSpPr>
        <p:spPr>
          <a:xfrm>
            <a:off x="621792" y="569671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21792" y="5696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207008" y="552297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verify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207008" y="58521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on real data and confirm it matches scikit-learn exactly.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and the Goal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input, one output. </a:t>
            </a: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using the same placement dataset from last time: CGPA as input (x), placement package in LPA as output (y).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24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55117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isn't perfectly linear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8986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CGPA increases, package roughly increases too — but points don't sit exactly on any 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502152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24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44728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approximate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794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accept that no line can pass through every point, and instead look for the best fit 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39826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4398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24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43434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means...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69087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lying as close as possible to every point — minimizing total mistake, not eliminating 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29437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5294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24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523951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two numbers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558698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is ŷ = mx + b — the whole problem reduces to finding the right m and b</a:t>
            </a:r>
            <a:endParaRPr lang="en-US" sz="1200" dirty="0"/>
          </a:p>
        </p:txBody>
      </p:sp>
      <p:pic>
        <p:nvPicPr>
          <p:cNvPr id="22" name="Image 0" descr="/home/claude/slides/scatter_residu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63040"/>
            <a:ext cx="5029200" cy="374904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720840" y="52303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= actual students · Line = candidate best fit · Red = residual (error)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Compute m and b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diving into the math, it helps to know there are exactly two families of solution — and why each exists.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5303520" cy="3840480"/>
          </a:xfrm>
          <a:prstGeom prst="roundRect">
            <a:avLst>
              <a:gd name="adj" fmla="val 2857"/>
            </a:avLst>
          </a:prstGeom>
          <a:solidFill>
            <a:srgbClr val="EAF6F6"/>
          </a:solidFill>
          <a:ln/>
          <a:effectLst>
            <a:outerShdw blurRad="101600" dist="38100" dir="5400000" algn="bl" rotWithShape="0">
              <a:srgbClr val="36455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560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21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5328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Solution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24612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 expression solvable in a finite number of standard steps (+, −, ×, ÷) — like the quadratic formula for ax²+bx+c=0.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regression, this direct formula is called 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Least Squares (OLS)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plug in the data, get m and b instantly.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2240280"/>
            <a:ext cx="5696712" cy="3840480"/>
          </a:xfrm>
          <a:prstGeom prst="roundRect">
            <a:avLst>
              <a:gd name="adj" fmla="val 2857"/>
            </a:avLst>
          </a:prstGeom>
          <a:solidFill>
            <a:srgbClr val="F4F4F4"/>
          </a:solidFill>
          <a:ln/>
          <a:effectLst>
            <a:outerShdw blurRad="101600" dist="38100" dir="5400000" algn="bl" rotWithShape="0">
              <a:srgbClr val="36455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256032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1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5328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Solution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246120"/>
            <a:ext cx="5166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formula gets you there. Instead, start from a guess and repeatedly nudge it closer to the answer.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6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regression, this is called 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uses differentiation at every step to walk downhill toward the minimum.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Technique Is Actually Used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give the same answer for linear regression — the choice is really about how well each scales.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36454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48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Least Squares (OLS)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11274552" cy="749808"/>
          </a:xfrm>
          <a:prstGeom prst="rect">
            <a:avLst/>
          </a:prstGeom>
          <a:solidFill>
            <a:srgbClr val="EAF6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6060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scikit-learn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60604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 class → uses OLS internally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260604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SGDRegressor class → uses Gradient Descent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55848"/>
            <a:ext cx="11274552" cy="7498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35584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35584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input features (low dimensions)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3355848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number of input features (high dimensions)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05656"/>
            <a:ext cx="11274552" cy="749808"/>
          </a:xfrm>
          <a:prstGeom prst="rect">
            <a:avLst/>
          </a:prstGeom>
          <a:solidFill>
            <a:srgbClr val="EAF6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105656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 effort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4105656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one direct computation, no tuning needed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4105656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iteration and a learning rate to tune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855464"/>
            <a:ext cx="11274552" cy="74980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855464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520440" y="4855464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we derive and code from scratch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0" y="4855464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separately in its own lecture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571500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always use the direct formula? At high dimensions, the direct computation becomes computationally expensive — gradient descent scales better there.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Quick Detour: What Is a "Closed-Form Solution"?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closed-form solution </a:t>
            </a: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mathematical expression that can be reached in a finite number of standard operations — addition, subtraction, multiplication, division, and known functions — without needing an open-ended, repeated process.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5394960" cy="2651760"/>
          </a:xfrm>
          <a:prstGeom prst="roundRect">
            <a:avLst>
              <a:gd name="adj" fmla="val 4138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30175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example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4747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ax² + bx + c = 0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690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 =  (−b ± √(b²−4ac)) ⁄ 2a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7091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quadratic formula — plug in a, b, c and the roots pop out directly.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2834640"/>
            <a:ext cx="5422392" cy="2651760"/>
          </a:xfrm>
          <a:prstGeom prst="roundRect">
            <a:avLst>
              <a:gd name="adj" fmla="val 4138"/>
            </a:avLst>
          </a:prstGeom>
          <a:solidFill>
            <a:srgbClr val="F4F4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3017520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alternative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520440"/>
            <a:ext cx="5422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Non-closed-form problems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40233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no such shortcut. You must apply an approximation technique — repeating steps that gradually converge toward the answer.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5074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Gradient Descent does.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news for us: Simple Linear Regression does have a closed-form solution — the OLS formula we're about to derive.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Line With Minimum Total Error</a:t>
            </a:r>
            <a:endParaRPr lang="en-US" sz="2700" dirty="0"/>
          </a:p>
        </p:txBody>
      </p:sp>
      <p:pic>
        <p:nvPicPr>
          <p:cNvPr id="5" name="Image 0" descr="/home/claude/slides/scatter_residu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5440680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0" y="1645920"/>
            <a:ext cx="5532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student i, the vertical gap between their actual package and the line's predicted package is the residual — the model's mistake on that point.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17920" y="2651760"/>
            <a:ext cx="5532120" cy="777240"/>
          </a:xfrm>
          <a:prstGeom prst="roundRect">
            <a:avLst>
              <a:gd name="adj" fmla="val 11765"/>
            </a:avLst>
          </a:prstGeom>
          <a:solidFill>
            <a:srgbClr val="EAF6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217920" y="2651760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dᵢ = residual for point 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361188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error, first attempt
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6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d₁ + d₂ + d₃ + ... + dₙ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4434840"/>
            <a:ext cx="5532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residuals sit above the line, some below — adding them directly lets positive and negative errors cancel out, hiding the true amount of mistake.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Square the Error — Not Just |Error|?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candidate fixes for the cancellation problem: take the absolute value |dᵢ|, or square it dᵢ². We choose squaring, for two solid reasons.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EAF6F6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6517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65176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outliers more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2918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Squaring grows faster than linear, so a point that is far from the line contributes disproportionately more to the total — pushing the fit to take large mistakes seriously.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8920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|error| treats a mistake of 2 and a mistake of 20 proportionally — squaring does not.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377440"/>
            <a:ext cx="5422392" cy="3566160"/>
          </a:xfrm>
          <a:prstGeom prst="roundRect">
            <a:avLst>
              <a:gd name="adj" fmla="val 3077"/>
            </a:avLst>
          </a:prstGeom>
          <a:solidFill>
            <a:srgbClr val="F4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6629400" y="2651760"/>
            <a:ext cx="457200" cy="45720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94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651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Differentiable everywhere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32918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a minimum, we need to differentiate the loss function. |x| has a sharp corner at zero — it is continuous but not differentiable there. x² is smooth everywhere.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4892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derivative at every point, our whole calculus-based approach later in this lecture would break down.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More Question: Why Power 2, Not 4?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even power removes the cancellation problem — 4, 6, 8 would all work mathematically. </a:t>
            </a: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2 simply because it's the smallest and simplest choice that does the job.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23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two works, why do four?" — simpler exponents mean simpler derivatives and faster computation, with no accuracy lost for this purpose.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11274552" cy="1051560"/>
          </a:xfrm>
          <a:prstGeom prst="roundRect">
            <a:avLst>
              <a:gd name="adj" fmla="val 8696"/>
            </a:avLst>
          </a:prstGeom>
          <a:solidFill>
            <a:srgbClr val="3645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3108960"/>
            <a:ext cx="11274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error  =  d₁²  +  d₂²  +  d₃²  +  ...  +  dₙ²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4348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quantity is called
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4892040"/>
            <a:ext cx="3611880" cy="1280160"/>
          </a:xfrm>
          <a:prstGeom prst="roundRect">
            <a:avLst>
              <a:gd name="adj" fmla="val 7143"/>
            </a:avLst>
          </a:prstGeom>
          <a:solidFill>
            <a:srgbClr val="EAF6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50292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5321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ML term for the quantity we're minimizing — often written 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4892040"/>
            <a:ext cx="3611880" cy="1280160"/>
          </a:xfrm>
          <a:prstGeom prst="roundRect">
            <a:avLst>
              <a:gd name="adj" fmla="val 7143"/>
            </a:avLst>
          </a:prstGeom>
          <a:solidFill>
            <a:srgbClr val="F4F4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80560" y="50292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55321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interchangeably with loss function in most textbooks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4892040"/>
            <a:ext cx="3611880" cy="1280160"/>
          </a:xfrm>
          <a:prstGeom prst="roundRect">
            <a:avLst>
              <a:gd name="adj" fmla="val 7143"/>
            </a:avLst>
          </a:prstGeom>
          <a:solidFill>
            <a:srgbClr val="EAF6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75320" y="50292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Squared Errors (SSE)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55321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name for this total (not averaged) version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the Full Loss Function E(m,b)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each residual dᵢ with (actual − predicted), where predicted comes from our line ŷᵢ = mxᵢ + b: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6309360" cy="621792"/>
          </a:xfrm>
          <a:prstGeom prst="roundRect">
            <a:avLst>
              <a:gd name="adj" fmla="val 11765"/>
            </a:avLst>
          </a:prstGeom>
          <a:solidFill>
            <a:srgbClr val="F4F4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148840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dᵢ  =  yᵢ − ŷᵢ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6309360" cy="621792"/>
          </a:xfrm>
          <a:prstGeom prst="roundRect">
            <a:avLst>
              <a:gd name="adj" fmla="val 11765"/>
            </a:avLst>
          </a:prstGeom>
          <a:solidFill>
            <a:srgbClr val="F4F4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880360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dᵢ  =  yᵢ − (mxᵢ + b)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2148840"/>
            <a:ext cx="46908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yᵢ  </a:t>
            </a:r>
            <a:r>
              <a:rPr lang="en-US" sz="12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package for student i (from data)
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ŷᵢ  </a:t>
            </a:r>
            <a:r>
              <a:rPr lang="en-US" sz="12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("y-hat") predicted package from our line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794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sum the square of this over all n points: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1051560"/>
          </a:xfrm>
          <a:prstGeom prst="roundRect">
            <a:avLst>
              <a:gd name="adj" fmla="val 8696"/>
            </a:avLst>
          </a:prstGeom>
          <a:solidFill>
            <a:srgbClr val="3645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4206240"/>
            <a:ext cx="11274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E(m,b)  =  Σ (yᵢ − (mxᵢ + b))²          i = 1 to n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44068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this is a total (Sum of Squared Errors), not an average. Dividing by n would give the Mean Squared Error (MSE) instead — many textbooks use that version, but the minimizing m and b come out the same either way.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Things We Can Actually Change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at E(m,b) = Σ(yᵢ − mxᵢ − b)² — which symbols are free to move, and which are locked by the data?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5394960" cy="3520440"/>
          </a:xfrm>
          <a:prstGeom prst="roundRect">
            <a:avLst>
              <a:gd name="adj" fmla="val 3117"/>
            </a:avLst>
          </a:prstGeom>
          <a:solidFill>
            <a:srgbClr val="F4F4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5146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by the dataset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260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66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xᵢ  and  yᵢ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661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student's CGPA and package is a constant, real number — we cannot change what's already in the CSV file.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120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constants in our equation, not variables.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2331720"/>
            <a:ext cx="5422392" cy="3520440"/>
          </a:xfrm>
          <a:prstGeom prst="roundRect">
            <a:avLst>
              <a:gd name="adj" fmla="val 3117"/>
            </a:avLst>
          </a:prstGeom>
          <a:solidFill>
            <a:srgbClr val="EAF6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2514600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choose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926080"/>
            <a:ext cx="5422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 and  b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5661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only knobs we control. Every line we could possibly draw corresponds to exactly one (m, b) pair.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5120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 is a function of exactly two variables: E(m, b).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INTUITION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Are Only Two Ways to Move a Line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2D plane, every straight line reachable from another differs by exactly one, or both, of these transformations:</a:t>
            </a:r>
            <a:endParaRPr lang="en-US" sz="1400" dirty="0"/>
          </a:p>
        </p:txBody>
      </p:sp>
      <p:pic>
        <p:nvPicPr>
          <p:cNvPr id="6" name="Image 0" descr="/home/claude/slides/rotate_sh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48840"/>
            <a:ext cx="10698480" cy="2788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50749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(change m): </a:t>
            </a: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intercept fixed, vary slope.        </a:t>
            </a: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(change b): </a:t>
            </a: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slope fixed, vary intercept.        </a:t>
            </a:r>
            <a:r>
              <a:rPr lang="en-US" sz="13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both together for any line at all.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56692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it's logical that our error function depends on exactly these two variables — there is no third way to reposition a line.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INTUITION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If We Vary m Alone?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b fixed. As we rotate the line through different slopes, watch what happens to the total error:</a:t>
            </a:r>
            <a:endParaRPr lang="en-US" sz="1400" dirty="0"/>
          </a:p>
        </p:txBody>
      </p:sp>
      <p:pic>
        <p:nvPicPr>
          <p:cNvPr id="6" name="Image 0" descr="/home/claude/slides/error_vs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5577840" cy="3977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46520" y="2286000"/>
            <a:ext cx="5303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far from the right slope, error is high.
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 approaches the best value, error keeps falling.
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past that point, and error starts climbing again.
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between E and m traces a parabola — falls, bottoms out, rises again.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INTUITION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If We Vary b Alone?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hold m fixed. As we slide the line up and down, the same pattern appears:</a:t>
            </a:r>
            <a:endParaRPr lang="en-US" sz="1400" dirty="0"/>
          </a:p>
        </p:txBody>
      </p:sp>
      <p:pic>
        <p:nvPicPr>
          <p:cNvPr id="6" name="Image 0" descr="/home/claude/slides/error_vs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5577840" cy="3977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46520" y="2286000"/>
            <a:ext cx="5303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too far up or down, and the line drifts away from most points — error is high.
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Somewhere in between, the line hugs the data — error hits a minimum.
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with m, the E-vs-b relationship is also a parabola.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INTUITION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Both Together: A Bowl-Shaped Surface</a:t>
            </a:r>
            <a:endParaRPr lang="en-US" sz="3000" dirty="0"/>
          </a:p>
        </p:txBody>
      </p:sp>
      <p:pic>
        <p:nvPicPr>
          <p:cNvPr id="5" name="Image 0" descr="/home/claude/slides/cost_sur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5943600" cy="4937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37960" y="16002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varying m alone makes a parabola, and varying b alone makes a parabola, then plotting E against both m and b at once produces a 3D surface — shaped like a valley, or a bowl.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537960" y="2926080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53796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36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28803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Walls rise on every side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320040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from the ideal m, b, error grows steeply in any direction you move.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537960" y="3886200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537960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36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38404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lowest point exists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0" y="416052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(m, b) pair sits at the very bottom, where error is smallest.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537960" y="4846320"/>
            <a:ext cx="347472" cy="3474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537960" y="4846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836" dirty="0"/>
          </a:p>
        </p:txBody>
      </p:sp>
      <p:sp>
        <p:nvSpPr>
          <p:cNvPr id="17" name="Text 14"/>
          <p:cNvSpPr txBox="1"/>
          <p:nvPr/>
        </p:nvSpPr>
        <p:spPr>
          <a:xfrm>
            <a:off x="7040880" y="48006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at the bottom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512064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that lowest point, the surface briefly stops changing in every direction — slope is zero there.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Bottom of the Bowl: Set Slope = 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ordinary single-variable function like f(x) = x² − 4x + 4, we find the minimum by differentiating and setting the result to zero — f'(x) = 0.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E(m,b) depends on two variables, not one — so we need the two-variable version: </a:t>
            </a: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derivatives.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EAF6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313639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∂E / ∂b  =  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49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w.r.t. b, holding m constant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3063240"/>
            <a:ext cx="5422392" cy="1188720"/>
          </a:xfrm>
          <a:prstGeom prst="roundRect">
            <a:avLst>
              <a:gd name="adj" fmla="val 7692"/>
            </a:avLst>
          </a:prstGeom>
          <a:solidFill>
            <a:srgbClr val="F4F4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3136392"/>
            <a:ext cx="5422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∂E / ∂m  =  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749040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w.r.t. m, holding b constant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526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equations, two unknowns (m and b). We'll solve for b first — it turns out simpler — then substitute it in to solve for m.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5120640"/>
            <a:ext cx="2679192" cy="1234440"/>
          </a:xfrm>
          <a:prstGeom prst="roundRect">
            <a:avLst>
              <a:gd name="adj" fmla="val 7407"/>
            </a:avLst>
          </a:prstGeom>
          <a:solidFill>
            <a:srgbClr val="EAF6F6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" y="525780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5605272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E(m,b)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5888736"/>
            <a:ext cx="2350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Σ(yᵢ − mxᵢ − b)² out so it's ready to differentiate.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55264" y="5120640"/>
            <a:ext cx="2679192" cy="1234440"/>
          </a:xfrm>
          <a:prstGeom prst="roundRect">
            <a:avLst>
              <a:gd name="adj" fmla="val 7407"/>
            </a:avLst>
          </a:prstGeom>
          <a:solidFill>
            <a:srgbClr val="F4F4F4"/>
          </a:solidFill>
          <a:ln/>
        </p:spPr>
      </p:sp>
      <p:sp>
        <p:nvSpPr>
          <p:cNvPr id="20" name="Shape 18"/>
          <p:cNvSpPr/>
          <p:nvPr/>
        </p:nvSpPr>
        <p:spPr>
          <a:xfrm>
            <a:off x="3419856" y="525780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419856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3419856" y="5605272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∂E/∂b = 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419856" y="5888736"/>
            <a:ext cx="2350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chain rule, simplify, isolate b.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53328" y="5120640"/>
            <a:ext cx="2679192" cy="1234440"/>
          </a:xfrm>
          <a:prstGeom prst="roundRect">
            <a:avLst>
              <a:gd name="adj" fmla="val 7407"/>
            </a:avLst>
          </a:prstGeom>
          <a:solidFill>
            <a:srgbClr val="EAF6F6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525780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0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5605272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∂E/∂m = 0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5888736"/>
            <a:ext cx="2350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chain rule again, substitute b, isolate m.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851392" y="5120640"/>
            <a:ext cx="2679192" cy="1234440"/>
          </a:xfrm>
          <a:prstGeom prst="roundRect">
            <a:avLst>
              <a:gd name="adj" fmla="val 7407"/>
            </a:avLst>
          </a:prstGeom>
          <a:solidFill>
            <a:srgbClr val="F4F4F4"/>
          </a:solidFill>
          <a:ln/>
        </p:spPr>
      </p:sp>
      <p:sp>
        <p:nvSpPr>
          <p:cNvPr id="30" name="Shape 28"/>
          <p:cNvSpPr/>
          <p:nvPr/>
        </p:nvSpPr>
        <p:spPr>
          <a:xfrm>
            <a:off x="9015984" y="525780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01598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9015984" y="5605272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015984" y="5888736"/>
            <a:ext cx="2350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results are the final closed-form OLS formulas.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 for b — Step by Step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4F4F4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728216"/>
            <a:ext cx="1280160" cy="512064"/>
          </a:xfrm>
          <a:prstGeom prst="roundRect">
            <a:avLst>
              <a:gd name="adj" fmla="val 53571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728216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16002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∂E/∂b  =  Σ 2(yᵢ − mxᵢ − b)(−1)  =  0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16002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rule: derivative of the outer square, times derivative of the inner term w.r.t. b (which is −1)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78024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4F4F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2606040"/>
            <a:ext cx="1280160" cy="512064"/>
          </a:xfrm>
          <a:prstGeom prst="roundRect">
            <a:avLst>
              <a:gd name="adj" fmla="val 53571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606040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247802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(yᵢ − mxᵢ − b)  =  0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47802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both sides by the constant −2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355848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4F4F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3483864"/>
            <a:ext cx="1280160" cy="512064"/>
          </a:xfrm>
          <a:prstGeom prst="roundRect">
            <a:avLst>
              <a:gd name="adj" fmla="val 53571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483864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sum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057400" y="335584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Σyᵢ − mΣxᵢ − nb  =  0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335584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 splits over subtraction; Σb added n times becomes nb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233672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4F4F4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4361688"/>
            <a:ext cx="1280160" cy="512064"/>
          </a:xfrm>
          <a:prstGeom prst="roundRect">
            <a:avLst>
              <a:gd name="adj" fmla="val 53571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436168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b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057400" y="423367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nb  =  Σyᵢ − mΣxᵢ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423367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b-term to one side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5221224"/>
            <a:ext cx="11274552" cy="868680"/>
          </a:xfrm>
          <a:prstGeom prst="roundRect">
            <a:avLst>
              <a:gd name="adj" fmla="val 10526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" y="5221224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 =  Σyᵢ/n  −  mΣxᵢ/n   =   ȳ  −  mx̄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Formula for b Tells 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4552" cy="1097280"/>
          </a:xfrm>
          <a:prstGeom prst="roundRect">
            <a:avLst>
              <a:gd name="adj" fmla="val 8333"/>
            </a:avLst>
          </a:prstGeom>
          <a:solidFill>
            <a:srgbClr val="EAF6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69164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 =  ȳ  −  m · x̄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24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00837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 and ȳ are means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37413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CGPA and average package across all n students in the training data.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24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96849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passes through (x̄, ȳ)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3342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Rearranging gives ȳ = m·x̄ + b — exactly the equation of the line at x = x̄. The best-fit line always crosses the data's own centroid.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9834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24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92861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falls right out, once m is known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29437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formula needs no search — as soon as we have m, b follows in one direct calculation.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 for m — Step by Step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4F4F4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892808"/>
            <a:ext cx="1600200" cy="530352"/>
          </a:xfrm>
          <a:prstGeom prst="roundRect">
            <a:avLst>
              <a:gd name="adj" fmla="val 51724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89280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6916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∂E/∂m = Σ 2(yᵢ−mxᵢ−b)(−xᵢ) = 0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69164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 again — this time the inner derivative w.r.t. m is −xᵢ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4F4F4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2990088"/>
            <a:ext cx="1600200" cy="530352"/>
          </a:xfrm>
          <a:prstGeom prst="roundRect">
            <a:avLst>
              <a:gd name="adj" fmla="val 51724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99008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&amp; substitute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278892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xᵢ(yᵢ−mxᵢ−b) = 0,  then plug in  b = ȳ − mx̄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78892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−2; replace b with what we found on the previous slide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4F4F4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4087368"/>
            <a:ext cx="1600200" cy="530352"/>
          </a:xfrm>
          <a:prstGeom prst="roundRect">
            <a:avLst>
              <a:gd name="adj" fmla="val 51724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408736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and collect m terms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38862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Σ(xᵢ−x̄)(yᵢ−ȳ)  =  m · Σ(xᵢ−x̄)²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388620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expanding and simplifying, every remaining m collects on one side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5074920"/>
            <a:ext cx="11274552" cy="1051560"/>
          </a:xfrm>
          <a:prstGeom prst="roundRect">
            <a:avLst>
              <a:gd name="adj" fmla="val 8696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5074920"/>
            <a:ext cx="11274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 =  Σ (xᵢ − x̄)(yᵢ − ȳ)   ⁄   Σ (xᵢ − x̄)²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Formula for m Tells 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4552" cy="1097280"/>
          </a:xfrm>
          <a:prstGeom prst="roundRect">
            <a:avLst>
              <a:gd name="adj" fmla="val 8333"/>
            </a:avLst>
          </a:prstGeom>
          <a:solidFill>
            <a:srgbClr val="EAF6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69164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 =  Σ(xᵢ−x̄)(yᵢ−ȳ)  ⁄  Σ(xᵢ−x̄)²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5394960" cy="2651760"/>
          </a:xfrm>
          <a:prstGeom prst="roundRect">
            <a:avLst>
              <a:gd name="adj" fmla="val 4138"/>
            </a:avLst>
          </a:prstGeom>
          <a:solidFill>
            <a:srgbClr val="F4F4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3246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Numerator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576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Σ(xᵢ−x̄)(yᵢ−ȳ)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519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x and y vary together — a covariance-like term. Positive when both move in the same direction from their means.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3063240"/>
            <a:ext cx="5422392" cy="2651760"/>
          </a:xfrm>
          <a:prstGeom prst="roundRect">
            <a:avLst>
              <a:gd name="adj" fmla="val 4138"/>
            </a:avLst>
          </a:prstGeom>
          <a:solidFill>
            <a:srgbClr val="F4F4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09360" y="3246120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Denominator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657600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Σ(xᵢ−x̄)²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42519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much x alone varies — the spread of x around its own mean. Always positive, so it only scales the slope, never flips its sign.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two boxed formulas for m and b fully define the best-fit line — this is the complete closed-form OLS solution.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943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OLS FORMULAS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Simple Linear Regression Actually Computes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5349240" cy="1965960"/>
          </a:xfrm>
          <a:prstGeom prst="roundRect">
            <a:avLst>
              <a:gd name="adj" fmla="val 5581"/>
            </a:avLst>
          </a:prstGeom>
          <a:solidFill>
            <a:srgbClr val="2C3A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488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(m)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42032"/>
            <a:ext cx="534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Σ(xᵢ−x̄)(yᵢ−ȳ)</a:t>
            </a:r>
            <a:endParaRPr lang="en-US" sz="18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─────────────</a:t>
            </a:r>
            <a:endParaRPr lang="en-US" sz="18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Σ(xᵢ−x̄)²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193792" cy="1965960"/>
          </a:xfrm>
          <a:prstGeom prst="roundRect">
            <a:avLst>
              <a:gd name="adj" fmla="val 5581"/>
            </a:avLst>
          </a:prstGeom>
          <a:solidFill>
            <a:srgbClr val="2C3A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2148840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(b)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880360"/>
            <a:ext cx="5193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 =  ȳ − m · x̄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1605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formulas need only two things from the data: the mean of x, the mean of y, and each point's distance from those means. No iteration, no learning rate, no guesswork.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31520" y="5166360"/>
            <a:ext cx="10725912" cy="822960"/>
          </a:xfrm>
          <a:prstGeom prst="roundRect">
            <a:avLst>
              <a:gd name="adj" fmla="val 11111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51663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translate these two formulas directly into a Python class — fit() and predict().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STARTS HERE  →  FROM MATH TO CODE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08" y="1107830"/>
            <a:ext cx="10288573" cy="4598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4750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995" y="211015"/>
            <a:ext cx="8831873" cy="6124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030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346" y="274759"/>
            <a:ext cx="5367241" cy="5536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531" y="1958487"/>
            <a:ext cx="6269038" cy="257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9789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5508" y="1297598"/>
            <a:ext cx="5903919" cy="3388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529" y="972281"/>
            <a:ext cx="6127853" cy="4839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8695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733" y="75468"/>
            <a:ext cx="5839128" cy="5938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121" y="3044703"/>
            <a:ext cx="5871016" cy="2000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8277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7" y="441812"/>
            <a:ext cx="6430955" cy="4007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3580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57" y="390160"/>
            <a:ext cx="5457188" cy="5078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008" y="592015"/>
            <a:ext cx="57356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9947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6209"/>
            <a:ext cx="6208298" cy="4881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260" y="264502"/>
            <a:ext cx="5950051" cy="5221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033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53" y="574797"/>
            <a:ext cx="8064378" cy="4509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4812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3939" y="282087"/>
            <a:ext cx="6247545" cy="5944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113938" y="6205027"/>
            <a:ext cx="76015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This is the standard formula for the slope in simple linear regression.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6512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the Class, sklearn-Style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scikit-learn estimator follows the same shape. We'll mirror it exactly, so our class can be used the same way as sklearn's own LinearRegression.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11274552" cy="1143000"/>
          </a:xfrm>
          <a:prstGeom prst="roundRect">
            <a:avLst>
              <a:gd name="adj" fmla="val 8000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4231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__init__()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empty state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95351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self.m = None and self.b = None — nothing is learned yet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721608"/>
            <a:ext cx="11274552" cy="11430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372160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fit(X_train, y_train)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3904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data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425196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OLS formulas over the training set to compute self.m and self.b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5020056"/>
            <a:ext cx="11274552" cy="1143000"/>
          </a:xfrm>
          <a:prstGeom prst="roundRect">
            <a:avLst>
              <a:gd name="adj" fmla="val 8000"/>
            </a:avLst>
          </a:prstGeom>
          <a:solidFill>
            <a:srgbClr val="EAF6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5020056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predict(X_test)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52029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what was learned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555040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self.m * X_test + self.b for any new input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Class: MeraLR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class name — a playful "MeraLR" ("My Linear Regression"), so it's never confused with sklearn's own.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74552" cy="4297680"/>
          </a:xfrm>
          <a:prstGeom prst="roundRect">
            <a:avLst>
              <a:gd name="adj" fmla="val 2128"/>
            </a:avLst>
          </a:prstGeom>
          <a:solidFill>
            <a:srgbClr val="3645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86000"/>
            <a:ext cx="106070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MeraLR: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self.m = None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 = None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fit(self, X_train, y_train):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num = 0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den = 0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 in range(X_train.shape[0]):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num += (X_train[i] - X_train.mean()) * \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(y_train[i] - y_train.mean())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den += (X_train[i] - X_train.mean()) ** 2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self.m = num / den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 = y_train.mean() - (self.m * X_train.mean())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predict(self, X_test):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(self.m * X_test) + self.b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fit(): Mirroring the Math Exactly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of the loop is a direct translation of the OLS formulas we derived — nothing new is introduced here.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1945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range(X_train.shape[0])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219456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once per training row — X_train.shape[0] is the number of students, 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81528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EAF6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08152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+= (X[i]-X̄)*(y[i]-ȳ)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3081528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Accumulates the slope's numerator, one point's contribution at a 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68496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EAF6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9684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 += (X[i]-X̄)**2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3968496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Accumulates the slope's denominator the same way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855464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EAF6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85546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self.m = num / den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4855464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boxed slope formula: m = Σ(xᵢ−x̄)(yᵢ−ȳ) / Σ(xᵢ−x̄)²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742432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EAF6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574243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self.b = y.mean() - self.m*X.mean()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5742432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boxed intercept formula: b = ȳ − m·x̄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the Test — Same Dataset as Before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the comparison fair, we reuse the exact placement dataset and exact train/test split from the previous lecture.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6400800" cy="3931920"/>
          </a:xfrm>
          <a:prstGeom prst="roundRect">
            <a:avLst>
              <a:gd name="adj" fmla="val 2326"/>
            </a:avLst>
          </a:prstGeom>
          <a:solidFill>
            <a:srgbClr val="3645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514600"/>
            <a:ext cx="5852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pd.read_csv('placement.csv')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df.iloc[:, 0].values   # CGPA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df.iloc[:, 1].values   # Package (LPA)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test_size=0.2, random_state=2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print(X_train.shape)   # (160,)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86600" y="2377440"/>
            <a:ext cx="4645152" cy="1143000"/>
          </a:xfrm>
          <a:prstGeom prst="roundRect">
            <a:avLst>
              <a:gd name="adj" fmla="val 8000"/>
            </a:avLst>
          </a:prstGeom>
          <a:solidFill>
            <a:srgbClr val="EAF6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0" y="2487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test_size = 0.2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2880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the data held back purely for testing — 80/20 split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86600" y="3675888"/>
            <a:ext cx="4645152" cy="1143000"/>
          </a:xfrm>
          <a:prstGeom prst="roundRect">
            <a:avLst>
              <a:gd name="adj" fmla="val 8000"/>
            </a:avLst>
          </a:prstGeom>
          <a:solidFill>
            <a:srgbClr val="EAF6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0" y="37856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 = 2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41788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shuffle, so results are reproducible and comparable to last lecture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86600" y="4974336"/>
            <a:ext cx="4645152" cy="1143000"/>
          </a:xfrm>
          <a:prstGeom prst="roundRect">
            <a:avLst>
              <a:gd name="adj" fmla="val 8000"/>
            </a:avLst>
          </a:prstGeom>
          <a:solidFill>
            <a:srgbClr val="EAF6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0" y="50840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X_train.shape → 160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547725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the full dataset, 160 rows are used to train the model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the Model and Reading Off m, b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object, call fit(), and the two formulas run automatically inside the loop we just walked through.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3645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42316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 = MeraLR()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lr.fit(X_train, y_train)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print(lr.m)   # slope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print(lr.b)   # intercept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2240280"/>
            <a:ext cx="5468112" cy="2377440"/>
          </a:xfrm>
          <a:prstGeom prst="roundRect">
            <a:avLst>
              <a:gd name="adj" fmla="val 3846"/>
            </a:avLst>
          </a:prstGeom>
          <a:solidFill>
            <a:srgbClr val="EAF6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2395728"/>
            <a:ext cx="5468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8803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m and b obtained via sklearn's LinearRegression in the previous lecture — exactly.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8006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two completely different code paths — sklearn's optimized internals, and our raw Python loop — arrive at the same numbers, because both are solving the identical OLS formula.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on Test Data — Then Verifying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predict() on the held-out test set, and sanity-check individual predictions against sklearn's model on the same rows.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1274552" cy="1051560"/>
          </a:xfrm>
          <a:prstGeom prst="roundRect">
            <a:avLst>
              <a:gd name="adj" fmla="val 8696"/>
            </a:avLst>
          </a:prstGeom>
          <a:solidFill>
            <a:srgbClr val="3645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468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lr.predict(X_test[0])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9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returns (self.m * X_test[0]) + self.b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36576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MeraLR's prediction matches scikit-learn's LinearRegression prediction on the same test point.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5720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gotcha to watch for: </a:t>
            </a:r>
            <a:r>
              <a:rPr lang="en-US" sz="130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edit the class definition and re-run, you must re-create the object (lr = MeraLR()) before calling fit() again — otherwise you're still working with the old, unedited object.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CAVEAT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Exact Approach Stops Working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74552" cy="1371600"/>
          </a:xfrm>
          <a:prstGeom prst="roundRect">
            <a:avLst>
              <a:gd name="adj" fmla="val 8000"/>
            </a:avLst>
          </a:prstGeom>
          <a:solidFill>
            <a:srgbClr val="FDEE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MeraLR, as written, is built for Simple Linear Regression only.
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one input feature — this exact loop and formula won't extend to Multiple Linear Regression, where there are several input features at once.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24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37413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sklearn's LinearRegression is different inside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758184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a more general, vectorized formulation internally — so the same class already handles multiple features without modification.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924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51713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in the next lecture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901184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extend today's exact derivation approach to Multiple Linear Regression, and separately implement Gradient Descent for when direct computation doesn't scale.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580644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understanding this derivation deeply is still the right foundation — multiple regression builds directly on the same minimize-the-squared-error idea.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— From Scratch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645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Covered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2C3A44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9397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116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496312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m, b minimizing total squared error between predictions and actual values.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87452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2C3A44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09397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0116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squared error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496312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cancellation, penalizes outliers, and stays differentiable everywhere.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355848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2C3A44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357530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49300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 surface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977640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E(m,b) = Σ(yᵢ−mxᵢ−b)² is a bowl — one minimum, found where slope is zero.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355848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2C3A44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357530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49300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derivation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977640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derivatives set to zero give b = ȳ−mx̄ and m = Σ(xᵢ−x̄)(yᵢ−ȳ)/Σ(xᵢ−x̄)².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837176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2C3A44"/>
          </a:solidFill>
          <a:ln/>
        </p:spPr>
      </p:sp>
      <p:sp>
        <p:nvSpPr>
          <p:cNvPr id="25" name="Shape 23"/>
          <p:cNvSpPr/>
          <p:nvPr/>
        </p:nvSpPr>
        <p:spPr>
          <a:xfrm>
            <a:off x="960120" y="50566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012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97433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5458968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from-scratch MeraLR class with fit() and predict() mirrors the math line for line.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4837176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2C3A44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0" y="50566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497433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verification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5458968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match scikit-learn exactly — same formula, two implementations.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next: Multiple Linear Regression, and Gradient Descent from scratch.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3591</Words>
  <Application>Microsoft Office PowerPoint</Application>
  <PresentationFormat>Custom</PresentationFormat>
  <Paragraphs>453</Paragraphs>
  <Slides>39</Slides>
  <Notes>29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</cp:lastModifiedBy>
  <cp:revision>5</cp:revision>
  <dcterms:created xsi:type="dcterms:W3CDTF">2026-09-01T11:18:49Z</dcterms:created>
  <dcterms:modified xsi:type="dcterms:W3CDTF">2026-09-02T10:53:26Z</dcterms:modified>
</cp:coreProperties>
</file>