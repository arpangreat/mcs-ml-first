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74" d="100"/>
          <a:sy n="174" d="100"/>
        </p:scale>
        <p:origin x="2904" y="2227"/>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096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609600"/>
          </a:xfrm>
          <a:prstGeom prst="rect">
            <a:avLst/>
          </a:prstGeom>
        </p:spPr>
        <p:txBody>
          <a:bodyPr vert="horz" lIns="91440" tIns="45720" rIns="91440" bIns="45720" rtlCol="0"/>
          <a:lstStyle>
            <a:lvl1pPr algn="r">
              <a:defRPr sz="1200"/>
            </a:lvl1pPr>
          </a:lstStyle>
          <a:p>
            <a:fld id="{4922F524-C81E-45DF-9D4B-5EC42BAD9319}" type="datetimeFigureOut">
              <a:rPr lang="en-IN" smtClean="0"/>
              <a:t>09-09-2026</a:t>
            </a:fld>
            <a:endParaRPr lang="en-IN"/>
          </a:p>
        </p:txBody>
      </p:sp>
      <p:sp>
        <p:nvSpPr>
          <p:cNvPr id="4" name="Slide Image Placeholder 3"/>
          <p:cNvSpPr>
            <a:spLocks noGrp="1" noRot="1" noChangeAspect="1"/>
          </p:cNvSpPr>
          <p:nvPr>
            <p:ph type="sldImg" idx="2"/>
          </p:nvPr>
        </p:nvSpPr>
        <p:spPr>
          <a:xfrm>
            <a:off x="-635000" y="914400"/>
            <a:ext cx="8128000" cy="4572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5791200"/>
            <a:ext cx="5486400" cy="54864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11580813"/>
            <a:ext cx="2971800" cy="6096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11580813"/>
            <a:ext cx="2971800" cy="609600"/>
          </a:xfrm>
          <a:prstGeom prst="rect">
            <a:avLst/>
          </a:prstGeom>
        </p:spPr>
        <p:txBody>
          <a:bodyPr vert="horz" lIns="91440" tIns="45720" rIns="91440" bIns="45720" rtlCol="0" anchor="b"/>
          <a:lstStyle>
            <a:lvl1pPr algn="r">
              <a:defRPr sz="1200"/>
            </a:lvl1pPr>
          </a:lstStyle>
          <a:p>
            <a:fld id="{2F34D13A-84F5-4D26-8484-6E3278C87DD0}" type="slidenum">
              <a:rPr lang="en-IN" smtClean="0"/>
              <a:t>‹#›</a:t>
            </a:fld>
            <a:endParaRPr lang="en-IN"/>
          </a:p>
        </p:txBody>
      </p:sp>
    </p:spTree>
    <p:extLst>
      <p:ext uri="{BB962C8B-B14F-4D97-AF65-F5344CB8AC3E}">
        <p14:creationId xmlns:p14="http://schemas.microsoft.com/office/powerpoint/2010/main" val="482110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A4A"/>
        </a:solidFill>
        <a:effectLst/>
      </p:bgPr>
    </p:bg>
    <p:spTree>
      <p:nvGrpSpPr>
        <p:cNvPr id="1" name=""/>
        <p:cNvGrpSpPr/>
        <p:nvPr/>
      </p:nvGrpSpPr>
      <p:grpSpPr>
        <a:xfrm>
          <a:off x="0" y="0"/>
          <a:ext cx="0" cy="0"/>
          <a:chOff x="0" y="0"/>
          <a:chExt cx="0" cy="0"/>
        </a:xfrm>
      </p:grpSpPr>
      <p:sp>
        <p:nvSpPr>
          <p:cNvPr id="2" name="Shape 0"/>
          <p:cNvSpPr/>
          <p:nvPr/>
        </p:nvSpPr>
        <p:spPr>
          <a:xfrm>
            <a:off x="9692640" y="-1097280"/>
            <a:ext cx="3840480" cy="3840480"/>
          </a:xfrm>
          <a:prstGeom prst="ellipse">
            <a:avLst/>
          </a:prstGeom>
          <a:solidFill>
            <a:srgbClr val="0F3A5F"/>
          </a:solidFill>
          <a:ln/>
        </p:spPr>
      </p:sp>
      <p:sp>
        <p:nvSpPr>
          <p:cNvPr id="3" name="Shape 1"/>
          <p:cNvSpPr/>
          <p:nvPr/>
        </p:nvSpPr>
        <p:spPr>
          <a:xfrm>
            <a:off x="-914400" y="4846320"/>
            <a:ext cx="3108960" cy="3108960"/>
          </a:xfrm>
          <a:prstGeom prst="ellipse">
            <a:avLst/>
          </a:prstGeom>
          <a:solidFill>
            <a:srgbClr val="0F3A5F"/>
          </a:solidFill>
          <a:ln/>
        </p:spPr>
      </p:sp>
      <p:sp>
        <p:nvSpPr>
          <p:cNvPr id="4" name="Shape 2"/>
          <p:cNvSpPr/>
          <p:nvPr/>
        </p:nvSpPr>
        <p:spPr>
          <a:xfrm>
            <a:off x="548640" y="1234440"/>
            <a:ext cx="3474720" cy="411480"/>
          </a:xfrm>
          <a:prstGeom prst="roundRect">
            <a:avLst>
              <a:gd name="adj" fmla="val 17778"/>
            </a:avLst>
          </a:prstGeom>
          <a:solidFill>
            <a:srgbClr val="13416B"/>
          </a:solidFill>
          <a:ln/>
        </p:spPr>
      </p:sp>
      <p:sp>
        <p:nvSpPr>
          <p:cNvPr id="5" name="Text 3"/>
          <p:cNvSpPr/>
          <p:nvPr/>
        </p:nvSpPr>
        <p:spPr>
          <a:xfrm>
            <a:off x="548640" y="1234440"/>
            <a:ext cx="3474720" cy="411480"/>
          </a:xfrm>
          <a:prstGeom prst="rect">
            <a:avLst/>
          </a:prstGeom>
          <a:noFill/>
          <a:ln/>
        </p:spPr>
        <p:txBody>
          <a:bodyPr wrap="square" rtlCol="0" anchor="ctr"/>
          <a:lstStyle/>
          <a:p>
            <a:pPr marL="0" indent="0" algn="ctr">
              <a:buNone/>
            </a:pPr>
            <a:r>
              <a:rPr lang="en-US" sz="1050" b="1" kern="0" spc="100" dirty="0">
                <a:solidFill>
                  <a:srgbClr val="F2A93B"/>
                </a:solidFill>
                <a:latin typeface="Calibri" pitchFamily="34" charset="0"/>
                <a:ea typeface="Calibri" pitchFamily="34" charset="-122"/>
                <a:cs typeface="Calibri" pitchFamily="34" charset="-120"/>
              </a:rPr>
              <a:t>LINEAR REGRESSION  ·  WORKED EXAMPLE</a:t>
            </a:r>
            <a:endParaRPr lang="en-US" sz="1050" dirty="0"/>
          </a:p>
        </p:txBody>
      </p:sp>
      <p:sp>
        <p:nvSpPr>
          <p:cNvPr id="6" name="Text 4"/>
          <p:cNvSpPr/>
          <p:nvPr/>
        </p:nvSpPr>
        <p:spPr>
          <a:xfrm>
            <a:off x="548640" y="1828800"/>
            <a:ext cx="10058400" cy="1097280"/>
          </a:xfrm>
          <a:prstGeom prst="rect">
            <a:avLst/>
          </a:prstGeom>
          <a:noFill/>
          <a:ln/>
        </p:spPr>
        <p:txBody>
          <a:bodyPr wrap="square"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Fertilizer &amp; Tomato Yield</a:t>
            </a:r>
            <a:endParaRPr lang="en-US" sz="4400" dirty="0"/>
          </a:p>
        </p:txBody>
      </p:sp>
      <p:sp>
        <p:nvSpPr>
          <p:cNvPr id="7" name="Text 5"/>
          <p:cNvSpPr/>
          <p:nvPr/>
        </p:nvSpPr>
        <p:spPr>
          <a:xfrm>
            <a:off x="548640" y="2880360"/>
            <a:ext cx="8686800" cy="548640"/>
          </a:xfrm>
          <a:prstGeom prst="rect">
            <a:avLst/>
          </a:prstGeom>
          <a:noFill/>
          <a:ln/>
        </p:spPr>
        <p:txBody>
          <a:bodyPr wrap="square" rtlCol="0" anchor="ctr"/>
          <a:lstStyle/>
          <a:p>
            <a:pPr marL="0" indent="0">
              <a:buNone/>
            </a:pPr>
            <a:r>
              <a:rPr lang="en-US" sz="1600" i="1" dirty="0">
                <a:solidFill>
                  <a:srgbClr val="C9DCE6"/>
                </a:solidFill>
                <a:latin typeface="Calibri" pitchFamily="34" charset="0"/>
                <a:ea typeface="Calibri" pitchFamily="34" charset="-122"/>
                <a:cs typeface="Calibri" pitchFamily="34" charset="-120"/>
              </a:rPr>
              <a:t>Does more fertilizer really mean a bigger tomato harvest? Let's fit a line to find out.</a:t>
            </a:r>
            <a:endParaRPr lang="en-US" sz="1600" dirty="0"/>
          </a:p>
        </p:txBody>
      </p:sp>
      <p:sp>
        <p:nvSpPr>
          <p:cNvPr id="8" name="Shape 6"/>
          <p:cNvSpPr/>
          <p:nvPr/>
        </p:nvSpPr>
        <p:spPr>
          <a:xfrm>
            <a:off x="548640" y="3657600"/>
            <a:ext cx="6035040" cy="685800"/>
          </a:xfrm>
          <a:prstGeom prst="roundRect">
            <a:avLst>
              <a:gd name="adj" fmla="val 13333"/>
            </a:avLst>
          </a:prstGeom>
          <a:solidFill>
            <a:srgbClr val="0F3A5F"/>
          </a:solidFill>
          <a:ln w="12700">
            <a:solidFill>
              <a:srgbClr val="1C7293"/>
            </a:solidFill>
            <a:prstDash val="solid"/>
          </a:ln>
        </p:spPr>
      </p:sp>
      <p:sp>
        <p:nvSpPr>
          <p:cNvPr id="9" name="Text 7"/>
          <p:cNvSpPr/>
          <p:nvPr/>
        </p:nvSpPr>
        <p:spPr>
          <a:xfrm>
            <a:off x="548640" y="3657600"/>
            <a:ext cx="6035040" cy="685800"/>
          </a:xfrm>
          <a:prstGeom prst="rect">
            <a:avLst/>
          </a:prstGeom>
          <a:noFill/>
          <a:ln/>
        </p:spPr>
        <p:txBody>
          <a:bodyPr wrap="square" rtlCol="0" anchor="ctr"/>
          <a:lstStyle/>
          <a:p>
            <a:pPr marL="0" indent="0" algn="ctr">
              <a:buNone/>
            </a:pPr>
            <a:r>
              <a:rPr lang="en-US" sz="2200" b="1" dirty="0">
                <a:solidFill>
                  <a:srgbClr val="FFFFFF"/>
                </a:solidFill>
                <a:latin typeface="Courier New" pitchFamily="34" charset="0"/>
                <a:ea typeface="Courier New" pitchFamily="34" charset="-122"/>
                <a:cs typeface="Courier New" pitchFamily="34" charset="-120"/>
              </a:rPr>
              <a:t>y = a + bx</a:t>
            </a:r>
            <a:endParaRPr lang="en-US" sz="2200" dirty="0"/>
          </a:p>
        </p:txBody>
      </p:sp>
      <p:sp>
        <p:nvSpPr>
          <p:cNvPr id="10" name="Text 8"/>
          <p:cNvSpPr/>
          <p:nvPr/>
        </p:nvSpPr>
        <p:spPr>
          <a:xfrm>
            <a:off x="548640" y="6172200"/>
            <a:ext cx="9144000" cy="365760"/>
          </a:xfrm>
          <a:prstGeom prst="rect">
            <a:avLst/>
          </a:prstGeom>
          <a:noFill/>
          <a:ln/>
        </p:spPr>
        <p:txBody>
          <a:bodyPr wrap="square" rtlCol="0" anchor="ctr"/>
          <a:lstStyle/>
          <a:p>
            <a:pPr marL="0" indent="0">
              <a:buNone/>
            </a:pPr>
            <a:r>
              <a:rPr lang="en-US" sz="1100" dirty="0">
                <a:solidFill>
                  <a:srgbClr val="7C93A3"/>
                </a:solidFill>
                <a:latin typeface="Calibri" pitchFamily="34" charset="0"/>
                <a:ea typeface="Calibri" pitchFamily="34" charset="-122"/>
                <a:cs typeface="Calibri" pitchFamily="34" charset="-120"/>
              </a:rPr>
              <a:t>Classroom Lecture Deck  ·  Simple Linear Regression</a:t>
            </a:r>
            <a:endParaRPr lang="en-US" sz="11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9FA"/>
        </a:solidFill>
        <a:effectLst/>
      </p:bgPr>
    </p:bg>
    <p:spTree>
      <p:nvGrpSpPr>
        <p:cNvPr id="1" name=""/>
        <p:cNvGrpSpPr/>
        <p:nvPr/>
      </p:nvGrpSpPr>
      <p:grpSpPr>
        <a:xfrm>
          <a:off x="0" y="0"/>
          <a:ext cx="0" cy="0"/>
          <a:chOff x="0" y="0"/>
          <a:chExt cx="0" cy="0"/>
        </a:xfrm>
      </p:grpSpPr>
      <p:sp>
        <p:nvSpPr>
          <p:cNvPr id="2" name="Shape 0"/>
          <p:cNvSpPr/>
          <p:nvPr/>
        </p:nvSpPr>
        <p:spPr>
          <a:xfrm>
            <a:off x="457200" y="411480"/>
            <a:ext cx="2560320" cy="365760"/>
          </a:xfrm>
          <a:prstGeom prst="roundRect">
            <a:avLst>
              <a:gd name="adj" fmla="val 20000"/>
            </a:avLst>
          </a:prstGeom>
          <a:solidFill>
            <a:srgbClr val="E5F0F4"/>
          </a:solidFill>
          <a:ln/>
        </p:spPr>
      </p:sp>
      <p:sp>
        <p:nvSpPr>
          <p:cNvPr id="3" name="Text 1"/>
          <p:cNvSpPr/>
          <p:nvPr/>
        </p:nvSpPr>
        <p:spPr>
          <a:xfrm>
            <a:off x="457200" y="411480"/>
            <a:ext cx="2560320" cy="365760"/>
          </a:xfrm>
          <a:prstGeom prst="rect">
            <a:avLst/>
          </a:prstGeom>
          <a:noFill/>
          <a:ln/>
        </p:spPr>
        <p:txBody>
          <a:bodyPr wrap="square" rtlCol="0" anchor="ctr"/>
          <a:lstStyle/>
          <a:p>
            <a:pPr marL="0" indent="0" algn="ctr">
              <a:buNone/>
            </a:pPr>
            <a:r>
              <a:rPr lang="en-US" sz="1100" b="1" kern="0" spc="100" dirty="0">
                <a:solidFill>
                  <a:srgbClr val="065A82"/>
                </a:solidFill>
                <a:latin typeface="Calibri" pitchFamily="34" charset="0"/>
                <a:ea typeface="Calibri" pitchFamily="34" charset="-122"/>
                <a:cs typeface="Calibri" pitchFamily="34" charset="-120"/>
              </a:rPr>
              <a:t>THE PROBLEM</a:t>
            </a:r>
            <a:endParaRPr lang="en-US" sz="1100" dirty="0"/>
          </a:p>
        </p:txBody>
      </p:sp>
      <p:sp>
        <p:nvSpPr>
          <p:cNvPr id="4" name="Text 2"/>
          <p:cNvSpPr/>
          <p:nvPr/>
        </p:nvSpPr>
        <p:spPr>
          <a:xfrm>
            <a:off x="457200" y="868680"/>
            <a:ext cx="11247120" cy="685800"/>
          </a:xfrm>
          <a:prstGeom prst="rect">
            <a:avLst/>
          </a:prstGeom>
          <a:noFill/>
          <a:ln/>
        </p:spPr>
        <p:txBody>
          <a:bodyPr wrap="square" rtlCol="0" anchor="ctr"/>
          <a:lstStyle/>
          <a:p>
            <a:pPr marL="0" indent="0">
              <a:buNone/>
            </a:pPr>
            <a:r>
              <a:rPr lang="en-US" sz="2800" b="1" dirty="0">
                <a:solidFill>
                  <a:srgbClr val="0B2A4A"/>
                </a:solidFill>
                <a:latin typeface="Cambria" pitchFamily="34" charset="0"/>
                <a:ea typeface="Cambria" pitchFamily="34" charset="-122"/>
                <a:cs typeface="Cambria" pitchFamily="34" charset="-120"/>
              </a:rPr>
              <a:t>Does Fertilizer Amount Predict Tomato Yield?</a:t>
            </a:r>
            <a:endParaRPr lang="en-US" sz="2800" dirty="0"/>
          </a:p>
        </p:txBody>
      </p:sp>
      <p:sp>
        <p:nvSpPr>
          <p:cNvPr id="5" name="Shape 3"/>
          <p:cNvSpPr/>
          <p:nvPr/>
        </p:nvSpPr>
        <p:spPr>
          <a:xfrm>
            <a:off x="457200" y="1600200"/>
            <a:ext cx="11247120" cy="1371600"/>
          </a:xfrm>
          <a:prstGeom prst="roundRect">
            <a:avLst>
              <a:gd name="adj" fmla="val 6667"/>
            </a:avLst>
          </a:prstGeom>
          <a:solidFill>
            <a:srgbClr val="0B2A4A"/>
          </a:solidFill>
          <a:ln/>
        </p:spPr>
      </p:sp>
      <p:sp>
        <p:nvSpPr>
          <p:cNvPr id="6" name="Text 4"/>
          <p:cNvSpPr/>
          <p:nvPr/>
        </p:nvSpPr>
        <p:spPr>
          <a:xfrm>
            <a:off x="731520" y="1600200"/>
            <a:ext cx="10698480" cy="1371600"/>
          </a:xfrm>
          <a:prstGeom prst="rect">
            <a:avLst/>
          </a:prstGeom>
          <a:noFill/>
          <a:ln/>
        </p:spPr>
        <p:txBody>
          <a:bodyPr wrap="square" rtlCol="0" anchor="ctr"/>
          <a:lstStyle/>
          <a:p>
            <a:pPr marL="0" indent="0">
              <a:lnSpc>
                <a:spcPts val="1800"/>
              </a:lnSpc>
              <a:buNone/>
            </a:pPr>
            <a:r>
              <a:rPr lang="en-US" sz="1400" i="1" dirty="0">
                <a:solidFill>
                  <a:srgbClr val="DCEAF1"/>
                </a:solidFill>
                <a:latin typeface="Calibri" pitchFamily="34" charset="0"/>
                <a:ea typeface="Calibri" pitchFamily="34" charset="-122"/>
                <a:cs typeface="Calibri" pitchFamily="34" charset="-120"/>
              </a:rPr>
              <a:t>A biologist believes there's a linear relationship between the amount of fertilizer given to tomato plants and the yield of tomatoes obtained. Eight plants were treated with different amounts of fertilizer, and the resulting yield was recorded.</a:t>
            </a:r>
            <a:endParaRPr lang="en-US" sz="1400" dirty="0"/>
          </a:p>
        </p:txBody>
      </p:sp>
      <p:sp>
        <p:nvSpPr>
          <p:cNvPr id="7" name="Shape 5"/>
          <p:cNvSpPr/>
          <p:nvPr/>
        </p:nvSpPr>
        <p:spPr>
          <a:xfrm>
            <a:off x="457200" y="3291840"/>
            <a:ext cx="3566160" cy="2377440"/>
          </a:xfrm>
          <a:prstGeom prst="roundRect">
            <a:avLst>
              <a:gd name="adj" fmla="val 3846"/>
            </a:avLst>
          </a:prstGeom>
          <a:solidFill>
            <a:srgbClr val="FFFFFF"/>
          </a:solidFill>
          <a:ln w="12700">
            <a:solidFill>
              <a:srgbClr val="D7E2E6"/>
            </a:solidFill>
            <a:prstDash val="solid"/>
          </a:ln>
          <a:effectLst>
            <a:outerShdw blurRad="76200" dist="25400" dir="5400000" algn="bl" rotWithShape="0">
              <a:srgbClr val="1A1A2E">
                <a:alpha val="10000"/>
              </a:srgbClr>
            </a:outerShdw>
          </a:effectLst>
        </p:spPr>
      </p:sp>
      <p:sp>
        <p:nvSpPr>
          <p:cNvPr id="8" name="Shape 6"/>
          <p:cNvSpPr/>
          <p:nvPr/>
        </p:nvSpPr>
        <p:spPr>
          <a:xfrm>
            <a:off x="731520" y="3566160"/>
            <a:ext cx="548640" cy="548640"/>
          </a:xfrm>
          <a:prstGeom prst="ellipse">
            <a:avLst/>
          </a:prstGeom>
          <a:solidFill>
            <a:srgbClr val="E5F0F4"/>
          </a:solidFill>
          <a:ln/>
        </p:spPr>
      </p:sp>
      <p:sp>
        <p:nvSpPr>
          <p:cNvPr id="9" name="Text 7"/>
          <p:cNvSpPr/>
          <p:nvPr/>
        </p:nvSpPr>
        <p:spPr>
          <a:xfrm>
            <a:off x="731520" y="3566160"/>
            <a:ext cx="548640" cy="548640"/>
          </a:xfrm>
          <a:prstGeom prst="rect">
            <a:avLst/>
          </a:prstGeom>
          <a:noFill/>
          <a:ln/>
        </p:spPr>
        <p:txBody>
          <a:bodyPr wrap="square" rtlCol="0" anchor="ctr"/>
          <a:lstStyle/>
          <a:p>
            <a:pPr marL="0" indent="0" algn="ctr">
              <a:buNone/>
            </a:pPr>
            <a:r>
              <a:rPr lang="en-US" sz="1800" b="1" dirty="0">
                <a:solidFill>
                  <a:srgbClr val="065A82"/>
                </a:solidFill>
                <a:latin typeface="Calibri" pitchFamily="34" charset="0"/>
                <a:ea typeface="Calibri" pitchFamily="34" charset="-122"/>
                <a:cs typeface="Calibri" pitchFamily="34" charset="-120"/>
              </a:rPr>
              <a:t>1</a:t>
            </a:r>
            <a:endParaRPr lang="en-US" sz="1800" dirty="0"/>
          </a:p>
        </p:txBody>
      </p:sp>
      <p:sp>
        <p:nvSpPr>
          <p:cNvPr id="10" name="Text 8"/>
          <p:cNvSpPr/>
          <p:nvPr/>
        </p:nvSpPr>
        <p:spPr>
          <a:xfrm>
            <a:off x="731520" y="4297680"/>
            <a:ext cx="3017520" cy="411480"/>
          </a:xfrm>
          <a:prstGeom prst="rect">
            <a:avLst/>
          </a:prstGeom>
          <a:noFill/>
          <a:ln/>
        </p:spPr>
        <p:txBody>
          <a:bodyPr wrap="square" rtlCol="0" anchor="ctr"/>
          <a:lstStyle/>
          <a:p>
            <a:pPr marL="0" indent="0">
              <a:buNone/>
            </a:pPr>
            <a:r>
              <a:rPr lang="en-US" sz="1600" b="1" dirty="0">
                <a:solidFill>
                  <a:srgbClr val="0B2A4A"/>
                </a:solidFill>
                <a:latin typeface="Cambria" pitchFamily="34" charset="0"/>
                <a:ea typeface="Cambria" pitchFamily="34" charset="-122"/>
                <a:cs typeface="Cambria" pitchFamily="34" charset="-120"/>
              </a:rPr>
              <a:t>Variables</a:t>
            </a:r>
            <a:endParaRPr lang="en-US" sz="1600" dirty="0"/>
          </a:p>
        </p:txBody>
      </p:sp>
      <p:sp>
        <p:nvSpPr>
          <p:cNvPr id="11" name="Text 9"/>
          <p:cNvSpPr/>
          <p:nvPr/>
        </p:nvSpPr>
        <p:spPr>
          <a:xfrm>
            <a:off x="731520" y="4754880"/>
            <a:ext cx="3017520" cy="822960"/>
          </a:xfrm>
          <a:prstGeom prst="rect">
            <a:avLst/>
          </a:prstGeom>
          <a:noFill/>
          <a:ln/>
        </p:spPr>
        <p:txBody>
          <a:bodyPr wrap="square" rtlCol="0" anchor="ctr"/>
          <a:lstStyle/>
          <a:p>
            <a:pPr marL="0" indent="0">
              <a:lnSpc>
                <a:spcPts val="1500"/>
              </a:lnSpc>
              <a:buNone/>
            </a:pPr>
            <a:r>
              <a:rPr lang="en-US" sz="1200" dirty="0">
                <a:solidFill>
                  <a:srgbClr val="5C6B73"/>
                </a:solidFill>
                <a:latin typeface="Calibri" pitchFamily="34" charset="0"/>
                <a:ea typeface="Calibri" pitchFamily="34" charset="-122"/>
                <a:cs typeface="Calibri" pitchFamily="34" charset="-120"/>
              </a:rPr>
              <a:t>X = fertilizer supplied (grams). Y = tomato yield (kg). X is independent, Y is dependent.</a:t>
            </a:r>
            <a:endParaRPr lang="en-US" sz="1200" dirty="0"/>
          </a:p>
        </p:txBody>
      </p:sp>
      <p:sp>
        <p:nvSpPr>
          <p:cNvPr id="12" name="Shape 10"/>
          <p:cNvSpPr/>
          <p:nvPr/>
        </p:nvSpPr>
        <p:spPr>
          <a:xfrm>
            <a:off x="4343400" y="3291840"/>
            <a:ext cx="3566160" cy="2377440"/>
          </a:xfrm>
          <a:prstGeom prst="roundRect">
            <a:avLst>
              <a:gd name="adj" fmla="val 3846"/>
            </a:avLst>
          </a:prstGeom>
          <a:solidFill>
            <a:srgbClr val="FFFFFF"/>
          </a:solidFill>
          <a:ln w="12700">
            <a:solidFill>
              <a:srgbClr val="D7E2E6"/>
            </a:solidFill>
            <a:prstDash val="solid"/>
          </a:ln>
          <a:effectLst>
            <a:outerShdw blurRad="76200" dist="25400" dir="5400000" algn="bl" rotWithShape="0">
              <a:srgbClr val="1A1A2E">
                <a:alpha val="10000"/>
              </a:srgbClr>
            </a:outerShdw>
          </a:effectLst>
        </p:spPr>
      </p:sp>
      <p:sp>
        <p:nvSpPr>
          <p:cNvPr id="13" name="Shape 11"/>
          <p:cNvSpPr/>
          <p:nvPr/>
        </p:nvSpPr>
        <p:spPr>
          <a:xfrm>
            <a:off x="4617720" y="3566160"/>
            <a:ext cx="548640" cy="548640"/>
          </a:xfrm>
          <a:prstGeom prst="ellipse">
            <a:avLst/>
          </a:prstGeom>
          <a:solidFill>
            <a:srgbClr val="E5F0F4"/>
          </a:solidFill>
          <a:ln/>
        </p:spPr>
      </p:sp>
      <p:sp>
        <p:nvSpPr>
          <p:cNvPr id="14" name="Text 12"/>
          <p:cNvSpPr/>
          <p:nvPr/>
        </p:nvSpPr>
        <p:spPr>
          <a:xfrm>
            <a:off x="4617720" y="3566160"/>
            <a:ext cx="548640" cy="548640"/>
          </a:xfrm>
          <a:prstGeom prst="rect">
            <a:avLst/>
          </a:prstGeom>
          <a:noFill/>
          <a:ln/>
        </p:spPr>
        <p:txBody>
          <a:bodyPr wrap="square" rtlCol="0" anchor="ctr"/>
          <a:lstStyle/>
          <a:p>
            <a:pPr marL="0" indent="0" algn="ctr">
              <a:buNone/>
            </a:pPr>
            <a:r>
              <a:rPr lang="en-US" sz="1800" b="1" dirty="0">
                <a:solidFill>
                  <a:srgbClr val="065A82"/>
                </a:solidFill>
                <a:latin typeface="Calibri" pitchFamily="34" charset="0"/>
                <a:ea typeface="Calibri" pitchFamily="34" charset="-122"/>
                <a:cs typeface="Calibri" pitchFamily="34" charset="-120"/>
              </a:rPr>
              <a:t>2</a:t>
            </a:r>
            <a:endParaRPr lang="en-US" sz="1800" dirty="0"/>
          </a:p>
        </p:txBody>
      </p:sp>
      <p:sp>
        <p:nvSpPr>
          <p:cNvPr id="15" name="Text 13"/>
          <p:cNvSpPr/>
          <p:nvPr/>
        </p:nvSpPr>
        <p:spPr>
          <a:xfrm>
            <a:off x="4617720" y="4297680"/>
            <a:ext cx="3017520" cy="411480"/>
          </a:xfrm>
          <a:prstGeom prst="rect">
            <a:avLst/>
          </a:prstGeom>
          <a:noFill/>
          <a:ln/>
        </p:spPr>
        <p:txBody>
          <a:bodyPr wrap="square" rtlCol="0" anchor="ctr"/>
          <a:lstStyle/>
          <a:p>
            <a:pPr marL="0" indent="0">
              <a:buNone/>
            </a:pPr>
            <a:r>
              <a:rPr lang="en-US" sz="1600" b="1" dirty="0">
                <a:solidFill>
                  <a:srgbClr val="0B2A4A"/>
                </a:solidFill>
                <a:latin typeface="Cambria" pitchFamily="34" charset="0"/>
                <a:ea typeface="Cambria" pitchFamily="34" charset="-122"/>
                <a:cs typeface="Cambria" pitchFamily="34" charset="-120"/>
              </a:rPr>
              <a:t>Sample</a:t>
            </a:r>
            <a:endParaRPr lang="en-US" sz="1600" dirty="0"/>
          </a:p>
        </p:txBody>
      </p:sp>
      <p:sp>
        <p:nvSpPr>
          <p:cNvPr id="16" name="Text 14"/>
          <p:cNvSpPr/>
          <p:nvPr/>
        </p:nvSpPr>
        <p:spPr>
          <a:xfrm>
            <a:off x="4617720" y="4754880"/>
            <a:ext cx="3017520" cy="822960"/>
          </a:xfrm>
          <a:prstGeom prst="rect">
            <a:avLst/>
          </a:prstGeom>
          <a:noFill/>
          <a:ln/>
        </p:spPr>
        <p:txBody>
          <a:bodyPr wrap="square" rtlCol="0" anchor="ctr"/>
          <a:lstStyle/>
          <a:p>
            <a:pPr marL="0" indent="0">
              <a:lnSpc>
                <a:spcPts val="1500"/>
              </a:lnSpc>
              <a:buNone/>
            </a:pPr>
            <a:r>
              <a:rPr lang="en-US" sz="1200" dirty="0">
                <a:solidFill>
                  <a:srgbClr val="5C6B73"/>
                </a:solidFill>
                <a:latin typeface="Calibri" pitchFamily="34" charset="0"/>
                <a:ea typeface="Calibri" pitchFamily="34" charset="-122"/>
                <a:cs typeface="Calibri" pitchFamily="34" charset="-120"/>
              </a:rPr>
              <a:t>8 tomato plants (A through H), each given a different amount of fertilizer.</a:t>
            </a:r>
            <a:endParaRPr lang="en-US" sz="1200" dirty="0"/>
          </a:p>
        </p:txBody>
      </p:sp>
      <p:sp>
        <p:nvSpPr>
          <p:cNvPr id="17" name="Shape 15"/>
          <p:cNvSpPr/>
          <p:nvPr/>
        </p:nvSpPr>
        <p:spPr>
          <a:xfrm>
            <a:off x="8229600" y="3291840"/>
            <a:ext cx="3566160" cy="2377440"/>
          </a:xfrm>
          <a:prstGeom prst="roundRect">
            <a:avLst>
              <a:gd name="adj" fmla="val 3846"/>
            </a:avLst>
          </a:prstGeom>
          <a:solidFill>
            <a:srgbClr val="FFFFFF"/>
          </a:solidFill>
          <a:ln w="12700">
            <a:solidFill>
              <a:srgbClr val="D7E2E6"/>
            </a:solidFill>
            <a:prstDash val="solid"/>
          </a:ln>
          <a:effectLst>
            <a:outerShdw blurRad="76200" dist="25400" dir="5400000" algn="bl" rotWithShape="0">
              <a:srgbClr val="1A1A2E">
                <a:alpha val="10000"/>
              </a:srgbClr>
            </a:outerShdw>
          </a:effectLst>
        </p:spPr>
      </p:sp>
      <p:sp>
        <p:nvSpPr>
          <p:cNvPr id="18" name="Shape 16"/>
          <p:cNvSpPr/>
          <p:nvPr/>
        </p:nvSpPr>
        <p:spPr>
          <a:xfrm>
            <a:off x="8503920" y="3566160"/>
            <a:ext cx="548640" cy="548640"/>
          </a:xfrm>
          <a:prstGeom prst="ellipse">
            <a:avLst/>
          </a:prstGeom>
          <a:solidFill>
            <a:srgbClr val="E5F0F4"/>
          </a:solidFill>
          <a:ln/>
        </p:spPr>
      </p:sp>
      <p:sp>
        <p:nvSpPr>
          <p:cNvPr id="19" name="Text 17"/>
          <p:cNvSpPr/>
          <p:nvPr/>
        </p:nvSpPr>
        <p:spPr>
          <a:xfrm>
            <a:off x="8503920" y="3566160"/>
            <a:ext cx="548640" cy="548640"/>
          </a:xfrm>
          <a:prstGeom prst="rect">
            <a:avLst/>
          </a:prstGeom>
          <a:noFill/>
          <a:ln/>
        </p:spPr>
        <p:txBody>
          <a:bodyPr wrap="square" rtlCol="0" anchor="ctr"/>
          <a:lstStyle/>
          <a:p>
            <a:pPr marL="0" indent="0" algn="ctr">
              <a:buNone/>
            </a:pPr>
            <a:r>
              <a:rPr lang="en-US" sz="1800" b="1" dirty="0">
                <a:solidFill>
                  <a:srgbClr val="065A82"/>
                </a:solidFill>
                <a:latin typeface="Calibri" pitchFamily="34" charset="0"/>
                <a:ea typeface="Calibri" pitchFamily="34" charset="-122"/>
                <a:cs typeface="Calibri" pitchFamily="34" charset="-120"/>
              </a:rPr>
              <a:t>3</a:t>
            </a:r>
            <a:endParaRPr lang="en-US" sz="1800" dirty="0"/>
          </a:p>
        </p:txBody>
      </p:sp>
      <p:sp>
        <p:nvSpPr>
          <p:cNvPr id="20" name="Text 18"/>
          <p:cNvSpPr/>
          <p:nvPr/>
        </p:nvSpPr>
        <p:spPr>
          <a:xfrm>
            <a:off x="8503920" y="4297680"/>
            <a:ext cx="3017520" cy="411480"/>
          </a:xfrm>
          <a:prstGeom prst="rect">
            <a:avLst/>
          </a:prstGeom>
          <a:noFill/>
          <a:ln/>
        </p:spPr>
        <p:txBody>
          <a:bodyPr wrap="square" rtlCol="0" anchor="ctr"/>
          <a:lstStyle/>
          <a:p>
            <a:pPr marL="0" indent="0">
              <a:buNone/>
            </a:pPr>
            <a:r>
              <a:rPr lang="en-US" sz="1600" b="1" dirty="0">
                <a:solidFill>
                  <a:srgbClr val="0B2A4A"/>
                </a:solidFill>
                <a:latin typeface="Cambria" pitchFamily="34" charset="0"/>
                <a:ea typeface="Cambria" pitchFamily="34" charset="-122"/>
                <a:cs typeface="Cambria" pitchFamily="34" charset="-120"/>
              </a:rPr>
              <a:t>Two Goals</a:t>
            </a:r>
            <a:endParaRPr lang="en-US" sz="1600" dirty="0"/>
          </a:p>
        </p:txBody>
      </p:sp>
      <p:sp>
        <p:nvSpPr>
          <p:cNvPr id="21" name="Text 19"/>
          <p:cNvSpPr/>
          <p:nvPr/>
        </p:nvSpPr>
        <p:spPr>
          <a:xfrm>
            <a:off x="8503920" y="4754880"/>
            <a:ext cx="3017520" cy="822960"/>
          </a:xfrm>
          <a:prstGeom prst="rect">
            <a:avLst/>
          </a:prstGeom>
          <a:noFill/>
          <a:ln/>
        </p:spPr>
        <p:txBody>
          <a:bodyPr wrap="square" rtlCol="0" anchor="ctr"/>
          <a:lstStyle/>
          <a:p>
            <a:pPr marL="0" indent="0">
              <a:lnSpc>
                <a:spcPts val="1500"/>
              </a:lnSpc>
              <a:buNone/>
            </a:pPr>
            <a:r>
              <a:rPr lang="en-US" sz="1200" dirty="0">
                <a:solidFill>
                  <a:srgbClr val="5C6B73"/>
                </a:solidFill>
                <a:latin typeface="Calibri" pitchFamily="34" charset="0"/>
                <a:ea typeface="Calibri" pitchFamily="34" charset="-122"/>
                <a:cs typeface="Calibri" pitchFamily="34" charset="-120"/>
              </a:rPr>
              <a:t>(1) Find the regression equation for Y on X. (2) Predict the yield for 3.2 g of fertilizer.</a:t>
            </a:r>
            <a:endParaRPr lang="en-US" sz="1200" dirty="0"/>
          </a:p>
        </p:txBody>
      </p:sp>
      <p:sp>
        <p:nvSpPr>
          <p:cNvPr id="22" name="Text 20"/>
          <p:cNvSpPr/>
          <p:nvPr/>
        </p:nvSpPr>
        <p:spPr>
          <a:xfrm>
            <a:off x="457200" y="5943600"/>
            <a:ext cx="11247120" cy="365760"/>
          </a:xfrm>
          <a:prstGeom prst="rect">
            <a:avLst/>
          </a:prstGeom>
          <a:noFill/>
          <a:ln/>
        </p:spPr>
        <p:txBody>
          <a:bodyPr wrap="square" rtlCol="0" anchor="ctr"/>
          <a:lstStyle/>
          <a:p>
            <a:pPr marL="0" indent="0" algn="ctr">
              <a:buNone/>
            </a:pPr>
            <a:r>
              <a:rPr lang="en-US" sz="1300" i="1" dirty="0">
                <a:solidFill>
                  <a:srgbClr val="5C6B73"/>
                </a:solidFill>
                <a:latin typeface="Calibri" pitchFamily="34" charset="0"/>
                <a:ea typeface="Calibri" pitchFamily="34" charset="-122"/>
                <a:cs typeface="Calibri" pitchFamily="34" charset="-120"/>
              </a:rPr>
              <a:t>We'll fit y = a + bx using the standard OLS computational formulas.</a:t>
            </a:r>
            <a:endParaRPr lang="en-US" sz="1300" dirty="0"/>
          </a:p>
        </p:txBody>
      </p:sp>
      <p:sp>
        <p:nvSpPr>
          <p:cNvPr id="23" name="Text 21"/>
          <p:cNvSpPr/>
          <p:nvPr/>
        </p:nvSpPr>
        <p:spPr>
          <a:xfrm>
            <a:off x="457200" y="6537960"/>
            <a:ext cx="5486400" cy="274320"/>
          </a:xfrm>
          <a:prstGeom prst="rect">
            <a:avLst/>
          </a:prstGeom>
          <a:noFill/>
          <a:ln/>
        </p:spPr>
        <p:txBody>
          <a:bodyPr wrap="square" rtlCol="0" anchor="ctr"/>
          <a:lstStyle/>
          <a:p>
            <a:pPr marL="0" indent="0">
              <a:buNone/>
            </a:pPr>
            <a:r>
              <a:rPr lang="en-US" sz="900" i="1" dirty="0">
                <a:solidFill>
                  <a:srgbClr val="5C6B73"/>
                </a:solidFill>
                <a:latin typeface="Calibri" pitchFamily="34" charset="0"/>
                <a:ea typeface="Calibri" pitchFamily="34" charset="-122"/>
                <a:cs typeface="Calibri" pitchFamily="34" charset="-120"/>
              </a:rPr>
              <a:t>Linear Regression · Fertilizer &amp; Yield</a:t>
            </a:r>
            <a:endParaRPr lang="en-US" sz="900" dirty="0"/>
          </a:p>
        </p:txBody>
      </p:sp>
      <p:sp>
        <p:nvSpPr>
          <p:cNvPr id="24" name="Text 22"/>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5C6B73"/>
                </a:solidFill>
                <a:latin typeface="Calibri" pitchFamily="34" charset="0"/>
                <a:ea typeface="Calibri" pitchFamily="34" charset="-122"/>
                <a:cs typeface="Calibri" pitchFamily="34" charset="-120"/>
              </a:rPr>
              <a:t>2</a:t>
            </a:r>
            <a:endParaRPr lang="en-US" sz="9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9FA"/>
        </a:solidFill>
        <a:effectLst/>
      </p:bgPr>
    </p:bg>
    <p:spTree>
      <p:nvGrpSpPr>
        <p:cNvPr id="1" name=""/>
        <p:cNvGrpSpPr/>
        <p:nvPr/>
      </p:nvGrpSpPr>
      <p:grpSpPr>
        <a:xfrm>
          <a:off x="0" y="0"/>
          <a:ext cx="0" cy="0"/>
          <a:chOff x="0" y="0"/>
          <a:chExt cx="0" cy="0"/>
        </a:xfrm>
      </p:grpSpPr>
      <p:sp>
        <p:nvSpPr>
          <p:cNvPr id="2" name="Shape 0"/>
          <p:cNvSpPr/>
          <p:nvPr/>
        </p:nvSpPr>
        <p:spPr>
          <a:xfrm>
            <a:off x="457200" y="411480"/>
            <a:ext cx="2560320" cy="365760"/>
          </a:xfrm>
          <a:prstGeom prst="roundRect">
            <a:avLst>
              <a:gd name="adj" fmla="val 20000"/>
            </a:avLst>
          </a:prstGeom>
          <a:solidFill>
            <a:srgbClr val="E5F0F4"/>
          </a:solidFill>
          <a:ln/>
        </p:spPr>
      </p:sp>
      <p:sp>
        <p:nvSpPr>
          <p:cNvPr id="3" name="Text 1"/>
          <p:cNvSpPr/>
          <p:nvPr/>
        </p:nvSpPr>
        <p:spPr>
          <a:xfrm>
            <a:off x="457200" y="411480"/>
            <a:ext cx="2560320" cy="365760"/>
          </a:xfrm>
          <a:prstGeom prst="rect">
            <a:avLst/>
          </a:prstGeom>
          <a:noFill/>
          <a:ln/>
        </p:spPr>
        <p:txBody>
          <a:bodyPr wrap="square" rtlCol="0" anchor="ctr"/>
          <a:lstStyle/>
          <a:p>
            <a:pPr marL="0" indent="0" algn="ctr">
              <a:buNone/>
            </a:pPr>
            <a:r>
              <a:rPr lang="en-US" sz="1100" b="1" kern="0" spc="100" dirty="0">
                <a:solidFill>
                  <a:srgbClr val="065A82"/>
                </a:solidFill>
                <a:latin typeface="Calibri" pitchFamily="34" charset="0"/>
                <a:ea typeface="Calibri" pitchFamily="34" charset="-122"/>
                <a:cs typeface="Calibri" pitchFamily="34" charset="-120"/>
              </a:rPr>
              <a:t>THE DATA</a:t>
            </a:r>
            <a:endParaRPr lang="en-US" sz="1100" dirty="0"/>
          </a:p>
        </p:txBody>
      </p:sp>
      <p:sp>
        <p:nvSpPr>
          <p:cNvPr id="4" name="Text 2"/>
          <p:cNvSpPr/>
          <p:nvPr/>
        </p:nvSpPr>
        <p:spPr>
          <a:xfrm>
            <a:off x="457200" y="868680"/>
            <a:ext cx="11247120" cy="685800"/>
          </a:xfrm>
          <a:prstGeom prst="rect">
            <a:avLst/>
          </a:prstGeom>
          <a:noFill/>
          <a:ln/>
        </p:spPr>
        <p:txBody>
          <a:bodyPr wrap="square" rtlCol="0" anchor="ctr"/>
          <a:lstStyle/>
          <a:p>
            <a:pPr marL="0" indent="0">
              <a:buNone/>
            </a:pPr>
            <a:r>
              <a:rPr lang="en-US" sz="2800" b="1" dirty="0">
                <a:solidFill>
                  <a:srgbClr val="0B2A4A"/>
                </a:solidFill>
                <a:latin typeface="Cambria" pitchFamily="34" charset="0"/>
                <a:ea typeface="Cambria" pitchFamily="34" charset="-122"/>
                <a:cs typeface="Cambria" pitchFamily="34" charset="-120"/>
              </a:rPr>
              <a:t>Eight Tomato Plants, Eight Data Points</a:t>
            </a:r>
            <a:endParaRPr lang="en-US" sz="2800" dirty="0"/>
          </a:p>
        </p:txBody>
      </p:sp>
      <p:sp>
        <p:nvSpPr>
          <p:cNvPr id="5" name="Text 3"/>
          <p:cNvSpPr/>
          <p:nvPr/>
        </p:nvSpPr>
        <p:spPr>
          <a:xfrm>
            <a:off x="457200" y="1508760"/>
            <a:ext cx="11247120" cy="457200"/>
          </a:xfrm>
          <a:prstGeom prst="rect">
            <a:avLst/>
          </a:prstGeom>
          <a:noFill/>
          <a:ln/>
        </p:spPr>
        <p:txBody>
          <a:bodyPr wrap="square" rtlCol="0" anchor="ctr"/>
          <a:lstStyle/>
          <a:p>
            <a:pPr marL="0" indent="0">
              <a:buNone/>
            </a:pPr>
            <a:r>
              <a:rPr lang="en-US" sz="1400" dirty="0">
                <a:solidFill>
                  <a:srgbClr val="17232E"/>
                </a:solidFill>
                <a:latin typeface="Calibri" pitchFamily="34" charset="0"/>
                <a:ea typeface="Calibri" pitchFamily="34" charset="-122"/>
                <a:cs typeface="Calibri" pitchFamily="34" charset="-120"/>
              </a:rPr>
              <a:t>Each plant received a different amount of fertilizer (X, grams) and produced a measured yield (Y, kg).</a:t>
            </a:r>
            <a:endParaRPr lang="en-US" sz="1400" dirty="0"/>
          </a:p>
        </p:txBody>
      </p:sp>
      <p:sp>
        <p:nvSpPr>
          <p:cNvPr id="6" name="Shape 4"/>
          <p:cNvSpPr/>
          <p:nvPr/>
        </p:nvSpPr>
        <p:spPr>
          <a:xfrm>
            <a:off x="2194560" y="2148840"/>
            <a:ext cx="1371600" cy="411480"/>
          </a:xfrm>
          <a:prstGeom prst="rect">
            <a:avLst/>
          </a:prstGeom>
          <a:solidFill>
            <a:srgbClr val="0B2A4A"/>
          </a:solidFill>
          <a:ln w="6350">
            <a:solidFill>
              <a:srgbClr val="FFFFFF"/>
            </a:solidFill>
            <a:prstDash val="solid"/>
          </a:ln>
        </p:spPr>
      </p:sp>
      <p:sp>
        <p:nvSpPr>
          <p:cNvPr id="7" name="Text 5"/>
          <p:cNvSpPr/>
          <p:nvPr/>
        </p:nvSpPr>
        <p:spPr>
          <a:xfrm>
            <a:off x="2194560" y="2148840"/>
            <a:ext cx="1371600" cy="41148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Plant</a:t>
            </a:r>
            <a:endParaRPr lang="en-US" sz="1200" dirty="0"/>
          </a:p>
        </p:txBody>
      </p:sp>
      <p:sp>
        <p:nvSpPr>
          <p:cNvPr id="8" name="Shape 6"/>
          <p:cNvSpPr/>
          <p:nvPr/>
        </p:nvSpPr>
        <p:spPr>
          <a:xfrm>
            <a:off x="3566160" y="2148840"/>
            <a:ext cx="1371600" cy="411480"/>
          </a:xfrm>
          <a:prstGeom prst="rect">
            <a:avLst/>
          </a:prstGeom>
          <a:solidFill>
            <a:srgbClr val="0B2A4A"/>
          </a:solidFill>
          <a:ln w="6350">
            <a:solidFill>
              <a:srgbClr val="FFFFFF"/>
            </a:solidFill>
            <a:prstDash val="solid"/>
          </a:ln>
        </p:spPr>
      </p:sp>
      <p:sp>
        <p:nvSpPr>
          <p:cNvPr id="9" name="Text 7"/>
          <p:cNvSpPr/>
          <p:nvPr/>
        </p:nvSpPr>
        <p:spPr>
          <a:xfrm>
            <a:off x="3566160" y="2148840"/>
            <a:ext cx="1371600" cy="41148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X (g)</a:t>
            </a:r>
            <a:endParaRPr lang="en-US" sz="1200" b="1" dirty="0"/>
          </a:p>
        </p:txBody>
      </p:sp>
      <p:sp>
        <p:nvSpPr>
          <p:cNvPr id="10" name="Shape 8"/>
          <p:cNvSpPr/>
          <p:nvPr/>
        </p:nvSpPr>
        <p:spPr>
          <a:xfrm>
            <a:off x="4937760" y="2148840"/>
            <a:ext cx="1371600" cy="411480"/>
          </a:xfrm>
          <a:prstGeom prst="rect">
            <a:avLst/>
          </a:prstGeom>
          <a:solidFill>
            <a:srgbClr val="0B2A4A"/>
          </a:solidFill>
          <a:ln w="6350">
            <a:solidFill>
              <a:srgbClr val="FFFFFF"/>
            </a:solidFill>
            <a:prstDash val="solid"/>
          </a:ln>
        </p:spPr>
      </p:sp>
      <p:sp>
        <p:nvSpPr>
          <p:cNvPr id="11" name="Text 9"/>
          <p:cNvSpPr/>
          <p:nvPr/>
        </p:nvSpPr>
        <p:spPr>
          <a:xfrm>
            <a:off x="4937760" y="2148840"/>
            <a:ext cx="1371600" cy="41148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Y (kg)</a:t>
            </a:r>
            <a:endParaRPr lang="en-US" sz="1200" b="1" dirty="0"/>
          </a:p>
        </p:txBody>
      </p:sp>
      <p:sp>
        <p:nvSpPr>
          <p:cNvPr id="12" name="Shape 10"/>
          <p:cNvSpPr/>
          <p:nvPr/>
        </p:nvSpPr>
        <p:spPr>
          <a:xfrm>
            <a:off x="2194560" y="2560320"/>
            <a:ext cx="1371600" cy="365760"/>
          </a:xfrm>
          <a:prstGeom prst="rect">
            <a:avLst/>
          </a:prstGeom>
          <a:solidFill>
            <a:srgbClr val="F0F5F6"/>
          </a:solidFill>
          <a:ln w="6350">
            <a:solidFill>
              <a:srgbClr val="D7E2E6"/>
            </a:solidFill>
            <a:prstDash val="solid"/>
          </a:ln>
        </p:spPr>
      </p:sp>
      <p:sp>
        <p:nvSpPr>
          <p:cNvPr id="13" name="Text 11"/>
          <p:cNvSpPr/>
          <p:nvPr/>
        </p:nvSpPr>
        <p:spPr>
          <a:xfrm>
            <a:off x="2194560" y="2560320"/>
            <a:ext cx="1371600" cy="365760"/>
          </a:xfrm>
          <a:prstGeom prst="rect">
            <a:avLst/>
          </a:prstGeom>
          <a:noFill/>
          <a:ln/>
        </p:spPr>
        <p:txBody>
          <a:bodyPr wrap="square" rtlCol="0" anchor="ctr"/>
          <a:lstStyle/>
          <a:p>
            <a:pPr marL="0" indent="0" algn="ctr">
              <a:buNone/>
            </a:pPr>
            <a:r>
              <a:rPr lang="en-US" sz="1150" dirty="0">
                <a:solidFill>
                  <a:srgbClr val="17232E"/>
                </a:solidFill>
                <a:latin typeface="Calibri" pitchFamily="34" charset="0"/>
                <a:ea typeface="Calibri" pitchFamily="34" charset="-122"/>
                <a:cs typeface="Calibri" pitchFamily="34" charset="-120"/>
              </a:rPr>
              <a:t>A</a:t>
            </a:r>
            <a:endParaRPr lang="en-US" sz="1150" dirty="0"/>
          </a:p>
        </p:txBody>
      </p:sp>
      <p:sp>
        <p:nvSpPr>
          <p:cNvPr id="14" name="Shape 12"/>
          <p:cNvSpPr/>
          <p:nvPr/>
        </p:nvSpPr>
        <p:spPr>
          <a:xfrm>
            <a:off x="3566160" y="2560320"/>
            <a:ext cx="1371600" cy="365760"/>
          </a:xfrm>
          <a:prstGeom prst="rect">
            <a:avLst/>
          </a:prstGeom>
          <a:solidFill>
            <a:srgbClr val="F0F5F6"/>
          </a:solidFill>
          <a:ln w="6350">
            <a:solidFill>
              <a:srgbClr val="D7E2E6"/>
            </a:solidFill>
            <a:prstDash val="solid"/>
          </a:ln>
        </p:spPr>
      </p:sp>
      <p:sp>
        <p:nvSpPr>
          <p:cNvPr id="15" name="Text 13"/>
          <p:cNvSpPr/>
          <p:nvPr/>
        </p:nvSpPr>
        <p:spPr>
          <a:xfrm>
            <a:off x="3566160" y="2560320"/>
            <a:ext cx="1371600" cy="365760"/>
          </a:xfrm>
          <a:prstGeom prst="rect">
            <a:avLst/>
          </a:prstGeom>
          <a:noFill/>
          <a:ln/>
        </p:spPr>
        <p:txBody>
          <a:bodyPr wrap="square" rtlCol="0" anchor="ctr"/>
          <a:lstStyle/>
          <a:p>
            <a:pPr marL="0" indent="0" algn="ctr">
              <a:buNone/>
            </a:pPr>
            <a:r>
              <a:rPr lang="en-US" sz="1150" b="1" dirty="0">
                <a:solidFill>
                  <a:srgbClr val="17232E"/>
                </a:solidFill>
                <a:latin typeface="Courier New" pitchFamily="34" charset="0"/>
                <a:ea typeface="Courier New" pitchFamily="34" charset="-122"/>
                <a:cs typeface="Courier New" pitchFamily="34" charset="-120"/>
              </a:rPr>
              <a:t>1.0</a:t>
            </a:r>
            <a:endParaRPr lang="en-US" sz="1150" b="1" dirty="0"/>
          </a:p>
        </p:txBody>
      </p:sp>
      <p:sp>
        <p:nvSpPr>
          <p:cNvPr id="16" name="Shape 14"/>
          <p:cNvSpPr/>
          <p:nvPr/>
        </p:nvSpPr>
        <p:spPr>
          <a:xfrm>
            <a:off x="4937760" y="2560320"/>
            <a:ext cx="1371600" cy="365760"/>
          </a:xfrm>
          <a:prstGeom prst="rect">
            <a:avLst/>
          </a:prstGeom>
          <a:solidFill>
            <a:srgbClr val="F0F5F6"/>
          </a:solidFill>
          <a:ln w="6350">
            <a:solidFill>
              <a:srgbClr val="D7E2E6"/>
            </a:solidFill>
            <a:prstDash val="solid"/>
          </a:ln>
        </p:spPr>
      </p:sp>
      <p:sp>
        <p:nvSpPr>
          <p:cNvPr id="17" name="Text 15"/>
          <p:cNvSpPr/>
          <p:nvPr/>
        </p:nvSpPr>
        <p:spPr>
          <a:xfrm>
            <a:off x="4937760" y="2560320"/>
            <a:ext cx="1371600" cy="365760"/>
          </a:xfrm>
          <a:prstGeom prst="rect">
            <a:avLst/>
          </a:prstGeom>
          <a:noFill/>
          <a:ln/>
        </p:spPr>
        <p:txBody>
          <a:bodyPr wrap="square" rtlCol="0" anchor="ctr"/>
          <a:lstStyle/>
          <a:p>
            <a:pPr marL="0" indent="0" algn="ctr">
              <a:buNone/>
            </a:pPr>
            <a:r>
              <a:rPr lang="en-US" sz="1150" b="1" dirty="0">
                <a:solidFill>
                  <a:srgbClr val="17232E"/>
                </a:solidFill>
                <a:latin typeface="Courier New" pitchFamily="34" charset="0"/>
                <a:ea typeface="Courier New" pitchFamily="34" charset="-122"/>
                <a:cs typeface="Courier New" pitchFamily="34" charset="-120"/>
              </a:rPr>
              <a:t>4.2</a:t>
            </a:r>
            <a:endParaRPr lang="en-US" sz="1150" b="1" dirty="0"/>
          </a:p>
        </p:txBody>
      </p:sp>
      <p:sp>
        <p:nvSpPr>
          <p:cNvPr id="18" name="Shape 16"/>
          <p:cNvSpPr/>
          <p:nvPr/>
        </p:nvSpPr>
        <p:spPr>
          <a:xfrm>
            <a:off x="2194560" y="2926080"/>
            <a:ext cx="1371600" cy="365760"/>
          </a:xfrm>
          <a:prstGeom prst="rect">
            <a:avLst/>
          </a:prstGeom>
          <a:solidFill>
            <a:srgbClr val="FFFFFF"/>
          </a:solidFill>
          <a:ln w="6350">
            <a:solidFill>
              <a:srgbClr val="D7E2E6"/>
            </a:solidFill>
            <a:prstDash val="solid"/>
          </a:ln>
        </p:spPr>
      </p:sp>
      <p:sp>
        <p:nvSpPr>
          <p:cNvPr id="19" name="Text 17"/>
          <p:cNvSpPr/>
          <p:nvPr/>
        </p:nvSpPr>
        <p:spPr>
          <a:xfrm>
            <a:off x="2194560" y="2926080"/>
            <a:ext cx="1371600" cy="365760"/>
          </a:xfrm>
          <a:prstGeom prst="rect">
            <a:avLst/>
          </a:prstGeom>
          <a:noFill/>
          <a:ln/>
        </p:spPr>
        <p:txBody>
          <a:bodyPr wrap="square" rtlCol="0" anchor="ctr"/>
          <a:lstStyle/>
          <a:p>
            <a:pPr marL="0" indent="0" algn="ctr">
              <a:buNone/>
            </a:pPr>
            <a:r>
              <a:rPr lang="en-US" sz="1150" dirty="0">
                <a:solidFill>
                  <a:srgbClr val="17232E"/>
                </a:solidFill>
                <a:latin typeface="Calibri" pitchFamily="34" charset="0"/>
                <a:ea typeface="Calibri" pitchFamily="34" charset="-122"/>
                <a:cs typeface="Calibri" pitchFamily="34" charset="-120"/>
              </a:rPr>
              <a:t>B</a:t>
            </a:r>
            <a:endParaRPr lang="en-US" sz="1150" dirty="0"/>
          </a:p>
        </p:txBody>
      </p:sp>
      <p:sp>
        <p:nvSpPr>
          <p:cNvPr id="20" name="Shape 18"/>
          <p:cNvSpPr/>
          <p:nvPr/>
        </p:nvSpPr>
        <p:spPr>
          <a:xfrm>
            <a:off x="3566160" y="2926080"/>
            <a:ext cx="1371600" cy="365760"/>
          </a:xfrm>
          <a:prstGeom prst="rect">
            <a:avLst/>
          </a:prstGeom>
          <a:solidFill>
            <a:srgbClr val="FFFFFF"/>
          </a:solidFill>
          <a:ln w="6350">
            <a:solidFill>
              <a:srgbClr val="D7E2E6"/>
            </a:solidFill>
            <a:prstDash val="solid"/>
          </a:ln>
        </p:spPr>
      </p:sp>
      <p:sp>
        <p:nvSpPr>
          <p:cNvPr id="21" name="Text 19"/>
          <p:cNvSpPr/>
          <p:nvPr/>
        </p:nvSpPr>
        <p:spPr>
          <a:xfrm>
            <a:off x="3566160" y="2926080"/>
            <a:ext cx="1371600" cy="365760"/>
          </a:xfrm>
          <a:prstGeom prst="rect">
            <a:avLst/>
          </a:prstGeom>
          <a:noFill/>
          <a:ln/>
        </p:spPr>
        <p:txBody>
          <a:bodyPr wrap="square" rtlCol="0" anchor="ctr"/>
          <a:lstStyle/>
          <a:p>
            <a:pPr marL="0" indent="0" algn="ctr">
              <a:buNone/>
            </a:pPr>
            <a:r>
              <a:rPr lang="en-US" sz="1150" b="1" dirty="0">
                <a:solidFill>
                  <a:srgbClr val="17232E"/>
                </a:solidFill>
                <a:latin typeface="Courier New" pitchFamily="34" charset="0"/>
                <a:ea typeface="Courier New" pitchFamily="34" charset="-122"/>
                <a:cs typeface="Courier New" pitchFamily="34" charset="-120"/>
              </a:rPr>
              <a:t>1.0</a:t>
            </a:r>
            <a:endParaRPr lang="en-US" sz="1150" b="1" dirty="0"/>
          </a:p>
        </p:txBody>
      </p:sp>
      <p:sp>
        <p:nvSpPr>
          <p:cNvPr id="22" name="Shape 20"/>
          <p:cNvSpPr/>
          <p:nvPr/>
        </p:nvSpPr>
        <p:spPr>
          <a:xfrm>
            <a:off x="4937760" y="2926080"/>
            <a:ext cx="1371600" cy="365760"/>
          </a:xfrm>
          <a:prstGeom prst="rect">
            <a:avLst/>
          </a:prstGeom>
          <a:solidFill>
            <a:srgbClr val="FFFFFF"/>
          </a:solidFill>
          <a:ln w="6350">
            <a:solidFill>
              <a:srgbClr val="D7E2E6"/>
            </a:solidFill>
            <a:prstDash val="solid"/>
          </a:ln>
        </p:spPr>
      </p:sp>
      <p:sp>
        <p:nvSpPr>
          <p:cNvPr id="23" name="Text 21"/>
          <p:cNvSpPr/>
          <p:nvPr/>
        </p:nvSpPr>
        <p:spPr>
          <a:xfrm>
            <a:off x="4937760" y="2926080"/>
            <a:ext cx="1371600" cy="365760"/>
          </a:xfrm>
          <a:prstGeom prst="rect">
            <a:avLst/>
          </a:prstGeom>
          <a:noFill/>
          <a:ln/>
        </p:spPr>
        <p:txBody>
          <a:bodyPr wrap="square" rtlCol="0" anchor="ctr"/>
          <a:lstStyle/>
          <a:p>
            <a:pPr marL="0" indent="0" algn="ctr">
              <a:buNone/>
            </a:pPr>
            <a:r>
              <a:rPr lang="en-US" sz="1150" b="1" dirty="0">
                <a:solidFill>
                  <a:srgbClr val="17232E"/>
                </a:solidFill>
                <a:latin typeface="Courier New" pitchFamily="34" charset="0"/>
                <a:ea typeface="Courier New" pitchFamily="34" charset="-122"/>
                <a:cs typeface="Courier New" pitchFamily="34" charset="-120"/>
              </a:rPr>
              <a:t>4.2</a:t>
            </a:r>
            <a:endParaRPr lang="en-US" sz="1150" b="1" dirty="0"/>
          </a:p>
        </p:txBody>
      </p:sp>
      <p:sp>
        <p:nvSpPr>
          <p:cNvPr id="24" name="Shape 22"/>
          <p:cNvSpPr/>
          <p:nvPr/>
        </p:nvSpPr>
        <p:spPr>
          <a:xfrm>
            <a:off x="2194560" y="3291840"/>
            <a:ext cx="1371600" cy="365760"/>
          </a:xfrm>
          <a:prstGeom prst="rect">
            <a:avLst/>
          </a:prstGeom>
          <a:solidFill>
            <a:srgbClr val="F0F5F6"/>
          </a:solidFill>
          <a:ln w="6350">
            <a:solidFill>
              <a:srgbClr val="D7E2E6"/>
            </a:solidFill>
            <a:prstDash val="solid"/>
          </a:ln>
        </p:spPr>
      </p:sp>
      <p:sp>
        <p:nvSpPr>
          <p:cNvPr id="25" name="Text 23"/>
          <p:cNvSpPr/>
          <p:nvPr/>
        </p:nvSpPr>
        <p:spPr>
          <a:xfrm>
            <a:off x="2194560" y="3291840"/>
            <a:ext cx="1371600" cy="365760"/>
          </a:xfrm>
          <a:prstGeom prst="rect">
            <a:avLst/>
          </a:prstGeom>
          <a:noFill/>
          <a:ln/>
        </p:spPr>
        <p:txBody>
          <a:bodyPr wrap="square" rtlCol="0" anchor="ctr"/>
          <a:lstStyle/>
          <a:p>
            <a:pPr marL="0" indent="0" algn="ctr">
              <a:buNone/>
            </a:pPr>
            <a:r>
              <a:rPr lang="en-US" sz="1150" dirty="0">
                <a:solidFill>
                  <a:srgbClr val="17232E"/>
                </a:solidFill>
                <a:latin typeface="Calibri" pitchFamily="34" charset="0"/>
                <a:ea typeface="Calibri" pitchFamily="34" charset="-122"/>
                <a:cs typeface="Calibri" pitchFamily="34" charset="-120"/>
              </a:rPr>
              <a:t>C</a:t>
            </a:r>
            <a:endParaRPr lang="en-US" sz="1150" dirty="0"/>
          </a:p>
        </p:txBody>
      </p:sp>
      <p:sp>
        <p:nvSpPr>
          <p:cNvPr id="26" name="Shape 24"/>
          <p:cNvSpPr/>
          <p:nvPr/>
        </p:nvSpPr>
        <p:spPr>
          <a:xfrm>
            <a:off x="3566160" y="3291840"/>
            <a:ext cx="1371600" cy="365760"/>
          </a:xfrm>
          <a:prstGeom prst="rect">
            <a:avLst/>
          </a:prstGeom>
          <a:solidFill>
            <a:srgbClr val="F0F5F6"/>
          </a:solidFill>
          <a:ln w="6350">
            <a:solidFill>
              <a:srgbClr val="D7E2E6"/>
            </a:solidFill>
            <a:prstDash val="solid"/>
          </a:ln>
        </p:spPr>
      </p:sp>
      <p:sp>
        <p:nvSpPr>
          <p:cNvPr id="27" name="Text 25"/>
          <p:cNvSpPr/>
          <p:nvPr/>
        </p:nvSpPr>
        <p:spPr>
          <a:xfrm>
            <a:off x="3566160" y="3291840"/>
            <a:ext cx="1371600" cy="365760"/>
          </a:xfrm>
          <a:prstGeom prst="rect">
            <a:avLst/>
          </a:prstGeom>
          <a:noFill/>
          <a:ln/>
        </p:spPr>
        <p:txBody>
          <a:bodyPr wrap="square" rtlCol="0" anchor="ctr"/>
          <a:lstStyle/>
          <a:p>
            <a:pPr marL="0" indent="0" algn="ctr">
              <a:buNone/>
            </a:pPr>
            <a:r>
              <a:rPr lang="en-US" sz="1150" b="1" dirty="0">
                <a:solidFill>
                  <a:srgbClr val="17232E"/>
                </a:solidFill>
                <a:latin typeface="Courier New" pitchFamily="34" charset="0"/>
                <a:ea typeface="Courier New" pitchFamily="34" charset="-122"/>
                <a:cs typeface="Courier New" pitchFamily="34" charset="-120"/>
              </a:rPr>
              <a:t>2.5</a:t>
            </a:r>
            <a:endParaRPr lang="en-US" sz="1150" b="1" dirty="0"/>
          </a:p>
        </p:txBody>
      </p:sp>
      <p:sp>
        <p:nvSpPr>
          <p:cNvPr id="28" name="Shape 26"/>
          <p:cNvSpPr/>
          <p:nvPr/>
        </p:nvSpPr>
        <p:spPr>
          <a:xfrm>
            <a:off x="4937760" y="3291840"/>
            <a:ext cx="1371600" cy="365760"/>
          </a:xfrm>
          <a:prstGeom prst="rect">
            <a:avLst/>
          </a:prstGeom>
          <a:solidFill>
            <a:srgbClr val="F0F5F6"/>
          </a:solidFill>
          <a:ln w="6350">
            <a:solidFill>
              <a:srgbClr val="D7E2E6"/>
            </a:solidFill>
            <a:prstDash val="solid"/>
          </a:ln>
        </p:spPr>
      </p:sp>
      <p:sp>
        <p:nvSpPr>
          <p:cNvPr id="29" name="Text 27"/>
          <p:cNvSpPr/>
          <p:nvPr/>
        </p:nvSpPr>
        <p:spPr>
          <a:xfrm>
            <a:off x="4937760" y="3291840"/>
            <a:ext cx="1371600" cy="365760"/>
          </a:xfrm>
          <a:prstGeom prst="rect">
            <a:avLst/>
          </a:prstGeom>
          <a:noFill/>
          <a:ln/>
        </p:spPr>
        <p:txBody>
          <a:bodyPr wrap="square" rtlCol="0" anchor="ctr"/>
          <a:lstStyle/>
          <a:p>
            <a:pPr marL="0" indent="0" algn="ctr">
              <a:buNone/>
            </a:pPr>
            <a:r>
              <a:rPr lang="en-US" sz="1150" b="1" dirty="0">
                <a:solidFill>
                  <a:srgbClr val="17232E"/>
                </a:solidFill>
                <a:latin typeface="Courier New" pitchFamily="34" charset="0"/>
                <a:ea typeface="Courier New" pitchFamily="34" charset="-122"/>
                <a:cs typeface="Courier New" pitchFamily="34" charset="-120"/>
              </a:rPr>
              <a:t>5.8</a:t>
            </a:r>
            <a:endParaRPr lang="en-US" sz="1150" b="1" dirty="0"/>
          </a:p>
        </p:txBody>
      </p:sp>
      <p:sp>
        <p:nvSpPr>
          <p:cNvPr id="30" name="Shape 28"/>
          <p:cNvSpPr/>
          <p:nvPr/>
        </p:nvSpPr>
        <p:spPr>
          <a:xfrm>
            <a:off x="2194560" y="3657600"/>
            <a:ext cx="1371600" cy="365760"/>
          </a:xfrm>
          <a:prstGeom prst="rect">
            <a:avLst/>
          </a:prstGeom>
          <a:solidFill>
            <a:srgbClr val="FFFFFF"/>
          </a:solidFill>
          <a:ln w="6350">
            <a:solidFill>
              <a:srgbClr val="D7E2E6"/>
            </a:solidFill>
            <a:prstDash val="solid"/>
          </a:ln>
        </p:spPr>
      </p:sp>
      <p:sp>
        <p:nvSpPr>
          <p:cNvPr id="31" name="Text 29"/>
          <p:cNvSpPr/>
          <p:nvPr/>
        </p:nvSpPr>
        <p:spPr>
          <a:xfrm>
            <a:off x="2194560" y="3657600"/>
            <a:ext cx="1371600" cy="365760"/>
          </a:xfrm>
          <a:prstGeom prst="rect">
            <a:avLst/>
          </a:prstGeom>
          <a:noFill/>
          <a:ln/>
        </p:spPr>
        <p:txBody>
          <a:bodyPr wrap="square" rtlCol="0" anchor="ctr"/>
          <a:lstStyle/>
          <a:p>
            <a:pPr marL="0" indent="0" algn="ctr">
              <a:buNone/>
            </a:pPr>
            <a:r>
              <a:rPr lang="en-US" sz="1150" dirty="0">
                <a:solidFill>
                  <a:srgbClr val="17232E"/>
                </a:solidFill>
                <a:latin typeface="Calibri" pitchFamily="34" charset="0"/>
                <a:ea typeface="Calibri" pitchFamily="34" charset="-122"/>
                <a:cs typeface="Calibri" pitchFamily="34" charset="-120"/>
              </a:rPr>
              <a:t>D</a:t>
            </a:r>
            <a:endParaRPr lang="en-US" sz="1150" dirty="0"/>
          </a:p>
        </p:txBody>
      </p:sp>
      <p:sp>
        <p:nvSpPr>
          <p:cNvPr id="32" name="Shape 30"/>
          <p:cNvSpPr/>
          <p:nvPr/>
        </p:nvSpPr>
        <p:spPr>
          <a:xfrm>
            <a:off x="3566160" y="3657600"/>
            <a:ext cx="1371600" cy="365760"/>
          </a:xfrm>
          <a:prstGeom prst="rect">
            <a:avLst/>
          </a:prstGeom>
          <a:solidFill>
            <a:srgbClr val="FFFFFF"/>
          </a:solidFill>
          <a:ln w="6350">
            <a:solidFill>
              <a:srgbClr val="D7E2E6"/>
            </a:solidFill>
            <a:prstDash val="solid"/>
          </a:ln>
        </p:spPr>
      </p:sp>
      <p:sp>
        <p:nvSpPr>
          <p:cNvPr id="33" name="Text 31"/>
          <p:cNvSpPr/>
          <p:nvPr/>
        </p:nvSpPr>
        <p:spPr>
          <a:xfrm>
            <a:off x="3566160" y="3657600"/>
            <a:ext cx="1371600" cy="365760"/>
          </a:xfrm>
          <a:prstGeom prst="rect">
            <a:avLst/>
          </a:prstGeom>
          <a:noFill/>
          <a:ln/>
        </p:spPr>
        <p:txBody>
          <a:bodyPr wrap="square" rtlCol="0" anchor="ctr"/>
          <a:lstStyle/>
          <a:p>
            <a:pPr marL="0" indent="0" algn="ctr">
              <a:buNone/>
            </a:pPr>
            <a:r>
              <a:rPr lang="en-US" sz="1150" b="1" dirty="0">
                <a:solidFill>
                  <a:srgbClr val="17232E"/>
                </a:solidFill>
                <a:latin typeface="Courier New" pitchFamily="34" charset="0"/>
                <a:ea typeface="Courier New" pitchFamily="34" charset="-122"/>
                <a:cs typeface="Courier New" pitchFamily="34" charset="-120"/>
              </a:rPr>
              <a:t>3.0</a:t>
            </a:r>
            <a:endParaRPr lang="en-US" sz="1150" b="1" dirty="0"/>
          </a:p>
        </p:txBody>
      </p:sp>
      <p:sp>
        <p:nvSpPr>
          <p:cNvPr id="34" name="Shape 32"/>
          <p:cNvSpPr/>
          <p:nvPr/>
        </p:nvSpPr>
        <p:spPr>
          <a:xfrm>
            <a:off x="4937760" y="3657600"/>
            <a:ext cx="1371600" cy="365760"/>
          </a:xfrm>
          <a:prstGeom prst="rect">
            <a:avLst/>
          </a:prstGeom>
          <a:solidFill>
            <a:srgbClr val="FFFFFF"/>
          </a:solidFill>
          <a:ln w="6350">
            <a:solidFill>
              <a:srgbClr val="D7E2E6"/>
            </a:solidFill>
            <a:prstDash val="solid"/>
          </a:ln>
        </p:spPr>
      </p:sp>
      <p:sp>
        <p:nvSpPr>
          <p:cNvPr id="35" name="Text 33"/>
          <p:cNvSpPr/>
          <p:nvPr/>
        </p:nvSpPr>
        <p:spPr>
          <a:xfrm>
            <a:off x="4937760" y="3657600"/>
            <a:ext cx="1371600" cy="365760"/>
          </a:xfrm>
          <a:prstGeom prst="rect">
            <a:avLst/>
          </a:prstGeom>
          <a:noFill/>
          <a:ln/>
        </p:spPr>
        <p:txBody>
          <a:bodyPr wrap="square" rtlCol="0" anchor="ctr"/>
          <a:lstStyle/>
          <a:p>
            <a:pPr marL="0" indent="0" algn="ctr">
              <a:buNone/>
            </a:pPr>
            <a:r>
              <a:rPr lang="en-US" sz="1150" b="1" dirty="0">
                <a:solidFill>
                  <a:srgbClr val="17232E"/>
                </a:solidFill>
                <a:latin typeface="Courier New" pitchFamily="34" charset="0"/>
                <a:ea typeface="Courier New" pitchFamily="34" charset="-122"/>
                <a:cs typeface="Courier New" pitchFamily="34" charset="-120"/>
              </a:rPr>
              <a:t>6.4</a:t>
            </a:r>
            <a:endParaRPr lang="en-US" sz="1150" b="1" dirty="0"/>
          </a:p>
        </p:txBody>
      </p:sp>
      <p:sp>
        <p:nvSpPr>
          <p:cNvPr id="36" name="Shape 34"/>
          <p:cNvSpPr/>
          <p:nvPr/>
        </p:nvSpPr>
        <p:spPr>
          <a:xfrm>
            <a:off x="2194560" y="4023360"/>
            <a:ext cx="1371600" cy="365760"/>
          </a:xfrm>
          <a:prstGeom prst="rect">
            <a:avLst/>
          </a:prstGeom>
          <a:solidFill>
            <a:srgbClr val="F0F5F6"/>
          </a:solidFill>
          <a:ln w="6350">
            <a:solidFill>
              <a:srgbClr val="D7E2E6"/>
            </a:solidFill>
            <a:prstDash val="solid"/>
          </a:ln>
        </p:spPr>
      </p:sp>
      <p:sp>
        <p:nvSpPr>
          <p:cNvPr id="37" name="Text 35"/>
          <p:cNvSpPr/>
          <p:nvPr/>
        </p:nvSpPr>
        <p:spPr>
          <a:xfrm>
            <a:off x="2194560" y="4023360"/>
            <a:ext cx="1371600" cy="365760"/>
          </a:xfrm>
          <a:prstGeom prst="rect">
            <a:avLst/>
          </a:prstGeom>
          <a:noFill/>
          <a:ln/>
        </p:spPr>
        <p:txBody>
          <a:bodyPr wrap="square" rtlCol="0" anchor="ctr"/>
          <a:lstStyle/>
          <a:p>
            <a:pPr marL="0" indent="0" algn="ctr">
              <a:buNone/>
            </a:pPr>
            <a:r>
              <a:rPr lang="en-US" sz="1150" dirty="0">
                <a:solidFill>
                  <a:srgbClr val="17232E"/>
                </a:solidFill>
                <a:latin typeface="Calibri" pitchFamily="34" charset="0"/>
                <a:ea typeface="Calibri" pitchFamily="34" charset="-122"/>
                <a:cs typeface="Calibri" pitchFamily="34" charset="-120"/>
              </a:rPr>
              <a:t>E</a:t>
            </a:r>
            <a:endParaRPr lang="en-US" sz="1150" dirty="0"/>
          </a:p>
        </p:txBody>
      </p:sp>
      <p:sp>
        <p:nvSpPr>
          <p:cNvPr id="38" name="Shape 36"/>
          <p:cNvSpPr/>
          <p:nvPr/>
        </p:nvSpPr>
        <p:spPr>
          <a:xfrm>
            <a:off x="3566160" y="4023360"/>
            <a:ext cx="1371600" cy="365760"/>
          </a:xfrm>
          <a:prstGeom prst="rect">
            <a:avLst/>
          </a:prstGeom>
          <a:solidFill>
            <a:srgbClr val="F0F5F6"/>
          </a:solidFill>
          <a:ln w="6350">
            <a:solidFill>
              <a:srgbClr val="D7E2E6"/>
            </a:solidFill>
            <a:prstDash val="solid"/>
          </a:ln>
        </p:spPr>
      </p:sp>
      <p:sp>
        <p:nvSpPr>
          <p:cNvPr id="39" name="Text 37"/>
          <p:cNvSpPr/>
          <p:nvPr/>
        </p:nvSpPr>
        <p:spPr>
          <a:xfrm>
            <a:off x="3566160" y="4023360"/>
            <a:ext cx="1371600" cy="365760"/>
          </a:xfrm>
          <a:prstGeom prst="rect">
            <a:avLst/>
          </a:prstGeom>
          <a:noFill/>
          <a:ln/>
        </p:spPr>
        <p:txBody>
          <a:bodyPr wrap="square" rtlCol="0" anchor="ctr"/>
          <a:lstStyle/>
          <a:p>
            <a:pPr marL="0" indent="0" algn="ctr">
              <a:buNone/>
            </a:pPr>
            <a:r>
              <a:rPr lang="en-US" sz="1150" b="1" dirty="0">
                <a:solidFill>
                  <a:srgbClr val="17232E"/>
                </a:solidFill>
                <a:latin typeface="Courier New" pitchFamily="34" charset="0"/>
                <a:ea typeface="Courier New" pitchFamily="34" charset="-122"/>
                <a:cs typeface="Courier New" pitchFamily="34" charset="-120"/>
              </a:rPr>
              <a:t>3.0</a:t>
            </a:r>
            <a:endParaRPr lang="en-US" sz="1150" b="1" dirty="0"/>
          </a:p>
        </p:txBody>
      </p:sp>
      <p:sp>
        <p:nvSpPr>
          <p:cNvPr id="40" name="Shape 38"/>
          <p:cNvSpPr/>
          <p:nvPr/>
        </p:nvSpPr>
        <p:spPr>
          <a:xfrm>
            <a:off x="4937760" y="4023360"/>
            <a:ext cx="1371600" cy="365760"/>
          </a:xfrm>
          <a:prstGeom prst="rect">
            <a:avLst/>
          </a:prstGeom>
          <a:solidFill>
            <a:srgbClr val="F0F5F6"/>
          </a:solidFill>
          <a:ln w="6350">
            <a:solidFill>
              <a:srgbClr val="D7E2E6"/>
            </a:solidFill>
            <a:prstDash val="solid"/>
          </a:ln>
        </p:spPr>
      </p:sp>
      <p:sp>
        <p:nvSpPr>
          <p:cNvPr id="41" name="Text 39"/>
          <p:cNvSpPr/>
          <p:nvPr/>
        </p:nvSpPr>
        <p:spPr>
          <a:xfrm>
            <a:off x="4937760" y="4023360"/>
            <a:ext cx="1371600" cy="365760"/>
          </a:xfrm>
          <a:prstGeom prst="rect">
            <a:avLst/>
          </a:prstGeom>
          <a:noFill/>
          <a:ln/>
        </p:spPr>
        <p:txBody>
          <a:bodyPr wrap="square" rtlCol="0" anchor="ctr"/>
          <a:lstStyle/>
          <a:p>
            <a:pPr marL="0" indent="0" algn="ctr">
              <a:buNone/>
            </a:pPr>
            <a:r>
              <a:rPr lang="en-US" sz="1150" b="1" dirty="0">
                <a:solidFill>
                  <a:srgbClr val="17232E"/>
                </a:solidFill>
                <a:latin typeface="Courier New" pitchFamily="34" charset="0"/>
                <a:ea typeface="Courier New" pitchFamily="34" charset="-122"/>
                <a:cs typeface="Courier New" pitchFamily="34" charset="-120"/>
              </a:rPr>
              <a:t>6.4</a:t>
            </a:r>
            <a:endParaRPr lang="en-US" sz="1150" b="1" dirty="0"/>
          </a:p>
        </p:txBody>
      </p:sp>
      <p:sp>
        <p:nvSpPr>
          <p:cNvPr id="42" name="Shape 40"/>
          <p:cNvSpPr/>
          <p:nvPr/>
        </p:nvSpPr>
        <p:spPr>
          <a:xfrm>
            <a:off x="2194560" y="4389120"/>
            <a:ext cx="1371600" cy="365760"/>
          </a:xfrm>
          <a:prstGeom prst="rect">
            <a:avLst/>
          </a:prstGeom>
          <a:solidFill>
            <a:srgbClr val="FFFFFF"/>
          </a:solidFill>
          <a:ln w="6350">
            <a:solidFill>
              <a:srgbClr val="D7E2E6"/>
            </a:solidFill>
            <a:prstDash val="solid"/>
          </a:ln>
        </p:spPr>
      </p:sp>
      <p:sp>
        <p:nvSpPr>
          <p:cNvPr id="43" name="Text 41"/>
          <p:cNvSpPr/>
          <p:nvPr/>
        </p:nvSpPr>
        <p:spPr>
          <a:xfrm>
            <a:off x="2194560" y="4389120"/>
            <a:ext cx="1371600" cy="365760"/>
          </a:xfrm>
          <a:prstGeom prst="rect">
            <a:avLst/>
          </a:prstGeom>
          <a:noFill/>
          <a:ln/>
        </p:spPr>
        <p:txBody>
          <a:bodyPr wrap="square" rtlCol="0" anchor="ctr"/>
          <a:lstStyle/>
          <a:p>
            <a:pPr marL="0" indent="0" algn="ctr">
              <a:buNone/>
            </a:pPr>
            <a:r>
              <a:rPr lang="en-US" sz="1150" dirty="0">
                <a:solidFill>
                  <a:srgbClr val="17232E"/>
                </a:solidFill>
                <a:latin typeface="Calibri" pitchFamily="34" charset="0"/>
                <a:ea typeface="Calibri" pitchFamily="34" charset="-122"/>
                <a:cs typeface="Calibri" pitchFamily="34" charset="-120"/>
              </a:rPr>
              <a:t>F</a:t>
            </a:r>
            <a:endParaRPr lang="en-US" sz="1150" dirty="0"/>
          </a:p>
        </p:txBody>
      </p:sp>
      <p:sp>
        <p:nvSpPr>
          <p:cNvPr id="44" name="Shape 42"/>
          <p:cNvSpPr/>
          <p:nvPr/>
        </p:nvSpPr>
        <p:spPr>
          <a:xfrm>
            <a:off x="3566160" y="4389120"/>
            <a:ext cx="1371600" cy="365760"/>
          </a:xfrm>
          <a:prstGeom prst="rect">
            <a:avLst/>
          </a:prstGeom>
          <a:solidFill>
            <a:srgbClr val="FFFFFF"/>
          </a:solidFill>
          <a:ln w="6350">
            <a:solidFill>
              <a:srgbClr val="D7E2E6"/>
            </a:solidFill>
            <a:prstDash val="solid"/>
          </a:ln>
        </p:spPr>
      </p:sp>
      <p:sp>
        <p:nvSpPr>
          <p:cNvPr id="45" name="Text 43"/>
          <p:cNvSpPr/>
          <p:nvPr/>
        </p:nvSpPr>
        <p:spPr>
          <a:xfrm>
            <a:off x="3566160" y="4389120"/>
            <a:ext cx="1371600" cy="365760"/>
          </a:xfrm>
          <a:prstGeom prst="rect">
            <a:avLst/>
          </a:prstGeom>
          <a:noFill/>
          <a:ln/>
        </p:spPr>
        <p:txBody>
          <a:bodyPr wrap="square" rtlCol="0" anchor="ctr"/>
          <a:lstStyle/>
          <a:p>
            <a:pPr marL="0" indent="0" algn="ctr">
              <a:buNone/>
            </a:pPr>
            <a:r>
              <a:rPr lang="en-US" sz="1150" b="1" dirty="0">
                <a:solidFill>
                  <a:srgbClr val="17232E"/>
                </a:solidFill>
                <a:latin typeface="Courier New" pitchFamily="34" charset="0"/>
                <a:ea typeface="Courier New" pitchFamily="34" charset="-122"/>
                <a:cs typeface="Courier New" pitchFamily="34" charset="-120"/>
              </a:rPr>
              <a:t>3.5</a:t>
            </a:r>
            <a:endParaRPr lang="en-US" sz="1150" b="1" dirty="0"/>
          </a:p>
        </p:txBody>
      </p:sp>
      <p:sp>
        <p:nvSpPr>
          <p:cNvPr id="46" name="Shape 44"/>
          <p:cNvSpPr/>
          <p:nvPr/>
        </p:nvSpPr>
        <p:spPr>
          <a:xfrm>
            <a:off x="4937760" y="4389120"/>
            <a:ext cx="1371600" cy="365760"/>
          </a:xfrm>
          <a:prstGeom prst="rect">
            <a:avLst/>
          </a:prstGeom>
          <a:solidFill>
            <a:srgbClr val="FFFFFF"/>
          </a:solidFill>
          <a:ln w="6350">
            <a:solidFill>
              <a:srgbClr val="D7E2E6"/>
            </a:solidFill>
            <a:prstDash val="solid"/>
          </a:ln>
        </p:spPr>
      </p:sp>
      <p:sp>
        <p:nvSpPr>
          <p:cNvPr id="47" name="Text 45"/>
          <p:cNvSpPr/>
          <p:nvPr/>
        </p:nvSpPr>
        <p:spPr>
          <a:xfrm>
            <a:off x="4937760" y="4389120"/>
            <a:ext cx="1371600" cy="365760"/>
          </a:xfrm>
          <a:prstGeom prst="rect">
            <a:avLst/>
          </a:prstGeom>
          <a:noFill/>
          <a:ln/>
        </p:spPr>
        <p:txBody>
          <a:bodyPr wrap="square" rtlCol="0" anchor="ctr"/>
          <a:lstStyle/>
          <a:p>
            <a:pPr marL="0" indent="0" algn="ctr">
              <a:buNone/>
            </a:pPr>
            <a:r>
              <a:rPr lang="en-US" sz="1150" b="1" dirty="0">
                <a:solidFill>
                  <a:srgbClr val="17232E"/>
                </a:solidFill>
                <a:latin typeface="Courier New" pitchFamily="34" charset="0"/>
                <a:ea typeface="Courier New" pitchFamily="34" charset="-122"/>
                <a:cs typeface="Courier New" pitchFamily="34" charset="-120"/>
              </a:rPr>
              <a:t>6.9</a:t>
            </a:r>
            <a:endParaRPr lang="en-US" sz="1150" b="1" dirty="0"/>
          </a:p>
        </p:txBody>
      </p:sp>
      <p:sp>
        <p:nvSpPr>
          <p:cNvPr id="48" name="Shape 46"/>
          <p:cNvSpPr/>
          <p:nvPr/>
        </p:nvSpPr>
        <p:spPr>
          <a:xfrm>
            <a:off x="2194560" y="4754880"/>
            <a:ext cx="1371600" cy="365760"/>
          </a:xfrm>
          <a:prstGeom prst="rect">
            <a:avLst/>
          </a:prstGeom>
          <a:solidFill>
            <a:srgbClr val="F0F5F6"/>
          </a:solidFill>
          <a:ln w="6350">
            <a:solidFill>
              <a:srgbClr val="D7E2E6"/>
            </a:solidFill>
            <a:prstDash val="solid"/>
          </a:ln>
        </p:spPr>
      </p:sp>
      <p:sp>
        <p:nvSpPr>
          <p:cNvPr id="49" name="Text 47"/>
          <p:cNvSpPr/>
          <p:nvPr/>
        </p:nvSpPr>
        <p:spPr>
          <a:xfrm>
            <a:off x="2194560" y="4754880"/>
            <a:ext cx="1371600" cy="365760"/>
          </a:xfrm>
          <a:prstGeom prst="rect">
            <a:avLst/>
          </a:prstGeom>
          <a:noFill/>
          <a:ln/>
        </p:spPr>
        <p:txBody>
          <a:bodyPr wrap="square" rtlCol="0" anchor="ctr"/>
          <a:lstStyle/>
          <a:p>
            <a:pPr marL="0" indent="0" algn="ctr">
              <a:buNone/>
            </a:pPr>
            <a:r>
              <a:rPr lang="en-US" sz="1150" dirty="0">
                <a:solidFill>
                  <a:srgbClr val="17232E"/>
                </a:solidFill>
                <a:latin typeface="Calibri" pitchFamily="34" charset="0"/>
                <a:ea typeface="Calibri" pitchFamily="34" charset="-122"/>
                <a:cs typeface="Calibri" pitchFamily="34" charset="-120"/>
              </a:rPr>
              <a:t>G</a:t>
            </a:r>
            <a:endParaRPr lang="en-US" sz="1150" dirty="0"/>
          </a:p>
        </p:txBody>
      </p:sp>
      <p:sp>
        <p:nvSpPr>
          <p:cNvPr id="50" name="Shape 48"/>
          <p:cNvSpPr/>
          <p:nvPr/>
        </p:nvSpPr>
        <p:spPr>
          <a:xfrm>
            <a:off x="3566160" y="4754880"/>
            <a:ext cx="1371600" cy="365760"/>
          </a:xfrm>
          <a:prstGeom prst="rect">
            <a:avLst/>
          </a:prstGeom>
          <a:solidFill>
            <a:srgbClr val="F0F5F6"/>
          </a:solidFill>
          <a:ln w="6350">
            <a:solidFill>
              <a:srgbClr val="D7E2E6"/>
            </a:solidFill>
            <a:prstDash val="solid"/>
          </a:ln>
        </p:spPr>
      </p:sp>
      <p:sp>
        <p:nvSpPr>
          <p:cNvPr id="51" name="Text 49"/>
          <p:cNvSpPr/>
          <p:nvPr/>
        </p:nvSpPr>
        <p:spPr>
          <a:xfrm>
            <a:off x="3566160" y="4754880"/>
            <a:ext cx="1371600" cy="365760"/>
          </a:xfrm>
          <a:prstGeom prst="rect">
            <a:avLst/>
          </a:prstGeom>
          <a:noFill/>
          <a:ln/>
        </p:spPr>
        <p:txBody>
          <a:bodyPr wrap="square" rtlCol="0" anchor="ctr"/>
          <a:lstStyle/>
          <a:p>
            <a:pPr marL="0" indent="0" algn="ctr">
              <a:buNone/>
            </a:pPr>
            <a:r>
              <a:rPr lang="en-US" sz="1150" b="1" dirty="0">
                <a:solidFill>
                  <a:srgbClr val="17232E"/>
                </a:solidFill>
                <a:latin typeface="Courier New" pitchFamily="34" charset="0"/>
                <a:ea typeface="Courier New" pitchFamily="34" charset="-122"/>
                <a:cs typeface="Courier New" pitchFamily="34" charset="-120"/>
              </a:rPr>
              <a:t>3.5</a:t>
            </a:r>
            <a:endParaRPr lang="en-US" sz="1150" b="1" dirty="0"/>
          </a:p>
        </p:txBody>
      </p:sp>
      <p:sp>
        <p:nvSpPr>
          <p:cNvPr id="52" name="Shape 50"/>
          <p:cNvSpPr/>
          <p:nvPr/>
        </p:nvSpPr>
        <p:spPr>
          <a:xfrm>
            <a:off x="4937760" y="4754880"/>
            <a:ext cx="1371600" cy="365760"/>
          </a:xfrm>
          <a:prstGeom prst="rect">
            <a:avLst/>
          </a:prstGeom>
          <a:solidFill>
            <a:srgbClr val="F0F5F6"/>
          </a:solidFill>
          <a:ln w="6350">
            <a:solidFill>
              <a:srgbClr val="D7E2E6"/>
            </a:solidFill>
            <a:prstDash val="solid"/>
          </a:ln>
        </p:spPr>
      </p:sp>
      <p:sp>
        <p:nvSpPr>
          <p:cNvPr id="53" name="Text 51"/>
          <p:cNvSpPr/>
          <p:nvPr/>
        </p:nvSpPr>
        <p:spPr>
          <a:xfrm>
            <a:off x="4937760" y="4754880"/>
            <a:ext cx="1371600" cy="365760"/>
          </a:xfrm>
          <a:prstGeom prst="rect">
            <a:avLst/>
          </a:prstGeom>
          <a:noFill/>
          <a:ln/>
        </p:spPr>
        <p:txBody>
          <a:bodyPr wrap="square" rtlCol="0" anchor="ctr"/>
          <a:lstStyle/>
          <a:p>
            <a:pPr marL="0" indent="0" algn="ctr">
              <a:buNone/>
            </a:pPr>
            <a:r>
              <a:rPr lang="en-US" sz="1150" b="1" dirty="0">
                <a:solidFill>
                  <a:srgbClr val="17232E"/>
                </a:solidFill>
                <a:latin typeface="Courier New" pitchFamily="34" charset="0"/>
                <a:ea typeface="Courier New" pitchFamily="34" charset="-122"/>
                <a:cs typeface="Courier New" pitchFamily="34" charset="-120"/>
              </a:rPr>
              <a:t>6.9</a:t>
            </a:r>
            <a:endParaRPr lang="en-US" sz="1150" b="1" dirty="0"/>
          </a:p>
        </p:txBody>
      </p:sp>
      <p:sp>
        <p:nvSpPr>
          <p:cNvPr id="54" name="Shape 52"/>
          <p:cNvSpPr/>
          <p:nvPr/>
        </p:nvSpPr>
        <p:spPr>
          <a:xfrm>
            <a:off x="2194560" y="5120640"/>
            <a:ext cx="1371600" cy="365760"/>
          </a:xfrm>
          <a:prstGeom prst="rect">
            <a:avLst/>
          </a:prstGeom>
          <a:solidFill>
            <a:srgbClr val="FFFFFF"/>
          </a:solidFill>
          <a:ln w="6350">
            <a:solidFill>
              <a:srgbClr val="D7E2E6"/>
            </a:solidFill>
            <a:prstDash val="solid"/>
          </a:ln>
        </p:spPr>
      </p:sp>
      <p:sp>
        <p:nvSpPr>
          <p:cNvPr id="55" name="Text 53"/>
          <p:cNvSpPr/>
          <p:nvPr/>
        </p:nvSpPr>
        <p:spPr>
          <a:xfrm>
            <a:off x="2194560" y="5120640"/>
            <a:ext cx="1371600" cy="365760"/>
          </a:xfrm>
          <a:prstGeom prst="rect">
            <a:avLst/>
          </a:prstGeom>
          <a:noFill/>
          <a:ln/>
        </p:spPr>
        <p:txBody>
          <a:bodyPr wrap="square" rtlCol="0" anchor="ctr"/>
          <a:lstStyle/>
          <a:p>
            <a:pPr marL="0" indent="0" algn="ctr">
              <a:buNone/>
            </a:pPr>
            <a:r>
              <a:rPr lang="en-US" sz="1150" dirty="0">
                <a:solidFill>
                  <a:srgbClr val="17232E"/>
                </a:solidFill>
                <a:latin typeface="Calibri" pitchFamily="34" charset="0"/>
                <a:ea typeface="Calibri" pitchFamily="34" charset="-122"/>
                <a:cs typeface="Calibri" pitchFamily="34" charset="-120"/>
              </a:rPr>
              <a:t>H</a:t>
            </a:r>
            <a:endParaRPr lang="en-US" sz="1150" dirty="0"/>
          </a:p>
        </p:txBody>
      </p:sp>
      <p:sp>
        <p:nvSpPr>
          <p:cNvPr id="56" name="Shape 54"/>
          <p:cNvSpPr/>
          <p:nvPr/>
        </p:nvSpPr>
        <p:spPr>
          <a:xfrm>
            <a:off x="3566160" y="5120640"/>
            <a:ext cx="1371600" cy="365760"/>
          </a:xfrm>
          <a:prstGeom prst="rect">
            <a:avLst/>
          </a:prstGeom>
          <a:solidFill>
            <a:srgbClr val="FFFFFF"/>
          </a:solidFill>
          <a:ln w="6350">
            <a:solidFill>
              <a:srgbClr val="D7E2E6"/>
            </a:solidFill>
            <a:prstDash val="solid"/>
          </a:ln>
        </p:spPr>
      </p:sp>
      <p:sp>
        <p:nvSpPr>
          <p:cNvPr id="57" name="Text 55"/>
          <p:cNvSpPr/>
          <p:nvPr/>
        </p:nvSpPr>
        <p:spPr>
          <a:xfrm>
            <a:off x="3566160" y="5120640"/>
            <a:ext cx="1371600" cy="365760"/>
          </a:xfrm>
          <a:prstGeom prst="rect">
            <a:avLst/>
          </a:prstGeom>
          <a:noFill/>
          <a:ln/>
        </p:spPr>
        <p:txBody>
          <a:bodyPr wrap="square" rtlCol="0" anchor="ctr"/>
          <a:lstStyle/>
          <a:p>
            <a:pPr marL="0" indent="0" algn="ctr">
              <a:buNone/>
            </a:pPr>
            <a:r>
              <a:rPr lang="en-US" sz="1150" b="1" dirty="0">
                <a:solidFill>
                  <a:srgbClr val="17232E"/>
                </a:solidFill>
                <a:latin typeface="Courier New" pitchFamily="34" charset="0"/>
                <a:ea typeface="Courier New" pitchFamily="34" charset="-122"/>
                <a:cs typeface="Courier New" pitchFamily="34" charset="-120"/>
              </a:rPr>
              <a:t>4.5</a:t>
            </a:r>
            <a:endParaRPr lang="en-US" sz="1150" b="1" dirty="0"/>
          </a:p>
        </p:txBody>
      </p:sp>
      <p:sp>
        <p:nvSpPr>
          <p:cNvPr id="58" name="Shape 56"/>
          <p:cNvSpPr/>
          <p:nvPr/>
        </p:nvSpPr>
        <p:spPr>
          <a:xfrm>
            <a:off x="4937760" y="5120640"/>
            <a:ext cx="1371600" cy="365760"/>
          </a:xfrm>
          <a:prstGeom prst="rect">
            <a:avLst/>
          </a:prstGeom>
          <a:solidFill>
            <a:srgbClr val="FFFFFF"/>
          </a:solidFill>
          <a:ln w="6350">
            <a:solidFill>
              <a:srgbClr val="D7E2E6"/>
            </a:solidFill>
            <a:prstDash val="solid"/>
          </a:ln>
        </p:spPr>
      </p:sp>
      <p:sp>
        <p:nvSpPr>
          <p:cNvPr id="59" name="Text 57"/>
          <p:cNvSpPr/>
          <p:nvPr/>
        </p:nvSpPr>
        <p:spPr>
          <a:xfrm>
            <a:off x="4937760" y="5120640"/>
            <a:ext cx="1371600" cy="365760"/>
          </a:xfrm>
          <a:prstGeom prst="rect">
            <a:avLst/>
          </a:prstGeom>
          <a:noFill/>
          <a:ln/>
        </p:spPr>
        <p:txBody>
          <a:bodyPr wrap="square" rtlCol="0" anchor="ctr"/>
          <a:lstStyle/>
          <a:p>
            <a:pPr marL="0" indent="0" algn="ctr">
              <a:buNone/>
            </a:pPr>
            <a:r>
              <a:rPr lang="en-US" sz="1150" b="1" dirty="0">
                <a:solidFill>
                  <a:srgbClr val="17232E"/>
                </a:solidFill>
                <a:latin typeface="Courier New" pitchFamily="34" charset="0"/>
                <a:ea typeface="Courier New" pitchFamily="34" charset="-122"/>
                <a:cs typeface="Courier New" pitchFamily="34" charset="-120"/>
              </a:rPr>
              <a:t>8.1</a:t>
            </a:r>
            <a:endParaRPr lang="en-US" sz="1150" b="1" dirty="0"/>
          </a:p>
        </p:txBody>
      </p:sp>
      <p:sp>
        <p:nvSpPr>
          <p:cNvPr id="60" name="Shape 58"/>
          <p:cNvSpPr/>
          <p:nvPr/>
        </p:nvSpPr>
        <p:spPr>
          <a:xfrm>
            <a:off x="6858000" y="3337560"/>
            <a:ext cx="3291840" cy="1554480"/>
          </a:xfrm>
          <a:prstGeom prst="roundRect">
            <a:avLst>
              <a:gd name="adj" fmla="val 4706"/>
            </a:avLst>
          </a:prstGeom>
          <a:solidFill>
            <a:srgbClr val="E5F0F4"/>
          </a:solidFill>
          <a:ln/>
        </p:spPr>
      </p:sp>
      <p:sp>
        <p:nvSpPr>
          <p:cNvPr id="61" name="Text 59"/>
          <p:cNvSpPr/>
          <p:nvPr/>
        </p:nvSpPr>
        <p:spPr>
          <a:xfrm>
            <a:off x="7040880" y="3474720"/>
            <a:ext cx="2926080" cy="274320"/>
          </a:xfrm>
          <a:prstGeom prst="rect">
            <a:avLst/>
          </a:prstGeom>
          <a:noFill/>
          <a:ln/>
        </p:spPr>
        <p:txBody>
          <a:bodyPr wrap="square" rtlCol="0" anchor="ctr"/>
          <a:lstStyle/>
          <a:p>
            <a:pPr marL="0" indent="0">
              <a:buNone/>
            </a:pPr>
            <a:r>
              <a:rPr lang="en-US" sz="1100" b="1" dirty="0">
                <a:solidFill>
                  <a:srgbClr val="065A82"/>
                </a:solidFill>
                <a:latin typeface="Calibri" pitchFamily="34" charset="0"/>
                <a:ea typeface="Calibri" pitchFamily="34" charset="-122"/>
                <a:cs typeface="Calibri" pitchFamily="34" charset="-120"/>
              </a:rPr>
              <a:t>Given (Aggregate Values)</a:t>
            </a:r>
            <a:endParaRPr lang="en-US" sz="1100" dirty="0"/>
          </a:p>
        </p:txBody>
      </p:sp>
      <p:sp>
        <p:nvSpPr>
          <p:cNvPr id="62" name="Text 60"/>
          <p:cNvSpPr/>
          <p:nvPr/>
        </p:nvSpPr>
        <p:spPr>
          <a:xfrm>
            <a:off x="7040880" y="3749040"/>
            <a:ext cx="2926080" cy="1097280"/>
          </a:xfrm>
          <a:prstGeom prst="rect">
            <a:avLst/>
          </a:prstGeom>
          <a:noFill/>
          <a:ln/>
        </p:spPr>
        <p:txBody>
          <a:bodyPr wrap="square" rtlCol="0" anchor="ctr"/>
          <a:lstStyle/>
          <a:p>
            <a:pPr marL="0" indent="0">
              <a:lnSpc>
                <a:spcPts val="1900"/>
              </a:lnSpc>
              <a:buNone/>
            </a:pPr>
            <a:r>
              <a:rPr lang="en-US" sz="1350" b="1" dirty="0">
                <a:solidFill>
                  <a:srgbClr val="065A82"/>
                </a:solidFill>
                <a:latin typeface="Courier New" pitchFamily="34" charset="0"/>
                <a:ea typeface="Courier New" pitchFamily="34" charset="-122"/>
                <a:cs typeface="Courier New" pitchFamily="34" charset="-120"/>
              </a:rPr>
              <a:t>n = 8</a:t>
            </a:r>
            <a:endParaRPr lang="en-US" sz="1350" dirty="0"/>
          </a:p>
          <a:p>
            <a:pPr marL="0" indent="0">
              <a:lnSpc>
                <a:spcPts val="1900"/>
              </a:lnSpc>
              <a:buNone/>
            </a:pPr>
            <a:r>
              <a:rPr lang="en-US" sz="1350" b="1" dirty="0">
                <a:solidFill>
                  <a:srgbClr val="065A82"/>
                </a:solidFill>
                <a:latin typeface="Courier New" pitchFamily="34" charset="0"/>
                <a:ea typeface="Courier New" pitchFamily="34" charset="-122"/>
                <a:cs typeface="Courier New" pitchFamily="34" charset="-120"/>
              </a:rPr>
              <a:t>Σx = 22</a:t>
            </a:r>
            <a:endParaRPr lang="en-US" sz="1350" dirty="0"/>
          </a:p>
          <a:p>
            <a:pPr marL="0" indent="0">
              <a:lnSpc>
                <a:spcPts val="1900"/>
              </a:lnSpc>
              <a:buNone/>
            </a:pPr>
            <a:r>
              <a:rPr lang="en-US" sz="1350" b="1" dirty="0">
                <a:solidFill>
                  <a:srgbClr val="065A82"/>
                </a:solidFill>
                <a:latin typeface="Courier New" pitchFamily="34" charset="0"/>
                <a:ea typeface="Courier New" pitchFamily="34" charset="-122"/>
                <a:cs typeface="Courier New" pitchFamily="34" charset="-120"/>
              </a:rPr>
              <a:t>Σy = 48.9</a:t>
            </a:r>
            <a:endParaRPr lang="en-US" sz="1350" dirty="0"/>
          </a:p>
        </p:txBody>
      </p:sp>
      <p:sp>
        <p:nvSpPr>
          <p:cNvPr id="63" name="Text 61"/>
          <p:cNvSpPr/>
          <p:nvPr/>
        </p:nvSpPr>
        <p:spPr>
          <a:xfrm>
            <a:off x="457200" y="6537960"/>
            <a:ext cx="5486400" cy="274320"/>
          </a:xfrm>
          <a:prstGeom prst="rect">
            <a:avLst/>
          </a:prstGeom>
          <a:noFill/>
          <a:ln/>
        </p:spPr>
        <p:txBody>
          <a:bodyPr wrap="square" rtlCol="0" anchor="ctr"/>
          <a:lstStyle/>
          <a:p>
            <a:pPr marL="0" indent="0">
              <a:buNone/>
            </a:pPr>
            <a:r>
              <a:rPr lang="en-US" sz="900" i="1" dirty="0">
                <a:solidFill>
                  <a:srgbClr val="5C6B73"/>
                </a:solidFill>
                <a:latin typeface="Calibri" pitchFamily="34" charset="0"/>
                <a:ea typeface="Calibri" pitchFamily="34" charset="-122"/>
                <a:cs typeface="Calibri" pitchFamily="34" charset="-120"/>
              </a:rPr>
              <a:t>Linear Regression · Fertilizer &amp; Yield</a:t>
            </a:r>
            <a:endParaRPr lang="en-US" sz="900" dirty="0"/>
          </a:p>
        </p:txBody>
      </p:sp>
      <p:sp>
        <p:nvSpPr>
          <p:cNvPr id="64" name="Text 62"/>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5C6B73"/>
                </a:solidFill>
                <a:latin typeface="Calibri" pitchFamily="34" charset="0"/>
                <a:ea typeface="Calibri" pitchFamily="34" charset="-122"/>
                <a:cs typeface="Calibri" pitchFamily="34" charset="-120"/>
              </a:rPr>
              <a:t>3</a:t>
            </a:r>
            <a:endParaRPr lang="en-US" sz="9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2A4A"/>
        </a:solidFill>
        <a:effectLst/>
      </p:bgPr>
    </p:bg>
    <p:spTree>
      <p:nvGrpSpPr>
        <p:cNvPr id="1" name=""/>
        <p:cNvGrpSpPr/>
        <p:nvPr/>
      </p:nvGrpSpPr>
      <p:grpSpPr>
        <a:xfrm>
          <a:off x="0" y="0"/>
          <a:ext cx="0" cy="0"/>
          <a:chOff x="0" y="0"/>
          <a:chExt cx="0" cy="0"/>
        </a:xfrm>
      </p:grpSpPr>
      <p:sp>
        <p:nvSpPr>
          <p:cNvPr id="2" name="Shape 0"/>
          <p:cNvSpPr/>
          <p:nvPr/>
        </p:nvSpPr>
        <p:spPr>
          <a:xfrm>
            <a:off x="457200" y="411480"/>
            <a:ext cx="2560320" cy="365760"/>
          </a:xfrm>
          <a:prstGeom prst="roundRect">
            <a:avLst>
              <a:gd name="adj" fmla="val 20000"/>
            </a:avLst>
          </a:prstGeom>
          <a:solidFill>
            <a:srgbClr val="13416B"/>
          </a:solidFill>
          <a:ln/>
        </p:spPr>
      </p:sp>
      <p:sp>
        <p:nvSpPr>
          <p:cNvPr id="3" name="Text 1"/>
          <p:cNvSpPr/>
          <p:nvPr/>
        </p:nvSpPr>
        <p:spPr>
          <a:xfrm>
            <a:off x="457200" y="411480"/>
            <a:ext cx="2560320" cy="365760"/>
          </a:xfrm>
          <a:prstGeom prst="rect">
            <a:avLst/>
          </a:prstGeom>
          <a:noFill/>
          <a:ln/>
        </p:spPr>
        <p:txBody>
          <a:bodyPr wrap="square" rtlCol="0" anchor="ctr"/>
          <a:lstStyle/>
          <a:p>
            <a:pPr marL="0" indent="0" algn="ctr">
              <a:buNone/>
            </a:pPr>
            <a:r>
              <a:rPr lang="en-US" sz="1100" b="1" kern="0" spc="100" dirty="0">
                <a:solidFill>
                  <a:srgbClr val="F2A93B"/>
                </a:solidFill>
                <a:latin typeface="Calibri" pitchFamily="34" charset="0"/>
                <a:ea typeface="Calibri" pitchFamily="34" charset="-122"/>
                <a:cs typeface="Calibri" pitchFamily="34" charset="-120"/>
              </a:rPr>
              <a:t>THE FORMULAS</a:t>
            </a:r>
            <a:endParaRPr lang="en-US" sz="1100" dirty="0"/>
          </a:p>
        </p:txBody>
      </p:sp>
      <p:sp>
        <p:nvSpPr>
          <p:cNvPr id="4" name="Text 2"/>
          <p:cNvSpPr/>
          <p:nvPr/>
        </p:nvSpPr>
        <p:spPr>
          <a:xfrm>
            <a:off x="457200" y="868680"/>
            <a:ext cx="11247120" cy="68580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The Model: y = a + bx</a:t>
            </a:r>
            <a:endParaRPr lang="en-US" sz="2800" dirty="0"/>
          </a:p>
        </p:txBody>
      </p:sp>
      <p:sp>
        <p:nvSpPr>
          <p:cNvPr id="5" name="Text 3"/>
          <p:cNvSpPr/>
          <p:nvPr/>
        </p:nvSpPr>
        <p:spPr>
          <a:xfrm>
            <a:off x="457200" y="1508760"/>
            <a:ext cx="11247120" cy="548640"/>
          </a:xfrm>
          <a:prstGeom prst="rect">
            <a:avLst/>
          </a:prstGeom>
          <a:noFill/>
          <a:ln/>
        </p:spPr>
        <p:txBody>
          <a:bodyPr wrap="square" rtlCol="0" anchor="ctr"/>
          <a:lstStyle/>
          <a:p>
            <a:pPr marL="0" indent="0">
              <a:lnSpc>
                <a:spcPts val="1800"/>
              </a:lnSpc>
              <a:buNone/>
            </a:pPr>
            <a:r>
              <a:rPr lang="en-US" sz="1400" dirty="0">
                <a:solidFill>
                  <a:srgbClr val="D6E4EC"/>
                </a:solidFill>
                <a:latin typeface="Calibri" pitchFamily="34" charset="0"/>
                <a:ea typeface="Calibri" pitchFamily="34" charset="-122"/>
                <a:cs typeface="Calibri" pitchFamily="34" charset="-120"/>
              </a:rPr>
              <a:t>This time we'll use the “computational” form of the OLS formulas — built directly from sums, no need to compute means first.</a:t>
            </a:r>
            <a:endParaRPr lang="en-US" sz="1400" dirty="0"/>
          </a:p>
        </p:txBody>
      </p:sp>
      <p:sp>
        <p:nvSpPr>
          <p:cNvPr id="6" name="Shape 4"/>
          <p:cNvSpPr/>
          <p:nvPr/>
        </p:nvSpPr>
        <p:spPr>
          <a:xfrm>
            <a:off x="457200" y="2194560"/>
            <a:ext cx="5394960" cy="3749040"/>
          </a:xfrm>
          <a:prstGeom prst="roundRect">
            <a:avLst>
              <a:gd name="adj" fmla="val 2439"/>
            </a:avLst>
          </a:prstGeom>
          <a:solidFill>
            <a:srgbClr val="0F3A5F"/>
          </a:solidFill>
          <a:ln w="12700">
            <a:solidFill>
              <a:srgbClr val="1C7293"/>
            </a:solidFill>
            <a:prstDash val="solid"/>
          </a:ln>
        </p:spPr>
      </p:sp>
      <p:sp>
        <p:nvSpPr>
          <p:cNvPr id="7" name="Text 5"/>
          <p:cNvSpPr/>
          <p:nvPr/>
        </p:nvSpPr>
        <p:spPr>
          <a:xfrm>
            <a:off x="731520" y="2423160"/>
            <a:ext cx="4846320" cy="274320"/>
          </a:xfrm>
          <a:prstGeom prst="rect">
            <a:avLst/>
          </a:prstGeom>
          <a:noFill/>
          <a:ln/>
        </p:spPr>
        <p:txBody>
          <a:bodyPr wrap="square" rtlCol="0" anchor="ctr"/>
          <a:lstStyle/>
          <a:p>
            <a:pPr marL="0" indent="0">
              <a:buNone/>
            </a:pPr>
            <a:r>
              <a:rPr lang="en-US" sz="1100" b="1" kern="0" spc="100" dirty="0">
                <a:solidFill>
                  <a:srgbClr val="F2A93B"/>
                </a:solidFill>
                <a:latin typeface="Calibri" pitchFamily="34" charset="0"/>
                <a:ea typeface="Calibri" pitchFamily="34" charset="-122"/>
                <a:cs typeface="Calibri" pitchFamily="34" charset="-120"/>
              </a:rPr>
              <a:t>SLOPE (b)</a:t>
            </a:r>
            <a:endParaRPr lang="en-US" sz="1100" dirty="0"/>
          </a:p>
        </p:txBody>
      </p:sp>
      <p:sp>
        <p:nvSpPr>
          <p:cNvPr id="8" name="Shape 6"/>
          <p:cNvSpPr/>
          <p:nvPr/>
        </p:nvSpPr>
        <p:spPr>
          <a:xfrm>
            <a:off x="731520" y="2788920"/>
            <a:ext cx="4846320" cy="1005840"/>
          </a:xfrm>
          <a:prstGeom prst="roundRect">
            <a:avLst>
              <a:gd name="adj" fmla="val 5455"/>
            </a:avLst>
          </a:prstGeom>
          <a:solidFill>
            <a:srgbClr val="13416B"/>
          </a:solidFill>
          <a:ln/>
        </p:spPr>
      </p:sp>
      <p:sp>
        <p:nvSpPr>
          <p:cNvPr id="9" name="Text 7"/>
          <p:cNvSpPr/>
          <p:nvPr/>
        </p:nvSpPr>
        <p:spPr>
          <a:xfrm>
            <a:off x="822960" y="2788920"/>
            <a:ext cx="4663440" cy="1005840"/>
          </a:xfrm>
          <a:prstGeom prst="rect">
            <a:avLst/>
          </a:prstGeom>
          <a:noFill/>
          <a:ln/>
        </p:spPr>
        <p:txBody>
          <a:bodyPr wrap="square" rtlCol="0" anchor="ctr"/>
          <a:lstStyle/>
          <a:p>
            <a:pPr marL="0" indent="0" algn="ctr">
              <a:buNone/>
            </a:pPr>
            <a:r>
              <a:rPr lang="en-US" sz="1400" b="1" dirty="0">
                <a:solidFill>
                  <a:srgbClr val="FFFFFF"/>
                </a:solidFill>
                <a:latin typeface="Courier New" pitchFamily="34" charset="0"/>
                <a:ea typeface="Courier New" pitchFamily="34" charset="-122"/>
                <a:cs typeface="Courier New" pitchFamily="34" charset="-120"/>
              </a:rPr>
              <a:t>b = [n·Σxy − Σx·Σy] / [n·Σx² − (Σx)²]</a:t>
            </a:r>
            <a:endParaRPr lang="en-US" sz="1400" dirty="0"/>
          </a:p>
        </p:txBody>
      </p:sp>
      <p:sp>
        <p:nvSpPr>
          <p:cNvPr id="10" name="Text 8"/>
          <p:cNvSpPr/>
          <p:nvPr/>
        </p:nvSpPr>
        <p:spPr>
          <a:xfrm>
            <a:off x="731520" y="3977640"/>
            <a:ext cx="4846320" cy="731520"/>
          </a:xfrm>
          <a:prstGeom prst="rect">
            <a:avLst/>
          </a:prstGeom>
          <a:noFill/>
          <a:ln/>
        </p:spPr>
        <p:txBody>
          <a:bodyPr wrap="square" rtlCol="0" anchor="ctr"/>
          <a:lstStyle/>
          <a:p>
            <a:pPr marL="0" indent="0">
              <a:lnSpc>
                <a:spcPts val="1600"/>
              </a:lnSpc>
              <a:buNone/>
            </a:pPr>
            <a:r>
              <a:rPr lang="en-US" sz="1250" dirty="0">
                <a:solidFill>
                  <a:srgbClr val="D6E4EC"/>
                </a:solidFill>
                <a:latin typeface="Calibri" pitchFamily="34" charset="0"/>
                <a:ea typeface="Calibri" pitchFamily="34" charset="-122"/>
                <a:cs typeface="Calibri" pitchFamily="34" charset="-120"/>
              </a:rPr>
              <a:t>Needs: n, Σxy, Σx, Σy, Σx² — all computable directly from the raw data, one pass through the table.</a:t>
            </a:r>
            <a:endParaRPr lang="en-US" sz="1250" dirty="0"/>
          </a:p>
        </p:txBody>
      </p:sp>
      <p:sp>
        <p:nvSpPr>
          <p:cNvPr id="11" name="Shape 9"/>
          <p:cNvSpPr/>
          <p:nvPr/>
        </p:nvSpPr>
        <p:spPr>
          <a:xfrm>
            <a:off x="6126480" y="2194560"/>
            <a:ext cx="5394960" cy="3749040"/>
          </a:xfrm>
          <a:prstGeom prst="roundRect">
            <a:avLst>
              <a:gd name="adj" fmla="val 2439"/>
            </a:avLst>
          </a:prstGeom>
          <a:solidFill>
            <a:srgbClr val="0F3A5F"/>
          </a:solidFill>
          <a:ln w="12700">
            <a:solidFill>
              <a:srgbClr val="1C7293"/>
            </a:solidFill>
            <a:prstDash val="solid"/>
          </a:ln>
        </p:spPr>
      </p:sp>
      <p:sp>
        <p:nvSpPr>
          <p:cNvPr id="12" name="Text 10"/>
          <p:cNvSpPr/>
          <p:nvPr/>
        </p:nvSpPr>
        <p:spPr>
          <a:xfrm>
            <a:off x="6400800" y="2423160"/>
            <a:ext cx="4846320" cy="274320"/>
          </a:xfrm>
          <a:prstGeom prst="rect">
            <a:avLst/>
          </a:prstGeom>
          <a:noFill/>
          <a:ln/>
        </p:spPr>
        <p:txBody>
          <a:bodyPr wrap="square" rtlCol="0" anchor="ctr"/>
          <a:lstStyle/>
          <a:p>
            <a:pPr marL="0" indent="0">
              <a:buNone/>
            </a:pPr>
            <a:r>
              <a:rPr lang="en-US" sz="1100" b="1" kern="0" spc="100" dirty="0">
                <a:solidFill>
                  <a:srgbClr val="F2A93B"/>
                </a:solidFill>
                <a:latin typeface="Calibri" pitchFamily="34" charset="0"/>
                <a:ea typeface="Calibri" pitchFamily="34" charset="-122"/>
                <a:cs typeface="Calibri" pitchFamily="34" charset="-120"/>
              </a:rPr>
              <a:t>INTERCEPT (a)</a:t>
            </a:r>
            <a:endParaRPr lang="en-US" sz="1100" dirty="0"/>
          </a:p>
        </p:txBody>
      </p:sp>
      <p:sp>
        <p:nvSpPr>
          <p:cNvPr id="13" name="Shape 11"/>
          <p:cNvSpPr/>
          <p:nvPr/>
        </p:nvSpPr>
        <p:spPr>
          <a:xfrm>
            <a:off x="6400800" y="2788920"/>
            <a:ext cx="4846320" cy="1005840"/>
          </a:xfrm>
          <a:prstGeom prst="roundRect">
            <a:avLst>
              <a:gd name="adj" fmla="val 5455"/>
            </a:avLst>
          </a:prstGeom>
          <a:solidFill>
            <a:srgbClr val="13416B"/>
          </a:solidFill>
          <a:ln/>
        </p:spPr>
      </p:sp>
      <p:sp>
        <p:nvSpPr>
          <p:cNvPr id="14" name="Text 12"/>
          <p:cNvSpPr/>
          <p:nvPr/>
        </p:nvSpPr>
        <p:spPr>
          <a:xfrm>
            <a:off x="6492240" y="2788920"/>
            <a:ext cx="4663440" cy="1005840"/>
          </a:xfrm>
          <a:prstGeom prst="rect">
            <a:avLst/>
          </a:prstGeom>
          <a:noFill/>
          <a:ln/>
        </p:spPr>
        <p:txBody>
          <a:bodyPr wrap="square" rtlCol="0" anchor="ctr"/>
          <a:lstStyle/>
          <a:p>
            <a:pPr marL="0" indent="0" algn="ctr">
              <a:buNone/>
            </a:pPr>
            <a:r>
              <a:rPr lang="en-US" sz="1700" b="1" dirty="0">
                <a:solidFill>
                  <a:srgbClr val="FFFFFF"/>
                </a:solidFill>
                <a:latin typeface="Courier New" pitchFamily="34" charset="0"/>
                <a:ea typeface="Courier New" pitchFamily="34" charset="-122"/>
                <a:cs typeface="Courier New" pitchFamily="34" charset="-120"/>
              </a:rPr>
              <a:t>a = [Σy − b·Σx] / n</a:t>
            </a:r>
            <a:endParaRPr lang="en-US" sz="1700" dirty="0"/>
          </a:p>
        </p:txBody>
      </p:sp>
      <p:sp>
        <p:nvSpPr>
          <p:cNvPr id="15" name="Text 13"/>
          <p:cNvSpPr/>
          <p:nvPr/>
        </p:nvSpPr>
        <p:spPr>
          <a:xfrm>
            <a:off x="6400800" y="3977640"/>
            <a:ext cx="4846320" cy="731520"/>
          </a:xfrm>
          <a:prstGeom prst="rect">
            <a:avLst/>
          </a:prstGeom>
          <a:noFill/>
          <a:ln/>
        </p:spPr>
        <p:txBody>
          <a:bodyPr wrap="square" rtlCol="0" anchor="ctr"/>
          <a:lstStyle/>
          <a:p>
            <a:pPr marL="0" indent="0">
              <a:lnSpc>
                <a:spcPts val="1600"/>
              </a:lnSpc>
              <a:buNone/>
            </a:pPr>
            <a:r>
              <a:rPr lang="en-US" sz="1250" dirty="0">
                <a:solidFill>
                  <a:srgbClr val="D6E4EC"/>
                </a:solidFill>
                <a:latin typeface="Calibri" pitchFamily="34" charset="0"/>
                <a:ea typeface="Calibri" pitchFamily="34" charset="-122"/>
                <a:cs typeface="Calibri" pitchFamily="34" charset="-120"/>
              </a:rPr>
              <a:t>Once b is known, a follows directly — no separate pass through the data needed.</a:t>
            </a:r>
            <a:endParaRPr lang="en-US" sz="1250" dirty="0"/>
          </a:p>
        </p:txBody>
      </p:sp>
      <p:sp>
        <p:nvSpPr>
          <p:cNvPr id="16" name="Shape 14"/>
          <p:cNvSpPr/>
          <p:nvPr/>
        </p:nvSpPr>
        <p:spPr>
          <a:xfrm>
            <a:off x="731520" y="5029200"/>
            <a:ext cx="4846320" cy="640080"/>
          </a:xfrm>
          <a:prstGeom prst="roundRect">
            <a:avLst>
              <a:gd name="adj" fmla="val 8571"/>
            </a:avLst>
          </a:prstGeom>
          <a:solidFill>
            <a:srgbClr val="0F3A5F"/>
          </a:solidFill>
          <a:ln w="12700">
            <a:solidFill>
              <a:srgbClr val="1E4F73"/>
            </a:solidFill>
            <a:prstDash val="solid"/>
          </a:ln>
        </p:spPr>
      </p:sp>
      <p:sp>
        <p:nvSpPr>
          <p:cNvPr id="17" name="Text 15"/>
          <p:cNvSpPr/>
          <p:nvPr/>
        </p:nvSpPr>
        <p:spPr>
          <a:xfrm>
            <a:off x="731520" y="5029200"/>
            <a:ext cx="4846320" cy="640080"/>
          </a:xfrm>
          <a:prstGeom prst="rect">
            <a:avLst/>
          </a:prstGeom>
          <a:noFill/>
          <a:ln/>
        </p:spPr>
        <p:txBody>
          <a:bodyPr wrap="square" rtlCol="0" anchor="ctr"/>
          <a:lstStyle/>
          <a:p>
            <a:pPr marL="0" indent="0" algn="ctr">
              <a:buNone/>
            </a:pPr>
            <a:r>
              <a:rPr lang="en-US" sz="1150" i="1" dirty="0">
                <a:solidFill>
                  <a:srgbClr val="9FBBCB"/>
                </a:solidFill>
                <a:latin typeface="Calibri" pitchFamily="34" charset="0"/>
                <a:ea typeface="Calibri" pitchFamily="34" charset="-122"/>
                <a:cs typeface="Calibri" pitchFamily="34" charset="-120"/>
              </a:rPr>
              <a:t>Need: n, Σxy, Σx, Σy, Σx²</a:t>
            </a:r>
            <a:endParaRPr lang="en-US" sz="1150" dirty="0"/>
          </a:p>
        </p:txBody>
      </p:sp>
      <p:sp>
        <p:nvSpPr>
          <p:cNvPr id="18" name="Shape 16"/>
          <p:cNvSpPr/>
          <p:nvPr/>
        </p:nvSpPr>
        <p:spPr>
          <a:xfrm>
            <a:off x="6400800" y="5029200"/>
            <a:ext cx="4846320" cy="640080"/>
          </a:xfrm>
          <a:prstGeom prst="roundRect">
            <a:avLst>
              <a:gd name="adj" fmla="val 8571"/>
            </a:avLst>
          </a:prstGeom>
          <a:solidFill>
            <a:srgbClr val="0F3A5F"/>
          </a:solidFill>
          <a:ln w="12700">
            <a:solidFill>
              <a:srgbClr val="1E4F73"/>
            </a:solidFill>
            <a:prstDash val="solid"/>
          </a:ln>
        </p:spPr>
      </p:sp>
      <p:sp>
        <p:nvSpPr>
          <p:cNvPr id="19" name="Text 17"/>
          <p:cNvSpPr/>
          <p:nvPr/>
        </p:nvSpPr>
        <p:spPr>
          <a:xfrm>
            <a:off x="6400800" y="5029200"/>
            <a:ext cx="4846320" cy="640080"/>
          </a:xfrm>
          <a:prstGeom prst="rect">
            <a:avLst/>
          </a:prstGeom>
          <a:noFill/>
          <a:ln/>
        </p:spPr>
        <p:txBody>
          <a:bodyPr wrap="square" rtlCol="0" anchor="ctr"/>
          <a:lstStyle/>
          <a:p>
            <a:pPr marL="0" indent="0" algn="ctr">
              <a:buNone/>
            </a:pPr>
            <a:r>
              <a:rPr lang="en-US" sz="1150" i="1" dirty="0">
                <a:solidFill>
                  <a:srgbClr val="9FBBCB"/>
                </a:solidFill>
                <a:latin typeface="Calibri" pitchFamily="34" charset="0"/>
                <a:ea typeface="Calibri" pitchFamily="34" charset="-122"/>
                <a:cs typeface="Calibri" pitchFamily="34" charset="-120"/>
              </a:rPr>
              <a:t>Need: Σy, b, Σx, n</a:t>
            </a:r>
            <a:endParaRPr lang="en-US" sz="1150" dirty="0"/>
          </a:p>
        </p:txBody>
      </p:sp>
      <p:sp>
        <p:nvSpPr>
          <p:cNvPr id="20" name="Text 18"/>
          <p:cNvSpPr/>
          <p:nvPr/>
        </p:nvSpPr>
        <p:spPr>
          <a:xfrm>
            <a:off x="457200" y="6537960"/>
            <a:ext cx="5486400" cy="274320"/>
          </a:xfrm>
          <a:prstGeom prst="rect">
            <a:avLst/>
          </a:prstGeom>
          <a:noFill/>
          <a:ln/>
        </p:spPr>
        <p:txBody>
          <a:bodyPr wrap="square" rtlCol="0" anchor="ctr"/>
          <a:lstStyle/>
          <a:p>
            <a:pPr marL="0" indent="0">
              <a:buNone/>
            </a:pPr>
            <a:r>
              <a:rPr lang="en-US" sz="900" i="1" dirty="0">
                <a:solidFill>
                  <a:srgbClr val="8FA6B3"/>
                </a:solidFill>
                <a:latin typeface="Calibri" pitchFamily="34" charset="0"/>
                <a:ea typeface="Calibri" pitchFamily="34" charset="-122"/>
                <a:cs typeface="Calibri" pitchFamily="34" charset="-120"/>
              </a:rPr>
              <a:t>Linear Regression · Fertilizer &amp; Yield</a:t>
            </a:r>
            <a:endParaRPr lang="en-US" sz="900" dirty="0"/>
          </a:p>
        </p:txBody>
      </p:sp>
      <p:sp>
        <p:nvSpPr>
          <p:cNvPr id="21" name="Text 19"/>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8FA6B3"/>
                </a:solidFill>
                <a:latin typeface="Calibri" pitchFamily="34" charset="0"/>
                <a:ea typeface="Calibri" pitchFamily="34" charset="-122"/>
                <a:cs typeface="Calibri" pitchFamily="34" charset="-120"/>
              </a:rPr>
              <a:t>4</a:t>
            </a:r>
            <a:endParaRPr lang="en-US" sz="9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9FA"/>
        </a:solidFill>
        <a:effectLst/>
      </p:bgPr>
    </p:bg>
    <p:spTree>
      <p:nvGrpSpPr>
        <p:cNvPr id="1" name=""/>
        <p:cNvGrpSpPr/>
        <p:nvPr/>
      </p:nvGrpSpPr>
      <p:grpSpPr>
        <a:xfrm>
          <a:off x="0" y="0"/>
          <a:ext cx="0" cy="0"/>
          <a:chOff x="0" y="0"/>
          <a:chExt cx="0" cy="0"/>
        </a:xfrm>
      </p:grpSpPr>
      <p:sp>
        <p:nvSpPr>
          <p:cNvPr id="2" name="Shape 0"/>
          <p:cNvSpPr/>
          <p:nvPr/>
        </p:nvSpPr>
        <p:spPr>
          <a:xfrm>
            <a:off x="457200" y="411480"/>
            <a:ext cx="2560320" cy="365760"/>
          </a:xfrm>
          <a:prstGeom prst="roundRect">
            <a:avLst>
              <a:gd name="adj" fmla="val 20000"/>
            </a:avLst>
          </a:prstGeom>
          <a:solidFill>
            <a:srgbClr val="E5F0F4"/>
          </a:solidFill>
          <a:ln/>
        </p:spPr>
      </p:sp>
      <p:sp>
        <p:nvSpPr>
          <p:cNvPr id="3" name="Text 1"/>
          <p:cNvSpPr/>
          <p:nvPr/>
        </p:nvSpPr>
        <p:spPr>
          <a:xfrm>
            <a:off x="457200" y="411480"/>
            <a:ext cx="2560320" cy="365760"/>
          </a:xfrm>
          <a:prstGeom prst="rect">
            <a:avLst/>
          </a:prstGeom>
          <a:noFill/>
          <a:ln/>
        </p:spPr>
        <p:txBody>
          <a:bodyPr wrap="square" rtlCol="0" anchor="ctr"/>
          <a:lstStyle/>
          <a:p>
            <a:pPr marL="0" indent="0" algn="ctr">
              <a:buNone/>
            </a:pPr>
            <a:r>
              <a:rPr lang="en-US" sz="1100" b="1" kern="0" spc="100" dirty="0">
                <a:solidFill>
                  <a:srgbClr val="065A82"/>
                </a:solidFill>
                <a:latin typeface="Calibri" pitchFamily="34" charset="0"/>
                <a:ea typeface="Calibri" pitchFamily="34" charset="-122"/>
                <a:cs typeface="Calibri" pitchFamily="34" charset="-120"/>
              </a:rPr>
              <a:t>STEP 1</a:t>
            </a:r>
            <a:endParaRPr lang="en-US" sz="1100" dirty="0"/>
          </a:p>
        </p:txBody>
      </p:sp>
      <p:sp>
        <p:nvSpPr>
          <p:cNvPr id="4" name="Text 2"/>
          <p:cNvSpPr/>
          <p:nvPr/>
        </p:nvSpPr>
        <p:spPr>
          <a:xfrm>
            <a:off x="457200" y="868680"/>
            <a:ext cx="11247120" cy="685800"/>
          </a:xfrm>
          <a:prstGeom prst="rect">
            <a:avLst/>
          </a:prstGeom>
          <a:noFill/>
          <a:ln/>
        </p:spPr>
        <p:txBody>
          <a:bodyPr wrap="square" rtlCol="0" anchor="ctr"/>
          <a:lstStyle/>
          <a:p>
            <a:pPr marL="0" indent="0">
              <a:buNone/>
            </a:pPr>
            <a:r>
              <a:rPr lang="en-US" sz="2800" b="1" dirty="0">
                <a:solidFill>
                  <a:srgbClr val="0B2A4A"/>
                </a:solidFill>
                <a:latin typeface="Cambria" pitchFamily="34" charset="0"/>
                <a:ea typeface="Cambria" pitchFamily="34" charset="-122"/>
                <a:cs typeface="Cambria" pitchFamily="34" charset="-120"/>
              </a:rPr>
              <a:t>Build the Four Sums We Need</a:t>
            </a:r>
            <a:endParaRPr lang="en-US" sz="2800" dirty="0"/>
          </a:p>
        </p:txBody>
      </p:sp>
      <p:sp>
        <p:nvSpPr>
          <p:cNvPr id="5" name="Text 3"/>
          <p:cNvSpPr/>
          <p:nvPr/>
        </p:nvSpPr>
        <p:spPr>
          <a:xfrm>
            <a:off x="457200" y="1508760"/>
            <a:ext cx="11247120" cy="411480"/>
          </a:xfrm>
          <a:prstGeom prst="rect">
            <a:avLst/>
          </a:prstGeom>
          <a:noFill/>
          <a:ln/>
        </p:spPr>
        <p:txBody>
          <a:bodyPr wrap="square" rtlCol="0" anchor="ctr"/>
          <a:lstStyle/>
          <a:p>
            <a:pPr marL="0" indent="0">
              <a:buNone/>
            </a:pPr>
            <a:r>
              <a:rPr lang="en-US" sz="1400" dirty="0">
                <a:solidFill>
                  <a:srgbClr val="17232E"/>
                </a:solidFill>
                <a:latin typeface="Calibri" pitchFamily="34" charset="0"/>
                <a:ea typeface="Calibri" pitchFamily="34" charset="-122"/>
                <a:cs typeface="Calibri" pitchFamily="34" charset="-120"/>
              </a:rPr>
              <a:t>For every plant, compute x² and xy. Then add up each column.</a:t>
            </a:r>
            <a:endParaRPr lang="en-US" sz="1400" dirty="0"/>
          </a:p>
        </p:txBody>
      </p:sp>
      <p:sp>
        <p:nvSpPr>
          <p:cNvPr id="6" name="Shape 4"/>
          <p:cNvSpPr/>
          <p:nvPr/>
        </p:nvSpPr>
        <p:spPr>
          <a:xfrm>
            <a:off x="1554480" y="2011680"/>
            <a:ext cx="1097280" cy="365760"/>
          </a:xfrm>
          <a:prstGeom prst="rect">
            <a:avLst/>
          </a:prstGeom>
          <a:solidFill>
            <a:srgbClr val="0B2A4A"/>
          </a:solidFill>
          <a:ln w="6350">
            <a:solidFill>
              <a:srgbClr val="FFFFFF"/>
            </a:solidFill>
            <a:prstDash val="solid"/>
          </a:ln>
        </p:spPr>
      </p:sp>
      <p:sp>
        <p:nvSpPr>
          <p:cNvPr id="7" name="Text 5"/>
          <p:cNvSpPr/>
          <p:nvPr/>
        </p:nvSpPr>
        <p:spPr>
          <a:xfrm>
            <a:off x="1554480" y="2011680"/>
            <a:ext cx="1097280" cy="36576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Plant</a:t>
            </a:r>
            <a:endParaRPr lang="en-US" sz="1150" dirty="0"/>
          </a:p>
        </p:txBody>
      </p:sp>
      <p:sp>
        <p:nvSpPr>
          <p:cNvPr id="8" name="Shape 6"/>
          <p:cNvSpPr/>
          <p:nvPr/>
        </p:nvSpPr>
        <p:spPr>
          <a:xfrm>
            <a:off x="2651760" y="2011680"/>
            <a:ext cx="1097280" cy="365760"/>
          </a:xfrm>
          <a:prstGeom prst="rect">
            <a:avLst/>
          </a:prstGeom>
          <a:solidFill>
            <a:srgbClr val="0B2A4A"/>
          </a:solidFill>
          <a:ln w="6350">
            <a:solidFill>
              <a:srgbClr val="FFFFFF"/>
            </a:solidFill>
            <a:prstDash val="solid"/>
          </a:ln>
        </p:spPr>
      </p:sp>
      <p:sp>
        <p:nvSpPr>
          <p:cNvPr id="9" name="Text 7"/>
          <p:cNvSpPr/>
          <p:nvPr/>
        </p:nvSpPr>
        <p:spPr>
          <a:xfrm>
            <a:off x="2651760" y="2011680"/>
            <a:ext cx="1097280" cy="36576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X</a:t>
            </a:r>
            <a:endParaRPr lang="en-US" sz="1150" dirty="0"/>
          </a:p>
        </p:txBody>
      </p:sp>
      <p:sp>
        <p:nvSpPr>
          <p:cNvPr id="10" name="Shape 8"/>
          <p:cNvSpPr/>
          <p:nvPr/>
        </p:nvSpPr>
        <p:spPr>
          <a:xfrm>
            <a:off x="3749040" y="2011680"/>
            <a:ext cx="1097280" cy="365760"/>
          </a:xfrm>
          <a:prstGeom prst="rect">
            <a:avLst/>
          </a:prstGeom>
          <a:solidFill>
            <a:srgbClr val="0B2A4A"/>
          </a:solidFill>
          <a:ln w="6350">
            <a:solidFill>
              <a:srgbClr val="FFFFFF"/>
            </a:solidFill>
            <a:prstDash val="solid"/>
          </a:ln>
        </p:spPr>
      </p:sp>
      <p:sp>
        <p:nvSpPr>
          <p:cNvPr id="11" name="Text 9"/>
          <p:cNvSpPr/>
          <p:nvPr/>
        </p:nvSpPr>
        <p:spPr>
          <a:xfrm>
            <a:off x="3749040" y="2011680"/>
            <a:ext cx="1097280" cy="36576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Y</a:t>
            </a:r>
            <a:endParaRPr lang="en-US" sz="1150" dirty="0"/>
          </a:p>
        </p:txBody>
      </p:sp>
      <p:sp>
        <p:nvSpPr>
          <p:cNvPr id="12" name="Shape 10"/>
          <p:cNvSpPr/>
          <p:nvPr/>
        </p:nvSpPr>
        <p:spPr>
          <a:xfrm>
            <a:off x="4846320" y="2011680"/>
            <a:ext cx="1371600" cy="365760"/>
          </a:xfrm>
          <a:prstGeom prst="rect">
            <a:avLst/>
          </a:prstGeom>
          <a:solidFill>
            <a:srgbClr val="0B2A4A"/>
          </a:solidFill>
          <a:ln w="6350">
            <a:solidFill>
              <a:srgbClr val="FFFFFF"/>
            </a:solidFill>
            <a:prstDash val="solid"/>
          </a:ln>
        </p:spPr>
      </p:sp>
      <p:sp>
        <p:nvSpPr>
          <p:cNvPr id="13" name="Text 11"/>
          <p:cNvSpPr/>
          <p:nvPr/>
        </p:nvSpPr>
        <p:spPr>
          <a:xfrm>
            <a:off x="4846320" y="2011680"/>
            <a:ext cx="1371600" cy="36576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X²</a:t>
            </a:r>
            <a:endParaRPr lang="en-US" sz="1150" dirty="0"/>
          </a:p>
        </p:txBody>
      </p:sp>
      <p:sp>
        <p:nvSpPr>
          <p:cNvPr id="14" name="Shape 12"/>
          <p:cNvSpPr/>
          <p:nvPr/>
        </p:nvSpPr>
        <p:spPr>
          <a:xfrm>
            <a:off x="6217920" y="2011680"/>
            <a:ext cx="1371600" cy="365760"/>
          </a:xfrm>
          <a:prstGeom prst="rect">
            <a:avLst/>
          </a:prstGeom>
          <a:solidFill>
            <a:srgbClr val="0B2A4A"/>
          </a:solidFill>
          <a:ln w="6350">
            <a:solidFill>
              <a:srgbClr val="FFFFFF"/>
            </a:solidFill>
            <a:prstDash val="solid"/>
          </a:ln>
        </p:spPr>
      </p:sp>
      <p:sp>
        <p:nvSpPr>
          <p:cNvPr id="15" name="Text 13"/>
          <p:cNvSpPr/>
          <p:nvPr/>
        </p:nvSpPr>
        <p:spPr>
          <a:xfrm>
            <a:off x="6217920" y="2011680"/>
            <a:ext cx="1371600" cy="36576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XY</a:t>
            </a:r>
            <a:endParaRPr lang="en-US" sz="1150" dirty="0"/>
          </a:p>
        </p:txBody>
      </p:sp>
      <p:sp>
        <p:nvSpPr>
          <p:cNvPr id="16" name="Shape 14"/>
          <p:cNvSpPr/>
          <p:nvPr/>
        </p:nvSpPr>
        <p:spPr>
          <a:xfrm>
            <a:off x="1554480" y="2377440"/>
            <a:ext cx="1097280" cy="310896"/>
          </a:xfrm>
          <a:prstGeom prst="rect">
            <a:avLst/>
          </a:prstGeom>
          <a:solidFill>
            <a:srgbClr val="F0F5F6"/>
          </a:solidFill>
          <a:ln w="6350">
            <a:solidFill>
              <a:srgbClr val="D7E2E6"/>
            </a:solidFill>
            <a:prstDash val="solid"/>
          </a:ln>
        </p:spPr>
      </p:sp>
      <p:sp>
        <p:nvSpPr>
          <p:cNvPr id="17" name="Text 15"/>
          <p:cNvSpPr/>
          <p:nvPr/>
        </p:nvSpPr>
        <p:spPr>
          <a:xfrm>
            <a:off x="1554480" y="2377440"/>
            <a:ext cx="1097280" cy="310896"/>
          </a:xfrm>
          <a:prstGeom prst="rect">
            <a:avLst/>
          </a:prstGeom>
          <a:noFill/>
          <a:ln/>
        </p:spPr>
        <p:txBody>
          <a:bodyPr wrap="square" rtlCol="0" anchor="ctr"/>
          <a:lstStyle/>
          <a:p>
            <a:pPr marL="0" indent="0" algn="ctr">
              <a:buNone/>
            </a:pPr>
            <a:r>
              <a:rPr lang="en-US" sz="1100" dirty="0">
                <a:solidFill>
                  <a:srgbClr val="17232E"/>
                </a:solidFill>
                <a:latin typeface="Calibri" pitchFamily="34" charset="0"/>
                <a:ea typeface="Calibri" pitchFamily="34" charset="-122"/>
                <a:cs typeface="Calibri" pitchFamily="34" charset="-120"/>
              </a:rPr>
              <a:t>A</a:t>
            </a:r>
            <a:endParaRPr lang="en-US" sz="1100" dirty="0"/>
          </a:p>
        </p:txBody>
      </p:sp>
      <p:sp>
        <p:nvSpPr>
          <p:cNvPr id="18" name="Shape 16"/>
          <p:cNvSpPr/>
          <p:nvPr/>
        </p:nvSpPr>
        <p:spPr>
          <a:xfrm>
            <a:off x="2651760" y="2377440"/>
            <a:ext cx="1097280" cy="310896"/>
          </a:xfrm>
          <a:prstGeom prst="rect">
            <a:avLst/>
          </a:prstGeom>
          <a:solidFill>
            <a:srgbClr val="F0F5F6"/>
          </a:solidFill>
          <a:ln w="6350">
            <a:solidFill>
              <a:srgbClr val="D7E2E6"/>
            </a:solidFill>
            <a:prstDash val="solid"/>
          </a:ln>
        </p:spPr>
      </p:sp>
      <p:sp>
        <p:nvSpPr>
          <p:cNvPr id="19" name="Text 17"/>
          <p:cNvSpPr/>
          <p:nvPr/>
        </p:nvSpPr>
        <p:spPr>
          <a:xfrm>
            <a:off x="2651760" y="2377440"/>
            <a:ext cx="1097280" cy="310896"/>
          </a:xfrm>
          <a:prstGeom prst="rect">
            <a:avLst/>
          </a:prstGeom>
          <a:noFill/>
          <a:ln/>
        </p:spPr>
        <p:txBody>
          <a:bodyPr wrap="square" rtlCol="0" anchor="ctr"/>
          <a:lstStyle/>
          <a:p>
            <a:pPr marL="0" indent="0" algn="ctr">
              <a:buNone/>
            </a:pPr>
            <a:r>
              <a:rPr lang="en-US" sz="1100" dirty="0">
                <a:solidFill>
                  <a:srgbClr val="17232E"/>
                </a:solidFill>
                <a:latin typeface="Courier New" pitchFamily="34" charset="0"/>
                <a:ea typeface="Courier New" pitchFamily="34" charset="-122"/>
                <a:cs typeface="Courier New" pitchFamily="34" charset="-120"/>
              </a:rPr>
              <a:t>1.0</a:t>
            </a:r>
            <a:endParaRPr lang="en-US" sz="1100" dirty="0"/>
          </a:p>
        </p:txBody>
      </p:sp>
      <p:sp>
        <p:nvSpPr>
          <p:cNvPr id="20" name="Shape 18"/>
          <p:cNvSpPr/>
          <p:nvPr/>
        </p:nvSpPr>
        <p:spPr>
          <a:xfrm>
            <a:off x="3749040" y="2377440"/>
            <a:ext cx="1097280" cy="310896"/>
          </a:xfrm>
          <a:prstGeom prst="rect">
            <a:avLst/>
          </a:prstGeom>
          <a:solidFill>
            <a:srgbClr val="F0F5F6"/>
          </a:solidFill>
          <a:ln w="6350">
            <a:solidFill>
              <a:srgbClr val="D7E2E6"/>
            </a:solidFill>
            <a:prstDash val="solid"/>
          </a:ln>
        </p:spPr>
      </p:sp>
      <p:sp>
        <p:nvSpPr>
          <p:cNvPr id="21" name="Text 19"/>
          <p:cNvSpPr/>
          <p:nvPr/>
        </p:nvSpPr>
        <p:spPr>
          <a:xfrm>
            <a:off x="3749040" y="2377440"/>
            <a:ext cx="1097280" cy="310896"/>
          </a:xfrm>
          <a:prstGeom prst="rect">
            <a:avLst/>
          </a:prstGeom>
          <a:noFill/>
          <a:ln/>
        </p:spPr>
        <p:txBody>
          <a:bodyPr wrap="square" rtlCol="0" anchor="ctr"/>
          <a:lstStyle/>
          <a:p>
            <a:pPr marL="0" indent="0" algn="ctr">
              <a:buNone/>
            </a:pPr>
            <a:r>
              <a:rPr lang="en-US" sz="1100" dirty="0">
                <a:solidFill>
                  <a:srgbClr val="17232E"/>
                </a:solidFill>
                <a:latin typeface="Courier New" pitchFamily="34" charset="0"/>
                <a:ea typeface="Courier New" pitchFamily="34" charset="-122"/>
                <a:cs typeface="Courier New" pitchFamily="34" charset="-120"/>
              </a:rPr>
              <a:t>4.2</a:t>
            </a:r>
            <a:endParaRPr lang="en-US" sz="1100" dirty="0"/>
          </a:p>
        </p:txBody>
      </p:sp>
      <p:sp>
        <p:nvSpPr>
          <p:cNvPr id="22" name="Shape 20"/>
          <p:cNvSpPr/>
          <p:nvPr/>
        </p:nvSpPr>
        <p:spPr>
          <a:xfrm>
            <a:off x="4846320" y="2377440"/>
            <a:ext cx="1371600" cy="310896"/>
          </a:xfrm>
          <a:prstGeom prst="rect">
            <a:avLst/>
          </a:prstGeom>
          <a:solidFill>
            <a:srgbClr val="F0F5F6"/>
          </a:solidFill>
          <a:ln w="6350">
            <a:solidFill>
              <a:srgbClr val="D7E2E6"/>
            </a:solidFill>
            <a:prstDash val="solid"/>
          </a:ln>
        </p:spPr>
      </p:sp>
      <p:sp>
        <p:nvSpPr>
          <p:cNvPr id="23" name="Text 21"/>
          <p:cNvSpPr/>
          <p:nvPr/>
        </p:nvSpPr>
        <p:spPr>
          <a:xfrm>
            <a:off x="4846320" y="2377440"/>
            <a:ext cx="1371600" cy="310896"/>
          </a:xfrm>
          <a:prstGeom prst="rect">
            <a:avLst/>
          </a:prstGeom>
          <a:noFill/>
          <a:ln/>
        </p:spPr>
        <p:txBody>
          <a:bodyPr wrap="square" rtlCol="0" anchor="ctr"/>
          <a:lstStyle/>
          <a:p>
            <a:pPr marL="0" indent="0" algn="ctr">
              <a:buNone/>
            </a:pPr>
            <a:r>
              <a:rPr lang="en-US" sz="1100" dirty="0">
                <a:solidFill>
                  <a:srgbClr val="17232E"/>
                </a:solidFill>
                <a:latin typeface="Courier New" pitchFamily="34" charset="0"/>
                <a:ea typeface="Courier New" pitchFamily="34" charset="-122"/>
                <a:cs typeface="Courier New" pitchFamily="34" charset="-120"/>
              </a:rPr>
              <a:t>1.00</a:t>
            </a:r>
            <a:endParaRPr lang="en-US" sz="1100" dirty="0"/>
          </a:p>
        </p:txBody>
      </p:sp>
      <p:sp>
        <p:nvSpPr>
          <p:cNvPr id="24" name="Shape 22"/>
          <p:cNvSpPr/>
          <p:nvPr/>
        </p:nvSpPr>
        <p:spPr>
          <a:xfrm>
            <a:off x="6217920" y="2377440"/>
            <a:ext cx="1371600" cy="310896"/>
          </a:xfrm>
          <a:prstGeom prst="rect">
            <a:avLst/>
          </a:prstGeom>
          <a:solidFill>
            <a:srgbClr val="F0F5F6"/>
          </a:solidFill>
          <a:ln w="6350">
            <a:solidFill>
              <a:srgbClr val="D7E2E6"/>
            </a:solidFill>
            <a:prstDash val="solid"/>
          </a:ln>
        </p:spPr>
      </p:sp>
      <p:sp>
        <p:nvSpPr>
          <p:cNvPr id="25" name="Text 23"/>
          <p:cNvSpPr/>
          <p:nvPr/>
        </p:nvSpPr>
        <p:spPr>
          <a:xfrm>
            <a:off x="6217920" y="2377440"/>
            <a:ext cx="1371600" cy="310896"/>
          </a:xfrm>
          <a:prstGeom prst="rect">
            <a:avLst/>
          </a:prstGeom>
          <a:noFill/>
          <a:ln/>
        </p:spPr>
        <p:txBody>
          <a:bodyPr wrap="square" rtlCol="0" anchor="ctr"/>
          <a:lstStyle/>
          <a:p>
            <a:pPr marL="0" indent="0" algn="ctr">
              <a:buNone/>
            </a:pPr>
            <a:r>
              <a:rPr lang="en-US" sz="1100" dirty="0">
                <a:solidFill>
                  <a:srgbClr val="17232E"/>
                </a:solidFill>
                <a:latin typeface="Courier New" pitchFamily="34" charset="0"/>
                <a:ea typeface="Courier New" pitchFamily="34" charset="-122"/>
                <a:cs typeface="Courier New" pitchFamily="34" charset="-120"/>
              </a:rPr>
              <a:t>4.20</a:t>
            </a:r>
            <a:endParaRPr lang="en-US" sz="1100" dirty="0"/>
          </a:p>
        </p:txBody>
      </p:sp>
      <p:sp>
        <p:nvSpPr>
          <p:cNvPr id="26" name="Shape 24"/>
          <p:cNvSpPr/>
          <p:nvPr/>
        </p:nvSpPr>
        <p:spPr>
          <a:xfrm>
            <a:off x="1554480" y="2688336"/>
            <a:ext cx="1097280" cy="310896"/>
          </a:xfrm>
          <a:prstGeom prst="rect">
            <a:avLst/>
          </a:prstGeom>
          <a:solidFill>
            <a:srgbClr val="FFFFFF"/>
          </a:solidFill>
          <a:ln w="6350">
            <a:solidFill>
              <a:srgbClr val="D7E2E6"/>
            </a:solidFill>
            <a:prstDash val="solid"/>
          </a:ln>
        </p:spPr>
      </p:sp>
      <p:sp>
        <p:nvSpPr>
          <p:cNvPr id="27" name="Text 25"/>
          <p:cNvSpPr/>
          <p:nvPr/>
        </p:nvSpPr>
        <p:spPr>
          <a:xfrm>
            <a:off x="1554480" y="2688336"/>
            <a:ext cx="1097280" cy="310896"/>
          </a:xfrm>
          <a:prstGeom prst="rect">
            <a:avLst/>
          </a:prstGeom>
          <a:noFill/>
          <a:ln/>
        </p:spPr>
        <p:txBody>
          <a:bodyPr wrap="square" rtlCol="0" anchor="ctr"/>
          <a:lstStyle/>
          <a:p>
            <a:pPr marL="0" indent="0" algn="ctr">
              <a:buNone/>
            </a:pPr>
            <a:r>
              <a:rPr lang="en-US" sz="1100" dirty="0">
                <a:solidFill>
                  <a:srgbClr val="17232E"/>
                </a:solidFill>
                <a:latin typeface="Calibri" pitchFamily="34" charset="0"/>
                <a:ea typeface="Calibri" pitchFamily="34" charset="-122"/>
                <a:cs typeface="Calibri" pitchFamily="34" charset="-120"/>
              </a:rPr>
              <a:t>B</a:t>
            </a:r>
            <a:endParaRPr lang="en-US" sz="1100" dirty="0"/>
          </a:p>
        </p:txBody>
      </p:sp>
      <p:sp>
        <p:nvSpPr>
          <p:cNvPr id="28" name="Shape 26"/>
          <p:cNvSpPr/>
          <p:nvPr/>
        </p:nvSpPr>
        <p:spPr>
          <a:xfrm>
            <a:off x="2651760" y="2688336"/>
            <a:ext cx="1097280" cy="310896"/>
          </a:xfrm>
          <a:prstGeom prst="rect">
            <a:avLst/>
          </a:prstGeom>
          <a:solidFill>
            <a:srgbClr val="FFFFFF"/>
          </a:solidFill>
          <a:ln w="6350">
            <a:solidFill>
              <a:srgbClr val="D7E2E6"/>
            </a:solidFill>
            <a:prstDash val="solid"/>
          </a:ln>
        </p:spPr>
      </p:sp>
      <p:sp>
        <p:nvSpPr>
          <p:cNvPr id="29" name="Text 27"/>
          <p:cNvSpPr/>
          <p:nvPr/>
        </p:nvSpPr>
        <p:spPr>
          <a:xfrm>
            <a:off x="2651760" y="2688336"/>
            <a:ext cx="1097280" cy="310896"/>
          </a:xfrm>
          <a:prstGeom prst="rect">
            <a:avLst/>
          </a:prstGeom>
          <a:noFill/>
          <a:ln/>
        </p:spPr>
        <p:txBody>
          <a:bodyPr wrap="square" rtlCol="0" anchor="ctr"/>
          <a:lstStyle/>
          <a:p>
            <a:pPr marL="0" indent="0" algn="ctr">
              <a:buNone/>
            </a:pPr>
            <a:r>
              <a:rPr lang="en-US" sz="1100" dirty="0">
                <a:solidFill>
                  <a:srgbClr val="17232E"/>
                </a:solidFill>
                <a:latin typeface="Courier New" pitchFamily="34" charset="0"/>
                <a:ea typeface="Courier New" pitchFamily="34" charset="-122"/>
                <a:cs typeface="Courier New" pitchFamily="34" charset="-120"/>
              </a:rPr>
              <a:t>1.0</a:t>
            </a:r>
            <a:endParaRPr lang="en-US" sz="1100" dirty="0"/>
          </a:p>
        </p:txBody>
      </p:sp>
      <p:sp>
        <p:nvSpPr>
          <p:cNvPr id="30" name="Shape 28"/>
          <p:cNvSpPr/>
          <p:nvPr/>
        </p:nvSpPr>
        <p:spPr>
          <a:xfrm>
            <a:off x="3749040" y="2688336"/>
            <a:ext cx="1097280" cy="310896"/>
          </a:xfrm>
          <a:prstGeom prst="rect">
            <a:avLst/>
          </a:prstGeom>
          <a:solidFill>
            <a:srgbClr val="FFFFFF"/>
          </a:solidFill>
          <a:ln w="6350">
            <a:solidFill>
              <a:srgbClr val="D7E2E6"/>
            </a:solidFill>
            <a:prstDash val="solid"/>
          </a:ln>
        </p:spPr>
      </p:sp>
      <p:sp>
        <p:nvSpPr>
          <p:cNvPr id="31" name="Text 29"/>
          <p:cNvSpPr/>
          <p:nvPr/>
        </p:nvSpPr>
        <p:spPr>
          <a:xfrm>
            <a:off x="3749040" y="2688336"/>
            <a:ext cx="1097280" cy="310896"/>
          </a:xfrm>
          <a:prstGeom prst="rect">
            <a:avLst/>
          </a:prstGeom>
          <a:noFill/>
          <a:ln/>
        </p:spPr>
        <p:txBody>
          <a:bodyPr wrap="square" rtlCol="0" anchor="ctr"/>
          <a:lstStyle/>
          <a:p>
            <a:pPr marL="0" indent="0" algn="ctr">
              <a:buNone/>
            </a:pPr>
            <a:r>
              <a:rPr lang="en-US" sz="1100" dirty="0">
                <a:solidFill>
                  <a:srgbClr val="17232E"/>
                </a:solidFill>
                <a:latin typeface="Courier New" pitchFamily="34" charset="0"/>
                <a:ea typeface="Courier New" pitchFamily="34" charset="-122"/>
                <a:cs typeface="Courier New" pitchFamily="34" charset="-120"/>
              </a:rPr>
              <a:t>4.2</a:t>
            </a:r>
            <a:endParaRPr lang="en-US" sz="1100" dirty="0"/>
          </a:p>
        </p:txBody>
      </p:sp>
      <p:sp>
        <p:nvSpPr>
          <p:cNvPr id="32" name="Shape 30"/>
          <p:cNvSpPr/>
          <p:nvPr/>
        </p:nvSpPr>
        <p:spPr>
          <a:xfrm>
            <a:off x="4846320" y="2688336"/>
            <a:ext cx="1371600" cy="310896"/>
          </a:xfrm>
          <a:prstGeom prst="rect">
            <a:avLst/>
          </a:prstGeom>
          <a:solidFill>
            <a:srgbClr val="FFFFFF"/>
          </a:solidFill>
          <a:ln w="6350">
            <a:solidFill>
              <a:srgbClr val="D7E2E6"/>
            </a:solidFill>
            <a:prstDash val="solid"/>
          </a:ln>
        </p:spPr>
      </p:sp>
      <p:sp>
        <p:nvSpPr>
          <p:cNvPr id="33" name="Text 31"/>
          <p:cNvSpPr/>
          <p:nvPr/>
        </p:nvSpPr>
        <p:spPr>
          <a:xfrm>
            <a:off x="4846320" y="2688336"/>
            <a:ext cx="1371600" cy="310896"/>
          </a:xfrm>
          <a:prstGeom prst="rect">
            <a:avLst/>
          </a:prstGeom>
          <a:noFill/>
          <a:ln/>
        </p:spPr>
        <p:txBody>
          <a:bodyPr wrap="square" rtlCol="0" anchor="ctr"/>
          <a:lstStyle/>
          <a:p>
            <a:pPr marL="0" indent="0" algn="ctr">
              <a:buNone/>
            </a:pPr>
            <a:r>
              <a:rPr lang="en-US" sz="1100" dirty="0">
                <a:solidFill>
                  <a:srgbClr val="17232E"/>
                </a:solidFill>
                <a:latin typeface="Courier New" pitchFamily="34" charset="0"/>
                <a:ea typeface="Courier New" pitchFamily="34" charset="-122"/>
                <a:cs typeface="Courier New" pitchFamily="34" charset="-120"/>
              </a:rPr>
              <a:t>1.00</a:t>
            </a:r>
            <a:endParaRPr lang="en-US" sz="1100" dirty="0"/>
          </a:p>
        </p:txBody>
      </p:sp>
      <p:sp>
        <p:nvSpPr>
          <p:cNvPr id="34" name="Shape 32"/>
          <p:cNvSpPr/>
          <p:nvPr/>
        </p:nvSpPr>
        <p:spPr>
          <a:xfrm>
            <a:off x="6217920" y="2688336"/>
            <a:ext cx="1371600" cy="310896"/>
          </a:xfrm>
          <a:prstGeom prst="rect">
            <a:avLst/>
          </a:prstGeom>
          <a:solidFill>
            <a:srgbClr val="FFFFFF"/>
          </a:solidFill>
          <a:ln w="6350">
            <a:solidFill>
              <a:srgbClr val="D7E2E6"/>
            </a:solidFill>
            <a:prstDash val="solid"/>
          </a:ln>
        </p:spPr>
      </p:sp>
      <p:sp>
        <p:nvSpPr>
          <p:cNvPr id="35" name="Text 33"/>
          <p:cNvSpPr/>
          <p:nvPr/>
        </p:nvSpPr>
        <p:spPr>
          <a:xfrm>
            <a:off x="6217920" y="2688336"/>
            <a:ext cx="1371600" cy="310896"/>
          </a:xfrm>
          <a:prstGeom prst="rect">
            <a:avLst/>
          </a:prstGeom>
          <a:noFill/>
          <a:ln/>
        </p:spPr>
        <p:txBody>
          <a:bodyPr wrap="square" rtlCol="0" anchor="ctr"/>
          <a:lstStyle/>
          <a:p>
            <a:pPr marL="0" indent="0" algn="ctr">
              <a:buNone/>
            </a:pPr>
            <a:r>
              <a:rPr lang="en-US" sz="1100" dirty="0">
                <a:solidFill>
                  <a:srgbClr val="17232E"/>
                </a:solidFill>
                <a:latin typeface="Courier New" pitchFamily="34" charset="0"/>
                <a:ea typeface="Courier New" pitchFamily="34" charset="-122"/>
                <a:cs typeface="Courier New" pitchFamily="34" charset="-120"/>
              </a:rPr>
              <a:t>4.20</a:t>
            </a:r>
            <a:endParaRPr lang="en-US" sz="1100" dirty="0"/>
          </a:p>
        </p:txBody>
      </p:sp>
      <p:sp>
        <p:nvSpPr>
          <p:cNvPr id="36" name="Shape 34"/>
          <p:cNvSpPr/>
          <p:nvPr/>
        </p:nvSpPr>
        <p:spPr>
          <a:xfrm>
            <a:off x="1554480" y="2999232"/>
            <a:ext cx="1097280" cy="310896"/>
          </a:xfrm>
          <a:prstGeom prst="rect">
            <a:avLst/>
          </a:prstGeom>
          <a:solidFill>
            <a:srgbClr val="F0F5F6"/>
          </a:solidFill>
          <a:ln w="6350">
            <a:solidFill>
              <a:srgbClr val="D7E2E6"/>
            </a:solidFill>
            <a:prstDash val="solid"/>
          </a:ln>
        </p:spPr>
      </p:sp>
      <p:sp>
        <p:nvSpPr>
          <p:cNvPr id="37" name="Text 35"/>
          <p:cNvSpPr/>
          <p:nvPr/>
        </p:nvSpPr>
        <p:spPr>
          <a:xfrm>
            <a:off x="1554480" y="2999232"/>
            <a:ext cx="1097280" cy="310896"/>
          </a:xfrm>
          <a:prstGeom prst="rect">
            <a:avLst/>
          </a:prstGeom>
          <a:noFill/>
          <a:ln/>
        </p:spPr>
        <p:txBody>
          <a:bodyPr wrap="square" rtlCol="0" anchor="ctr"/>
          <a:lstStyle/>
          <a:p>
            <a:pPr marL="0" indent="0" algn="ctr">
              <a:buNone/>
            </a:pPr>
            <a:r>
              <a:rPr lang="en-US" sz="1100" dirty="0">
                <a:solidFill>
                  <a:srgbClr val="17232E"/>
                </a:solidFill>
                <a:latin typeface="Calibri" pitchFamily="34" charset="0"/>
                <a:ea typeface="Calibri" pitchFamily="34" charset="-122"/>
                <a:cs typeface="Calibri" pitchFamily="34" charset="-120"/>
              </a:rPr>
              <a:t>C</a:t>
            </a:r>
            <a:endParaRPr lang="en-US" sz="1100" dirty="0"/>
          </a:p>
        </p:txBody>
      </p:sp>
      <p:sp>
        <p:nvSpPr>
          <p:cNvPr id="38" name="Shape 36"/>
          <p:cNvSpPr/>
          <p:nvPr/>
        </p:nvSpPr>
        <p:spPr>
          <a:xfrm>
            <a:off x="2651760" y="2999232"/>
            <a:ext cx="1097280" cy="310896"/>
          </a:xfrm>
          <a:prstGeom prst="rect">
            <a:avLst/>
          </a:prstGeom>
          <a:solidFill>
            <a:srgbClr val="F0F5F6"/>
          </a:solidFill>
          <a:ln w="6350">
            <a:solidFill>
              <a:srgbClr val="D7E2E6"/>
            </a:solidFill>
            <a:prstDash val="solid"/>
          </a:ln>
        </p:spPr>
      </p:sp>
      <p:sp>
        <p:nvSpPr>
          <p:cNvPr id="39" name="Text 37"/>
          <p:cNvSpPr/>
          <p:nvPr/>
        </p:nvSpPr>
        <p:spPr>
          <a:xfrm>
            <a:off x="2651760" y="2999232"/>
            <a:ext cx="1097280" cy="310896"/>
          </a:xfrm>
          <a:prstGeom prst="rect">
            <a:avLst/>
          </a:prstGeom>
          <a:noFill/>
          <a:ln/>
        </p:spPr>
        <p:txBody>
          <a:bodyPr wrap="square" rtlCol="0" anchor="ctr"/>
          <a:lstStyle/>
          <a:p>
            <a:pPr marL="0" indent="0" algn="ctr">
              <a:buNone/>
            </a:pPr>
            <a:r>
              <a:rPr lang="en-US" sz="1100" dirty="0">
                <a:solidFill>
                  <a:srgbClr val="17232E"/>
                </a:solidFill>
                <a:latin typeface="Courier New" pitchFamily="34" charset="0"/>
                <a:ea typeface="Courier New" pitchFamily="34" charset="-122"/>
                <a:cs typeface="Courier New" pitchFamily="34" charset="-120"/>
              </a:rPr>
              <a:t>2.5</a:t>
            </a:r>
            <a:endParaRPr lang="en-US" sz="1100" dirty="0"/>
          </a:p>
        </p:txBody>
      </p:sp>
      <p:sp>
        <p:nvSpPr>
          <p:cNvPr id="40" name="Shape 38"/>
          <p:cNvSpPr/>
          <p:nvPr/>
        </p:nvSpPr>
        <p:spPr>
          <a:xfrm>
            <a:off x="3749040" y="2999232"/>
            <a:ext cx="1097280" cy="310896"/>
          </a:xfrm>
          <a:prstGeom prst="rect">
            <a:avLst/>
          </a:prstGeom>
          <a:solidFill>
            <a:srgbClr val="F0F5F6"/>
          </a:solidFill>
          <a:ln w="6350">
            <a:solidFill>
              <a:srgbClr val="D7E2E6"/>
            </a:solidFill>
            <a:prstDash val="solid"/>
          </a:ln>
        </p:spPr>
      </p:sp>
      <p:sp>
        <p:nvSpPr>
          <p:cNvPr id="41" name="Text 39"/>
          <p:cNvSpPr/>
          <p:nvPr/>
        </p:nvSpPr>
        <p:spPr>
          <a:xfrm>
            <a:off x="3749040" y="2999232"/>
            <a:ext cx="1097280" cy="310896"/>
          </a:xfrm>
          <a:prstGeom prst="rect">
            <a:avLst/>
          </a:prstGeom>
          <a:noFill/>
          <a:ln/>
        </p:spPr>
        <p:txBody>
          <a:bodyPr wrap="square" rtlCol="0" anchor="ctr"/>
          <a:lstStyle/>
          <a:p>
            <a:pPr marL="0" indent="0" algn="ctr">
              <a:buNone/>
            </a:pPr>
            <a:r>
              <a:rPr lang="en-US" sz="1100" dirty="0">
                <a:solidFill>
                  <a:srgbClr val="17232E"/>
                </a:solidFill>
                <a:latin typeface="Courier New" pitchFamily="34" charset="0"/>
                <a:ea typeface="Courier New" pitchFamily="34" charset="-122"/>
                <a:cs typeface="Courier New" pitchFamily="34" charset="-120"/>
              </a:rPr>
              <a:t>5.8</a:t>
            </a:r>
            <a:endParaRPr lang="en-US" sz="1100" dirty="0"/>
          </a:p>
        </p:txBody>
      </p:sp>
      <p:sp>
        <p:nvSpPr>
          <p:cNvPr id="42" name="Shape 40"/>
          <p:cNvSpPr/>
          <p:nvPr/>
        </p:nvSpPr>
        <p:spPr>
          <a:xfrm>
            <a:off x="4846320" y="2999232"/>
            <a:ext cx="1371600" cy="310896"/>
          </a:xfrm>
          <a:prstGeom prst="rect">
            <a:avLst/>
          </a:prstGeom>
          <a:solidFill>
            <a:srgbClr val="F0F5F6"/>
          </a:solidFill>
          <a:ln w="6350">
            <a:solidFill>
              <a:srgbClr val="D7E2E6"/>
            </a:solidFill>
            <a:prstDash val="solid"/>
          </a:ln>
        </p:spPr>
      </p:sp>
      <p:sp>
        <p:nvSpPr>
          <p:cNvPr id="43" name="Text 41"/>
          <p:cNvSpPr/>
          <p:nvPr/>
        </p:nvSpPr>
        <p:spPr>
          <a:xfrm>
            <a:off x="4846320" y="2999232"/>
            <a:ext cx="1371600" cy="310896"/>
          </a:xfrm>
          <a:prstGeom prst="rect">
            <a:avLst/>
          </a:prstGeom>
          <a:noFill/>
          <a:ln/>
        </p:spPr>
        <p:txBody>
          <a:bodyPr wrap="square" rtlCol="0" anchor="ctr"/>
          <a:lstStyle/>
          <a:p>
            <a:pPr marL="0" indent="0" algn="ctr">
              <a:buNone/>
            </a:pPr>
            <a:r>
              <a:rPr lang="en-US" sz="1100" dirty="0">
                <a:solidFill>
                  <a:srgbClr val="17232E"/>
                </a:solidFill>
                <a:latin typeface="Courier New" pitchFamily="34" charset="0"/>
                <a:ea typeface="Courier New" pitchFamily="34" charset="-122"/>
                <a:cs typeface="Courier New" pitchFamily="34" charset="-120"/>
              </a:rPr>
              <a:t>6.25</a:t>
            </a:r>
            <a:endParaRPr lang="en-US" sz="1100" dirty="0"/>
          </a:p>
        </p:txBody>
      </p:sp>
      <p:sp>
        <p:nvSpPr>
          <p:cNvPr id="44" name="Shape 42"/>
          <p:cNvSpPr/>
          <p:nvPr/>
        </p:nvSpPr>
        <p:spPr>
          <a:xfrm>
            <a:off x="6217920" y="2999232"/>
            <a:ext cx="1371600" cy="310896"/>
          </a:xfrm>
          <a:prstGeom prst="rect">
            <a:avLst/>
          </a:prstGeom>
          <a:solidFill>
            <a:srgbClr val="F0F5F6"/>
          </a:solidFill>
          <a:ln w="6350">
            <a:solidFill>
              <a:srgbClr val="D7E2E6"/>
            </a:solidFill>
            <a:prstDash val="solid"/>
          </a:ln>
        </p:spPr>
      </p:sp>
      <p:sp>
        <p:nvSpPr>
          <p:cNvPr id="45" name="Text 43"/>
          <p:cNvSpPr/>
          <p:nvPr/>
        </p:nvSpPr>
        <p:spPr>
          <a:xfrm>
            <a:off x="6217920" y="2999232"/>
            <a:ext cx="1371600" cy="310896"/>
          </a:xfrm>
          <a:prstGeom prst="rect">
            <a:avLst/>
          </a:prstGeom>
          <a:noFill/>
          <a:ln/>
        </p:spPr>
        <p:txBody>
          <a:bodyPr wrap="square" rtlCol="0" anchor="ctr"/>
          <a:lstStyle/>
          <a:p>
            <a:pPr marL="0" indent="0" algn="ctr">
              <a:buNone/>
            </a:pPr>
            <a:r>
              <a:rPr lang="en-US" sz="1100" dirty="0">
                <a:solidFill>
                  <a:srgbClr val="17232E"/>
                </a:solidFill>
                <a:latin typeface="Courier New" pitchFamily="34" charset="0"/>
                <a:ea typeface="Courier New" pitchFamily="34" charset="-122"/>
                <a:cs typeface="Courier New" pitchFamily="34" charset="-120"/>
              </a:rPr>
              <a:t>14.50</a:t>
            </a:r>
            <a:endParaRPr lang="en-US" sz="1100" dirty="0"/>
          </a:p>
        </p:txBody>
      </p:sp>
      <p:sp>
        <p:nvSpPr>
          <p:cNvPr id="46" name="Shape 44"/>
          <p:cNvSpPr/>
          <p:nvPr/>
        </p:nvSpPr>
        <p:spPr>
          <a:xfrm>
            <a:off x="1554480" y="3310128"/>
            <a:ext cx="1097280" cy="310896"/>
          </a:xfrm>
          <a:prstGeom prst="rect">
            <a:avLst/>
          </a:prstGeom>
          <a:solidFill>
            <a:srgbClr val="FFFFFF"/>
          </a:solidFill>
          <a:ln w="6350">
            <a:solidFill>
              <a:srgbClr val="D7E2E6"/>
            </a:solidFill>
            <a:prstDash val="solid"/>
          </a:ln>
        </p:spPr>
      </p:sp>
      <p:sp>
        <p:nvSpPr>
          <p:cNvPr id="47" name="Text 45"/>
          <p:cNvSpPr/>
          <p:nvPr/>
        </p:nvSpPr>
        <p:spPr>
          <a:xfrm>
            <a:off x="1554480" y="3310128"/>
            <a:ext cx="1097280" cy="310896"/>
          </a:xfrm>
          <a:prstGeom prst="rect">
            <a:avLst/>
          </a:prstGeom>
          <a:noFill/>
          <a:ln/>
        </p:spPr>
        <p:txBody>
          <a:bodyPr wrap="square" rtlCol="0" anchor="ctr"/>
          <a:lstStyle/>
          <a:p>
            <a:pPr marL="0" indent="0" algn="ctr">
              <a:buNone/>
            </a:pPr>
            <a:r>
              <a:rPr lang="en-US" sz="1100" dirty="0">
                <a:solidFill>
                  <a:srgbClr val="17232E"/>
                </a:solidFill>
                <a:latin typeface="Calibri" pitchFamily="34" charset="0"/>
                <a:ea typeface="Calibri" pitchFamily="34" charset="-122"/>
                <a:cs typeface="Calibri" pitchFamily="34" charset="-120"/>
              </a:rPr>
              <a:t>D</a:t>
            </a:r>
            <a:endParaRPr lang="en-US" sz="1100" dirty="0"/>
          </a:p>
        </p:txBody>
      </p:sp>
      <p:sp>
        <p:nvSpPr>
          <p:cNvPr id="48" name="Shape 46"/>
          <p:cNvSpPr/>
          <p:nvPr/>
        </p:nvSpPr>
        <p:spPr>
          <a:xfrm>
            <a:off x="2651760" y="3310128"/>
            <a:ext cx="1097280" cy="310896"/>
          </a:xfrm>
          <a:prstGeom prst="rect">
            <a:avLst/>
          </a:prstGeom>
          <a:solidFill>
            <a:srgbClr val="FFFFFF"/>
          </a:solidFill>
          <a:ln w="6350">
            <a:solidFill>
              <a:srgbClr val="D7E2E6"/>
            </a:solidFill>
            <a:prstDash val="solid"/>
          </a:ln>
        </p:spPr>
      </p:sp>
      <p:sp>
        <p:nvSpPr>
          <p:cNvPr id="49" name="Text 47"/>
          <p:cNvSpPr/>
          <p:nvPr/>
        </p:nvSpPr>
        <p:spPr>
          <a:xfrm>
            <a:off x="2651760" y="3310128"/>
            <a:ext cx="1097280" cy="310896"/>
          </a:xfrm>
          <a:prstGeom prst="rect">
            <a:avLst/>
          </a:prstGeom>
          <a:noFill/>
          <a:ln/>
        </p:spPr>
        <p:txBody>
          <a:bodyPr wrap="square" rtlCol="0" anchor="ctr"/>
          <a:lstStyle/>
          <a:p>
            <a:pPr marL="0" indent="0" algn="ctr">
              <a:buNone/>
            </a:pPr>
            <a:r>
              <a:rPr lang="en-US" sz="1100" dirty="0">
                <a:solidFill>
                  <a:srgbClr val="17232E"/>
                </a:solidFill>
                <a:latin typeface="Courier New" pitchFamily="34" charset="0"/>
                <a:ea typeface="Courier New" pitchFamily="34" charset="-122"/>
                <a:cs typeface="Courier New" pitchFamily="34" charset="-120"/>
              </a:rPr>
              <a:t>3.0</a:t>
            </a:r>
            <a:endParaRPr lang="en-US" sz="1100" dirty="0"/>
          </a:p>
        </p:txBody>
      </p:sp>
      <p:sp>
        <p:nvSpPr>
          <p:cNvPr id="50" name="Shape 48"/>
          <p:cNvSpPr/>
          <p:nvPr/>
        </p:nvSpPr>
        <p:spPr>
          <a:xfrm>
            <a:off x="3749040" y="3310128"/>
            <a:ext cx="1097280" cy="310896"/>
          </a:xfrm>
          <a:prstGeom prst="rect">
            <a:avLst/>
          </a:prstGeom>
          <a:solidFill>
            <a:srgbClr val="FFFFFF"/>
          </a:solidFill>
          <a:ln w="6350">
            <a:solidFill>
              <a:srgbClr val="D7E2E6"/>
            </a:solidFill>
            <a:prstDash val="solid"/>
          </a:ln>
        </p:spPr>
      </p:sp>
      <p:sp>
        <p:nvSpPr>
          <p:cNvPr id="51" name="Text 49"/>
          <p:cNvSpPr/>
          <p:nvPr/>
        </p:nvSpPr>
        <p:spPr>
          <a:xfrm>
            <a:off x="3749040" y="3310128"/>
            <a:ext cx="1097280" cy="310896"/>
          </a:xfrm>
          <a:prstGeom prst="rect">
            <a:avLst/>
          </a:prstGeom>
          <a:noFill/>
          <a:ln/>
        </p:spPr>
        <p:txBody>
          <a:bodyPr wrap="square" rtlCol="0" anchor="ctr"/>
          <a:lstStyle/>
          <a:p>
            <a:pPr marL="0" indent="0" algn="ctr">
              <a:buNone/>
            </a:pPr>
            <a:r>
              <a:rPr lang="en-US" sz="1100" dirty="0">
                <a:solidFill>
                  <a:srgbClr val="17232E"/>
                </a:solidFill>
                <a:latin typeface="Courier New" pitchFamily="34" charset="0"/>
                <a:ea typeface="Courier New" pitchFamily="34" charset="-122"/>
                <a:cs typeface="Courier New" pitchFamily="34" charset="-120"/>
              </a:rPr>
              <a:t>6.4</a:t>
            </a:r>
            <a:endParaRPr lang="en-US" sz="1100" dirty="0"/>
          </a:p>
        </p:txBody>
      </p:sp>
      <p:sp>
        <p:nvSpPr>
          <p:cNvPr id="52" name="Shape 50"/>
          <p:cNvSpPr/>
          <p:nvPr/>
        </p:nvSpPr>
        <p:spPr>
          <a:xfrm>
            <a:off x="4846320" y="3310128"/>
            <a:ext cx="1371600" cy="310896"/>
          </a:xfrm>
          <a:prstGeom prst="rect">
            <a:avLst/>
          </a:prstGeom>
          <a:solidFill>
            <a:srgbClr val="FFFFFF"/>
          </a:solidFill>
          <a:ln w="6350">
            <a:solidFill>
              <a:srgbClr val="D7E2E6"/>
            </a:solidFill>
            <a:prstDash val="solid"/>
          </a:ln>
        </p:spPr>
      </p:sp>
      <p:sp>
        <p:nvSpPr>
          <p:cNvPr id="53" name="Text 51"/>
          <p:cNvSpPr/>
          <p:nvPr/>
        </p:nvSpPr>
        <p:spPr>
          <a:xfrm>
            <a:off x="4846320" y="3310128"/>
            <a:ext cx="1371600" cy="310896"/>
          </a:xfrm>
          <a:prstGeom prst="rect">
            <a:avLst/>
          </a:prstGeom>
          <a:noFill/>
          <a:ln/>
        </p:spPr>
        <p:txBody>
          <a:bodyPr wrap="square" rtlCol="0" anchor="ctr"/>
          <a:lstStyle/>
          <a:p>
            <a:pPr marL="0" indent="0" algn="ctr">
              <a:buNone/>
            </a:pPr>
            <a:r>
              <a:rPr lang="en-US" sz="1100" dirty="0">
                <a:solidFill>
                  <a:srgbClr val="17232E"/>
                </a:solidFill>
                <a:latin typeface="Courier New" pitchFamily="34" charset="0"/>
                <a:ea typeface="Courier New" pitchFamily="34" charset="-122"/>
                <a:cs typeface="Courier New" pitchFamily="34" charset="-120"/>
              </a:rPr>
              <a:t>9.00</a:t>
            </a:r>
            <a:endParaRPr lang="en-US" sz="1100" dirty="0"/>
          </a:p>
        </p:txBody>
      </p:sp>
      <p:sp>
        <p:nvSpPr>
          <p:cNvPr id="54" name="Shape 52"/>
          <p:cNvSpPr/>
          <p:nvPr/>
        </p:nvSpPr>
        <p:spPr>
          <a:xfrm>
            <a:off x="6217920" y="3310128"/>
            <a:ext cx="1371600" cy="310896"/>
          </a:xfrm>
          <a:prstGeom prst="rect">
            <a:avLst/>
          </a:prstGeom>
          <a:solidFill>
            <a:srgbClr val="FFFFFF"/>
          </a:solidFill>
          <a:ln w="6350">
            <a:solidFill>
              <a:srgbClr val="D7E2E6"/>
            </a:solidFill>
            <a:prstDash val="solid"/>
          </a:ln>
        </p:spPr>
      </p:sp>
      <p:sp>
        <p:nvSpPr>
          <p:cNvPr id="55" name="Text 53"/>
          <p:cNvSpPr/>
          <p:nvPr/>
        </p:nvSpPr>
        <p:spPr>
          <a:xfrm>
            <a:off x="6217920" y="3310128"/>
            <a:ext cx="1371600" cy="310896"/>
          </a:xfrm>
          <a:prstGeom prst="rect">
            <a:avLst/>
          </a:prstGeom>
          <a:noFill/>
          <a:ln/>
        </p:spPr>
        <p:txBody>
          <a:bodyPr wrap="square" rtlCol="0" anchor="ctr"/>
          <a:lstStyle/>
          <a:p>
            <a:pPr marL="0" indent="0" algn="ctr">
              <a:buNone/>
            </a:pPr>
            <a:r>
              <a:rPr lang="en-US" sz="1100" dirty="0">
                <a:solidFill>
                  <a:srgbClr val="17232E"/>
                </a:solidFill>
                <a:latin typeface="Courier New" pitchFamily="34" charset="0"/>
                <a:ea typeface="Courier New" pitchFamily="34" charset="-122"/>
                <a:cs typeface="Courier New" pitchFamily="34" charset="-120"/>
              </a:rPr>
              <a:t>19.20</a:t>
            </a:r>
            <a:endParaRPr lang="en-US" sz="1100" dirty="0"/>
          </a:p>
        </p:txBody>
      </p:sp>
      <p:sp>
        <p:nvSpPr>
          <p:cNvPr id="56" name="Shape 54"/>
          <p:cNvSpPr/>
          <p:nvPr/>
        </p:nvSpPr>
        <p:spPr>
          <a:xfrm>
            <a:off x="1554480" y="3621024"/>
            <a:ext cx="1097280" cy="310896"/>
          </a:xfrm>
          <a:prstGeom prst="rect">
            <a:avLst/>
          </a:prstGeom>
          <a:solidFill>
            <a:srgbClr val="F0F5F6"/>
          </a:solidFill>
          <a:ln w="6350">
            <a:solidFill>
              <a:srgbClr val="D7E2E6"/>
            </a:solidFill>
            <a:prstDash val="solid"/>
          </a:ln>
        </p:spPr>
      </p:sp>
      <p:sp>
        <p:nvSpPr>
          <p:cNvPr id="57" name="Text 55"/>
          <p:cNvSpPr/>
          <p:nvPr/>
        </p:nvSpPr>
        <p:spPr>
          <a:xfrm>
            <a:off x="1554480" y="3621024"/>
            <a:ext cx="1097280" cy="310896"/>
          </a:xfrm>
          <a:prstGeom prst="rect">
            <a:avLst/>
          </a:prstGeom>
          <a:noFill/>
          <a:ln/>
        </p:spPr>
        <p:txBody>
          <a:bodyPr wrap="square" rtlCol="0" anchor="ctr"/>
          <a:lstStyle/>
          <a:p>
            <a:pPr marL="0" indent="0" algn="ctr">
              <a:buNone/>
            </a:pPr>
            <a:r>
              <a:rPr lang="en-US" sz="1100" dirty="0">
                <a:solidFill>
                  <a:srgbClr val="17232E"/>
                </a:solidFill>
                <a:latin typeface="Calibri" pitchFamily="34" charset="0"/>
                <a:ea typeface="Calibri" pitchFamily="34" charset="-122"/>
                <a:cs typeface="Calibri" pitchFamily="34" charset="-120"/>
              </a:rPr>
              <a:t>E</a:t>
            </a:r>
            <a:endParaRPr lang="en-US" sz="1100" dirty="0"/>
          </a:p>
        </p:txBody>
      </p:sp>
      <p:sp>
        <p:nvSpPr>
          <p:cNvPr id="58" name="Shape 56"/>
          <p:cNvSpPr/>
          <p:nvPr/>
        </p:nvSpPr>
        <p:spPr>
          <a:xfrm>
            <a:off x="2651760" y="3621024"/>
            <a:ext cx="1097280" cy="310896"/>
          </a:xfrm>
          <a:prstGeom prst="rect">
            <a:avLst/>
          </a:prstGeom>
          <a:solidFill>
            <a:srgbClr val="F0F5F6"/>
          </a:solidFill>
          <a:ln w="6350">
            <a:solidFill>
              <a:srgbClr val="D7E2E6"/>
            </a:solidFill>
            <a:prstDash val="solid"/>
          </a:ln>
        </p:spPr>
      </p:sp>
      <p:sp>
        <p:nvSpPr>
          <p:cNvPr id="59" name="Text 57"/>
          <p:cNvSpPr/>
          <p:nvPr/>
        </p:nvSpPr>
        <p:spPr>
          <a:xfrm>
            <a:off x="2651760" y="3621024"/>
            <a:ext cx="1097280" cy="310896"/>
          </a:xfrm>
          <a:prstGeom prst="rect">
            <a:avLst/>
          </a:prstGeom>
          <a:noFill/>
          <a:ln/>
        </p:spPr>
        <p:txBody>
          <a:bodyPr wrap="square" rtlCol="0" anchor="ctr"/>
          <a:lstStyle/>
          <a:p>
            <a:pPr marL="0" indent="0" algn="ctr">
              <a:buNone/>
            </a:pPr>
            <a:r>
              <a:rPr lang="en-US" sz="1100" dirty="0">
                <a:solidFill>
                  <a:srgbClr val="17232E"/>
                </a:solidFill>
                <a:latin typeface="Courier New" pitchFamily="34" charset="0"/>
                <a:ea typeface="Courier New" pitchFamily="34" charset="-122"/>
                <a:cs typeface="Courier New" pitchFamily="34" charset="-120"/>
              </a:rPr>
              <a:t>3.0</a:t>
            </a:r>
            <a:endParaRPr lang="en-US" sz="1100" dirty="0"/>
          </a:p>
        </p:txBody>
      </p:sp>
      <p:sp>
        <p:nvSpPr>
          <p:cNvPr id="60" name="Shape 58"/>
          <p:cNvSpPr/>
          <p:nvPr/>
        </p:nvSpPr>
        <p:spPr>
          <a:xfrm>
            <a:off x="3749040" y="3621024"/>
            <a:ext cx="1097280" cy="310896"/>
          </a:xfrm>
          <a:prstGeom prst="rect">
            <a:avLst/>
          </a:prstGeom>
          <a:solidFill>
            <a:srgbClr val="F0F5F6"/>
          </a:solidFill>
          <a:ln w="6350">
            <a:solidFill>
              <a:srgbClr val="D7E2E6"/>
            </a:solidFill>
            <a:prstDash val="solid"/>
          </a:ln>
        </p:spPr>
      </p:sp>
      <p:sp>
        <p:nvSpPr>
          <p:cNvPr id="61" name="Text 59"/>
          <p:cNvSpPr/>
          <p:nvPr/>
        </p:nvSpPr>
        <p:spPr>
          <a:xfrm>
            <a:off x="3749040" y="3621024"/>
            <a:ext cx="1097280" cy="310896"/>
          </a:xfrm>
          <a:prstGeom prst="rect">
            <a:avLst/>
          </a:prstGeom>
          <a:noFill/>
          <a:ln/>
        </p:spPr>
        <p:txBody>
          <a:bodyPr wrap="square" rtlCol="0" anchor="ctr"/>
          <a:lstStyle/>
          <a:p>
            <a:pPr marL="0" indent="0" algn="ctr">
              <a:buNone/>
            </a:pPr>
            <a:r>
              <a:rPr lang="en-US" sz="1100" dirty="0">
                <a:solidFill>
                  <a:srgbClr val="17232E"/>
                </a:solidFill>
                <a:latin typeface="Courier New" pitchFamily="34" charset="0"/>
                <a:ea typeface="Courier New" pitchFamily="34" charset="-122"/>
                <a:cs typeface="Courier New" pitchFamily="34" charset="-120"/>
              </a:rPr>
              <a:t>6.4</a:t>
            </a:r>
            <a:endParaRPr lang="en-US" sz="1100" dirty="0"/>
          </a:p>
        </p:txBody>
      </p:sp>
      <p:sp>
        <p:nvSpPr>
          <p:cNvPr id="62" name="Shape 60"/>
          <p:cNvSpPr/>
          <p:nvPr/>
        </p:nvSpPr>
        <p:spPr>
          <a:xfrm>
            <a:off x="4846320" y="3621024"/>
            <a:ext cx="1371600" cy="310896"/>
          </a:xfrm>
          <a:prstGeom prst="rect">
            <a:avLst/>
          </a:prstGeom>
          <a:solidFill>
            <a:srgbClr val="F0F5F6"/>
          </a:solidFill>
          <a:ln w="6350">
            <a:solidFill>
              <a:srgbClr val="D7E2E6"/>
            </a:solidFill>
            <a:prstDash val="solid"/>
          </a:ln>
        </p:spPr>
      </p:sp>
      <p:sp>
        <p:nvSpPr>
          <p:cNvPr id="63" name="Text 61"/>
          <p:cNvSpPr/>
          <p:nvPr/>
        </p:nvSpPr>
        <p:spPr>
          <a:xfrm>
            <a:off x="4846320" y="3621024"/>
            <a:ext cx="1371600" cy="310896"/>
          </a:xfrm>
          <a:prstGeom prst="rect">
            <a:avLst/>
          </a:prstGeom>
          <a:noFill/>
          <a:ln/>
        </p:spPr>
        <p:txBody>
          <a:bodyPr wrap="square" rtlCol="0" anchor="ctr"/>
          <a:lstStyle/>
          <a:p>
            <a:pPr marL="0" indent="0" algn="ctr">
              <a:buNone/>
            </a:pPr>
            <a:r>
              <a:rPr lang="en-US" sz="1100" dirty="0">
                <a:solidFill>
                  <a:srgbClr val="17232E"/>
                </a:solidFill>
                <a:latin typeface="Courier New" pitchFamily="34" charset="0"/>
                <a:ea typeface="Courier New" pitchFamily="34" charset="-122"/>
                <a:cs typeface="Courier New" pitchFamily="34" charset="-120"/>
              </a:rPr>
              <a:t>9.00</a:t>
            </a:r>
            <a:endParaRPr lang="en-US" sz="1100" dirty="0"/>
          </a:p>
        </p:txBody>
      </p:sp>
      <p:sp>
        <p:nvSpPr>
          <p:cNvPr id="64" name="Shape 62"/>
          <p:cNvSpPr/>
          <p:nvPr/>
        </p:nvSpPr>
        <p:spPr>
          <a:xfrm>
            <a:off x="6217920" y="3621024"/>
            <a:ext cx="1371600" cy="310896"/>
          </a:xfrm>
          <a:prstGeom prst="rect">
            <a:avLst/>
          </a:prstGeom>
          <a:solidFill>
            <a:srgbClr val="F0F5F6"/>
          </a:solidFill>
          <a:ln w="6350">
            <a:solidFill>
              <a:srgbClr val="D7E2E6"/>
            </a:solidFill>
            <a:prstDash val="solid"/>
          </a:ln>
        </p:spPr>
      </p:sp>
      <p:sp>
        <p:nvSpPr>
          <p:cNvPr id="65" name="Text 63"/>
          <p:cNvSpPr/>
          <p:nvPr/>
        </p:nvSpPr>
        <p:spPr>
          <a:xfrm>
            <a:off x="6217920" y="3621024"/>
            <a:ext cx="1371600" cy="310896"/>
          </a:xfrm>
          <a:prstGeom prst="rect">
            <a:avLst/>
          </a:prstGeom>
          <a:noFill/>
          <a:ln/>
        </p:spPr>
        <p:txBody>
          <a:bodyPr wrap="square" rtlCol="0" anchor="ctr"/>
          <a:lstStyle/>
          <a:p>
            <a:pPr marL="0" indent="0" algn="ctr">
              <a:buNone/>
            </a:pPr>
            <a:r>
              <a:rPr lang="en-US" sz="1100" dirty="0">
                <a:solidFill>
                  <a:srgbClr val="17232E"/>
                </a:solidFill>
                <a:latin typeface="Courier New" pitchFamily="34" charset="0"/>
                <a:ea typeface="Courier New" pitchFamily="34" charset="-122"/>
                <a:cs typeface="Courier New" pitchFamily="34" charset="-120"/>
              </a:rPr>
              <a:t>19.20</a:t>
            </a:r>
            <a:endParaRPr lang="en-US" sz="1100" dirty="0"/>
          </a:p>
        </p:txBody>
      </p:sp>
      <p:sp>
        <p:nvSpPr>
          <p:cNvPr id="66" name="Shape 64"/>
          <p:cNvSpPr/>
          <p:nvPr/>
        </p:nvSpPr>
        <p:spPr>
          <a:xfrm>
            <a:off x="1554480" y="3931920"/>
            <a:ext cx="1097280" cy="310896"/>
          </a:xfrm>
          <a:prstGeom prst="rect">
            <a:avLst/>
          </a:prstGeom>
          <a:solidFill>
            <a:srgbClr val="FFFFFF"/>
          </a:solidFill>
          <a:ln w="6350">
            <a:solidFill>
              <a:srgbClr val="D7E2E6"/>
            </a:solidFill>
            <a:prstDash val="solid"/>
          </a:ln>
        </p:spPr>
      </p:sp>
      <p:sp>
        <p:nvSpPr>
          <p:cNvPr id="67" name="Text 65"/>
          <p:cNvSpPr/>
          <p:nvPr/>
        </p:nvSpPr>
        <p:spPr>
          <a:xfrm>
            <a:off x="1554480" y="3931920"/>
            <a:ext cx="1097280" cy="310896"/>
          </a:xfrm>
          <a:prstGeom prst="rect">
            <a:avLst/>
          </a:prstGeom>
          <a:noFill/>
          <a:ln/>
        </p:spPr>
        <p:txBody>
          <a:bodyPr wrap="square" rtlCol="0" anchor="ctr"/>
          <a:lstStyle/>
          <a:p>
            <a:pPr marL="0" indent="0" algn="ctr">
              <a:buNone/>
            </a:pPr>
            <a:r>
              <a:rPr lang="en-US" sz="1100" dirty="0">
                <a:solidFill>
                  <a:srgbClr val="17232E"/>
                </a:solidFill>
                <a:latin typeface="Calibri" pitchFamily="34" charset="0"/>
                <a:ea typeface="Calibri" pitchFamily="34" charset="-122"/>
                <a:cs typeface="Calibri" pitchFamily="34" charset="-120"/>
              </a:rPr>
              <a:t>F</a:t>
            </a:r>
            <a:endParaRPr lang="en-US" sz="1100" dirty="0"/>
          </a:p>
        </p:txBody>
      </p:sp>
      <p:sp>
        <p:nvSpPr>
          <p:cNvPr id="68" name="Shape 66"/>
          <p:cNvSpPr/>
          <p:nvPr/>
        </p:nvSpPr>
        <p:spPr>
          <a:xfrm>
            <a:off x="2651760" y="3931920"/>
            <a:ext cx="1097280" cy="310896"/>
          </a:xfrm>
          <a:prstGeom prst="rect">
            <a:avLst/>
          </a:prstGeom>
          <a:solidFill>
            <a:srgbClr val="FFFFFF"/>
          </a:solidFill>
          <a:ln w="6350">
            <a:solidFill>
              <a:srgbClr val="D7E2E6"/>
            </a:solidFill>
            <a:prstDash val="solid"/>
          </a:ln>
        </p:spPr>
      </p:sp>
      <p:sp>
        <p:nvSpPr>
          <p:cNvPr id="69" name="Text 67"/>
          <p:cNvSpPr/>
          <p:nvPr/>
        </p:nvSpPr>
        <p:spPr>
          <a:xfrm>
            <a:off x="2651760" y="3931920"/>
            <a:ext cx="1097280" cy="310896"/>
          </a:xfrm>
          <a:prstGeom prst="rect">
            <a:avLst/>
          </a:prstGeom>
          <a:noFill/>
          <a:ln/>
        </p:spPr>
        <p:txBody>
          <a:bodyPr wrap="square" rtlCol="0" anchor="ctr"/>
          <a:lstStyle/>
          <a:p>
            <a:pPr marL="0" indent="0" algn="ctr">
              <a:buNone/>
            </a:pPr>
            <a:r>
              <a:rPr lang="en-US" sz="1100" dirty="0">
                <a:solidFill>
                  <a:srgbClr val="17232E"/>
                </a:solidFill>
                <a:latin typeface="Courier New" pitchFamily="34" charset="0"/>
                <a:ea typeface="Courier New" pitchFamily="34" charset="-122"/>
                <a:cs typeface="Courier New" pitchFamily="34" charset="-120"/>
              </a:rPr>
              <a:t>3.5</a:t>
            </a:r>
            <a:endParaRPr lang="en-US" sz="1100" dirty="0"/>
          </a:p>
        </p:txBody>
      </p:sp>
      <p:sp>
        <p:nvSpPr>
          <p:cNvPr id="70" name="Shape 68"/>
          <p:cNvSpPr/>
          <p:nvPr/>
        </p:nvSpPr>
        <p:spPr>
          <a:xfrm>
            <a:off x="3749040" y="3931920"/>
            <a:ext cx="1097280" cy="310896"/>
          </a:xfrm>
          <a:prstGeom prst="rect">
            <a:avLst/>
          </a:prstGeom>
          <a:solidFill>
            <a:srgbClr val="FFFFFF"/>
          </a:solidFill>
          <a:ln w="6350">
            <a:solidFill>
              <a:srgbClr val="D7E2E6"/>
            </a:solidFill>
            <a:prstDash val="solid"/>
          </a:ln>
        </p:spPr>
      </p:sp>
      <p:sp>
        <p:nvSpPr>
          <p:cNvPr id="71" name="Text 69"/>
          <p:cNvSpPr/>
          <p:nvPr/>
        </p:nvSpPr>
        <p:spPr>
          <a:xfrm>
            <a:off x="3749040" y="3931920"/>
            <a:ext cx="1097280" cy="310896"/>
          </a:xfrm>
          <a:prstGeom prst="rect">
            <a:avLst/>
          </a:prstGeom>
          <a:noFill/>
          <a:ln/>
        </p:spPr>
        <p:txBody>
          <a:bodyPr wrap="square" rtlCol="0" anchor="ctr"/>
          <a:lstStyle/>
          <a:p>
            <a:pPr marL="0" indent="0" algn="ctr">
              <a:buNone/>
            </a:pPr>
            <a:r>
              <a:rPr lang="en-US" sz="1100" dirty="0">
                <a:solidFill>
                  <a:srgbClr val="17232E"/>
                </a:solidFill>
                <a:latin typeface="Courier New" pitchFamily="34" charset="0"/>
                <a:ea typeface="Courier New" pitchFamily="34" charset="-122"/>
                <a:cs typeface="Courier New" pitchFamily="34" charset="-120"/>
              </a:rPr>
              <a:t>6.9</a:t>
            </a:r>
            <a:endParaRPr lang="en-US" sz="1100" dirty="0"/>
          </a:p>
        </p:txBody>
      </p:sp>
      <p:sp>
        <p:nvSpPr>
          <p:cNvPr id="72" name="Shape 70"/>
          <p:cNvSpPr/>
          <p:nvPr/>
        </p:nvSpPr>
        <p:spPr>
          <a:xfrm>
            <a:off x="4846320" y="3931920"/>
            <a:ext cx="1371600" cy="310896"/>
          </a:xfrm>
          <a:prstGeom prst="rect">
            <a:avLst/>
          </a:prstGeom>
          <a:solidFill>
            <a:srgbClr val="FFFFFF"/>
          </a:solidFill>
          <a:ln w="6350">
            <a:solidFill>
              <a:srgbClr val="D7E2E6"/>
            </a:solidFill>
            <a:prstDash val="solid"/>
          </a:ln>
        </p:spPr>
      </p:sp>
      <p:sp>
        <p:nvSpPr>
          <p:cNvPr id="73" name="Text 71"/>
          <p:cNvSpPr/>
          <p:nvPr/>
        </p:nvSpPr>
        <p:spPr>
          <a:xfrm>
            <a:off x="4846320" y="3931920"/>
            <a:ext cx="1371600" cy="310896"/>
          </a:xfrm>
          <a:prstGeom prst="rect">
            <a:avLst/>
          </a:prstGeom>
          <a:noFill/>
          <a:ln/>
        </p:spPr>
        <p:txBody>
          <a:bodyPr wrap="square" rtlCol="0" anchor="ctr"/>
          <a:lstStyle/>
          <a:p>
            <a:pPr marL="0" indent="0" algn="ctr">
              <a:buNone/>
            </a:pPr>
            <a:r>
              <a:rPr lang="en-US" sz="1100" dirty="0">
                <a:solidFill>
                  <a:srgbClr val="17232E"/>
                </a:solidFill>
                <a:latin typeface="Courier New" pitchFamily="34" charset="0"/>
                <a:ea typeface="Courier New" pitchFamily="34" charset="-122"/>
                <a:cs typeface="Courier New" pitchFamily="34" charset="-120"/>
              </a:rPr>
              <a:t>12.25</a:t>
            </a:r>
            <a:endParaRPr lang="en-US" sz="1100" dirty="0"/>
          </a:p>
        </p:txBody>
      </p:sp>
      <p:sp>
        <p:nvSpPr>
          <p:cNvPr id="74" name="Shape 72"/>
          <p:cNvSpPr/>
          <p:nvPr/>
        </p:nvSpPr>
        <p:spPr>
          <a:xfrm>
            <a:off x="6217920" y="3931920"/>
            <a:ext cx="1371600" cy="310896"/>
          </a:xfrm>
          <a:prstGeom prst="rect">
            <a:avLst/>
          </a:prstGeom>
          <a:solidFill>
            <a:srgbClr val="FFFFFF"/>
          </a:solidFill>
          <a:ln w="6350">
            <a:solidFill>
              <a:srgbClr val="D7E2E6"/>
            </a:solidFill>
            <a:prstDash val="solid"/>
          </a:ln>
        </p:spPr>
      </p:sp>
      <p:sp>
        <p:nvSpPr>
          <p:cNvPr id="75" name="Text 73"/>
          <p:cNvSpPr/>
          <p:nvPr/>
        </p:nvSpPr>
        <p:spPr>
          <a:xfrm>
            <a:off x="6217920" y="3931920"/>
            <a:ext cx="1371600" cy="310896"/>
          </a:xfrm>
          <a:prstGeom prst="rect">
            <a:avLst/>
          </a:prstGeom>
          <a:noFill/>
          <a:ln/>
        </p:spPr>
        <p:txBody>
          <a:bodyPr wrap="square" rtlCol="0" anchor="ctr"/>
          <a:lstStyle/>
          <a:p>
            <a:pPr marL="0" indent="0" algn="ctr">
              <a:buNone/>
            </a:pPr>
            <a:r>
              <a:rPr lang="en-US" sz="1100" dirty="0">
                <a:solidFill>
                  <a:srgbClr val="17232E"/>
                </a:solidFill>
                <a:latin typeface="Courier New" pitchFamily="34" charset="0"/>
                <a:ea typeface="Courier New" pitchFamily="34" charset="-122"/>
                <a:cs typeface="Courier New" pitchFamily="34" charset="-120"/>
              </a:rPr>
              <a:t>24.15</a:t>
            </a:r>
            <a:endParaRPr lang="en-US" sz="1100" dirty="0"/>
          </a:p>
        </p:txBody>
      </p:sp>
      <p:sp>
        <p:nvSpPr>
          <p:cNvPr id="76" name="Shape 74"/>
          <p:cNvSpPr/>
          <p:nvPr/>
        </p:nvSpPr>
        <p:spPr>
          <a:xfrm>
            <a:off x="1554480" y="4242816"/>
            <a:ext cx="1097280" cy="310896"/>
          </a:xfrm>
          <a:prstGeom prst="rect">
            <a:avLst/>
          </a:prstGeom>
          <a:solidFill>
            <a:srgbClr val="F0F5F6"/>
          </a:solidFill>
          <a:ln w="6350">
            <a:solidFill>
              <a:srgbClr val="D7E2E6"/>
            </a:solidFill>
            <a:prstDash val="solid"/>
          </a:ln>
        </p:spPr>
      </p:sp>
      <p:sp>
        <p:nvSpPr>
          <p:cNvPr id="77" name="Text 75"/>
          <p:cNvSpPr/>
          <p:nvPr/>
        </p:nvSpPr>
        <p:spPr>
          <a:xfrm>
            <a:off x="1554480" y="4242816"/>
            <a:ext cx="1097280" cy="310896"/>
          </a:xfrm>
          <a:prstGeom prst="rect">
            <a:avLst/>
          </a:prstGeom>
          <a:noFill/>
          <a:ln/>
        </p:spPr>
        <p:txBody>
          <a:bodyPr wrap="square" rtlCol="0" anchor="ctr"/>
          <a:lstStyle/>
          <a:p>
            <a:pPr marL="0" indent="0" algn="ctr">
              <a:buNone/>
            </a:pPr>
            <a:r>
              <a:rPr lang="en-US" sz="1100" dirty="0">
                <a:solidFill>
                  <a:srgbClr val="17232E"/>
                </a:solidFill>
                <a:latin typeface="Calibri" pitchFamily="34" charset="0"/>
                <a:ea typeface="Calibri" pitchFamily="34" charset="-122"/>
                <a:cs typeface="Calibri" pitchFamily="34" charset="-120"/>
              </a:rPr>
              <a:t>G</a:t>
            </a:r>
            <a:endParaRPr lang="en-US" sz="1100" dirty="0"/>
          </a:p>
        </p:txBody>
      </p:sp>
      <p:sp>
        <p:nvSpPr>
          <p:cNvPr id="78" name="Shape 76"/>
          <p:cNvSpPr/>
          <p:nvPr/>
        </p:nvSpPr>
        <p:spPr>
          <a:xfrm>
            <a:off x="2651760" y="4242816"/>
            <a:ext cx="1097280" cy="310896"/>
          </a:xfrm>
          <a:prstGeom prst="rect">
            <a:avLst/>
          </a:prstGeom>
          <a:solidFill>
            <a:srgbClr val="F0F5F6"/>
          </a:solidFill>
          <a:ln w="6350">
            <a:solidFill>
              <a:srgbClr val="D7E2E6"/>
            </a:solidFill>
            <a:prstDash val="solid"/>
          </a:ln>
        </p:spPr>
      </p:sp>
      <p:sp>
        <p:nvSpPr>
          <p:cNvPr id="79" name="Text 77"/>
          <p:cNvSpPr/>
          <p:nvPr/>
        </p:nvSpPr>
        <p:spPr>
          <a:xfrm>
            <a:off x="2651760" y="4242816"/>
            <a:ext cx="1097280" cy="310896"/>
          </a:xfrm>
          <a:prstGeom prst="rect">
            <a:avLst/>
          </a:prstGeom>
          <a:noFill/>
          <a:ln/>
        </p:spPr>
        <p:txBody>
          <a:bodyPr wrap="square" rtlCol="0" anchor="ctr"/>
          <a:lstStyle/>
          <a:p>
            <a:pPr marL="0" indent="0" algn="ctr">
              <a:buNone/>
            </a:pPr>
            <a:r>
              <a:rPr lang="en-US" sz="1100" dirty="0">
                <a:solidFill>
                  <a:srgbClr val="17232E"/>
                </a:solidFill>
                <a:latin typeface="Courier New" pitchFamily="34" charset="0"/>
                <a:ea typeface="Courier New" pitchFamily="34" charset="-122"/>
                <a:cs typeface="Courier New" pitchFamily="34" charset="-120"/>
              </a:rPr>
              <a:t>3.5</a:t>
            </a:r>
            <a:endParaRPr lang="en-US" sz="1100" dirty="0"/>
          </a:p>
        </p:txBody>
      </p:sp>
      <p:sp>
        <p:nvSpPr>
          <p:cNvPr id="80" name="Shape 78"/>
          <p:cNvSpPr/>
          <p:nvPr/>
        </p:nvSpPr>
        <p:spPr>
          <a:xfrm>
            <a:off x="3749040" y="4242816"/>
            <a:ext cx="1097280" cy="310896"/>
          </a:xfrm>
          <a:prstGeom prst="rect">
            <a:avLst/>
          </a:prstGeom>
          <a:solidFill>
            <a:srgbClr val="F0F5F6"/>
          </a:solidFill>
          <a:ln w="6350">
            <a:solidFill>
              <a:srgbClr val="D7E2E6"/>
            </a:solidFill>
            <a:prstDash val="solid"/>
          </a:ln>
        </p:spPr>
      </p:sp>
      <p:sp>
        <p:nvSpPr>
          <p:cNvPr id="81" name="Text 79"/>
          <p:cNvSpPr/>
          <p:nvPr/>
        </p:nvSpPr>
        <p:spPr>
          <a:xfrm>
            <a:off x="3749040" y="4242816"/>
            <a:ext cx="1097280" cy="310896"/>
          </a:xfrm>
          <a:prstGeom prst="rect">
            <a:avLst/>
          </a:prstGeom>
          <a:noFill/>
          <a:ln/>
        </p:spPr>
        <p:txBody>
          <a:bodyPr wrap="square" rtlCol="0" anchor="ctr"/>
          <a:lstStyle/>
          <a:p>
            <a:pPr marL="0" indent="0" algn="ctr">
              <a:buNone/>
            </a:pPr>
            <a:r>
              <a:rPr lang="en-US" sz="1100" dirty="0">
                <a:solidFill>
                  <a:srgbClr val="17232E"/>
                </a:solidFill>
                <a:latin typeface="Courier New" pitchFamily="34" charset="0"/>
                <a:ea typeface="Courier New" pitchFamily="34" charset="-122"/>
                <a:cs typeface="Courier New" pitchFamily="34" charset="-120"/>
              </a:rPr>
              <a:t>6.9</a:t>
            </a:r>
            <a:endParaRPr lang="en-US" sz="1100" dirty="0"/>
          </a:p>
        </p:txBody>
      </p:sp>
      <p:sp>
        <p:nvSpPr>
          <p:cNvPr id="82" name="Shape 80"/>
          <p:cNvSpPr/>
          <p:nvPr/>
        </p:nvSpPr>
        <p:spPr>
          <a:xfrm>
            <a:off x="4846320" y="4242816"/>
            <a:ext cx="1371600" cy="310896"/>
          </a:xfrm>
          <a:prstGeom prst="rect">
            <a:avLst/>
          </a:prstGeom>
          <a:solidFill>
            <a:srgbClr val="F0F5F6"/>
          </a:solidFill>
          <a:ln w="6350">
            <a:solidFill>
              <a:srgbClr val="D7E2E6"/>
            </a:solidFill>
            <a:prstDash val="solid"/>
          </a:ln>
        </p:spPr>
      </p:sp>
      <p:sp>
        <p:nvSpPr>
          <p:cNvPr id="83" name="Text 81"/>
          <p:cNvSpPr/>
          <p:nvPr/>
        </p:nvSpPr>
        <p:spPr>
          <a:xfrm>
            <a:off x="4846320" y="4242816"/>
            <a:ext cx="1371600" cy="310896"/>
          </a:xfrm>
          <a:prstGeom prst="rect">
            <a:avLst/>
          </a:prstGeom>
          <a:noFill/>
          <a:ln/>
        </p:spPr>
        <p:txBody>
          <a:bodyPr wrap="square" rtlCol="0" anchor="ctr"/>
          <a:lstStyle/>
          <a:p>
            <a:pPr marL="0" indent="0" algn="ctr">
              <a:buNone/>
            </a:pPr>
            <a:r>
              <a:rPr lang="en-US" sz="1100" dirty="0">
                <a:solidFill>
                  <a:srgbClr val="17232E"/>
                </a:solidFill>
                <a:latin typeface="Courier New" pitchFamily="34" charset="0"/>
                <a:ea typeface="Courier New" pitchFamily="34" charset="-122"/>
                <a:cs typeface="Courier New" pitchFamily="34" charset="-120"/>
              </a:rPr>
              <a:t>12.25</a:t>
            </a:r>
            <a:endParaRPr lang="en-US" sz="1100" dirty="0"/>
          </a:p>
        </p:txBody>
      </p:sp>
      <p:sp>
        <p:nvSpPr>
          <p:cNvPr id="84" name="Shape 82"/>
          <p:cNvSpPr/>
          <p:nvPr/>
        </p:nvSpPr>
        <p:spPr>
          <a:xfrm>
            <a:off x="6217920" y="4242816"/>
            <a:ext cx="1371600" cy="310896"/>
          </a:xfrm>
          <a:prstGeom prst="rect">
            <a:avLst/>
          </a:prstGeom>
          <a:solidFill>
            <a:srgbClr val="F0F5F6"/>
          </a:solidFill>
          <a:ln w="6350">
            <a:solidFill>
              <a:srgbClr val="D7E2E6"/>
            </a:solidFill>
            <a:prstDash val="solid"/>
          </a:ln>
        </p:spPr>
      </p:sp>
      <p:sp>
        <p:nvSpPr>
          <p:cNvPr id="85" name="Text 83"/>
          <p:cNvSpPr/>
          <p:nvPr/>
        </p:nvSpPr>
        <p:spPr>
          <a:xfrm>
            <a:off x="6217920" y="4242816"/>
            <a:ext cx="1371600" cy="310896"/>
          </a:xfrm>
          <a:prstGeom prst="rect">
            <a:avLst/>
          </a:prstGeom>
          <a:noFill/>
          <a:ln/>
        </p:spPr>
        <p:txBody>
          <a:bodyPr wrap="square" rtlCol="0" anchor="ctr"/>
          <a:lstStyle/>
          <a:p>
            <a:pPr marL="0" indent="0" algn="ctr">
              <a:buNone/>
            </a:pPr>
            <a:r>
              <a:rPr lang="en-US" sz="1100" dirty="0">
                <a:solidFill>
                  <a:srgbClr val="17232E"/>
                </a:solidFill>
                <a:latin typeface="Courier New" pitchFamily="34" charset="0"/>
                <a:ea typeface="Courier New" pitchFamily="34" charset="-122"/>
                <a:cs typeface="Courier New" pitchFamily="34" charset="-120"/>
              </a:rPr>
              <a:t>24.15</a:t>
            </a:r>
            <a:endParaRPr lang="en-US" sz="1100" dirty="0"/>
          </a:p>
        </p:txBody>
      </p:sp>
      <p:sp>
        <p:nvSpPr>
          <p:cNvPr id="86" name="Shape 84"/>
          <p:cNvSpPr/>
          <p:nvPr/>
        </p:nvSpPr>
        <p:spPr>
          <a:xfrm>
            <a:off x="1554480" y="4553712"/>
            <a:ext cx="1097280" cy="310896"/>
          </a:xfrm>
          <a:prstGeom prst="rect">
            <a:avLst/>
          </a:prstGeom>
          <a:solidFill>
            <a:srgbClr val="FFFFFF"/>
          </a:solidFill>
          <a:ln w="6350">
            <a:solidFill>
              <a:srgbClr val="D7E2E6"/>
            </a:solidFill>
            <a:prstDash val="solid"/>
          </a:ln>
        </p:spPr>
      </p:sp>
      <p:sp>
        <p:nvSpPr>
          <p:cNvPr id="87" name="Text 85"/>
          <p:cNvSpPr/>
          <p:nvPr/>
        </p:nvSpPr>
        <p:spPr>
          <a:xfrm>
            <a:off x="1554480" y="4553712"/>
            <a:ext cx="1097280" cy="310896"/>
          </a:xfrm>
          <a:prstGeom prst="rect">
            <a:avLst/>
          </a:prstGeom>
          <a:noFill/>
          <a:ln/>
        </p:spPr>
        <p:txBody>
          <a:bodyPr wrap="square" rtlCol="0" anchor="ctr"/>
          <a:lstStyle/>
          <a:p>
            <a:pPr marL="0" indent="0" algn="ctr">
              <a:buNone/>
            </a:pPr>
            <a:r>
              <a:rPr lang="en-US" sz="1100" dirty="0">
                <a:solidFill>
                  <a:srgbClr val="17232E"/>
                </a:solidFill>
                <a:latin typeface="Calibri" pitchFamily="34" charset="0"/>
                <a:ea typeface="Calibri" pitchFamily="34" charset="-122"/>
                <a:cs typeface="Calibri" pitchFamily="34" charset="-120"/>
              </a:rPr>
              <a:t>H</a:t>
            </a:r>
            <a:endParaRPr lang="en-US" sz="1100" dirty="0"/>
          </a:p>
        </p:txBody>
      </p:sp>
      <p:sp>
        <p:nvSpPr>
          <p:cNvPr id="88" name="Shape 86"/>
          <p:cNvSpPr/>
          <p:nvPr/>
        </p:nvSpPr>
        <p:spPr>
          <a:xfrm>
            <a:off x="2651760" y="4553712"/>
            <a:ext cx="1097280" cy="310896"/>
          </a:xfrm>
          <a:prstGeom prst="rect">
            <a:avLst/>
          </a:prstGeom>
          <a:solidFill>
            <a:srgbClr val="FFFFFF"/>
          </a:solidFill>
          <a:ln w="6350">
            <a:solidFill>
              <a:srgbClr val="D7E2E6"/>
            </a:solidFill>
            <a:prstDash val="solid"/>
          </a:ln>
        </p:spPr>
      </p:sp>
      <p:sp>
        <p:nvSpPr>
          <p:cNvPr id="89" name="Text 87"/>
          <p:cNvSpPr/>
          <p:nvPr/>
        </p:nvSpPr>
        <p:spPr>
          <a:xfrm>
            <a:off x="2651760" y="4553712"/>
            <a:ext cx="1097280" cy="310896"/>
          </a:xfrm>
          <a:prstGeom prst="rect">
            <a:avLst/>
          </a:prstGeom>
          <a:noFill/>
          <a:ln/>
        </p:spPr>
        <p:txBody>
          <a:bodyPr wrap="square" rtlCol="0" anchor="ctr"/>
          <a:lstStyle/>
          <a:p>
            <a:pPr marL="0" indent="0" algn="ctr">
              <a:buNone/>
            </a:pPr>
            <a:r>
              <a:rPr lang="en-US" sz="1100" dirty="0">
                <a:solidFill>
                  <a:srgbClr val="17232E"/>
                </a:solidFill>
                <a:latin typeface="Courier New" pitchFamily="34" charset="0"/>
                <a:ea typeface="Courier New" pitchFamily="34" charset="-122"/>
                <a:cs typeface="Courier New" pitchFamily="34" charset="-120"/>
              </a:rPr>
              <a:t>4.5</a:t>
            </a:r>
            <a:endParaRPr lang="en-US" sz="1100" dirty="0"/>
          </a:p>
        </p:txBody>
      </p:sp>
      <p:sp>
        <p:nvSpPr>
          <p:cNvPr id="90" name="Shape 88"/>
          <p:cNvSpPr/>
          <p:nvPr/>
        </p:nvSpPr>
        <p:spPr>
          <a:xfrm>
            <a:off x="3749040" y="4553712"/>
            <a:ext cx="1097280" cy="310896"/>
          </a:xfrm>
          <a:prstGeom prst="rect">
            <a:avLst/>
          </a:prstGeom>
          <a:solidFill>
            <a:srgbClr val="FFFFFF"/>
          </a:solidFill>
          <a:ln w="6350">
            <a:solidFill>
              <a:srgbClr val="D7E2E6"/>
            </a:solidFill>
            <a:prstDash val="solid"/>
          </a:ln>
        </p:spPr>
      </p:sp>
      <p:sp>
        <p:nvSpPr>
          <p:cNvPr id="91" name="Text 89"/>
          <p:cNvSpPr/>
          <p:nvPr/>
        </p:nvSpPr>
        <p:spPr>
          <a:xfrm>
            <a:off x="3749040" y="4553712"/>
            <a:ext cx="1097280" cy="310896"/>
          </a:xfrm>
          <a:prstGeom prst="rect">
            <a:avLst/>
          </a:prstGeom>
          <a:noFill/>
          <a:ln/>
        </p:spPr>
        <p:txBody>
          <a:bodyPr wrap="square" rtlCol="0" anchor="ctr"/>
          <a:lstStyle/>
          <a:p>
            <a:pPr marL="0" indent="0" algn="ctr">
              <a:buNone/>
            </a:pPr>
            <a:r>
              <a:rPr lang="en-US" sz="1100" dirty="0">
                <a:solidFill>
                  <a:srgbClr val="17232E"/>
                </a:solidFill>
                <a:latin typeface="Courier New" pitchFamily="34" charset="0"/>
                <a:ea typeface="Courier New" pitchFamily="34" charset="-122"/>
                <a:cs typeface="Courier New" pitchFamily="34" charset="-120"/>
              </a:rPr>
              <a:t>8.1</a:t>
            </a:r>
            <a:endParaRPr lang="en-US" sz="1100" dirty="0"/>
          </a:p>
        </p:txBody>
      </p:sp>
      <p:sp>
        <p:nvSpPr>
          <p:cNvPr id="92" name="Shape 90"/>
          <p:cNvSpPr/>
          <p:nvPr/>
        </p:nvSpPr>
        <p:spPr>
          <a:xfrm>
            <a:off x="4846320" y="4553712"/>
            <a:ext cx="1371600" cy="310896"/>
          </a:xfrm>
          <a:prstGeom prst="rect">
            <a:avLst/>
          </a:prstGeom>
          <a:solidFill>
            <a:srgbClr val="FFFFFF"/>
          </a:solidFill>
          <a:ln w="6350">
            <a:solidFill>
              <a:srgbClr val="D7E2E6"/>
            </a:solidFill>
            <a:prstDash val="solid"/>
          </a:ln>
        </p:spPr>
      </p:sp>
      <p:sp>
        <p:nvSpPr>
          <p:cNvPr id="93" name="Text 91"/>
          <p:cNvSpPr/>
          <p:nvPr/>
        </p:nvSpPr>
        <p:spPr>
          <a:xfrm>
            <a:off x="4846320" y="4553712"/>
            <a:ext cx="1371600" cy="310896"/>
          </a:xfrm>
          <a:prstGeom prst="rect">
            <a:avLst/>
          </a:prstGeom>
          <a:noFill/>
          <a:ln/>
        </p:spPr>
        <p:txBody>
          <a:bodyPr wrap="square" rtlCol="0" anchor="ctr"/>
          <a:lstStyle/>
          <a:p>
            <a:pPr marL="0" indent="0" algn="ctr">
              <a:buNone/>
            </a:pPr>
            <a:r>
              <a:rPr lang="en-US" sz="1100" dirty="0">
                <a:solidFill>
                  <a:srgbClr val="17232E"/>
                </a:solidFill>
                <a:latin typeface="Courier New" pitchFamily="34" charset="0"/>
                <a:ea typeface="Courier New" pitchFamily="34" charset="-122"/>
                <a:cs typeface="Courier New" pitchFamily="34" charset="-120"/>
              </a:rPr>
              <a:t>20.25</a:t>
            </a:r>
            <a:endParaRPr lang="en-US" sz="1100" dirty="0"/>
          </a:p>
        </p:txBody>
      </p:sp>
      <p:sp>
        <p:nvSpPr>
          <p:cNvPr id="94" name="Shape 92"/>
          <p:cNvSpPr/>
          <p:nvPr/>
        </p:nvSpPr>
        <p:spPr>
          <a:xfrm>
            <a:off x="6217920" y="4553712"/>
            <a:ext cx="1371600" cy="310896"/>
          </a:xfrm>
          <a:prstGeom prst="rect">
            <a:avLst/>
          </a:prstGeom>
          <a:solidFill>
            <a:srgbClr val="FFFFFF"/>
          </a:solidFill>
          <a:ln w="6350">
            <a:solidFill>
              <a:srgbClr val="D7E2E6"/>
            </a:solidFill>
            <a:prstDash val="solid"/>
          </a:ln>
        </p:spPr>
      </p:sp>
      <p:sp>
        <p:nvSpPr>
          <p:cNvPr id="95" name="Text 93"/>
          <p:cNvSpPr/>
          <p:nvPr/>
        </p:nvSpPr>
        <p:spPr>
          <a:xfrm>
            <a:off x="6217920" y="4553712"/>
            <a:ext cx="1371600" cy="310896"/>
          </a:xfrm>
          <a:prstGeom prst="rect">
            <a:avLst/>
          </a:prstGeom>
          <a:noFill/>
          <a:ln/>
        </p:spPr>
        <p:txBody>
          <a:bodyPr wrap="square" rtlCol="0" anchor="ctr"/>
          <a:lstStyle/>
          <a:p>
            <a:pPr marL="0" indent="0" algn="ctr">
              <a:buNone/>
            </a:pPr>
            <a:r>
              <a:rPr lang="en-US" sz="1100" dirty="0">
                <a:solidFill>
                  <a:srgbClr val="17232E"/>
                </a:solidFill>
                <a:latin typeface="Courier New" pitchFamily="34" charset="0"/>
                <a:ea typeface="Courier New" pitchFamily="34" charset="-122"/>
                <a:cs typeface="Courier New" pitchFamily="34" charset="-120"/>
              </a:rPr>
              <a:t>36.45</a:t>
            </a:r>
            <a:endParaRPr lang="en-US" sz="1100" dirty="0"/>
          </a:p>
        </p:txBody>
      </p:sp>
      <p:sp>
        <p:nvSpPr>
          <p:cNvPr id="96" name="Shape 94"/>
          <p:cNvSpPr/>
          <p:nvPr/>
        </p:nvSpPr>
        <p:spPr>
          <a:xfrm>
            <a:off x="1554480" y="4864608"/>
            <a:ext cx="1097280" cy="384048"/>
          </a:xfrm>
          <a:prstGeom prst="rect">
            <a:avLst/>
          </a:prstGeom>
          <a:solidFill>
            <a:srgbClr val="FFF3E0"/>
          </a:solidFill>
          <a:ln w="6350">
            <a:solidFill>
              <a:srgbClr val="D7E2E6"/>
            </a:solidFill>
            <a:prstDash val="solid"/>
          </a:ln>
        </p:spPr>
      </p:sp>
      <p:sp>
        <p:nvSpPr>
          <p:cNvPr id="97" name="Text 95"/>
          <p:cNvSpPr/>
          <p:nvPr/>
        </p:nvSpPr>
        <p:spPr>
          <a:xfrm>
            <a:off x="1554480" y="4864608"/>
            <a:ext cx="1097280" cy="384048"/>
          </a:xfrm>
          <a:prstGeom prst="rect">
            <a:avLst/>
          </a:prstGeom>
          <a:noFill/>
          <a:ln/>
        </p:spPr>
        <p:txBody>
          <a:bodyPr wrap="square" rtlCol="0" anchor="ctr"/>
          <a:lstStyle/>
          <a:p>
            <a:pPr marL="0" indent="0" algn="ctr">
              <a:buNone/>
            </a:pPr>
            <a:r>
              <a:rPr lang="en-US" sz="1200" b="1" dirty="0">
                <a:solidFill>
                  <a:srgbClr val="8A5A17"/>
                </a:solidFill>
                <a:latin typeface="Courier New" pitchFamily="34" charset="0"/>
                <a:ea typeface="Courier New" pitchFamily="34" charset="-122"/>
                <a:cs typeface="Courier New" pitchFamily="34" charset="-120"/>
              </a:rPr>
              <a:t>Σ</a:t>
            </a:r>
            <a:endParaRPr lang="en-US" sz="1200" dirty="0"/>
          </a:p>
        </p:txBody>
      </p:sp>
      <p:sp>
        <p:nvSpPr>
          <p:cNvPr id="98" name="Shape 96"/>
          <p:cNvSpPr/>
          <p:nvPr/>
        </p:nvSpPr>
        <p:spPr>
          <a:xfrm>
            <a:off x="2651760" y="4864608"/>
            <a:ext cx="1097280" cy="384048"/>
          </a:xfrm>
          <a:prstGeom prst="rect">
            <a:avLst/>
          </a:prstGeom>
          <a:solidFill>
            <a:srgbClr val="FFF3E0"/>
          </a:solidFill>
          <a:ln w="6350">
            <a:solidFill>
              <a:srgbClr val="D7E2E6"/>
            </a:solidFill>
            <a:prstDash val="solid"/>
          </a:ln>
        </p:spPr>
      </p:sp>
      <p:sp>
        <p:nvSpPr>
          <p:cNvPr id="99" name="Text 97"/>
          <p:cNvSpPr/>
          <p:nvPr/>
        </p:nvSpPr>
        <p:spPr>
          <a:xfrm>
            <a:off x="2651760" y="4864608"/>
            <a:ext cx="1097280" cy="384048"/>
          </a:xfrm>
          <a:prstGeom prst="rect">
            <a:avLst/>
          </a:prstGeom>
          <a:noFill/>
          <a:ln/>
        </p:spPr>
        <p:txBody>
          <a:bodyPr wrap="square" rtlCol="0" anchor="ctr"/>
          <a:lstStyle/>
          <a:p>
            <a:pPr marL="0" indent="0" algn="ctr">
              <a:buNone/>
            </a:pPr>
            <a:r>
              <a:rPr lang="en-US" sz="1200" b="1" dirty="0">
                <a:solidFill>
                  <a:srgbClr val="8A5A17"/>
                </a:solidFill>
                <a:latin typeface="Courier New" pitchFamily="34" charset="0"/>
                <a:ea typeface="Courier New" pitchFamily="34" charset="-122"/>
                <a:cs typeface="Courier New" pitchFamily="34" charset="-120"/>
              </a:rPr>
              <a:t>22.0</a:t>
            </a:r>
            <a:endParaRPr lang="en-US" sz="1200" dirty="0"/>
          </a:p>
        </p:txBody>
      </p:sp>
      <p:sp>
        <p:nvSpPr>
          <p:cNvPr id="100" name="Shape 98"/>
          <p:cNvSpPr/>
          <p:nvPr/>
        </p:nvSpPr>
        <p:spPr>
          <a:xfrm>
            <a:off x="3749040" y="4864608"/>
            <a:ext cx="1097280" cy="384048"/>
          </a:xfrm>
          <a:prstGeom prst="rect">
            <a:avLst/>
          </a:prstGeom>
          <a:solidFill>
            <a:srgbClr val="FFF3E0"/>
          </a:solidFill>
          <a:ln w="6350">
            <a:solidFill>
              <a:srgbClr val="D7E2E6"/>
            </a:solidFill>
            <a:prstDash val="solid"/>
          </a:ln>
        </p:spPr>
      </p:sp>
      <p:sp>
        <p:nvSpPr>
          <p:cNvPr id="101" name="Text 99"/>
          <p:cNvSpPr/>
          <p:nvPr/>
        </p:nvSpPr>
        <p:spPr>
          <a:xfrm>
            <a:off x="3749040" y="4864608"/>
            <a:ext cx="1097280" cy="384048"/>
          </a:xfrm>
          <a:prstGeom prst="rect">
            <a:avLst/>
          </a:prstGeom>
          <a:noFill/>
          <a:ln/>
        </p:spPr>
        <p:txBody>
          <a:bodyPr wrap="square" rtlCol="0" anchor="ctr"/>
          <a:lstStyle/>
          <a:p>
            <a:pPr marL="0" indent="0" algn="ctr">
              <a:buNone/>
            </a:pPr>
            <a:r>
              <a:rPr lang="en-US" sz="1200" b="1" dirty="0">
                <a:solidFill>
                  <a:srgbClr val="8A5A17"/>
                </a:solidFill>
                <a:latin typeface="Courier New" pitchFamily="34" charset="0"/>
                <a:ea typeface="Courier New" pitchFamily="34" charset="-122"/>
                <a:cs typeface="Courier New" pitchFamily="34" charset="-120"/>
              </a:rPr>
              <a:t>48.9</a:t>
            </a:r>
            <a:endParaRPr lang="en-US" sz="1200" dirty="0"/>
          </a:p>
        </p:txBody>
      </p:sp>
      <p:sp>
        <p:nvSpPr>
          <p:cNvPr id="102" name="Shape 100"/>
          <p:cNvSpPr/>
          <p:nvPr/>
        </p:nvSpPr>
        <p:spPr>
          <a:xfrm>
            <a:off x="4846320" y="4864608"/>
            <a:ext cx="1371600" cy="384048"/>
          </a:xfrm>
          <a:prstGeom prst="rect">
            <a:avLst/>
          </a:prstGeom>
          <a:solidFill>
            <a:srgbClr val="FFF3E0"/>
          </a:solidFill>
          <a:ln w="6350">
            <a:solidFill>
              <a:srgbClr val="D7E2E6"/>
            </a:solidFill>
            <a:prstDash val="solid"/>
          </a:ln>
        </p:spPr>
      </p:sp>
      <p:sp>
        <p:nvSpPr>
          <p:cNvPr id="103" name="Text 101"/>
          <p:cNvSpPr/>
          <p:nvPr/>
        </p:nvSpPr>
        <p:spPr>
          <a:xfrm>
            <a:off x="4846320" y="4864608"/>
            <a:ext cx="1371600" cy="384048"/>
          </a:xfrm>
          <a:prstGeom prst="rect">
            <a:avLst/>
          </a:prstGeom>
          <a:noFill/>
          <a:ln/>
        </p:spPr>
        <p:txBody>
          <a:bodyPr wrap="square" rtlCol="0" anchor="ctr"/>
          <a:lstStyle/>
          <a:p>
            <a:pPr marL="0" indent="0" algn="ctr">
              <a:buNone/>
            </a:pPr>
            <a:r>
              <a:rPr lang="en-US" sz="1200" b="1" dirty="0">
                <a:solidFill>
                  <a:srgbClr val="8A5A17"/>
                </a:solidFill>
                <a:latin typeface="Courier New" pitchFamily="34" charset="0"/>
                <a:ea typeface="Courier New" pitchFamily="34" charset="-122"/>
                <a:cs typeface="Courier New" pitchFamily="34" charset="-120"/>
              </a:rPr>
              <a:t>71.0</a:t>
            </a:r>
            <a:endParaRPr lang="en-US" sz="1200" dirty="0"/>
          </a:p>
        </p:txBody>
      </p:sp>
      <p:sp>
        <p:nvSpPr>
          <p:cNvPr id="104" name="Shape 102"/>
          <p:cNvSpPr/>
          <p:nvPr/>
        </p:nvSpPr>
        <p:spPr>
          <a:xfrm>
            <a:off x="6217920" y="4864608"/>
            <a:ext cx="1371600" cy="384048"/>
          </a:xfrm>
          <a:prstGeom prst="rect">
            <a:avLst/>
          </a:prstGeom>
          <a:solidFill>
            <a:srgbClr val="FFF3E0"/>
          </a:solidFill>
          <a:ln w="6350">
            <a:solidFill>
              <a:srgbClr val="D7E2E6"/>
            </a:solidFill>
            <a:prstDash val="solid"/>
          </a:ln>
        </p:spPr>
      </p:sp>
      <p:sp>
        <p:nvSpPr>
          <p:cNvPr id="105" name="Text 103"/>
          <p:cNvSpPr/>
          <p:nvPr/>
        </p:nvSpPr>
        <p:spPr>
          <a:xfrm>
            <a:off x="6217920" y="4864608"/>
            <a:ext cx="1371600" cy="384048"/>
          </a:xfrm>
          <a:prstGeom prst="rect">
            <a:avLst/>
          </a:prstGeom>
          <a:noFill/>
          <a:ln/>
        </p:spPr>
        <p:txBody>
          <a:bodyPr wrap="square" rtlCol="0" anchor="ctr"/>
          <a:lstStyle/>
          <a:p>
            <a:pPr marL="0" indent="0" algn="ctr">
              <a:buNone/>
            </a:pPr>
            <a:r>
              <a:rPr lang="en-US" sz="1200" b="1" dirty="0">
                <a:solidFill>
                  <a:srgbClr val="8A5A17"/>
                </a:solidFill>
                <a:latin typeface="Courier New" pitchFamily="34" charset="0"/>
                <a:ea typeface="Courier New" pitchFamily="34" charset="-122"/>
                <a:cs typeface="Courier New" pitchFamily="34" charset="-120"/>
              </a:rPr>
              <a:t>146.05</a:t>
            </a:r>
            <a:endParaRPr lang="en-US" sz="1200" dirty="0"/>
          </a:p>
        </p:txBody>
      </p:sp>
      <p:sp>
        <p:nvSpPr>
          <p:cNvPr id="106" name="Shape 104"/>
          <p:cNvSpPr/>
          <p:nvPr/>
        </p:nvSpPr>
        <p:spPr>
          <a:xfrm>
            <a:off x="457200" y="5486400"/>
            <a:ext cx="11247120" cy="685800"/>
          </a:xfrm>
          <a:prstGeom prst="roundRect">
            <a:avLst>
              <a:gd name="adj" fmla="val 10667"/>
            </a:avLst>
          </a:prstGeom>
          <a:solidFill>
            <a:srgbClr val="E5F0F4"/>
          </a:solidFill>
          <a:ln/>
        </p:spPr>
      </p:sp>
      <p:sp>
        <p:nvSpPr>
          <p:cNvPr id="107" name="Text 105"/>
          <p:cNvSpPr/>
          <p:nvPr/>
        </p:nvSpPr>
        <p:spPr>
          <a:xfrm>
            <a:off x="640080" y="5486400"/>
            <a:ext cx="10881360" cy="685800"/>
          </a:xfrm>
          <a:prstGeom prst="rect">
            <a:avLst/>
          </a:prstGeom>
          <a:noFill/>
          <a:ln/>
        </p:spPr>
        <p:txBody>
          <a:bodyPr wrap="square" rtlCol="0" anchor="ctr"/>
          <a:lstStyle/>
          <a:p>
            <a:pPr marL="0" indent="0">
              <a:buNone/>
            </a:pPr>
            <a:r>
              <a:rPr lang="en-US" sz="1300" b="1" dirty="0">
                <a:solidFill>
                  <a:srgbClr val="065A82"/>
                </a:solidFill>
                <a:latin typeface="Calibri" pitchFamily="34" charset="0"/>
                <a:ea typeface="Calibri" pitchFamily="34" charset="-122"/>
                <a:cs typeface="Calibri" pitchFamily="34" charset="-120"/>
              </a:rPr>
              <a:t>n = 8,   Σx = 22,   Σy = 48.9,   Σx² = 71,   Σxy = 146.05  — everything the formulas need.</a:t>
            </a:r>
            <a:endParaRPr lang="en-US" sz="1300" dirty="0"/>
          </a:p>
        </p:txBody>
      </p:sp>
      <p:sp>
        <p:nvSpPr>
          <p:cNvPr id="108" name="Text 106"/>
          <p:cNvSpPr/>
          <p:nvPr/>
        </p:nvSpPr>
        <p:spPr>
          <a:xfrm>
            <a:off x="457200" y="6537960"/>
            <a:ext cx="5486400" cy="274320"/>
          </a:xfrm>
          <a:prstGeom prst="rect">
            <a:avLst/>
          </a:prstGeom>
          <a:noFill/>
          <a:ln/>
        </p:spPr>
        <p:txBody>
          <a:bodyPr wrap="square" rtlCol="0" anchor="ctr"/>
          <a:lstStyle/>
          <a:p>
            <a:pPr marL="0" indent="0">
              <a:buNone/>
            </a:pPr>
            <a:r>
              <a:rPr lang="en-US" sz="900" i="1" dirty="0">
                <a:solidFill>
                  <a:srgbClr val="5C6B73"/>
                </a:solidFill>
                <a:latin typeface="Calibri" pitchFamily="34" charset="0"/>
                <a:ea typeface="Calibri" pitchFamily="34" charset="-122"/>
                <a:cs typeface="Calibri" pitchFamily="34" charset="-120"/>
              </a:rPr>
              <a:t>Linear Regression · Fertilizer &amp; Yield</a:t>
            </a:r>
            <a:endParaRPr lang="en-US" sz="900" dirty="0"/>
          </a:p>
        </p:txBody>
      </p:sp>
      <p:sp>
        <p:nvSpPr>
          <p:cNvPr id="109" name="Text 107"/>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5C6B73"/>
                </a:solidFill>
                <a:latin typeface="Calibri" pitchFamily="34" charset="0"/>
                <a:ea typeface="Calibri" pitchFamily="34" charset="-122"/>
                <a:cs typeface="Calibri" pitchFamily="34" charset="-120"/>
              </a:rPr>
              <a:t>5</a:t>
            </a:r>
            <a:endParaRPr lang="en-US" sz="9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2A4A"/>
        </a:solidFill>
        <a:effectLst/>
      </p:bgPr>
    </p:bg>
    <p:spTree>
      <p:nvGrpSpPr>
        <p:cNvPr id="1" name=""/>
        <p:cNvGrpSpPr/>
        <p:nvPr/>
      </p:nvGrpSpPr>
      <p:grpSpPr>
        <a:xfrm>
          <a:off x="0" y="0"/>
          <a:ext cx="0" cy="0"/>
          <a:chOff x="0" y="0"/>
          <a:chExt cx="0" cy="0"/>
        </a:xfrm>
      </p:grpSpPr>
      <p:sp>
        <p:nvSpPr>
          <p:cNvPr id="2" name="Shape 0"/>
          <p:cNvSpPr/>
          <p:nvPr/>
        </p:nvSpPr>
        <p:spPr>
          <a:xfrm>
            <a:off x="457200" y="411480"/>
            <a:ext cx="2560320" cy="365760"/>
          </a:xfrm>
          <a:prstGeom prst="roundRect">
            <a:avLst>
              <a:gd name="adj" fmla="val 20000"/>
            </a:avLst>
          </a:prstGeom>
          <a:solidFill>
            <a:srgbClr val="13416B"/>
          </a:solidFill>
          <a:ln/>
        </p:spPr>
      </p:sp>
      <p:sp>
        <p:nvSpPr>
          <p:cNvPr id="3" name="Text 1"/>
          <p:cNvSpPr/>
          <p:nvPr/>
        </p:nvSpPr>
        <p:spPr>
          <a:xfrm>
            <a:off x="457200" y="411480"/>
            <a:ext cx="2560320" cy="365760"/>
          </a:xfrm>
          <a:prstGeom prst="rect">
            <a:avLst/>
          </a:prstGeom>
          <a:noFill/>
          <a:ln/>
        </p:spPr>
        <p:txBody>
          <a:bodyPr wrap="square" rtlCol="0" anchor="ctr"/>
          <a:lstStyle/>
          <a:p>
            <a:pPr marL="0" indent="0" algn="ctr">
              <a:buNone/>
            </a:pPr>
            <a:r>
              <a:rPr lang="en-US" sz="1100" b="1" kern="0" spc="100" dirty="0">
                <a:solidFill>
                  <a:srgbClr val="F2A93B"/>
                </a:solidFill>
                <a:latin typeface="Calibri" pitchFamily="34" charset="0"/>
                <a:ea typeface="Calibri" pitchFamily="34" charset="-122"/>
                <a:cs typeface="Calibri" pitchFamily="34" charset="-120"/>
              </a:rPr>
              <a:t>STEP 2</a:t>
            </a:r>
            <a:endParaRPr lang="en-US" sz="1100" dirty="0"/>
          </a:p>
        </p:txBody>
      </p:sp>
      <p:sp>
        <p:nvSpPr>
          <p:cNvPr id="4" name="Text 2"/>
          <p:cNvSpPr/>
          <p:nvPr/>
        </p:nvSpPr>
        <p:spPr>
          <a:xfrm>
            <a:off x="457200" y="868680"/>
            <a:ext cx="11247120" cy="68580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Solving for the Slope, b</a:t>
            </a:r>
            <a:endParaRPr lang="en-US" sz="2800" dirty="0"/>
          </a:p>
        </p:txBody>
      </p:sp>
      <p:sp>
        <p:nvSpPr>
          <p:cNvPr id="5" name="Shape 3"/>
          <p:cNvSpPr/>
          <p:nvPr/>
        </p:nvSpPr>
        <p:spPr>
          <a:xfrm>
            <a:off x="1280160" y="1737360"/>
            <a:ext cx="9601200" cy="914400"/>
          </a:xfrm>
          <a:prstGeom prst="roundRect">
            <a:avLst>
              <a:gd name="adj" fmla="val 10000"/>
            </a:avLst>
          </a:prstGeom>
          <a:solidFill>
            <a:srgbClr val="0F3A5F"/>
          </a:solidFill>
          <a:ln w="12700">
            <a:solidFill>
              <a:srgbClr val="1C7293"/>
            </a:solidFill>
            <a:prstDash val="solid"/>
          </a:ln>
        </p:spPr>
      </p:sp>
      <p:sp>
        <p:nvSpPr>
          <p:cNvPr id="6" name="Text 4"/>
          <p:cNvSpPr/>
          <p:nvPr/>
        </p:nvSpPr>
        <p:spPr>
          <a:xfrm>
            <a:off x="1280160" y="1737360"/>
            <a:ext cx="9601200" cy="914400"/>
          </a:xfrm>
          <a:prstGeom prst="rect">
            <a:avLst/>
          </a:prstGeom>
          <a:noFill/>
          <a:ln/>
        </p:spPr>
        <p:txBody>
          <a:bodyPr wrap="square"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b = [8×146.05 − 22×48.9] / [8×71 − 22²]</a:t>
            </a:r>
            <a:endParaRPr lang="en-US" sz="1500" dirty="0"/>
          </a:p>
        </p:txBody>
      </p:sp>
      <p:sp>
        <p:nvSpPr>
          <p:cNvPr id="7" name="Shape 5"/>
          <p:cNvSpPr/>
          <p:nvPr/>
        </p:nvSpPr>
        <p:spPr>
          <a:xfrm>
            <a:off x="457200" y="2880360"/>
            <a:ext cx="11247120" cy="777240"/>
          </a:xfrm>
          <a:prstGeom prst="roundRect">
            <a:avLst>
              <a:gd name="adj" fmla="val 9412"/>
            </a:avLst>
          </a:prstGeom>
          <a:solidFill>
            <a:srgbClr val="0F3A5F"/>
          </a:solidFill>
          <a:ln w="12700">
            <a:solidFill>
              <a:srgbClr val="1E4F73"/>
            </a:solidFill>
            <a:prstDash val="solid"/>
          </a:ln>
        </p:spPr>
      </p:sp>
      <p:sp>
        <p:nvSpPr>
          <p:cNvPr id="8" name="Text 6"/>
          <p:cNvSpPr/>
          <p:nvPr/>
        </p:nvSpPr>
        <p:spPr>
          <a:xfrm>
            <a:off x="685800" y="2880360"/>
            <a:ext cx="2011680" cy="777240"/>
          </a:xfrm>
          <a:prstGeom prst="rect">
            <a:avLst/>
          </a:prstGeom>
          <a:noFill/>
          <a:ln/>
        </p:spPr>
        <p:txBody>
          <a:bodyPr wrap="square" rtlCol="0" anchor="ctr"/>
          <a:lstStyle/>
          <a:p>
            <a:pPr marL="0" indent="0">
              <a:buNone/>
            </a:pPr>
            <a:r>
              <a:rPr lang="en-US" sz="1300" b="1" dirty="0">
                <a:solidFill>
                  <a:srgbClr val="F2A93B"/>
                </a:solidFill>
                <a:latin typeface="Cambria" pitchFamily="34" charset="0"/>
                <a:ea typeface="Cambria" pitchFamily="34" charset="-122"/>
                <a:cs typeface="Cambria" pitchFamily="34" charset="-120"/>
              </a:rPr>
              <a:t>Numerator</a:t>
            </a:r>
            <a:endParaRPr lang="en-US" sz="1300" dirty="0"/>
          </a:p>
        </p:txBody>
      </p:sp>
      <p:sp>
        <p:nvSpPr>
          <p:cNvPr id="9" name="Text 7"/>
          <p:cNvSpPr/>
          <p:nvPr/>
        </p:nvSpPr>
        <p:spPr>
          <a:xfrm>
            <a:off x="2743200" y="2880360"/>
            <a:ext cx="8686800" cy="777240"/>
          </a:xfrm>
          <a:prstGeom prst="rect">
            <a:avLst/>
          </a:prstGeom>
          <a:noFill/>
          <a:ln/>
        </p:spPr>
        <p:txBody>
          <a:bodyPr wrap="square" rtlCol="0" anchor="ctr"/>
          <a:lstStyle/>
          <a:p>
            <a:pPr marL="0" indent="0">
              <a:buNone/>
            </a:pPr>
            <a:r>
              <a:rPr lang="en-US" sz="1300" dirty="0">
                <a:solidFill>
                  <a:srgbClr val="D6E4EC"/>
                </a:solidFill>
                <a:latin typeface="Courier New" pitchFamily="34" charset="0"/>
                <a:ea typeface="Courier New" pitchFamily="34" charset="-122"/>
                <a:cs typeface="Courier New" pitchFamily="34" charset="-120"/>
              </a:rPr>
              <a:t>8×146.05 − 22×48.9 = 1168.40 − 1075.80 = 92.60</a:t>
            </a:r>
            <a:endParaRPr lang="en-US" sz="1300" dirty="0"/>
          </a:p>
        </p:txBody>
      </p:sp>
      <p:sp>
        <p:nvSpPr>
          <p:cNvPr id="10" name="Shape 8"/>
          <p:cNvSpPr/>
          <p:nvPr/>
        </p:nvSpPr>
        <p:spPr>
          <a:xfrm>
            <a:off x="457200" y="3794760"/>
            <a:ext cx="11247120" cy="777240"/>
          </a:xfrm>
          <a:prstGeom prst="roundRect">
            <a:avLst>
              <a:gd name="adj" fmla="val 9412"/>
            </a:avLst>
          </a:prstGeom>
          <a:solidFill>
            <a:srgbClr val="0F3A5F"/>
          </a:solidFill>
          <a:ln w="12700">
            <a:solidFill>
              <a:srgbClr val="1E4F73"/>
            </a:solidFill>
            <a:prstDash val="solid"/>
          </a:ln>
        </p:spPr>
      </p:sp>
      <p:sp>
        <p:nvSpPr>
          <p:cNvPr id="11" name="Text 9"/>
          <p:cNvSpPr/>
          <p:nvPr/>
        </p:nvSpPr>
        <p:spPr>
          <a:xfrm>
            <a:off x="685800" y="3794760"/>
            <a:ext cx="2011680" cy="777240"/>
          </a:xfrm>
          <a:prstGeom prst="rect">
            <a:avLst/>
          </a:prstGeom>
          <a:noFill/>
          <a:ln/>
        </p:spPr>
        <p:txBody>
          <a:bodyPr wrap="square" rtlCol="0" anchor="ctr"/>
          <a:lstStyle/>
          <a:p>
            <a:pPr marL="0" indent="0">
              <a:buNone/>
            </a:pPr>
            <a:r>
              <a:rPr lang="en-US" sz="1300" b="1" dirty="0">
                <a:solidFill>
                  <a:srgbClr val="F2A93B"/>
                </a:solidFill>
                <a:latin typeface="Cambria" pitchFamily="34" charset="0"/>
                <a:ea typeface="Cambria" pitchFamily="34" charset="-122"/>
                <a:cs typeface="Cambria" pitchFamily="34" charset="-120"/>
              </a:rPr>
              <a:t>Denominator</a:t>
            </a:r>
            <a:endParaRPr lang="en-US" sz="1300" dirty="0"/>
          </a:p>
        </p:txBody>
      </p:sp>
      <p:sp>
        <p:nvSpPr>
          <p:cNvPr id="12" name="Text 10"/>
          <p:cNvSpPr/>
          <p:nvPr/>
        </p:nvSpPr>
        <p:spPr>
          <a:xfrm>
            <a:off x="2743200" y="3794760"/>
            <a:ext cx="8686800" cy="777240"/>
          </a:xfrm>
          <a:prstGeom prst="rect">
            <a:avLst/>
          </a:prstGeom>
          <a:noFill/>
          <a:ln/>
        </p:spPr>
        <p:txBody>
          <a:bodyPr wrap="square" rtlCol="0" anchor="ctr"/>
          <a:lstStyle/>
          <a:p>
            <a:pPr marL="0" indent="0">
              <a:buNone/>
            </a:pPr>
            <a:r>
              <a:rPr lang="en-US" sz="1300" dirty="0">
                <a:solidFill>
                  <a:srgbClr val="D6E4EC"/>
                </a:solidFill>
                <a:latin typeface="Courier New" pitchFamily="34" charset="0"/>
                <a:ea typeface="Courier New" pitchFamily="34" charset="-122"/>
                <a:cs typeface="Courier New" pitchFamily="34" charset="-120"/>
              </a:rPr>
              <a:t>8×71 − 22² = 568.0 − 484.0 = 84.0</a:t>
            </a:r>
            <a:endParaRPr lang="en-US" sz="1300" dirty="0"/>
          </a:p>
        </p:txBody>
      </p:sp>
      <p:sp>
        <p:nvSpPr>
          <p:cNvPr id="13" name="Shape 11"/>
          <p:cNvSpPr/>
          <p:nvPr/>
        </p:nvSpPr>
        <p:spPr>
          <a:xfrm>
            <a:off x="3108960" y="4892040"/>
            <a:ext cx="5943600" cy="914400"/>
          </a:xfrm>
          <a:prstGeom prst="roundRect">
            <a:avLst>
              <a:gd name="adj" fmla="val 10000"/>
            </a:avLst>
          </a:prstGeom>
          <a:solidFill>
            <a:srgbClr val="13416B"/>
          </a:solidFill>
          <a:ln w="19050">
            <a:solidFill>
              <a:srgbClr val="F2A93B"/>
            </a:solidFill>
            <a:prstDash val="solid"/>
          </a:ln>
        </p:spPr>
      </p:sp>
      <p:sp>
        <p:nvSpPr>
          <p:cNvPr id="14" name="Text 12"/>
          <p:cNvSpPr/>
          <p:nvPr/>
        </p:nvSpPr>
        <p:spPr>
          <a:xfrm>
            <a:off x="3108960" y="4892040"/>
            <a:ext cx="5943600" cy="914400"/>
          </a:xfrm>
          <a:prstGeom prst="rect">
            <a:avLst/>
          </a:prstGeom>
          <a:noFill/>
          <a:ln/>
        </p:spPr>
        <p:txBody>
          <a:bodyPr wrap="square" rtlCol="0" anchor="ctr"/>
          <a:lstStyle/>
          <a:p>
            <a:pPr marL="0" indent="0" algn="ctr">
              <a:buNone/>
            </a:pPr>
            <a:r>
              <a:rPr lang="en-US" sz="2200" b="1" dirty="0">
                <a:solidFill>
                  <a:srgbClr val="F2A93B"/>
                </a:solidFill>
                <a:latin typeface="Courier New" pitchFamily="34" charset="0"/>
                <a:ea typeface="Courier New" pitchFamily="34" charset="-122"/>
                <a:cs typeface="Courier New" pitchFamily="34" charset="-120"/>
              </a:rPr>
              <a:t>b = 92.60 / 84.0 = 1.102</a:t>
            </a:r>
            <a:endParaRPr lang="en-US" sz="2200" dirty="0"/>
          </a:p>
        </p:txBody>
      </p:sp>
      <p:sp>
        <p:nvSpPr>
          <p:cNvPr id="15" name="Text 13"/>
          <p:cNvSpPr/>
          <p:nvPr/>
        </p:nvSpPr>
        <p:spPr>
          <a:xfrm>
            <a:off x="457200" y="6537960"/>
            <a:ext cx="5486400" cy="274320"/>
          </a:xfrm>
          <a:prstGeom prst="rect">
            <a:avLst/>
          </a:prstGeom>
          <a:noFill/>
          <a:ln/>
        </p:spPr>
        <p:txBody>
          <a:bodyPr wrap="square" rtlCol="0" anchor="ctr"/>
          <a:lstStyle/>
          <a:p>
            <a:pPr marL="0" indent="0">
              <a:buNone/>
            </a:pPr>
            <a:r>
              <a:rPr lang="en-US" sz="900" i="1" dirty="0">
                <a:solidFill>
                  <a:srgbClr val="8FA6B3"/>
                </a:solidFill>
                <a:latin typeface="Calibri" pitchFamily="34" charset="0"/>
                <a:ea typeface="Calibri" pitchFamily="34" charset="-122"/>
                <a:cs typeface="Calibri" pitchFamily="34" charset="-120"/>
              </a:rPr>
              <a:t>Linear Regression · Fertilizer &amp; Yield</a:t>
            </a:r>
            <a:endParaRPr lang="en-US" sz="900" dirty="0"/>
          </a:p>
        </p:txBody>
      </p:sp>
      <p:sp>
        <p:nvSpPr>
          <p:cNvPr id="16" name="Text 14"/>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8FA6B3"/>
                </a:solidFill>
                <a:latin typeface="Calibri" pitchFamily="34" charset="0"/>
                <a:ea typeface="Calibri" pitchFamily="34" charset="-122"/>
                <a:cs typeface="Calibri" pitchFamily="34" charset="-120"/>
              </a:rPr>
              <a:t>6</a:t>
            </a:r>
            <a:endParaRPr lang="en-US" sz="90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9FA"/>
        </a:solidFill>
        <a:effectLst/>
      </p:bgPr>
    </p:bg>
    <p:spTree>
      <p:nvGrpSpPr>
        <p:cNvPr id="1" name=""/>
        <p:cNvGrpSpPr/>
        <p:nvPr/>
      </p:nvGrpSpPr>
      <p:grpSpPr>
        <a:xfrm>
          <a:off x="0" y="0"/>
          <a:ext cx="0" cy="0"/>
          <a:chOff x="0" y="0"/>
          <a:chExt cx="0" cy="0"/>
        </a:xfrm>
      </p:grpSpPr>
      <p:sp>
        <p:nvSpPr>
          <p:cNvPr id="2" name="Shape 0"/>
          <p:cNvSpPr/>
          <p:nvPr/>
        </p:nvSpPr>
        <p:spPr>
          <a:xfrm>
            <a:off x="457200" y="411480"/>
            <a:ext cx="2560320" cy="365760"/>
          </a:xfrm>
          <a:prstGeom prst="roundRect">
            <a:avLst>
              <a:gd name="adj" fmla="val 20000"/>
            </a:avLst>
          </a:prstGeom>
          <a:solidFill>
            <a:srgbClr val="E5F0F4"/>
          </a:solidFill>
          <a:ln/>
        </p:spPr>
      </p:sp>
      <p:sp>
        <p:nvSpPr>
          <p:cNvPr id="3" name="Text 1"/>
          <p:cNvSpPr/>
          <p:nvPr/>
        </p:nvSpPr>
        <p:spPr>
          <a:xfrm>
            <a:off x="457200" y="411480"/>
            <a:ext cx="2560320" cy="365760"/>
          </a:xfrm>
          <a:prstGeom prst="rect">
            <a:avLst/>
          </a:prstGeom>
          <a:noFill/>
          <a:ln/>
        </p:spPr>
        <p:txBody>
          <a:bodyPr wrap="square" rtlCol="0" anchor="ctr"/>
          <a:lstStyle/>
          <a:p>
            <a:pPr marL="0" indent="0" algn="ctr">
              <a:buNone/>
            </a:pPr>
            <a:r>
              <a:rPr lang="en-US" sz="1100" b="1" kern="0" spc="100" dirty="0">
                <a:solidFill>
                  <a:srgbClr val="065A82"/>
                </a:solidFill>
                <a:latin typeface="Calibri" pitchFamily="34" charset="0"/>
                <a:ea typeface="Calibri" pitchFamily="34" charset="-122"/>
                <a:cs typeface="Calibri" pitchFamily="34" charset="-120"/>
              </a:rPr>
              <a:t>STEP 3</a:t>
            </a:r>
            <a:endParaRPr lang="en-US" sz="1100" dirty="0"/>
          </a:p>
        </p:txBody>
      </p:sp>
      <p:sp>
        <p:nvSpPr>
          <p:cNvPr id="4" name="Text 2"/>
          <p:cNvSpPr/>
          <p:nvPr/>
        </p:nvSpPr>
        <p:spPr>
          <a:xfrm>
            <a:off x="457200" y="868680"/>
            <a:ext cx="11247120" cy="685800"/>
          </a:xfrm>
          <a:prstGeom prst="rect">
            <a:avLst/>
          </a:prstGeom>
          <a:noFill/>
          <a:ln/>
        </p:spPr>
        <p:txBody>
          <a:bodyPr wrap="square" rtlCol="0" anchor="ctr"/>
          <a:lstStyle/>
          <a:p>
            <a:pPr marL="0" indent="0">
              <a:buNone/>
            </a:pPr>
            <a:r>
              <a:rPr lang="en-US" sz="2800" b="1" dirty="0">
                <a:solidFill>
                  <a:srgbClr val="0B2A4A"/>
                </a:solidFill>
                <a:latin typeface="Cambria" pitchFamily="34" charset="0"/>
                <a:ea typeface="Cambria" pitchFamily="34" charset="-122"/>
                <a:cs typeface="Cambria" pitchFamily="34" charset="-120"/>
              </a:rPr>
              <a:t>Solving for the Intercept, a</a:t>
            </a:r>
            <a:endParaRPr lang="en-US" sz="2800" dirty="0"/>
          </a:p>
        </p:txBody>
      </p:sp>
      <p:sp>
        <p:nvSpPr>
          <p:cNvPr id="5" name="Shape 3"/>
          <p:cNvSpPr/>
          <p:nvPr/>
        </p:nvSpPr>
        <p:spPr>
          <a:xfrm>
            <a:off x="1737360" y="1828800"/>
            <a:ext cx="8686800" cy="914400"/>
          </a:xfrm>
          <a:prstGeom prst="roundRect">
            <a:avLst>
              <a:gd name="adj" fmla="val 10000"/>
            </a:avLst>
          </a:prstGeom>
          <a:solidFill>
            <a:srgbClr val="0B2A4A"/>
          </a:solidFill>
          <a:ln/>
        </p:spPr>
      </p:sp>
      <p:sp>
        <p:nvSpPr>
          <p:cNvPr id="6" name="Text 4"/>
          <p:cNvSpPr/>
          <p:nvPr/>
        </p:nvSpPr>
        <p:spPr>
          <a:xfrm>
            <a:off x="1737360" y="1828800"/>
            <a:ext cx="8686800" cy="914400"/>
          </a:xfrm>
          <a:prstGeom prst="rect">
            <a:avLst/>
          </a:prstGeom>
          <a:noFill/>
          <a:ln/>
        </p:spPr>
        <p:txBody>
          <a:bodyPr wrap="square" rtlCol="0" anchor="ctr"/>
          <a:lstStyle/>
          <a:p>
            <a:pPr marL="0" indent="0" algn="ctr">
              <a:buNone/>
            </a:pPr>
            <a:r>
              <a:rPr lang="en-US" sz="1700" b="1" dirty="0">
                <a:solidFill>
                  <a:srgbClr val="FFFFFF"/>
                </a:solidFill>
                <a:latin typeface="Courier New" pitchFamily="34" charset="0"/>
                <a:ea typeface="Courier New" pitchFamily="34" charset="-122"/>
                <a:cs typeface="Courier New" pitchFamily="34" charset="-120"/>
              </a:rPr>
              <a:t>a = [48.9 − (1.102)×22] / 8</a:t>
            </a:r>
            <a:endParaRPr lang="en-US" sz="1700" dirty="0"/>
          </a:p>
        </p:txBody>
      </p:sp>
      <p:sp>
        <p:nvSpPr>
          <p:cNvPr id="7" name="Shape 5"/>
          <p:cNvSpPr/>
          <p:nvPr/>
        </p:nvSpPr>
        <p:spPr>
          <a:xfrm>
            <a:off x="1737360" y="2926080"/>
            <a:ext cx="8686800" cy="777240"/>
          </a:xfrm>
          <a:prstGeom prst="roundRect">
            <a:avLst>
              <a:gd name="adj" fmla="val 9412"/>
            </a:avLst>
          </a:prstGeom>
          <a:solidFill>
            <a:srgbClr val="FFFFFF"/>
          </a:solidFill>
          <a:ln w="12700">
            <a:solidFill>
              <a:srgbClr val="D7E2E6"/>
            </a:solidFill>
            <a:prstDash val="solid"/>
          </a:ln>
        </p:spPr>
      </p:sp>
      <p:sp>
        <p:nvSpPr>
          <p:cNvPr id="8" name="Text 6"/>
          <p:cNvSpPr/>
          <p:nvPr/>
        </p:nvSpPr>
        <p:spPr>
          <a:xfrm>
            <a:off x="1737360" y="2926080"/>
            <a:ext cx="8686800" cy="777240"/>
          </a:xfrm>
          <a:prstGeom prst="rect">
            <a:avLst/>
          </a:prstGeom>
          <a:noFill/>
          <a:ln/>
        </p:spPr>
        <p:txBody>
          <a:bodyPr wrap="square" rtlCol="0" anchor="ctr"/>
          <a:lstStyle/>
          <a:p>
            <a:pPr marL="0" indent="0" algn="ctr">
              <a:buNone/>
            </a:pPr>
            <a:r>
              <a:rPr lang="en-US" sz="1500" dirty="0">
                <a:solidFill>
                  <a:srgbClr val="17232E"/>
                </a:solidFill>
                <a:latin typeface="Courier New" pitchFamily="34" charset="0"/>
                <a:ea typeface="Courier New" pitchFamily="34" charset="-122"/>
                <a:cs typeface="Courier New" pitchFamily="34" charset="-120"/>
              </a:rPr>
              <a:t>a = [48.9 − 24.24] / 8  =  24.66 / 8</a:t>
            </a:r>
            <a:endParaRPr lang="en-US" sz="1500" dirty="0"/>
          </a:p>
        </p:txBody>
      </p:sp>
      <p:sp>
        <p:nvSpPr>
          <p:cNvPr id="9" name="Shape 7"/>
          <p:cNvSpPr/>
          <p:nvPr/>
        </p:nvSpPr>
        <p:spPr>
          <a:xfrm>
            <a:off x="3108960" y="3931920"/>
            <a:ext cx="5943600" cy="914400"/>
          </a:xfrm>
          <a:prstGeom prst="roundRect">
            <a:avLst>
              <a:gd name="adj" fmla="val 10000"/>
            </a:avLst>
          </a:prstGeom>
          <a:solidFill>
            <a:srgbClr val="E5F0F4"/>
          </a:solidFill>
          <a:ln w="19050">
            <a:solidFill>
              <a:srgbClr val="065A82"/>
            </a:solidFill>
            <a:prstDash val="solid"/>
          </a:ln>
        </p:spPr>
      </p:sp>
      <p:sp>
        <p:nvSpPr>
          <p:cNvPr id="10" name="Text 8"/>
          <p:cNvSpPr/>
          <p:nvPr/>
        </p:nvSpPr>
        <p:spPr>
          <a:xfrm>
            <a:off x="3108960" y="3931920"/>
            <a:ext cx="5943600" cy="914400"/>
          </a:xfrm>
          <a:prstGeom prst="rect">
            <a:avLst/>
          </a:prstGeom>
          <a:noFill/>
          <a:ln/>
        </p:spPr>
        <p:txBody>
          <a:bodyPr wrap="square" rtlCol="0" anchor="ctr"/>
          <a:lstStyle/>
          <a:p>
            <a:pPr marL="0" indent="0" algn="ctr">
              <a:buNone/>
            </a:pPr>
            <a:r>
              <a:rPr lang="en-US" sz="2600" b="1" dirty="0">
                <a:solidFill>
                  <a:srgbClr val="065A82"/>
                </a:solidFill>
                <a:latin typeface="Courier New" pitchFamily="34" charset="0"/>
                <a:ea typeface="Courier New" pitchFamily="34" charset="-122"/>
                <a:cs typeface="Courier New" pitchFamily="34" charset="-120"/>
              </a:rPr>
              <a:t>a = 3.082</a:t>
            </a:r>
            <a:endParaRPr lang="en-US" sz="2600" dirty="0"/>
          </a:p>
        </p:txBody>
      </p:sp>
      <p:sp>
        <p:nvSpPr>
          <p:cNvPr id="11" name="Text 9"/>
          <p:cNvSpPr/>
          <p:nvPr/>
        </p:nvSpPr>
        <p:spPr>
          <a:xfrm>
            <a:off x="1737360" y="5120640"/>
            <a:ext cx="8686800" cy="822960"/>
          </a:xfrm>
          <a:prstGeom prst="rect">
            <a:avLst/>
          </a:prstGeom>
          <a:noFill/>
          <a:ln/>
        </p:spPr>
        <p:txBody>
          <a:bodyPr wrap="square" rtlCol="0" anchor="ctr"/>
          <a:lstStyle/>
          <a:p>
            <a:pPr marL="0" indent="0" algn="ctr">
              <a:lnSpc>
                <a:spcPts val="1600"/>
              </a:lnSpc>
              <a:buNone/>
            </a:pPr>
            <a:r>
              <a:rPr lang="en-US" sz="1250" i="1" dirty="0">
                <a:solidFill>
                  <a:srgbClr val="5C6B73"/>
                </a:solidFill>
                <a:latin typeface="Calibri" pitchFamily="34" charset="0"/>
                <a:ea typeface="Calibri" pitchFamily="34" charset="-122"/>
                <a:cs typeface="Calibri" pitchFamily="34" charset="-120"/>
              </a:rPr>
              <a:t>If no fertilizer were used at all (x = 0), the model predicts a baseline yield of about 3.082 kg — a mathematical anchor point for the line, not necessarily a literal scenario.</a:t>
            </a:r>
            <a:endParaRPr lang="en-US" sz="1250" dirty="0"/>
          </a:p>
        </p:txBody>
      </p:sp>
      <p:sp>
        <p:nvSpPr>
          <p:cNvPr id="12" name="Text 10"/>
          <p:cNvSpPr/>
          <p:nvPr/>
        </p:nvSpPr>
        <p:spPr>
          <a:xfrm>
            <a:off x="457200" y="6537960"/>
            <a:ext cx="5486400" cy="274320"/>
          </a:xfrm>
          <a:prstGeom prst="rect">
            <a:avLst/>
          </a:prstGeom>
          <a:noFill/>
          <a:ln/>
        </p:spPr>
        <p:txBody>
          <a:bodyPr wrap="square" rtlCol="0" anchor="ctr"/>
          <a:lstStyle/>
          <a:p>
            <a:pPr marL="0" indent="0">
              <a:buNone/>
            </a:pPr>
            <a:r>
              <a:rPr lang="en-US" sz="900" i="1" dirty="0">
                <a:solidFill>
                  <a:srgbClr val="5C6B73"/>
                </a:solidFill>
                <a:latin typeface="Calibri" pitchFamily="34" charset="0"/>
                <a:ea typeface="Calibri" pitchFamily="34" charset="-122"/>
                <a:cs typeface="Calibri" pitchFamily="34" charset="-120"/>
              </a:rPr>
              <a:t>Linear Regression · Fertilizer &amp; Yield</a:t>
            </a:r>
            <a:endParaRPr lang="en-US" sz="900" dirty="0"/>
          </a:p>
        </p:txBody>
      </p:sp>
      <p:sp>
        <p:nvSpPr>
          <p:cNvPr id="13" name="Text 11"/>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5C6B73"/>
                </a:solidFill>
                <a:latin typeface="Calibri" pitchFamily="34" charset="0"/>
                <a:ea typeface="Calibri" pitchFamily="34" charset="-122"/>
                <a:cs typeface="Calibri" pitchFamily="34" charset="-120"/>
              </a:rPr>
              <a:t>7</a:t>
            </a:r>
            <a:endParaRPr lang="en-US" sz="9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2A4A"/>
        </a:solidFill>
        <a:effectLst/>
      </p:bgPr>
    </p:bg>
    <p:spTree>
      <p:nvGrpSpPr>
        <p:cNvPr id="1" name=""/>
        <p:cNvGrpSpPr/>
        <p:nvPr/>
      </p:nvGrpSpPr>
      <p:grpSpPr>
        <a:xfrm>
          <a:off x="0" y="0"/>
          <a:ext cx="0" cy="0"/>
          <a:chOff x="0" y="0"/>
          <a:chExt cx="0" cy="0"/>
        </a:xfrm>
      </p:grpSpPr>
      <p:sp>
        <p:nvSpPr>
          <p:cNvPr id="2" name="Shape 0"/>
          <p:cNvSpPr/>
          <p:nvPr/>
        </p:nvSpPr>
        <p:spPr>
          <a:xfrm>
            <a:off x="457200" y="411480"/>
            <a:ext cx="2560320" cy="365760"/>
          </a:xfrm>
          <a:prstGeom prst="roundRect">
            <a:avLst>
              <a:gd name="adj" fmla="val 20000"/>
            </a:avLst>
          </a:prstGeom>
          <a:solidFill>
            <a:srgbClr val="13416B"/>
          </a:solidFill>
          <a:ln/>
        </p:spPr>
      </p:sp>
      <p:sp>
        <p:nvSpPr>
          <p:cNvPr id="3" name="Text 1"/>
          <p:cNvSpPr/>
          <p:nvPr/>
        </p:nvSpPr>
        <p:spPr>
          <a:xfrm>
            <a:off x="457200" y="411480"/>
            <a:ext cx="2560320" cy="365760"/>
          </a:xfrm>
          <a:prstGeom prst="rect">
            <a:avLst/>
          </a:prstGeom>
          <a:noFill/>
          <a:ln/>
        </p:spPr>
        <p:txBody>
          <a:bodyPr wrap="square" rtlCol="0" anchor="ctr"/>
          <a:lstStyle/>
          <a:p>
            <a:pPr marL="0" indent="0" algn="ctr">
              <a:buNone/>
            </a:pPr>
            <a:r>
              <a:rPr lang="en-US" sz="1100" b="1" kern="0" spc="100" dirty="0">
                <a:solidFill>
                  <a:srgbClr val="F2A93B"/>
                </a:solidFill>
                <a:latin typeface="Calibri" pitchFamily="34" charset="0"/>
                <a:ea typeface="Calibri" pitchFamily="34" charset="-122"/>
                <a:cs typeface="Calibri" pitchFamily="34" charset="-120"/>
              </a:rPr>
              <a:t>THE RESULT</a:t>
            </a:r>
            <a:endParaRPr lang="en-US" sz="1100" dirty="0"/>
          </a:p>
        </p:txBody>
      </p:sp>
      <p:sp>
        <p:nvSpPr>
          <p:cNvPr id="4" name="Text 2"/>
          <p:cNvSpPr/>
          <p:nvPr/>
        </p:nvSpPr>
        <p:spPr>
          <a:xfrm>
            <a:off x="457200" y="868680"/>
            <a:ext cx="11247120" cy="68580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The Fitted Regression Equation</a:t>
            </a:r>
            <a:endParaRPr lang="en-US" sz="2800" dirty="0"/>
          </a:p>
        </p:txBody>
      </p:sp>
      <p:sp>
        <p:nvSpPr>
          <p:cNvPr id="5" name="Shape 3"/>
          <p:cNvSpPr/>
          <p:nvPr/>
        </p:nvSpPr>
        <p:spPr>
          <a:xfrm>
            <a:off x="1737360" y="1737360"/>
            <a:ext cx="8686800" cy="1097280"/>
          </a:xfrm>
          <a:prstGeom prst="roundRect">
            <a:avLst>
              <a:gd name="adj" fmla="val 8333"/>
            </a:avLst>
          </a:prstGeom>
          <a:solidFill>
            <a:srgbClr val="0F3A5F"/>
          </a:solidFill>
          <a:ln w="19050">
            <a:solidFill>
              <a:srgbClr val="1C7293"/>
            </a:solidFill>
            <a:prstDash val="solid"/>
          </a:ln>
        </p:spPr>
      </p:sp>
      <p:sp>
        <p:nvSpPr>
          <p:cNvPr id="6" name="Text 4"/>
          <p:cNvSpPr/>
          <p:nvPr/>
        </p:nvSpPr>
        <p:spPr>
          <a:xfrm>
            <a:off x="1737360" y="1737360"/>
            <a:ext cx="8686800" cy="1097280"/>
          </a:xfrm>
          <a:prstGeom prst="rect">
            <a:avLst/>
          </a:prstGeom>
          <a:noFill/>
          <a:ln/>
        </p:spPr>
        <p:txBody>
          <a:bodyPr wrap="square" rtlCol="0" anchor="ctr"/>
          <a:lstStyle/>
          <a:p>
            <a:pPr marL="0" indent="0" algn="ctr">
              <a:buNone/>
            </a:pPr>
            <a:r>
              <a:rPr lang="en-US" sz="2800" b="1" dirty="0">
                <a:solidFill>
                  <a:srgbClr val="FFFFFF"/>
                </a:solidFill>
                <a:latin typeface="Courier New" pitchFamily="34" charset="0"/>
                <a:ea typeface="Courier New" pitchFamily="34" charset="-122"/>
                <a:cs typeface="Courier New" pitchFamily="34" charset="-120"/>
              </a:rPr>
              <a:t>y = 3.082 + 1.102x</a:t>
            </a:r>
            <a:endParaRPr lang="en-US" sz="2800" dirty="0"/>
          </a:p>
        </p:txBody>
      </p:sp>
      <p:sp>
        <p:nvSpPr>
          <p:cNvPr id="7" name="Shape 5"/>
          <p:cNvSpPr/>
          <p:nvPr/>
        </p:nvSpPr>
        <p:spPr>
          <a:xfrm>
            <a:off x="457200" y="3200400"/>
            <a:ext cx="3566160" cy="2743200"/>
          </a:xfrm>
          <a:prstGeom prst="roundRect">
            <a:avLst>
              <a:gd name="adj" fmla="val 3333"/>
            </a:avLst>
          </a:prstGeom>
          <a:solidFill>
            <a:srgbClr val="0F3A5F"/>
          </a:solidFill>
          <a:ln w="12700">
            <a:solidFill>
              <a:srgbClr val="1E4F73"/>
            </a:solidFill>
            <a:prstDash val="solid"/>
          </a:ln>
        </p:spPr>
      </p:sp>
      <p:sp>
        <p:nvSpPr>
          <p:cNvPr id="8" name="Shape 6"/>
          <p:cNvSpPr/>
          <p:nvPr/>
        </p:nvSpPr>
        <p:spPr>
          <a:xfrm>
            <a:off x="731520" y="3474720"/>
            <a:ext cx="502920" cy="502920"/>
          </a:xfrm>
          <a:prstGeom prst="ellipse">
            <a:avLst/>
          </a:prstGeom>
          <a:solidFill>
            <a:srgbClr val="F2A93B"/>
          </a:solidFill>
          <a:ln/>
        </p:spPr>
      </p:sp>
      <p:sp>
        <p:nvSpPr>
          <p:cNvPr id="9" name="Text 7"/>
          <p:cNvSpPr/>
          <p:nvPr/>
        </p:nvSpPr>
        <p:spPr>
          <a:xfrm>
            <a:off x="731520" y="3474720"/>
            <a:ext cx="502920" cy="502920"/>
          </a:xfrm>
          <a:prstGeom prst="rect">
            <a:avLst/>
          </a:prstGeom>
          <a:noFill/>
          <a:ln/>
        </p:spPr>
        <p:txBody>
          <a:bodyPr wrap="square" rtlCol="0" anchor="ctr"/>
          <a:lstStyle/>
          <a:p>
            <a:pPr marL="0" indent="0" algn="ctr">
              <a:buNone/>
            </a:pPr>
            <a:r>
              <a:rPr lang="en-US" sz="1600" b="1" dirty="0">
                <a:solidFill>
                  <a:srgbClr val="0B2A4A"/>
                </a:solidFill>
                <a:latin typeface="Calibri" pitchFamily="34" charset="0"/>
                <a:ea typeface="Calibri" pitchFamily="34" charset="-122"/>
                <a:cs typeface="Calibri" pitchFamily="34" charset="-120"/>
              </a:rPr>
              <a:t>1</a:t>
            </a:r>
            <a:endParaRPr lang="en-US" sz="1600" dirty="0"/>
          </a:p>
        </p:txBody>
      </p:sp>
      <p:sp>
        <p:nvSpPr>
          <p:cNvPr id="10" name="Text 8"/>
          <p:cNvSpPr/>
          <p:nvPr/>
        </p:nvSpPr>
        <p:spPr>
          <a:xfrm>
            <a:off x="731520" y="4114800"/>
            <a:ext cx="3017520" cy="548640"/>
          </a:xfrm>
          <a:prstGeom prst="rect">
            <a:avLst/>
          </a:prstGeom>
          <a:noFill/>
          <a:ln/>
        </p:spPr>
        <p:txBody>
          <a:bodyPr wrap="square" rtlCol="0" anchor="ctr"/>
          <a:lstStyle/>
          <a:p>
            <a:pPr marL="0" indent="0">
              <a:lnSpc>
                <a:spcPts val="1600"/>
              </a:lnSpc>
              <a:buNone/>
            </a:pPr>
            <a:r>
              <a:rPr lang="en-US" sz="1400" b="1" dirty="0">
                <a:solidFill>
                  <a:srgbClr val="FFFFFF"/>
                </a:solidFill>
                <a:latin typeface="Cambria" pitchFamily="34" charset="0"/>
                <a:ea typeface="Cambria" pitchFamily="34" charset="-122"/>
                <a:cs typeface="Cambria" pitchFamily="34" charset="-120"/>
              </a:rPr>
              <a:t>Slope interpretation</a:t>
            </a:r>
            <a:endParaRPr lang="en-US" sz="1400" dirty="0"/>
          </a:p>
        </p:txBody>
      </p:sp>
      <p:sp>
        <p:nvSpPr>
          <p:cNvPr id="11" name="Text 9"/>
          <p:cNvSpPr/>
          <p:nvPr/>
        </p:nvSpPr>
        <p:spPr>
          <a:xfrm>
            <a:off x="731520" y="4709160"/>
            <a:ext cx="3017520" cy="1097280"/>
          </a:xfrm>
          <a:prstGeom prst="rect">
            <a:avLst/>
          </a:prstGeom>
          <a:noFill/>
          <a:ln/>
        </p:spPr>
        <p:txBody>
          <a:bodyPr wrap="square" rtlCol="0" anchor="ctr"/>
          <a:lstStyle/>
          <a:p>
            <a:pPr marL="0" indent="0">
              <a:lnSpc>
                <a:spcPts val="1500"/>
              </a:lnSpc>
              <a:buNone/>
            </a:pPr>
            <a:r>
              <a:rPr lang="en-US" sz="1150" dirty="0">
                <a:solidFill>
                  <a:srgbClr val="D6E4EC"/>
                </a:solidFill>
                <a:latin typeface="Calibri" pitchFamily="34" charset="0"/>
                <a:ea typeface="Calibri" pitchFamily="34" charset="-122"/>
                <a:cs typeface="Calibri" pitchFamily="34" charset="-120"/>
              </a:rPr>
              <a:t>Each additional gram of fertilizer is associated with about 1.102 extra kg of tomato yield.</a:t>
            </a:r>
            <a:endParaRPr lang="en-US" sz="1150" dirty="0"/>
          </a:p>
        </p:txBody>
      </p:sp>
      <p:sp>
        <p:nvSpPr>
          <p:cNvPr id="12" name="Shape 10"/>
          <p:cNvSpPr/>
          <p:nvPr/>
        </p:nvSpPr>
        <p:spPr>
          <a:xfrm>
            <a:off x="4343400" y="3200400"/>
            <a:ext cx="3566160" cy="2743200"/>
          </a:xfrm>
          <a:prstGeom prst="roundRect">
            <a:avLst>
              <a:gd name="adj" fmla="val 3333"/>
            </a:avLst>
          </a:prstGeom>
          <a:solidFill>
            <a:srgbClr val="0F3A5F"/>
          </a:solidFill>
          <a:ln w="12700">
            <a:solidFill>
              <a:srgbClr val="1E4F73"/>
            </a:solidFill>
            <a:prstDash val="solid"/>
          </a:ln>
        </p:spPr>
      </p:sp>
      <p:sp>
        <p:nvSpPr>
          <p:cNvPr id="13" name="Shape 11"/>
          <p:cNvSpPr/>
          <p:nvPr/>
        </p:nvSpPr>
        <p:spPr>
          <a:xfrm>
            <a:off x="4617720" y="3474720"/>
            <a:ext cx="502920" cy="502920"/>
          </a:xfrm>
          <a:prstGeom prst="ellipse">
            <a:avLst/>
          </a:prstGeom>
          <a:solidFill>
            <a:srgbClr val="F2A93B"/>
          </a:solidFill>
          <a:ln/>
        </p:spPr>
      </p:sp>
      <p:sp>
        <p:nvSpPr>
          <p:cNvPr id="14" name="Text 12"/>
          <p:cNvSpPr/>
          <p:nvPr/>
        </p:nvSpPr>
        <p:spPr>
          <a:xfrm>
            <a:off x="4617720" y="3474720"/>
            <a:ext cx="502920" cy="502920"/>
          </a:xfrm>
          <a:prstGeom prst="rect">
            <a:avLst/>
          </a:prstGeom>
          <a:noFill/>
          <a:ln/>
        </p:spPr>
        <p:txBody>
          <a:bodyPr wrap="square" rtlCol="0" anchor="ctr"/>
          <a:lstStyle/>
          <a:p>
            <a:pPr marL="0" indent="0" algn="ctr">
              <a:buNone/>
            </a:pPr>
            <a:r>
              <a:rPr lang="en-US" sz="1600" b="1" dirty="0">
                <a:solidFill>
                  <a:srgbClr val="0B2A4A"/>
                </a:solidFill>
                <a:latin typeface="Calibri" pitchFamily="34" charset="0"/>
                <a:ea typeface="Calibri" pitchFamily="34" charset="-122"/>
                <a:cs typeface="Calibri" pitchFamily="34" charset="-120"/>
              </a:rPr>
              <a:t>2</a:t>
            </a:r>
            <a:endParaRPr lang="en-US" sz="1600" dirty="0"/>
          </a:p>
        </p:txBody>
      </p:sp>
      <p:sp>
        <p:nvSpPr>
          <p:cNvPr id="15" name="Text 13"/>
          <p:cNvSpPr/>
          <p:nvPr/>
        </p:nvSpPr>
        <p:spPr>
          <a:xfrm>
            <a:off x="4617720" y="4114800"/>
            <a:ext cx="3017520" cy="548640"/>
          </a:xfrm>
          <a:prstGeom prst="rect">
            <a:avLst/>
          </a:prstGeom>
          <a:noFill/>
          <a:ln/>
        </p:spPr>
        <p:txBody>
          <a:bodyPr wrap="square" rtlCol="0" anchor="ctr"/>
          <a:lstStyle/>
          <a:p>
            <a:pPr marL="0" indent="0">
              <a:lnSpc>
                <a:spcPts val="1600"/>
              </a:lnSpc>
              <a:buNone/>
            </a:pPr>
            <a:r>
              <a:rPr lang="en-US" sz="1400" b="1" dirty="0">
                <a:solidFill>
                  <a:srgbClr val="FFFFFF"/>
                </a:solidFill>
                <a:latin typeface="Cambria" pitchFamily="34" charset="0"/>
                <a:ea typeface="Cambria" pitchFamily="34" charset="-122"/>
                <a:cs typeface="Cambria" pitchFamily="34" charset="-120"/>
              </a:rPr>
              <a:t>Direction of the effect</a:t>
            </a:r>
            <a:endParaRPr lang="en-US" sz="1400" dirty="0"/>
          </a:p>
        </p:txBody>
      </p:sp>
      <p:sp>
        <p:nvSpPr>
          <p:cNvPr id="16" name="Text 14"/>
          <p:cNvSpPr/>
          <p:nvPr/>
        </p:nvSpPr>
        <p:spPr>
          <a:xfrm>
            <a:off x="4617720" y="4709160"/>
            <a:ext cx="3017520" cy="1097280"/>
          </a:xfrm>
          <a:prstGeom prst="rect">
            <a:avLst/>
          </a:prstGeom>
          <a:noFill/>
          <a:ln/>
        </p:spPr>
        <p:txBody>
          <a:bodyPr wrap="square" rtlCol="0" anchor="ctr"/>
          <a:lstStyle/>
          <a:p>
            <a:pPr marL="0" indent="0">
              <a:lnSpc>
                <a:spcPts val="1500"/>
              </a:lnSpc>
              <a:buNone/>
            </a:pPr>
            <a:r>
              <a:rPr lang="en-US" sz="1150" dirty="0">
                <a:solidFill>
                  <a:srgbClr val="D6E4EC"/>
                </a:solidFill>
                <a:latin typeface="Calibri" pitchFamily="34" charset="0"/>
                <a:ea typeface="Calibri" pitchFamily="34" charset="-122"/>
                <a:cs typeface="Calibri" pitchFamily="34" charset="-120"/>
              </a:rPr>
              <a:t>Since b is positive, the data supports the biologist's hypothesis — more fertilizer, more yield.</a:t>
            </a:r>
            <a:endParaRPr lang="en-US" sz="1150" dirty="0"/>
          </a:p>
        </p:txBody>
      </p:sp>
      <p:sp>
        <p:nvSpPr>
          <p:cNvPr id="17" name="Shape 15"/>
          <p:cNvSpPr/>
          <p:nvPr/>
        </p:nvSpPr>
        <p:spPr>
          <a:xfrm>
            <a:off x="8229600" y="3200400"/>
            <a:ext cx="3566160" cy="2743200"/>
          </a:xfrm>
          <a:prstGeom prst="roundRect">
            <a:avLst>
              <a:gd name="adj" fmla="val 3333"/>
            </a:avLst>
          </a:prstGeom>
          <a:solidFill>
            <a:srgbClr val="0F3A5F"/>
          </a:solidFill>
          <a:ln w="12700">
            <a:solidFill>
              <a:srgbClr val="1E4F73"/>
            </a:solidFill>
            <a:prstDash val="solid"/>
          </a:ln>
        </p:spPr>
      </p:sp>
      <p:sp>
        <p:nvSpPr>
          <p:cNvPr id="18" name="Shape 16"/>
          <p:cNvSpPr/>
          <p:nvPr/>
        </p:nvSpPr>
        <p:spPr>
          <a:xfrm>
            <a:off x="8503920" y="3474720"/>
            <a:ext cx="502920" cy="502920"/>
          </a:xfrm>
          <a:prstGeom prst="ellipse">
            <a:avLst/>
          </a:prstGeom>
          <a:solidFill>
            <a:srgbClr val="F2A93B"/>
          </a:solidFill>
          <a:ln/>
        </p:spPr>
      </p:sp>
      <p:sp>
        <p:nvSpPr>
          <p:cNvPr id="19" name="Text 17"/>
          <p:cNvSpPr/>
          <p:nvPr/>
        </p:nvSpPr>
        <p:spPr>
          <a:xfrm>
            <a:off x="8503920" y="3474720"/>
            <a:ext cx="502920" cy="502920"/>
          </a:xfrm>
          <a:prstGeom prst="rect">
            <a:avLst/>
          </a:prstGeom>
          <a:noFill/>
          <a:ln/>
        </p:spPr>
        <p:txBody>
          <a:bodyPr wrap="square" rtlCol="0" anchor="ctr"/>
          <a:lstStyle/>
          <a:p>
            <a:pPr marL="0" indent="0" algn="ctr">
              <a:buNone/>
            </a:pPr>
            <a:r>
              <a:rPr lang="en-US" sz="1600" b="1" dirty="0">
                <a:solidFill>
                  <a:srgbClr val="0B2A4A"/>
                </a:solidFill>
                <a:latin typeface="Calibri" pitchFamily="34" charset="0"/>
                <a:ea typeface="Calibri" pitchFamily="34" charset="-122"/>
                <a:cs typeface="Calibri" pitchFamily="34" charset="-120"/>
              </a:rPr>
              <a:t>3</a:t>
            </a:r>
            <a:endParaRPr lang="en-US" sz="1600" dirty="0"/>
          </a:p>
        </p:txBody>
      </p:sp>
      <p:sp>
        <p:nvSpPr>
          <p:cNvPr id="20" name="Text 18"/>
          <p:cNvSpPr/>
          <p:nvPr/>
        </p:nvSpPr>
        <p:spPr>
          <a:xfrm>
            <a:off x="8503920" y="4114800"/>
            <a:ext cx="3017520" cy="548640"/>
          </a:xfrm>
          <a:prstGeom prst="rect">
            <a:avLst/>
          </a:prstGeom>
          <a:noFill/>
          <a:ln/>
        </p:spPr>
        <p:txBody>
          <a:bodyPr wrap="square" rtlCol="0" anchor="ctr"/>
          <a:lstStyle/>
          <a:p>
            <a:pPr marL="0" indent="0">
              <a:lnSpc>
                <a:spcPts val="1600"/>
              </a:lnSpc>
              <a:buNone/>
            </a:pPr>
            <a:r>
              <a:rPr lang="en-US" sz="1400" b="1" dirty="0">
                <a:solidFill>
                  <a:srgbClr val="FFFFFF"/>
                </a:solidFill>
                <a:latin typeface="Cambria" pitchFamily="34" charset="0"/>
                <a:ea typeface="Cambria" pitchFamily="34" charset="-122"/>
                <a:cs typeface="Cambria" pitchFamily="34" charset="-120"/>
              </a:rPr>
              <a:t>What's next</a:t>
            </a:r>
            <a:endParaRPr lang="en-US" sz="1400" dirty="0"/>
          </a:p>
        </p:txBody>
      </p:sp>
      <p:sp>
        <p:nvSpPr>
          <p:cNvPr id="21" name="Text 19"/>
          <p:cNvSpPr/>
          <p:nvPr/>
        </p:nvSpPr>
        <p:spPr>
          <a:xfrm>
            <a:off x="8503920" y="4709160"/>
            <a:ext cx="3017520" cy="1097280"/>
          </a:xfrm>
          <a:prstGeom prst="rect">
            <a:avLst/>
          </a:prstGeom>
          <a:noFill/>
          <a:ln/>
        </p:spPr>
        <p:txBody>
          <a:bodyPr wrap="square" rtlCol="0" anchor="ctr"/>
          <a:lstStyle/>
          <a:p>
            <a:pPr marL="0" indent="0">
              <a:lnSpc>
                <a:spcPts val="1500"/>
              </a:lnSpc>
              <a:buNone/>
            </a:pPr>
            <a:r>
              <a:rPr lang="en-US" sz="1150" dirty="0">
                <a:solidFill>
                  <a:srgbClr val="D6E4EC"/>
                </a:solidFill>
                <a:latin typeface="Calibri" pitchFamily="34" charset="0"/>
                <a:ea typeface="Calibri" pitchFamily="34" charset="-122"/>
                <a:cs typeface="Calibri" pitchFamily="34" charset="-120"/>
              </a:rPr>
              <a:t>Use this equation to predict yield for any fertilizer amount — including the 3.2 g asked for in the problem.</a:t>
            </a:r>
            <a:endParaRPr lang="en-US" sz="1150" dirty="0"/>
          </a:p>
        </p:txBody>
      </p:sp>
      <p:sp>
        <p:nvSpPr>
          <p:cNvPr id="22" name="Text 20"/>
          <p:cNvSpPr/>
          <p:nvPr/>
        </p:nvSpPr>
        <p:spPr>
          <a:xfrm>
            <a:off x="457200" y="6537960"/>
            <a:ext cx="5486400" cy="274320"/>
          </a:xfrm>
          <a:prstGeom prst="rect">
            <a:avLst/>
          </a:prstGeom>
          <a:noFill/>
          <a:ln/>
        </p:spPr>
        <p:txBody>
          <a:bodyPr wrap="square" rtlCol="0" anchor="ctr"/>
          <a:lstStyle/>
          <a:p>
            <a:pPr marL="0" indent="0">
              <a:buNone/>
            </a:pPr>
            <a:r>
              <a:rPr lang="en-US" sz="900" i="1" dirty="0">
                <a:solidFill>
                  <a:srgbClr val="8FA6B3"/>
                </a:solidFill>
                <a:latin typeface="Calibri" pitchFamily="34" charset="0"/>
                <a:ea typeface="Calibri" pitchFamily="34" charset="-122"/>
                <a:cs typeface="Calibri" pitchFamily="34" charset="-120"/>
              </a:rPr>
              <a:t>Linear Regression · Fertilizer &amp; Yield</a:t>
            </a:r>
            <a:endParaRPr lang="en-US" sz="900" dirty="0"/>
          </a:p>
        </p:txBody>
      </p:sp>
      <p:sp>
        <p:nvSpPr>
          <p:cNvPr id="23" name="Text 21"/>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8FA6B3"/>
                </a:solidFill>
                <a:latin typeface="Calibri" pitchFamily="34" charset="0"/>
                <a:ea typeface="Calibri" pitchFamily="34" charset="-122"/>
                <a:cs typeface="Calibri" pitchFamily="34" charset="-120"/>
              </a:rPr>
              <a:t>8</a:t>
            </a:r>
            <a:endParaRPr lang="en-US" sz="9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9FA"/>
        </a:solidFill>
        <a:effectLst/>
      </p:bgPr>
    </p:bg>
    <p:spTree>
      <p:nvGrpSpPr>
        <p:cNvPr id="1" name=""/>
        <p:cNvGrpSpPr/>
        <p:nvPr/>
      </p:nvGrpSpPr>
      <p:grpSpPr>
        <a:xfrm>
          <a:off x="0" y="0"/>
          <a:ext cx="0" cy="0"/>
          <a:chOff x="0" y="0"/>
          <a:chExt cx="0" cy="0"/>
        </a:xfrm>
      </p:grpSpPr>
      <p:sp>
        <p:nvSpPr>
          <p:cNvPr id="2" name="Shape 0"/>
          <p:cNvSpPr/>
          <p:nvPr/>
        </p:nvSpPr>
        <p:spPr>
          <a:xfrm>
            <a:off x="457200" y="411480"/>
            <a:ext cx="2560320" cy="365760"/>
          </a:xfrm>
          <a:prstGeom prst="roundRect">
            <a:avLst>
              <a:gd name="adj" fmla="val 20000"/>
            </a:avLst>
          </a:prstGeom>
          <a:solidFill>
            <a:srgbClr val="E5F0F4"/>
          </a:solidFill>
          <a:ln/>
        </p:spPr>
      </p:sp>
      <p:sp>
        <p:nvSpPr>
          <p:cNvPr id="3" name="Text 1"/>
          <p:cNvSpPr/>
          <p:nvPr/>
        </p:nvSpPr>
        <p:spPr>
          <a:xfrm>
            <a:off x="457200" y="411480"/>
            <a:ext cx="2560320" cy="365760"/>
          </a:xfrm>
          <a:prstGeom prst="rect">
            <a:avLst/>
          </a:prstGeom>
          <a:noFill/>
          <a:ln/>
        </p:spPr>
        <p:txBody>
          <a:bodyPr wrap="square" rtlCol="0" anchor="ctr"/>
          <a:lstStyle/>
          <a:p>
            <a:pPr marL="0" indent="0" algn="ctr">
              <a:buNone/>
            </a:pPr>
            <a:r>
              <a:rPr lang="en-US" sz="1100" b="1" kern="0" spc="100" dirty="0">
                <a:solidFill>
                  <a:srgbClr val="065A82"/>
                </a:solidFill>
                <a:latin typeface="Calibri" pitchFamily="34" charset="0"/>
                <a:ea typeface="Calibri" pitchFamily="34" charset="-122"/>
                <a:cs typeface="Calibri" pitchFamily="34" charset="-120"/>
              </a:rPr>
              <a:t>PREDICTION</a:t>
            </a:r>
            <a:endParaRPr lang="en-US" sz="1100" dirty="0"/>
          </a:p>
        </p:txBody>
      </p:sp>
      <p:sp>
        <p:nvSpPr>
          <p:cNvPr id="4" name="Text 2"/>
          <p:cNvSpPr/>
          <p:nvPr/>
        </p:nvSpPr>
        <p:spPr>
          <a:xfrm>
            <a:off x="457200" y="868680"/>
            <a:ext cx="11247120" cy="685800"/>
          </a:xfrm>
          <a:prstGeom prst="rect">
            <a:avLst/>
          </a:prstGeom>
          <a:noFill/>
          <a:ln/>
        </p:spPr>
        <p:txBody>
          <a:bodyPr wrap="square" rtlCol="0" anchor="ctr"/>
          <a:lstStyle/>
          <a:p>
            <a:pPr marL="0" indent="0">
              <a:buNone/>
            </a:pPr>
            <a:r>
              <a:rPr lang="en-US" sz="2800" b="1" dirty="0">
                <a:solidFill>
                  <a:srgbClr val="0B2A4A"/>
                </a:solidFill>
                <a:latin typeface="Cambria" pitchFamily="34" charset="0"/>
                <a:ea typeface="Cambria" pitchFamily="34" charset="-122"/>
                <a:cs typeface="Cambria" pitchFamily="34" charset="-120"/>
              </a:rPr>
              <a:t>What Yield for 3.2 g of Fertilizer?</a:t>
            </a:r>
            <a:endParaRPr lang="en-US" sz="2800" dirty="0"/>
          </a:p>
        </p:txBody>
      </p:sp>
      <p:sp>
        <p:nvSpPr>
          <p:cNvPr id="5" name="Text 3"/>
          <p:cNvSpPr/>
          <p:nvPr/>
        </p:nvSpPr>
        <p:spPr>
          <a:xfrm>
            <a:off x="457200" y="1508760"/>
            <a:ext cx="11247120" cy="457200"/>
          </a:xfrm>
          <a:prstGeom prst="rect">
            <a:avLst/>
          </a:prstGeom>
          <a:noFill/>
          <a:ln/>
        </p:spPr>
        <p:txBody>
          <a:bodyPr wrap="square" rtlCol="0" anchor="ctr"/>
          <a:lstStyle/>
          <a:p>
            <a:pPr marL="0" indent="0">
              <a:buNone/>
            </a:pPr>
            <a:r>
              <a:rPr lang="en-US" sz="1400" dirty="0">
                <a:solidFill>
                  <a:srgbClr val="17232E"/>
                </a:solidFill>
                <a:latin typeface="Calibri" pitchFamily="34" charset="0"/>
                <a:ea typeface="Calibri" pitchFamily="34" charset="-122"/>
                <a:cs typeface="Calibri" pitchFamily="34" charset="-120"/>
              </a:rPr>
              <a:t>This is the second goal from the problem statement — plug x = 3.2 into our fitted equation.</a:t>
            </a:r>
            <a:endParaRPr lang="en-US" sz="1400" dirty="0"/>
          </a:p>
        </p:txBody>
      </p:sp>
      <p:sp>
        <p:nvSpPr>
          <p:cNvPr id="6" name="Shape 4"/>
          <p:cNvSpPr/>
          <p:nvPr/>
        </p:nvSpPr>
        <p:spPr>
          <a:xfrm>
            <a:off x="457200" y="2286000"/>
            <a:ext cx="2606040" cy="3291840"/>
          </a:xfrm>
          <a:prstGeom prst="roundRect">
            <a:avLst>
              <a:gd name="adj" fmla="val 3509"/>
            </a:avLst>
          </a:prstGeom>
          <a:solidFill>
            <a:srgbClr val="FFFFFF"/>
          </a:solidFill>
          <a:ln w="12700">
            <a:solidFill>
              <a:srgbClr val="D7E2E6"/>
            </a:solidFill>
            <a:prstDash val="solid"/>
          </a:ln>
          <a:effectLst>
            <a:outerShdw blurRad="76200" dist="25400" dir="5400000" algn="bl" rotWithShape="0">
              <a:srgbClr val="1A1A2E">
                <a:alpha val="10000"/>
              </a:srgbClr>
            </a:outerShdw>
          </a:effectLst>
        </p:spPr>
      </p:sp>
      <p:sp>
        <p:nvSpPr>
          <p:cNvPr id="7" name="Shape 5"/>
          <p:cNvSpPr/>
          <p:nvPr/>
        </p:nvSpPr>
        <p:spPr>
          <a:xfrm>
            <a:off x="1504188" y="2560320"/>
            <a:ext cx="512064" cy="512064"/>
          </a:xfrm>
          <a:prstGeom prst="ellipse">
            <a:avLst/>
          </a:prstGeom>
          <a:solidFill>
            <a:srgbClr val="E5F0F4"/>
          </a:solidFill>
          <a:ln/>
        </p:spPr>
      </p:sp>
      <p:sp>
        <p:nvSpPr>
          <p:cNvPr id="8" name="Text 6"/>
          <p:cNvSpPr/>
          <p:nvPr/>
        </p:nvSpPr>
        <p:spPr>
          <a:xfrm>
            <a:off x="1504188" y="2560320"/>
            <a:ext cx="512064" cy="512064"/>
          </a:xfrm>
          <a:prstGeom prst="rect">
            <a:avLst/>
          </a:prstGeom>
          <a:noFill/>
          <a:ln/>
        </p:spPr>
        <p:txBody>
          <a:bodyPr wrap="square" rtlCol="0" anchor="ctr"/>
          <a:lstStyle/>
          <a:p>
            <a:pPr marL="0" indent="0" algn="ctr">
              <a:buNone/>
            </a:pPr>
            <a:r>
              <a:rPr lang="en-US" sz="1600" b="1" dirty="0">
                <a:solidFill>
                  <a:srgbClr val="065A82"/>
                </a:solidFill>
                <a:latin typeface="Calibri" pitchFamily="34" charset="0"/>
                <a:ea typeface="Calibri" pitchFamily="34" charset="-122"/>
                <a:cs typeface="Calibri" pitchFamily="34" charset="-120"/>
              </a:rPr>
              <a:t>1</a:t>
            </a:r>
            <a:endParaRPr lang="en-US" sz="1600" dirty="0"/>
          </a:p>
        </p:txBody>
      </p:sp>
      <p:sp>
        <p:nvSpPr>
          <p:cNvPr id="9" name="Text 7"/>
          <p:cNvSpPr/>
          <p:nvPr/>
        </p:nvSpPr>
        <p:spPr>
          <a:xfrm>
            <a:off x="594360" y="3246120"/>
            <a:ext cx="2331720" cy="502920"/>
          </a:xfrm>
          <a:prstGeom prst="rect">
            <a:avLst/>
          </a:prstGeom>
          <a:noFill/>
          <a:ln/>
        </p:spPr>
        <p:txBody>
          <a:bodyPr wrap="square" rtlCol="0" anchor="ctr"/>
          <a:lstStyle/>
          <a:p>
            <a:pPr marL="0" indent="0" algn="ctr">
              <a:buNone/>
            </a:pPr>
            <a:r>
              <a:rPr lang="en-US" sz="1300" b="1" dirty="0">
                <a:solidFill>
                  <a:srgbClr val="0B2A4A"/>
                </a:solidFill>
                <a:latin typeface="Cambria" pitchFamily="34" charset="0"/>
                <a:ea typeface="Cambria" pitchFamily="34" charset="-122"/>
                <a:cs typeface="Cambria" pitchFamily="34" charset="-120"/>
              </a:rPr>
              <a:t>Fitted Equation</a:t>
            </a:r>
            <a:endParaRPr lang="en-US" sz="1300" dirty="0"/>
          </a:p>
        </p:txBody>
      </p:sp>
      <p:sp>
        <p:nvSpPr>
          <p:cNvPr id="10" name="Text 8"/>
          <p:cNvSpPr/>
          <p:nvPr/>
        </p:nvSpPr>
        <p:spPr>
          <a:xfrm>
            <a:off x="594360" y="3840480"/>
            <a:ext cx="2331720" cy="1463040"/>
          </a:xfrm>
          <a:prstGeom prst="rect">
            <a:avLst/>
          </a:prstGeom>
          <a:noFill/>
          <a:ln/>
        </p:spPr>
        <p:txBody>
          <a:bodyPr wrap="square" rtlCol="0" anchor="ctr"/>
          <a:lstStyle/>
          <a:p>
            <a:pPr marL="0" indent="0" algn="ctr">
              <a:lnSpc>
                <a:spcPts val="2000"/>
              </a:lnSpc>
              <a:buNone/>
            </a:pPr>
            <a:r>
              <a:rPr lang="en-US" sz="1250" dirty="0">
                <a:solidFill>
                  <a:srgbClr val="1C7293"/>
                </a:solidFill>
                <a:latin typeface="Courier New" pitchFamily="34" charset="0"/>
                <a:ea typeface="Courier New" pitchFamily="34" charset="-122"/>
                <a:cs typeface="Courier New" pitchFamily="34" charset="-120"/>
              </a:rPr>
              <a:t>y = 3.082 + 1.102x</a:t>
            </a:r>
            <a:endParaRPr lang="en-US" sz="1250" dirty="0"/>
          </a:p>
        </p:txBody>
      </p:sp>
      <p:sp>
        <p:nvSpPr>
          <p:cNvPr id="11" name="Shape 9"/>
          <p:cNvSpPr/>
          <p:nvPr/>
        </p:nvSpPr>
        <p:spPr>
          <a:xfrm>
            <a:off x="3090672" y="3931920"/>
            <a:ext cx="201168" cy="0"/>
          </a:xfrm>
          <a:prstGeom prst="line">
            <a:avLst/>
          </a:prstGeom>
          <a:noFill/>
          <a:ln w="25400">
            <a:solidFill>
              <a:srgbClr val="1C7293"/>
            </a:solidFill>
            <a:prstDash val="solid"/>
            <a:tailEnd type="triangle"/>
          </a:ln>
        </p:spPr>
      </p:sp>
      <p:sp>
        <p:nvSpPr>
          <p:cNvPr id="12" name="Shape 10"/>
          <p:cNvSpPr/>
          <p:nvPr/>
        </p:nvSpPr>
        <p:spPr>
          <a:xfrm>
            <a:off x="3319272" y="2286000"/>
            <a:ext cx="2606040" cy="3291840"/>
          </a:xfrm>
          <a:prstGeom prst="roundRect">
            <a:avLst>
              <a:gd name="adj" fmla="val 3509"/>
            </a:avLst>
          </a:prstGeom>
          <a:solidFill>
            <a:srgbClr val="FFFFFF"/>
          </a:solidFill>
          <a:ln w="12700">
            <a:solidFill>
              <a:srgbClr val="D7E2E6"/>
            </a:solidFill>
            <a:prstDash val="solid"/>
          </a:ln>
          <a:effectLst>
            <a:outerShdw blurRad="76200" dist="25400" dir="5400000" algn="bl" rotWithShape="0">
              <a:srgbClr val="1A1A2E">
                <a:alpha val="10000"/>
              </a:srgbClr>
            </a:outerShdw>
          </a:effectLst>
        </p:spPr>
      </p:sp>
      <p:sp>
        <p:nvSpPr>
          <p:cNvPr id="13" name="Shape 11"/>
          <p:cNvSpPr/>
          <p:nvPr/>
        </p:nvSpPr>
        <p:spPr>
          <a:xfrm>
            <a:off x="4366260" y="2560320"/>
            <a:ext cx="512064" cy="512064"/>
          </a:xfrm>
          <a:prstGeom prst="ellipse">
            <a:avLst/>
          </a:prstGeom>
          <a:solidFill>
            <a:srgbClr val="E5F0F4"/>
          </a:solidFill>
          <a:ln/>
        </p:spPr>
      </p:sp>
      <p:sp>
        <p:nvSpPr>
          <p:cNvPr id="14" name="Text 12"/>
          <p:cNvSpPr/>
          <p:nvPr/>
        </p:nvSpPr>
        <p:spPr>
          <a:xfrm>
            <a:off x="4366260" y="2560320"/>
            <a:ext cx="512064" cy="512064"/>
          </a:xfrm>
          <a:prstGeom prst="rect">
            <a:avLst/>
          </a:prstGeom>
          <a:noFill/>
          <a:ln/>
        </p:spPr>
        <p:txBody>
          <a:bodyPr wrap="square" rtlCol="0" anchor="ctr"/>
          <a:lstStyle/>
          <a:p>
            <a:pPr marL="0" indent="0" algn="ctr">
              <a:buNone/>
            </a:pPr>
            <a:r>
              <a:rPr lang="en-US" sz="1600" b="1" dirty="0">
                <a:solidFill>
                  <a:srgbClr val="065A82"/>
                </a:solidFill>
                <a:latin typeface="Calibri" pitchFamily="34" charset="0"/>
                <a:ea typeface="Calibri" pitchFamily="34" charset="-122"/>
                <a:cs typeface="Calibri" pitchFamily="34" charset="-120"/>
              </a:rPr>
              <a:t>2</a:t>
            </a:r>
            <a:endParaRPr lang="en-US" sz="1600" dirty="0"/>
          </a:p>
        </p:txBody>
      </p:sp>
      <p:sp>
        <p:nvSpPr>
          <p:cNvPr id="15" name="Text 13"/>
          <p:cNvSpPr/>
          <p:nvPr/>
        </p:nvSpPr>
        <p:spPr>
          <a:xfrm>
            <a:off x="3456432" y="3246120"/>
            <a:ext cx="2331720" cy="502920"/>
          </a:xfrm>
          <a:prstGeom prst="rect">
            <a:avLst/>
          </a:prstGeom>
          <a:noFill/>
          <a:ln/>
        </p:spPr>
        <p:txBody>
          <a:bodyPr wrap="square" rtlCol="0" anchor="ctr"/>
          <a:lstStyle/>
          <a:p>
            <a:pPr marL="0" indent="0" algn="ctr">
              <a:buNone/>
            </a:pPr>
            <a:r>
              <a:rPr lang="en-US" sz="1300" b="1" dirty="0">
                <a:solidFill>
                  <a:srgbClr val="0B2A4A"/>
                </a:solidFill>
                <a:latin typeface="Cambria" pitchFamily="34" charset="0"/>
                <a:ea typeface="Cambria" pitchFamily="34" charset="-122"/>
                <a:cs typeface="Cambria" pitchFamily="34" charset="-120"/>
              </a:rPr>
              <a:t>Substitute x = 3.2</a:t>
            </a:r>
            <a:endParaRPr lang="en-US" sz="1300" dirty="0"/>
          </a:p>
        </p:txBody>
      </p:sp>
      <p:sp>
        <p:nvSpPr>
          <p:cNvPr id="16" name="Text 14"/>
          <p:cNvSpPr/>
          <p:nvPr/>
        </p:nvSpPr>
        <p:spPr>
          <a:xfrm>
            <a:off x="3456432" y="3840480"/>
            <a:ext cx="2331720" cy="1463040"/>
          </a:xfrm>
          <a:prstGeom prst="rect">
            <a:avLst/>
          </a:prstGeom>
          <a:noFill/>
          <a:ln/>
        </p:spPr>
        <p:txBody>
          <a:bodyPr wrap="square" rtlCol="0" anchor="ctr"/>
          <a:lstStyle/>
          <a:p>
            <a:pPr marL="0" indent="0" algn="ctr">
              <a:lnSpc>
                <a:spcPts val="2000"/>
              </a:lnSpc>
              <a:buNone/>
            </a:pPr>
            <a:r>
              <a:rPr lang="en-US" sz="1250" dirty="0">
                <a:solidFill>
                  <a:srgbClr val="1C7293"/>
                </a:solidFill>
                <a:latin typeface="Courier New" pitchFamily="34" charset="0"/>
                <a:ea typeface="Courier New" pitchFamily="34" charset="-122"/>
                <a:cs typeface="Courier New" pitchFamily="34" charset="-120"/>
              </a:rPr>
              <a:t>y = 3.082 + 1.102×3.2</a:t>
            </a:r>
            <a:endParaRPr lang="en-US" sz="1250" dirty="0"/>
          </a:p>
        </p:txBody>
      </p:sp>
      <p:sp>
        <p:nvSpPr>
          <p:cNvPr id="17" name="Shape 15"/>
          <p:cNvSpPr/>
          <p:nvPr/>
        </p:nvSpPr>
        <p:spPr>
          <a:xfrm>
            <a:off x="5952744" y="3931920"/>
            <a:ext cx="201168" cy="0"/>
          </a:xfrm>
          <a:prstGeom prst="line">
            <a:avLst/>
          </a:prstGeom>
          <a:noFill/>
          <a:ln w="25400">
            <a:solidFill>
              <a:srgbClr val="1C7293"/>
            </a:solidFill>
            <a:prstDash val="solid"/>
            <a:tailEnd type="triangle"/>
          </a:ln>
        </p:spPr>
      </p:sp>
      <p:sp>
        <p:nvSpPr>
          <p:cNvPr id="18" name="Shape 16"/>
          <p:cNvSpPr/>
          <p:nvPr/>
        </p:nvSpPr>
        <p:spPr>
          <a:xfrm>
            <a:off x="6181344" y="2286000"/>
            <a:ext cx="2606040" cy="3291840"/>
          </a:xfrm>
          <a:prstGeom prst="roundRect">
            <a:avLst>
              <a:gd name="adj" fmla="val 3509"/>
            </a:avLst>
          </a:prstGeom>
          <a:solidFill>
            <a:srgbClr val="FFFFFF"/>
          </a:solidFill>
          <a:ln w="12700">
            <a:solidFill>
              <a:srgbClr val="D7E2E6"/>
            </a:solidFill>
            <a:prstDash val="solid"/>
          </a:ln>
          <a:effectLst>
            <a:outerShdw blurRad="76200" dist="25400" dir="5400000" algn="bl" rotWithShape="0">
              <a:srgbClr val="1A1A2E">
                <a:alpha val="10000"/>
              </a:srgbClr>
            </a:outerShdw>
          </a:effectLst>
        </p:spPr>
      </p:sp>
      <p:sp>
        <p:nvSpPr>
          <p:cNvPr id="19" name="Shape 17"/>
          <p:cNvSpPr/>
          <p:nvPr/>
        </p:nvSpPr>
        <p:spPr>
          <a:xfrm>
            <a:off x="7228332" y="2560320"/>
            <a:ext cx="512064" cy="512064"/>
          </a:xfrm>
          <a:prstGeom prst="ellipse">
            <a:avLst/>
          </a:prstGeom>
          <a:solidFill>
            <a:srgbClr val="E5F0F4"/>
          </a:solidFill>
          <a:ln/>
        </p:spPr>
      </p:sp>
      <p:sp>
        <p:nvSpPr>
          <p:cNvPr id="20" name="Text 18"/>
          <p:cNvSpPr/>
          <p:nvPr/>
        </p:nvSpPr>
        <p:spPr>
          <a:xfrm>
            <a:off x="7228332" y="2560320"/>
            <a:ext cx="512064" cy="512064"/>
          </a:xfrm>
          <a:prstGeom prst="rect">
            <a:avLst/>
          </a:prstGeom>
          <a:noFill/>
          <a:ln/>
        </p:spPr>
        <p:txBody>
          <a:bodyPr wrap="square" rtlCol="0" anchor="ctr"/>
          <a:lstStyle/>
          <a:p>
            <a:pPr marL="0" indent="0" algn="ctr">
              <a:buNone/>
            </a:pPr>
            <a:r>
              <a:rPr lang="en-US" sz="1600" b="1" dirty="0">
                <a:solidFill>
                  <a:srgbClr val="065A82"/>
                </a:solidFill>
                <a:latin typeface="Calibri" pitchFamily="34" charset="0"/>
                <a:ea typeface="Calibri" pitchFamily="34" charset="-122"/>
                <a:cs typeface="Calibri" pitchFamily="34" charset="-120"/>
              </a:rPr>
              <a:t>3</a:t>
            </a:r>
            <a:endParaRPr lang="en-US" sz="1600" dirty="0"/>
          </a:p>
        </p:txBody>
      </p:sp>
      <p:sp>
        <p:nvSpPr>
          <p:cNvPr id="21" name="Text 19"/>
          <p:cNvSpPr/>
          <p:nvPr/>
        </p:nvSpPr>
        <p:spPr>
          <a:xfrm>
            <a:off x="6318504" y="3246120"/>
            <a:ext cx="2331720" cy="502920"/>
          </a:xfrm>
          <a:prstGeom prst="rect">
            <a:avLst/>
          </a:prstGeom>
          <a:noFill/>
          <a:ln/>
        </p:spPr>
        <p:txBody>
          <a:bodyPr wrap="square" rtlCol="0" anchor="ctr"/>
          <a:lstStyle/>
          <a:p>
            <a:pPr marL="0" indent="0" algn="ctr">
              <a:buNone/>
            </a:pPr>
            <a:r>
              <a:rPr lang="en-US" sz="1300" b="1" dirty="0">
                <a:solidFill>
                  <a:srgbClr val="0B2A4A"/>
                </a:solidFill>
                <a:latin typeface="Cambria" pitchFamily="34" charset="0"/>
                <a:ea typeface="Cambria" pitchFamily="34" charset="-122"/>
                <a:cs typeface="Cambria" pitchFamily="34" charset="-120"/>
              </a:rPr>
              <a:t>Compute</a:t>
            </a:r>
            <a:endParaRPr lang="en-US" sz="1300" dirty="0"/>
          </a:p>
        </p:txBody>
      </p:sp>
      <p:sp>
        <p:nvSpPr>
          <p:cNvPr id="22" name="Text 20"/>
          <p:cNvSpPr/>
          <p:nvPr/>
        </p:nvSpPr>
        <p:spPr>
          <a:xfrm>
            <a:off x="6318504" y="3840480"/>
            <a:ext cx="2331720" cy="1463040"/>
          </a:xfrm>
          <a:prstGeom prst="rect">
            <a:avLst/>
          </a:prstGeom>
          <a:noFill/>
          <a:ln/>
        </p:spPr>
        <p:txBody>
          <a:bodyPr wrap="square" rtlCol="0" anchor="ctr"/>
          <a:lstStyle/>
          <a:p>
            <a:pPr marL="0" indent="0" algn="ctr">
              <a:lnSpc>
                <a:spcPts val="2000"/>
              </a:lnSpc>
              <a:buNone/>
            </a:pPr>
            <a:r>
              <a:rPr lang="en-US" sz="1250" dirty="0">
                <a:solidFill>
                  <a:srgbClr val="1C7293"/>
                </a:solidFill>
                <a:latin typeface="Courier New" pitchFamily="34" charset="0"/>
                <a:ea typeface="Courier New" pitchFamily="34" charset="-122"/>
                <a:cs typeface="Courier New" pitchFamily="34" charset="-120"/>
              </a:rPr>
              <a:t>y = 3.082 + 3.526</a:t>
            </a:r>
            <a:endParaRPr lang="en-US" sz="1250" dirty="0"/>
          </a:p>
        </p:txBody>
      </p:sp>
      <p:sp>
        <p:nvSpPr>
          <p:cNvPr id="23" name="Shape 21"/>
          <p:cNvSpPr/>
          <p:nvPr/>
        </p:nvSpPr>
        <p:spPr>
          <a:xfrm>
            <a:off x="8814816" y="3931920"/>
            <a:ext cx="201168" cy="0"/>
          </a:xfrm>
          <a:prstGeom prst="line">
            <a:avLst/>
          </a:prstGeom>
          <a:noFill/>
          <a:ln w="25400">
            <a:solidFill>
              <a:srgbClr val="1C7293"/>
            </a:solidFill>
            <a:prstDash val="solid"/>
            <a:tailEnd type="triangle"/>
          </a:ln>
        </p:spPr>
      </p:sp>
      <p:sp>
        <p:nvSpPr>
          <p:cNvPr id="24" name="Shape 22"/>
          <p:cNvSpPr/>
          <p:nvPr/>
        </p:nvSpPr>
        <p:spPr>
          <a:xfrm>
            <a:off x="9043416" y="2286000"/>
            <a:ext cx="2606040" cy="3291840"/>
          </a:xfrm>
          <a:prstGeom prst="roundRect">
            <a:avLst>
              <a:gd name="adj" fmla="val 3509"/>
            </a:avLst>
          </a:prstGeom>
          <a:solidFill>
            <a:srgbClr val="065A82"/>
          </a:solidFill>
          <a:ln w="12700">
            <a:solidFill>
              <a:srgbClr val="065A82"/>
            </a:solidFill>
            <a:prstDash val="solid"/>
          </a:ln>
          <a:effectLst>
            <a:outerShdw blurRad="76200" dist="25400" dir="5400000" algn="bl" rotWithShape="0">
              <a:srgbClr val="1A1A2E">
                <a:alpha val="10000"/>
              </a:srgbClr>
            </a:outerShdw>
          </a:effectLst>
        </p:spPr>
      </p:sp>
      <p:sp>
        <p:nvSpPr>
          <p:cNvPr id="25" name="Shape 23"/>
          <p:cNvSpPr/>
          <p:nvPr/>
        </p:nvSpPr>
        <p:spPr>
          <a:xfrm>
            <a:off x="10090404" y="2560320"/>
            <a:ext cx="512064" cy="512064"/>
          </a:xfrm>
          <a:prstGeom prst="ellipse">
            <a:avLst/>
          </a:prstGeom>
          <a:solidFill>
            <a:srgbClr val="F2A93B"/>
          </a:solidFill>
          <a:ln/>
        </p:spPr>
      </p:sp>
      <p:sp>
        <p:nvSpPr>
          <p:cNvPr id="26" name="Text 24"/>
          <p:cNvSpPr/>
          <p:nvPr/>
        </p:nvSpPr>
        <p:spPr>
          <a:xfrm>
            <a:off x="10090404" y="2560320"/>
            <a:ext cx="512064" cy="512064"/>
          </a:xfrm>
          <a:prstGeom prst="rect">
            <a:avLst/>
          </a:prstGeom>
          <a:noFill/>
          <a:ln/>
        </p:spPr>
        <p:txBody>
          <a:bodyPr wrap="square" rtlCol="0" anchor="ctr"/>
          <a:lstStyle/>
          <a:p>
            <a:pPr marL="0" indent="0" algn="ctr">
              <a:buNone/>
            </a:pPr>
            <a:r>
              <a:rPr lang="en-US" sz="1600" b="1" dirty="0">
                <a:solidFill>
                  <a:srgbClr val="0B2A4A"/>
                </a:solidFill>
                <a:latin typeface="Calibri" pitchFamily="34" charset="0"/>
                <a:ea typeface="Calibri" pitchFamily="34" charset="-122"/>
                <a:cs typeface="Calibri" pitchFamily="34" charset="-120"/>
              </a:rPr>
              <a:t>4</a:t>
            </a:r>
            <a:endParaRPr lang="en-US" sz="1600" dirty="0"/>
          </a:p>
        </p:txBody>
      </p:sp>
      <p:sp>
        <p:nvSpPr>
          <p:cNvPr id="27" name="Text 25"/>
          <p:cNvSpPr/>
          <p:nvPr/>
        </p:nvSpPr>
        <p:spPr>
          <a:xfrm>
            <a:off x="9180576" y="3246120"/>
            <a:ext cx="2331720" cy="502920"/>
          </a:xfrm>
          <a:prstGeom prst="rect">
            <a:avLst/>
          </a:prstGeom>
          <a:noFill/>
          <a:ln/>
        </p:spPr>
        <p:txBody>
          <a:bodyPr wrap="square"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Predicted Yield</a:t>
            </a:r>
            <a:endParaRPr lang="en-US" sz="1300" dirty="0"/>
          </a:p>
        </p:txBody>
      </p:sp>
      <p:sp>
        <p:nvSpPr>
          <p:cNvPr id="28" name="Text 26"/>
          <p:cNvSpPr/>
          <p:nvPr/>
        </p:nvSpPr>
        <p:spPr>
          <a:xfrm>
            <a:off x="9180576" y="3840480"/>
            <a:ext cx="2331720" cy="1463040"/>
          </a:xfrm>
          <a:prstGeom prst="rect">
            <a:avLst/>
          </a:prstGeom>
          <a:noFill/>
          <a:ln/>
        </p:spPr>
        <p:txBody>
          <a:bodyPr wrap="square" rtlCol="0" anchor="ctr"/>
          <a:lstStyle/>
          <a:p>
            <a:pPr marL="0" indent="0" algn="ctr">
              <a:lnSpc>
                <a:spcPts val="2000"/>
              </a:lnSpc>
              <a:buNone/>
            </a:pPr>
            <a:r>
              <a:rPr lang="en-US" sz="2000" b="1" dirty="0">
                <a:solidFill>
                  <a:srgbClr val="FFFFFF"/>
                </a:solidFill>
                <a:latin typeface="Courier New" pitchFamily="34" charset="0"/>
                <a:ea typeface="Courier New" pitchFamily="34" charset="-122"/>
                <a:cs typeface="Courier New" pitchFamily="34" charset="-120"/>
              </a:rPr>
              <a:t>y ≈ 6.61 kg</a:t>
            </a:r>
            <a:endParaRPr lang="en-US" sz="2000" dirty="0"/>
          </a:p>
        </p:txBody>
      </p:sp>
      <p:sp>
        <p:nvSpPr>
          <p:cNvPr id="29" name="Shape 27"/>
          <p:cNvSpPr/>
          <p:nvPr/>
        </p:nvSpPr>
        <p:spPr>
          <a:xfrm>
            <a:off x="457200" y="5943600"/>
            <a:ext cx="11247120" cy="548640"/>
          </a:xfrm>
          <a:prstGeom prst="roundRect">
            <a:avLst>
              <a:gd name="adj" fmla="val 13333"/>
            </a:avLst>
          </a:prstGeom>
          <a:solidFill>
            <a:srgbClr val="E5F0F4"/>
          </a:solidFill>
          <a:ln/>
        </p:spPr>
      </p:sp>
      <p:sp>
        <p:nvSpPr>
          <p:cNvPr id="30" name="Text 28"/>
          <p:cNvSpPr/>
          <p:nvPr/>
        </p:nvSpPr>
        <p:spPr>
          <a:xfrm>
            <a:off x="640080" y="5943600"/>
            <a:ext cx="10881360" cy="548640"/>
          </a:xfrm>
          <a:prstGeom prst="rect">
            <a:avLst/>
          </a:prstGeom>
          <a:noFill/>
          <a:ln/>
        </p:spPr>
        <p:txBody>
          <a:bodyPr wrap="square" rtlCol="0" anchor="ctr"/>
          <a:lstStyle/>
          <a:p>
            <a:pPr marL="0" indent="0">
              <a:buNone/>
            </a:pPr>
            <a:r>
              <a:rPr lang="en-US" sz="1300" b="1" dirty="0">
                <a:solidFill>
                  <a:srgbClr val="065A82"/>
                </a:solidFill>
                <a:latin typeface="Calibri" pitchFamily="34" charset="0"/>
                <a:ea typeface="Calibri" pitchFamily="34" charset="-122"/>
                <a:cs typeface="Calibri" pitchFamily="34" charset="-120"/>
              </a:rPr>
              <a:t>A plant treated with 3.2 g of fertilizer is predicted to yield approximately 6.61 kg of tomatoes.</a:t>
            </a:r>
            <a:endParaRPr lang="en-US" sz="1300" dirty="0"/>
          </a:p>
        </p:txBody>
      </p:sp>
      <p:sp>
        <p:nvSpPr>
          <p:cNvPr id="31" name="Text 29"/>
          <p:cNvSpPr/>
          <p:nvPr/>
        </p:nvSpPr>
        <p:spPr>
          <a:xfrm>
            <a:off x="457200" y="6537960"/>
            <a:ext cx="5486400" cy="274320"/>
          </a:xfrm>
          <a:prstGeom prst="rect">
            <a:avLst/>
          </a:prstGeom>
          <a:noFill/>
          <a:ln/>
        </p:spPr>
        <p:txBody>
          <a:bodyPr wrap="square" rtlCol="0" anchor="ctr"/>
          <a:lstStyle/>
          <a:p>
            <a:pPr marL="0" indent="0">
              <a:buNone/>
            </a:pPr>
            <a:r>
              <a:rPr lang="en-US" sz="900" i="1" dirty="0">
                <a:solidFill>
                  <a:srgbClr val="5C6B73"/>
                </a:solidFill>
                <a:latin typeface="Calibri" pitchFamily="34" charset="0"/>
                <a:ea typeface="Calibri" pitchFamily="34" charset="-122"/>
                <a:cs typeface="Calibri" pitchFamily="34" charset="-120"/>
              </a:rPr>
              <a:t>Linear Regression · Fertilizer &amp; Yield</a:t>
            </a:r>
            <a:endParaRPr lang="en-US" sz="900" dirty="0"/>
          </a:p>
        </p:txBody>
      </p:sp>
      <p:sp>
        <p:nvSpPr>
          <p:cNvPr id="32" name="Text 30"/>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5C6B73"/>
                </a:solidFill>
                <a:latin typeface="Calibri" pitchFamily="34" charset="0"/>
                <a:ea typeface="Calibri" pitchFamily="34" charset="-122"/>
                <a:cs typeface="Calibri" pitchFamily="34" charset="-120"/>
              </a:rPr>
              <a:t>9</a:t>
            </a:r>
            <a:endParaRPr lang="en-US" sz="9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9FA"/>
        </a:solidFill>
        <a:effectLst/>
      </p:bgPr>
    </p:bg>
    <p:spTree>
      <p:nvGrpSpPr>
        <p:cNvPr id="1" name=""/>
        <p:cNvGrpSpPr/>
        <p:nvPr/>
      </p:nvGrpSpPr>
      <p:grpSpPr>
        <a:xfrm>
          <a:off x="0" y="0"/>
          <a:ext cx="0" cy="0"/>
          <a:chOff x="0" y="0"/>
          <a:chExt cx="0" cy="0"/>
        </a:xfrm>
      </p:grpSpPr>
      <p:sp>
        <p:nvSpPr>
          <p:cNvPr id="2" name="Shape 0"/>
          <p:cNvSpPr/>
          <p:nvPr/>
        </p:nvSpPr>
        <p:spPr>
          <a:xfrm>
            <a:off x="457200" y="411480"/>
            <a:ext cx="2560320" cy="365760"/>
          </a:xfrm>
          <a:prstGeom prst="roundRect">
            <a:avLst>
              <a:gd name="adj" fmla="val 20000"/>
            </a:avLst>
          </a:prstGeom>
          <a:solidFill>
            <a:srgbClr val="E5F0F4"/>
          </a:solidFill>
          <a:ln/>
        </p:spPr>
      </p:sp>
      <p:sp>
        <p:nvSpPr>
          <p:cNvPr id="3" name="Text 1"/>
          <p:cNvSpPr/>
          <p:nvPr/>
        </p:nvSpPr>
        <p:spPr>
          <a:xfrm>
            <a:off x="457200" y="411480"/>
            <a:ext cx="2560320" cy="365760"/>
          </a:xfrm>
          <a:prstGeom prst="rect">
            <a:avLst/>
          </a:prstGeom>
          <a:noFill/>
          <a:ln/>
        </p:spPr>
        <p:txBody>
          <a:bodyPr wrap="square" rtlCol="0" anchor="ctr"/>
          <a:lstStyle/>
          <a:p>
            <a:pPr marL="0" indent="0" algn="ctr">
              <a:buNone/>
            </a:pPr>
            <a:r>
              <a:rPr lang="en-US" sz="1100" b="1" kern="0" spc="100" dirty="0">
                <a:solidFill>
                  <a:srgbClr val="065A82"/>
                </a:solidFill>
                <a:latin typeface="Calibri" pitchFamily="34" charset="0"/>
                <a:ea typeface="Calibri" pitchFamily="34" charset="-122"/>
                <a:cs typeface="Calibri" pitchFamily="34" charset="-120"/>
              </a:rPr>
              <a:t>VISUALIZING</a:t>
            </a:r>
            <a:endParaRPr lang="en-US" sz="1100" dirty="0"/>
          </a:p>
        </p:txBody>
      </p:sp>
      <p:sp>
        <p:nvSpPr>
          <p:cNvPr id="4" name="Text 2"/>
          <p:cNvSpPr/>
          <p:nvPr/>
        </p:nvSpPr>
        <p:spPr>
          <a:xfrm>
            <a:off x="457200" y="868680"/>
            <a:ext cx="11247120" cy="685800"/>
          </a:xfrm>
          <a:prstGeom prst="rect">
            <a:avLst/>
          </a:prstGeom>
          <a:noFill/>
          <a:ln/>
        </p:spPr>
        <p:txBody>
          <a:bodyPr wrap="square" rtlCol="0" anchor="ctr"/>
          <a:lstStyle/>
          <a:p>
            <a:pPr marL="0" indent="0">
              <a:buNone/>
            </a:pPr>
            <a:r>
              <a:rPr lang="en-US" sz="2800" b="1" dirty="0">
                <a:solidFill>
                  <a:srgbClr val="0B2A4A"/>
                </a:solidFill>
                <a:latin typeface="Cambria" pitchFamily="34" charset="0"/>
                <a:ea typeface="Cambria" pitchFamily="34" charset="-122"/>
                <a:cs typeface="Cambria" pitchFamily="34" charset="-120"/>
              </a:rPr>
              <a:t>The Data, the Line, and the Prediction</a:t>
            </a:r>
            <a:endParaRPr lang="en-US" sz="2800" dirty="0"/>
          </a:p>
        </p:txBody>
      </p:sp>
      <p:sp>
        <p:nvSpPr>
          <p:cNvPr id="5" name="Text 3"/>
          <p:cNvSpPr/>
          <p:nvPr/>
        </p:nvSpPr>
        <p:spPr>
          <a:xfrm>
            <a:off x="457200" y="1508760"/>
            <a:ext cx="11247120" cy="457200"/>
          </a:xfrm>
          <a:prstGeom prst="rect">
            <a:avLst/>
          </a:prstGeom>
          <a:noFill/>
          <a:ln/>
        </p:spPr>
        <p:txBody>
          <a:bodyPr wrap="square" rtlCol="0" anchor="ctr"/>
          <a:lstStyle/>
          <a:p>
            <a:pPr marL="0" indent="0">
              <a:buNone/>
            </a:pPr>
            <a:r>
              <a:rPr lang="en-US" sz="1400" dirty="0">
                <a:solidFill>
                  <a:srgbClr val="17232E"/>
                </a:solidFill>
                <a:latin typeface="Calibri" pitchFamily="34" charset="0"/>
                <a:ea typeface="Calibri" pitchFamily="34" charset="-122"/>
                <a:cs typeface="Calibri" pitchFamily="34" charset="-120"/>
              </a:rPr>
              <a:t>The orange line is our fitted regression. The highlighted point shows the new prediction at x = 3.2 g.</a:t>
            </a:r>
            <a:endParaRPr lang="en-US" sz="1400" dirty="0"/>
          </a:p>
        </p:txBody>
      </p:sp>
      <p:sp>
        <p:nvSpPr>
          <p:cNvPr id="6" name="Shape 4"/>
          <p:cNvSpPr/>
          <p:nvPr/>
        </p:nvSpPr>
        <p:spPr>
          <a:xfrm>
            <a:off x="2377440" y="2103120"/>
            <a:ext cx="7406640" cy="3931920"/>
          </a:xfrm>
          <a:prstGeom prst="roundRect">
            <a:avLst>
              <a:gd name="adj" fmla="val 1860"/>
            </a:avLst>
          </a:prstGeom>
          <a:solidFill>
            <a:srgbClr val="FFFFFF"/>
          </a:solidFill>
          <a:ln w="12700">
            <a:solidFill>
              <a:srgbClr val="D7E2E6"/>
            </a:solidFill>
            <a:prstDash val="solid"/>
          </a:ln>
        </p:spPr>
      </p:sp>
      <p:sp>
        <p:nvSpPr>
          <p:cNvPr id="7" name="Text 5"/>
          <p:cNvSpPr/>
          <p:nvPr/>
        </p:nvSpPr>
        <p:spPr>
          <a:xfrm>
            <a:off x="2560320" y="2212848"/>
            <a:ext cx="7040880" cy="320040"/>
          </a:xfrm>
          <a:prstGeom prst="rect">
            <a:avLst/>
          </a:prstGeom>
          <a:noFill/>
          <a:ln/>
        </p:spPr>
        <p:txBody>
          <a:bodyPr wrap="square" rtlCol="0" anchor="ctr"/>
          <a:lstStyle/>
          <a:p>
            <a:pPr marL="0" indent="0">
              <a:buNone/>
            </a:pPr>
            <a:r>
              <a:rPr lang="en-US" sz="1200" b="1" dirty="0">
                <a:solidFill>
                  <a:srgbClr val="0B2A4A"/>
                </a:solidFill>
                <a:latin typeface="Calibri" pitchFamily="34" charset="0"/>
                <a:ea typeface="Calibri" pitchFamily="34" charset="-122"/>
                <a:cs typeface="Calibri" pitchFamily="34" charset="-120"/>
              </a:rPr>
              <a:t>Fitted Line:  y = 3.082 + 1.102x</a:t>
            </a:r>
            <a:endParaRPr lang="en-US" sz="1200" dirty="0"/>
          </a:p>
        </p:txBody>
      </p:sp>
      <p:sp>
        <p:nvSpPr>
          <p:cNvPr id="8" name="Shape 6"/>
          <p:cNvSpPr/>
          <p:nvPr/>
        </p:nvSpPr>
        <p:spPr>
          <a:xfrm>
            <a:off x="2880360" y="5623560"/>
            <a:ext cx="6537960" cy="0"/>
          </a:xfrm>
          <a:prstGeom prst="line">
            <a:avLst/>
          </a:prstGeom>
          <a:noFill/>
          <a:ln w="15875">
            <a:solidFill>
              <a:srgbClr val="5C6B73"/>
            </a:solidFill>
            <a:prstDash val="solid"/>
          </a:ln>
        </p:spPr>
      </p:sp>
      <p:sp>
        <p:nvSpPr>
          <p:cNvPr id="9" name="Shape 7"/>
          <p:cNvSpPr/>
          <p:nvPr/>
        </p:nvSpPr>
        <p:spPr>
          <a:xfrm>
            <a:off x="2880360" y="2560320"/>
            <a:ext cx="0" cy="3063240"/>
          </a:xfrm>
          <a:prstGeom prst="line">
            <a:avLst/>
          </a:prstGeom>
          <a:noFill/>
          <a:ln w="15875">
            <a:solidFill>
              <a:srgbClr val="5C6B73"/>
            </a:solidFill>
            <a:prstDash val="solid"/>
          </a:ln>
        </p:spPr>
      </p:sp>
      <p:sp>
        <p:nvSpPr>
          <p:cNvPr id="10" name="Shape 8"/>
          <p:cNvSpPr/>
          <p:nvPr/>
        </p:nvSpPr>
        <p:spPr>
          <a:xfrm flipV="1">
            <a:off x="2880360" y="2738863"/>
            <a:ext cx="6537960" cy="2411207"/>
          </a:xfrm>
          <a:prstGeom prst="line">
            <a:avLst/>
          </a:prstGeom>
          <a:noFill/>
          <a:ln w="31750">
            <a:solidFill>
              <a:srgbClr val="F2A93B"/>
            </a:solidFill>
            <a:prstDash val="solid"/>
          </a:ln>
        </p:spPr>
      </p:sp>
      <p:sp>
        <p:nvSpPr>
          <p:cNvPr id="11" name="Shape 9"/>
          <p:cNvSpPr/>
          <p:nvPr/>
        </p:nvSpPr>
        <p:spPr>
          <a:xfrm>
            <a:off x="4133088" y="4605963"/>
            <a:ext cx="109728" cy="109728"/>
          </a:xfrm>
          <a:prstGeom prst="ellipse">
            <a:avLst/>
          </a:prstGeom>
          <a:solidFill>
            <a:srgbClr val="1C7293"/>
          </a:solidFill>
          <a:ln/>
        </p:spPr>
      </p:sp>
      <p:sp>
        <p:nvSpPr>
          <p:cNvPr id="12" name="Shape 10"/>
          <p:cNvSpPr/>
          <p:nvPr/>
        </p:nvSpPr>
        <p:spPr>
          <a:xfrm>
            <a:off x="4133088" y="4605963"/>
            <a:ext cx="109728" cy="109728"/>
          </a:xfrm>
          <a:prstGeom prst="ellipse">
            <a:avLst/>
          </a:prstGeom>
          <a:solidFill>
            <a:srgbClr val="1C7293"/>
          </a:solidFill>
          <a:ln/>
        </p:spPr>
      </p:sp>
      <p:sp>
        <p:nvSpPr>
          <p:cNvPr id="13" name="Shape 11"/>
          <p:cNvSpPr/>
          <p:nvPr/>
        </p:nvSpPr>
        <p:spPr>
          <a:xfrm>
            <a:off x="6094476" y="3905794"/>
            <a:ext cx="109728" cy="109728"/>
          </a:xfrm>
          <a:prstGeom prst="ellipse">
            <a:avLst/>
          </a:prstGeom>
          <a:solidFill>
            <a:srgbClr val="1C7293"/>
          </a:solidFill>
          <a:ln/>
        </p:spPr>
      </p:sp>
      <p:sp>
        <p:nvSpPr>
          <p:cNvPr id="14" name="Shape 12"/>
          <p:cNvSpPr/>
          <p:nvPr/>
        </p:nvSpPr>
        <p:spPr>
          <a:xfrm>
            <a:off x="6748272" y="3643231"/>
            <a:ext cx="109728" cy="109728"/>
          </a:xfrm>
          <a:prstGeom prst="ellipse">
            <a:avLst/>
          </a:prstGeom>
          <a:solidFill>
            <a:srgbClr val="1C7293"/>
          </a:solidFill>
          <a:ln/>
        </p:spPr>
      </p:sp>
      <p:sp>
        <p:nvSpPr>
          <p:cNvPr id="15" name="Shape 13"/>
          <p:cNvSpPr/>
          <p:nvPr/>
        </p:nvSpPr>
        <p:spPr>
          <a:xfrm>
            <a:off x="6748272" y="3643231"/>
            <a:ext cx="109728" cy="109728"/>
          </a:xfrm>
          <a:prstGeom prst="ellipse">
            <a:avLst/>
          </a:prstGeom>
          <a:solidFill>
            <a:srgbClr val="1C7293"/>
          </a:solidFill>
          <a:ln/>
        </p:spPr>
      </p:sp>
      <p:sp>
        <p:nvSpPr>
          <p:cNvPr id="16" name="Shape 14"/>
          <p:cNvSpPr/>
          <p:nvPr/>
        </p:nvSpPr>
        <p:spPr>
          <a:xfrm>
            <a:off x="7402068" y="3424428"/>
            <a:ext cx="109728" cy="109728"/>
          </a:xfrm>
          <a:prstGeom prst="ellipse">
            <a:avLst/>
          </a:prstGeom>
          <a:solidFill>
            <a:srgbClr val="1C7293"/>
          </a:solidFill>
          <a:ln/>
        </p:spPr>
      </p:sp>
      <p:sp>
        <p:nvSpPr>
          <p:cNvPr id="17" name="Shape 15"/>
          <p:cNvSpPr/>
          <p:nvPr/>
        </p:nvSpPr>
        <p:spPr>
          <a:xfrm>
            <a:off x="7402068" y="3424428"/>
            <a:ext cx="109728" cy="109728"/>
          </a:xfrm>
          <a:prstGeom prst="ellipse">
            <a:avLst/>
          </a:prstGeom>
          <a:solidFill>
            <a:srgbClr val="1C7293"/>
          </a:solidFill>
          <a:ln/>
        </p:spPr>
      </p:sp>
      <p:sp>
        <p:nvSpPr>
          <p:cNvPr id="18" name="Shape 16"/>
          <p:cNvSpPr/>
          <p:nvPr/>
        </p:nvSpPr>
        <p:spPr>
          <a:xfrm>
            <a:off x="8709660" y="2899301"/>
            <a:ext cx="109728" cy="109728"/>
          </a:xfrm>
          <a:prstGeom prst="ellipse">
            <a:avLst/>
          </a:prstGeom>
          <a:solidFill>
            <a:srgbClr val="1C7293"/>
          </a:solidFill>
          <a:ln/>
        </p:spPr>
      </p:sp>
      <p:sp>
        <p:nvSpPr>
          <p:cNvPr id="19" name="Shape 17"/>
          <p:cNvSpPr/>
          <p:nvPr/>
        </p:nvSpPr>
        <p:spPr>
          <a:xfrm>
            <a:off x="6986930" y="3528474"/>
            <a:ext cx="155448" cy="155448"/>
          </a:xfrm>
          <a:prstGeom prst="ellipse">
            <a:avLst/>
          </a:prstGeom>
          <a:solidFill>
            <a:srgbClr val="C0392B"/>
          </a:solidFill>
          <a:ln w="19050">
            <a:solidFill>
              <a:srgbClr val="FFFFFF"/>
            </a:solidFill>
            <a:prstDash val="solid"/>
          </a:ln>
        </p:spPr>
      </p:sp>
      <p:sp>
        <p:nvSpPr>
          <p:cNvPr id="20" name="Text 18"/>
          <p:cNvSpPr/>
          <p:nvPr/>
        </p:nvSpPr>
        <p:spPr>
          <a:xfrm>
            <a:off x="6698894" y="3240438"/>
            <a:ext cx="1463040" cy="274320"/>
          </a:xfrm>
          <a:prstGeom prst="rect">
            <a:avLst/>
          </a:prstGeom>
          <a:noFill/>
          <a:ln/>
        </p:spPr>
        <p:txBody>
          <a:bodyPr wrap="square" rtlCol="0" anchor="ctr"/>
          <a:lstStyle/>
          <a:p>
            <a:pPr marL="0" indent="0">
              <a:buNone/>
            </a:pPr>
            <a:r>
              <a:rPr lang="en-US" sz="1050" b="1" dirty="0">
                <a:solidFill>
                  <a:srgbClr val="C0392B"/>
                </a:solidFill>
                <a:latin typeface="Calibri" pitchFamily="34" charset="0"/>
                <a:ea typeface="Calibri" pitchFamily="34" charset="-122"/>
                <a:cs typeface="Calibri" pitchFamily="34" charset="-120"/>
              </a:rPr>
              <a:t>(3.2, 6.61)</a:t>
            </a:r>
            <a:endParaRPr lang="en-US" sz="1050" dirty="0"/>
          </a:p>
        </p:txBody>
      </p:sp>
      <p:sp>
        <p:nvSpPr>
          <p:cNvPr id="21" name="Text 19"/>
          <p:cNvSpPr/>
          <p:nvPr/>
        </p:nvSpPr>
        <p:spPr>
          <a:xfrm>
            <a:off x="5120640" y="5779008"/>
            <a:ext cx="2286000" cy="274320"/>
          </a:xfrm>
          <a:prstGeom prst="rect">
            <a:avLst/>
          </a:prstGeom>
          <a:noFill/>
          <a:ln/>
        </p:spPr>
        <p:txBody>
          <a:bodyPr wrap="square" rtlCol="0" anchor="ctr"/>
          <a:lstStyle/>
          <a:p>
            <a:pPr marL="0" indent="0">
              <a:buNone/>
            </a:pPr>
            <a:r>
              <a:rPr lang="en-US" sz="1000" dirty="0">
                <a:solidFill>
                  <a:srgbClr val="5C6B73"/>
                </a:solidFill>
                <a:latin typeface="Calibri" pitchFamily="34" charset="0"/>
                <a:ea typeface="Calibri" pitchFamily="34" charset="-122"/>
                <a:cs typeface="Calibri" pitchFamily="34" charset="-120"/>
              </a:rPr>
              <a:t>Fertilizer (g) →</a:t>
            </a:r>
            <a:endParaRPr lang="en-US" sz="1000" dirty="0"/>
          </a:p>
        </p:txBody>
      </p:sp>
      <p:sp>
        <p:nvSpPr>
          <p:cNvPr id="22" name="Text 20"/>
          <p:cNvSpPr/>
          <p:nvPr/>
        </p:nvSpPr>
        <p:spPr>
          <a:xfrm>
            <a:off x="2514600" y="2560320"/>
            <a:ext cx="822960" cy="457200"/>
          </a:xfrm>
          <a:prstGeom prst="rect">
            <a:avLst/>
          </a:prstGeom>
          <a:noFill/>
          <a:ln/>
        </p:spPr>
        <p:txBody>
          <a:bodyPr wrap="square" rtlCol="0" anchor="ctr"/>
          <a:lstStyle/>
          <a:p>
            <a:pPr marL="0" indent="0">
              <a:buNone/>
            </a:pPr>
            <a:r>
              <a:rPr lang="en-US" sz="1000" dirty="0">
                <a:solidFill>
                  <a:srgbClr val="5C6B73"/>
                </a:solidFill>
                <a:latin typeface="Calibri" pitchFamily="34" charset="0"/>
                <a:ea typeface="Calibri" pitchFamily="34" charset="-122"/>
                <a:cs typeface="Calibri" pitchFamily="34" charset="-120"/>
              </a:rPr>
              <a:t>Yield</a:t>
            </a:r>
            <a:endParaRPr lang="en-US" sz="1000" dirty="0"/>
          </a:p>
          <a:p>
            <a:pPr marL="0" indent="0">
              <a:buNone/>
            </a:pPr>
            <a:r>
              <a:rPr lang="en-US" sz="1000" dirty="0">
                <a:solidFill>
                  <a:srgbClr val="5C6B73"/>
                </a:solidFill>
                <a:latin typeface="Calibri" pitchFamily="34" charset="0"/>
                <a:ea typeface="Calibri" pitchFamily="34" charset="-122"/>
                <a:cs typeface="Calibri" pitchFamily="34" charset="-120"/>
              </a:rPr>
              <a:t>(kg)</a:t>
            </a:r>
            <a:endParaRPr lang="en-US" sz="1000" dirty="0"/>
          </a:p>
        </p:txBody>
      </p:sp>
      <p:sp>
        <p:nvSpPr>
          <p:cNvPr id="23" name="Shape 21"/>
          <p:cNvSpPr/>
          <p:nvPr/>
        </p:nvSpPr>
        <p:spPr>
          <a:xfrm>
            <a:off x="457200" y="6172200"/>
            <a:ext cx="11247120" cy="502920"/>
          </a:xfrm>
          <a:prstGeom prst="roundRect">
            <a:avLst>
              <a:gd name="adj" fmla="val 14545"/>
            </a:avLst>
          </a:prstGeom>
          <a:solidFill>
            <a:srgbClr val="E5F0F4"/>
          </a:solidFill>
          <a:ln/>
        </p:spPr>
      </p:sp>
      <p:sp>
        <p:nvSpPr>
          <p:cNvPr id="24" name="Text 22"/>
          <p:cNvSpPr/>
          <p:nvPr/>
        </p:nvSpPr>
        <p:spPr>
          <a:xfrm>
            <a:off x="640080" y="6172200"/>
            <a:ext cx="10881360" cy="502920"/>
          </a:xfrm>
          <a:prstGeom prst="rect">
            <a:avLst/>
          </a:prstGeom>
          <a:noFill/>
          <a:ln/>
        </p:spPr>
        <p:txBody>
          <a:bodyPr wrap="square" rtlCol="0" anchor="ctr"/>
          <a:lstStyle/>
          <a:p>
            <a:pPr marL="0" indent="0">
              <a:buNone/>
            </a:pPr>
            <a:r>
              <a:rPr lang="en-US" sz="1250" b="1" dirty="0">
                <a:solidFill>
                  <a:srgbClr val="065A82"/>
                </a:solidFill>
                <a:latin typeface="Calibri" pitchFamily="34" charset="0"/>
                <a:ea typeface="Calibri" pitchFamily="34" charset="-122"/>
                <a:cs typeface="Calibri" pitchFamily="34" charset="-120"/>
              </a:rPr>
              <a:t>The predicted point sits right on the line — that's what “prediction from the regression equation” means.</a:t>
            </a:r>
            <a:endParaRPr lang="en-US" sz="1250" dirty="0"/>
          </a:p>
        </p:txBody>
      </p:sp>
      <p:sp>
        <p:nvSpPr>
          <p:cNvPr id="25" name="Text 23"/>
          <p:cNvSpPr/>
          <p:nvPr/>
        </p:nvSpPr>
        <p:spPr>
          <a:xfrm>
            <a:off x="457200" y="6537960"/>
            <a:ext cx="5486400" cy="274320"/>
          </a:xfrm>
          <a:prstGeom prst="rect">
            <a:avLst/>
          </a:prstGeom>
          <a:noFill/>
          <a:ln/>
        </p:spPr>
        <p:txBody>
          <a:bodyPr wrap="square" rtlCol="0" anchor="ctr"/>
          <a:lstStyle/>
          <a:p>
            <a:pPr marL="0" indent="0">
              <a:buNone/>
            </a:pPr>
            <a:r>
              <a:rPr lang="en-US" sz="900" i="1" dirty="0">
                <a:solidFill>
                  <a:srgbClr val="5C6B73"/>
                </a:solidFill>
                <a:latin typeface="Calibri" pitchFamily="34" charset="0"/>
                <a:ea typeface="Calibri" pitchFamily="34" charset="-122"/>
                <a:cs typeface="Calibri" pitchFamily="34" charset="-120"/>
              </a:rPr>
              <a:t>Linear Regression · Fertilizer &amp; Yield</a:t>
            </a:r>
            <a:endParaRPr lang="en-US" sz="900" dirty="0"/>
          </a:p>
        </p:txBody>
      </p:sp>
      <p:sp>
        <p:nvSpPr>
          <p:cNvPr id="26" name="Text 24"/>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5C6B73"/>
                </a:solidFill>
                <a:latin typeface="Calibri" pitchFamily="34" charset="0"/>
                <a:ea typeface="Calibri" pitchFamily="34" charset="-122"/>
                <a:cs typeface="Calibri" pitchFamily="34" charset="-120"/>
              </a:rPr>
              <a:t>10</a:t>
            </a:r>
            <a:endParaRPr lang="en-US" sz="9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9FA"/>
        </a:solidFill>
        <a:effectLst/>
      </p:bgPr>
    </p:bg>
    <p:spTree>
      <p:nvGrpSpPr>
        <p:cNvPr id="1" name=""/>
        <p:cNvGrpSpPr/>
        <p:nvPr/>
      </p:nvGrpSpPr>
      <p:grpSpPr>
        <a:xfrm>
          <a:off x="0" y="0"/>
          <a:ext cx="0" cy="0"/>
          <a:chOff x="0" y="0"/>
          <a:chExt cx="0" cy="0"/>
        </a:xfrm>
      </p:grpSpPr>
      <p:sp>
        <p:nvSpPr>
          <p:cNvPr id="2" name="Shape 0"/>
          <p:cNvSpPr/>
          <p:nvPr/>
        </p:nvSpPr>
        <p:spPr>
          <a:xfrm>
            <a:off x="457200" y="411480"/>
            <a:ext cx="2560320" cy="365760"/>
          </a:xfrm>
          <a:prstGeom prst="roundRect">
            <a:avLst>
              <a:gd name="adj" fmla="val 20000"/>
            </a:avLst>
          </a:prstGeom>
          <a:solidFill>
            <a:srgbClr val="E5F0F4"/>
          </a:solidFill>
          <a:ln/>
        </p:spPr>
      </p:sp>
      <p:sp>
        <p:nvSpPr>
          <p:cNvPr id="3" name="Text 1"/>
          <p:cNvSpPr/>
          <p:nvPr/>
        </p:nvSpPr>
        <p:spPr>
          <a:xfrm>
            <a:off x="457200" y="411480"/>
            <a:ext cx="2560320" cy="365760"/>
          </a:xfrm>
          <a:prstGeom prst="rect">
            <a:avLst/>
          </a:prstGeom>
          <a:noFill/>
          <a:ln/>
        </p:spPr>
        <p:txBody>
          <a:bodyPr wrap="square" rtlCol="0" anchor="ctr"/>
          <a:lstStyle/>
          <a:p>
            <a:pPr marL="0" indent="0" algn="ctr">
              <a:buNone/>
            </a:pPr>
            <a:r>
              <a:rPr lang="en-US" sz="1100" b="1" kern="0" spc="100" dirty="0">
                <a:solidFill>
                  <a:srgbClr val="065A82"/>
                </a:solidFill>
                <a:latin typeface="Calibri" pitchFamily="34" charset="0"/>
                <a:ea typeface="Calibri" pitchFamily="34" charset="-122"/>
                <a:cs typeface="Calibri" pitchFamily="34" charset="-120"/>
              </a:rPr>
              <a:t>SUMMARY</a:t>
            </a:r>
            <a:endParaRPr lang="en-US" sz="1100" dirty="0"/>
          </a:p>
        </p:txBody>
      </p:sp>
      <p:sp>
        <p:nvSpPr>
          <p:cNvPr id="4" name="Text 2"/>
          <p:cNvSpPr/>
          <p:nvPr/>
        </p:nvSpPr>
        <p:spPr>
          <a:xfrm>
            <a:off x="457200" y="868680"/>
            <a:ext cx="11247120" cy="685800"/>
          </a:xfrm>
          <a:prstGeom prst="rect">
            <a:avLst/>
          </a:prstGeom>
          <a:noFill/>
          <a:ln/>
        </p:spPr>
        <p:txBody>
          <a:bodyPr wrap="square" rtlCol="0" anchor="ctr"/>
          <a:lstStyle/>
          <a:p>
            <a:pPr marL="0" indent="0">
              <a:buNone/>
            </a:pPr>
            <a:r>
              <a:rPr lang="en-US" sz="2800" b="1" dirty="0">
                <a:solidFill>
                  <a:srgbClr val="0B2A4A"/>
                </a:solidFill>
                <a:latin typeface="Cambria" pitchFamily="34" charset="0"/>
                <a:ea typeface="Cambria" pitchFamily="34" charset="-122"/>
                <a:cs typeface="Cambria" pitchFamily="34" charset="-120"/>
              </a:rPr>
              <a:t>Key Takeaways</a:t>
            </a:r>
            <a:endParaRPr lang="en-US" sz="2800" dirty="0"/>
          </a:p>
        </p:txBody>
      </p:sp>
      <p:sp>
        <p:nvSpPr>
          <p:cNvPr id="5" name="Shape 3"/>
          <p:cNvSpPr/>
          <p:nvPr/>
        </p:nvSpPr>
        <p:spPr>
          <a:xfrm>
            <a:off x="457200" y="1600200"/>
            <a:ext cx="5486400" cy="1417320"/>
          </a:xfrm>
          <a:prstGeom prst="roundRect">
            <a:avLst>
              <a:gd name="adj" fmla="val 6452"/>
            </a:avLst>
          </a:prstGeom>
          <a:solidFill>
            <a:srgbClr val="FFFFFF"/>
          </a:solidFill>
          <a:ln w="12700">
            <a:solidFill>
              <a:srgbClr val="D7E2E6"/>
            </a:solidFill>
            <a:prstDash val="solid"/>
          </a:ln>
          <a:effectLst>
            <a:outerShdw blurRad="63500" dist="25400" dir="5400000" algn="bl" rotWithShape="0">
              <a:srgbClr val="1A1A2E">
                <a:alpha val="8000"/>
              </a:srgbClr>
            </a:outerShdw>
          </a:effectLst>
        </p:spPr>
      </p:sp>
      <p:sp>
        <p:nvSpPr>
          <p:cNvPr id="6" name="Shape 4"/>
          <p:cNvSpPr/>
          <p:nvPr/>
        </p:nvSpPr>
        <p:spPr>
          <a:xfrm>
            <a:off x="731520" y="1856232"/>
            <a:ext cx="502920" cy="502920"/>
          </a:xfrm>
          <a:prstGeom prst="ellipse">
            <a:avLst/>
          </a:prstGeom>
          <a:solidFill>
            <a:srgbClr val="E5F0F4"/>
          </a:solidFill>
          <a:ln/>
        </p:spPr>
      </p:sp>
      <p:sp>
        <p:nvSpPr>
          <p:cNvPr id="7" name="Text 5"/>
          <p:cNvSpPr/>
          <p:nvPr/>
        </p:nvSpPr>
        <p:spPr>
          <a:xfrm>
            <a:off x="731520" y="1856232"/>
            <a:ext cx="502920" cy="502920"/>
          </a:xfrm>
          <a:prstGeom prst="rect">
            <a:avLst/>
          </a:prstGeom>
          <a:noFill/>
          <a:ln/>
        </p:spPr>
        <p:txBody>
          <a:bodyPr wrap="square" rtlCol="0" anchor="ctr"/>
          <a:lstStyle/>
          <a:p>
            <a:pPr marL="0" indent="0" algn="ctr">
              <a:buNone/>
            </a:pPr>
            <a:r>
              <a:rPr lang="en-US" sz="1600" b="1" dirty="0">
                <a:solidFill>
                  <a:srgbClr val="065A82"/>
                </a:solidFill>
                <a:latin typeface="Calibri" pitchFamily="34" charset="0"/>
                <a:ea typeface="Calibri" pitchFamily="34" charset="-122"/>
                <a:cs typeface="Calibri" pitchFamily="34" charset="-120"/>
              </a:rPr>
              <a:t>1</a:t>
            </a:r>
            <a:endParaRPr lang="en-US" sz="1600" dirty="0"/>
          </a:p>
        </p:txBody>
      </p:sp>
      <p:sp>
        <p:nvSpPr>
          <p:cNvPr id="8" name="Text 6"/>
          <p:cNvSpPr/>
          <p:nvPr/>
        </p:nvSpPr>
        <p:spPr>
          <a:xfrm>
            <a:off x="1417320" y="1764792"/>
            <a:ext cx="4297680" cy="365760"/>
          </a:xfrm>
          <a:prstGeom prst="rect">
            <a:avLst/>
          </a:prstGeom>
          <a:noFill/>
          <a:ln/>
        </p:spPr>
        <p:txBody>
          <a:bodyPr wrap="square" rtlCol="0" anchor="ctr"/>
          <a:lstStyle/>
          <a:p>
            <a:pPr marL="0" indent="0">
              <a:buNone/>
            </a:pPr>
            <a:r>
              <a:rPr lang="en-US" sz="1400" b="1" dirty="0">
                <a:solidFill>
                  <a:srgbClr val="0B2A4A"/>
                </a:solidFill>
                <a:latin typeface="Cambria" pitchFamily="34" charset="0"/>
                <a:ea typeface="Cambria" pitchFamily="34" charset="-122"/>
                <a:cs typeface="Cambria" pitchFamily="34" charset="-120"/>
              </a:rPr>
              <a:t>The setup</a:t>
            </a:r>
            <a:endParaRPr lang="en-US" sz="1400" dirty="0"/>
          </a:p>
        </p:txBody>
      </p:sp>
      <p:sp>
        <p:nvSpPr>
          <p:cNvPr id="9" name="Text 7"/>
          <p:cNvSpPr/>
          <p:nvPr/>
        </p:nvSpPr>
        <p:spPr>
          <a:xfrm>
            <a:off x="731520" y="2258568"/>
            <a:ext cx="4937760" cy="640080"/>
          </a:xfrm>
          <a:prstGeom prst="rect">
            <a:avLst/>
          </a:prstGeom>
          <a:noFill/>
          <a:ln/>
        </p:spPr>
        <p:txBody>
          <a:bodyPr wrap="square" rtlCol="0" anchor="ctr"/>
          <a:lstStyle/>
          <a:p>
            <a:pPr marL="0" indent="0">
              <a:lnSpc>
                <a:spcPts val="1350"/>
              </a:lnSpc>
              <a:buNone/>
            </a:pPr>
            <a:r>
              <a:rPr lang="en-US" sz="1100" dirty="0">
                <a:solidFill>
                  <a:srgbClr val="5C6B73"/>
                </a:solidFill>
                <a:latin typeface="Calibri" pitchFamily="34" charset="0"/>
                <a:ea typeface="Calibri" pitchFamily="34" charset="-122"/>
                <a:cs typeface="Calibri" pitchFamily="34" charset="-120"/>
              </a:rPr>
              <a:t>8 tomato plants, X = fertilizer (g), Y = yield (kg) — testing whether more fertilizer means more yield.</a:t>
            </a:r>
            <a:endParaRPr lang="en-US" sz="1100" dirty="0"/>
          </a:p>
        </p:txBody>
      </p:sp>
      <p:sp>
        <p:nvSpPr>
          <p:cNvPr id="10" name="Shape 8"/>
          <p:cNvSpPr/>
          <p:nvPr/>
        </p:nvSpPr>
        <p:spPr>
          <a:xfrm>
            <a:off x="6217920" y="1600200"/>
            <a:ext cx="5486400" cy="1417320"/>
          </a:xfrm>
          <a:prstGeom prst="roundRect">
            <a:avLst>
              <a:gd name="adj" fmla="val 6452"/>
            </a:avLst>
          </a:prstGeom>
          <a:solidFill>
            <a:srgbClr val="FFFFFF"/>
          </a:solidFill>
          <a:ln w="12700">
            <a:solidFill>
              <a:srgbClr val="D7E2E6"/>
            </a:solidFill>
            <a:prstDash val="solid"/>
          </a:ln>
          <a:effectLst>
            <a:outerShdw blurRad="63500" dist="25400" dir="5400000" algn="bl" rotWithShape="0">
              <a:srgbClr val="1A1A2E">
                <a:alpha val="8000"/>
              </a:srgbClr>
            </a:outerShdw>
          </a:effectLst>
        </p:spPr>
      </p:sp>
      <p:sp>
        <p:nvSpPr>
          <p:cNvPr id="11" name="Shape 9"/>
          <p:cNvSpPr/>
          <p:nvPr/>
        </p:nvSpPr>
        <p:spPr>
          <a:xfrm>
            <a:off x="6492240" y="1856232"/>
            <a:ext cx="502920" cy="502920"/>
          </a:xfrm>
          <a:prstGeom prst="ellipse">
            <a:avLst/>
          </a:prstGeom>
          <a:solidFill>
            <a:srgbClr val="E5F0F4"/>
          </a:solidFill>
          <a:ln/>
        </p:spPr>
      </p:sp>
      <p:sp>
        <p:nvSpPr>
          <p:cNvPr id="12" name="Text 10"/>
          <p:cNvSpPr/>
          <p:nvPr/>
        </p:nvSpPr>
        <p:spPr>
          <a:xfrm>
            <a:off x="6492240" y="1856232"/>
            <a:ext cx="502920" cy="502920"/>
          </a:xfrm>
          <a:prstGeom prst="rect">
            <a:avLst/>
          </a:prstGeom>
          <a:noFill/>
          <a:ln/>
        </p:spPr>
        <p:txBody>
          <a:bodyPr wrap="square" rtlCol="0" anchor="ctr"/>
          <a:lstStyle/>
          <a:p>
            <a:pPr marL="0" indent="0" algn="ctr">
              <a:buNone/>
            </a:pPr>
            <a:r>
              <a:rPr lang="en-US" sz="1600" b="1" dirty="0">
                <a:solidFill>
                  <a:srgbClr val="065A82"/>
                </a:solidFill>
                <a:latin typeface="Calibri" pitchFamily="34" charset="0"/>
                <a:ea typeface="Calibri" pitchFamily="34" charset="-122"/>
                <a:cs typeface="Calibri" pitchFamily="34" charset="-120"/>
              </a:rPr>
              <a:t>2</a:t>
            </a:r>
            <a:endParaRPr lang="en-US" sz="1600" dirty="0"/>
          </a:p>
        </p:txBody>
      </p:sp>
      <p:sp>
        <p:nvSpPr>
          <p:cNvPr id="13" name="Text 11"/>
          <p:cNvSpPr/>
          <p:nvPr/>
        </p:nvSpPr>
        <p:spPr>
          <a:xfrm>
            <a:off x="7178040" y="1764792"/>
            <a:ext cx="4297680" cy="365760"/>
          </a:xfrm>
          <a:prstGeom prst="rect">
            <a:avLst/>
          </a:prstGeom>
          <a:noFill/>
          <a:ln/>
        </p:spPr>
        <p:txBody>
          <a:bodyPr wrap="square" rtlCol="0" anchor="ctr"/>
          <a:lstStyle/>
          <a:p>
            <a:pPr marL="0" indent="0">
              <a:buNone/>
            </a:pPr>
            <a:r>
              <a:rPr lang="en-US" sz="1400" b="1" dirty="0">
                <a:solidFill>
                  <a:srgbClr val="0B2A4A"/>
                </a:solidFill>
                <a:latin typeface="Cambria" pitchFamily="34" charset="0"/>
                <a:ea typeface="Cambria" pitchFamily="34" charset="-122"/>
                <a:cs typeface="Cambria" pitchFamily="34" charset="-120"/>
              </a:rPr>
              <a:t>Computational formulas</a:t>
            </a:r>
            <a:endParaRPr lang="en-US" sz="1400" dirty="0"/>
          </a:p>
        </p:txBody>
      </p:sp>
      <p:sp>
        <p:nvSpPr>
          <p:cNvPr id="14" name="Text 12"/>
          <p:cNvSpPr/>
          <p:nvPr/>
        </p:nvSpPr>
        <p:spPr>
          <a:xfrm>
            <a:off x="6492240" y="2258568"/>
            <a:ext cx="4937760" cy="640080"/>
          </a:xfrm>
          <a:prstGeom prst="rect">
            <a:avLst/>
          </a:prstGeom>
          <a:noFill/>
          <a:ln/>
        </p:spPr>
        <p:txBody>
          <a:bodyPr wrap="square" rtlCol="0" anchor="ctr"/>
          <a:lstStyle/>
          <a:p>
            <a:pPr marL="0" indent="0">
              <a:lnSpc>
                <a:spcPts val="1350"/>
              </a:lnSpc>
              <a:buNone/>
            </a:pPr>
            <a:r>
              <a:rPr lang="en-US" sz="1100" dirty="0">
                <a:solidFill>
                  <a:srgbClr val="5C6B73"/>
                </a:solidFill>
                <a:latin typeface="Calibri" pitchFamily="34" charset="0"/>
                <a:ea typeface="Calibri" pitchFamily="34" charset="-122"/>
                <a:cs typeface="Calibri" pitchFamily="34" charset="-120"/>
              </a:rPr>
              <a:t>b and a can be computed directly from n, Σx, Σy, Σx², and Σxy — no need to find means first.</a:t>
            </a:r>
            <a:endParaRPr lang="en-US" sz="1100" dirty="0"/>
          </a:p>
        </p:txBody>
      </p:sp>
      <p:sp>
        <p:nvSpPr>
          <p:cNvPr id="15" name="Shape 13"/>
          <p:cNvSpPr/>
          <p:nvPr/>
        </p:nvSpPr>
        <p:spPr>
          <a:xfrm>
            <a:off x="457200" y="3200400"/>
            <a:ext cx="5486400" cy="1417320"/>
          </a:xfrm>
          <a:prstGeom prst="roundRect">
            <a:avLst>
              <a:gd name="adj" fmla="val 6452"/>
            </a:avLst>
          </a:prstGeom>
          <a:solidFill>
            <a:srgbClr val="FFFFFF"/>
          </a:solidFill>
          <a:ln w="12700">
            <a:solidFill>
              <a:srgbClr val="D7E2E6"/>
            </a:solidFill>
            <a:prstDash val="solid"/>
          </a:ln>
          <a:effectLst>
            <a:outerShdw blurRad="63500" dist="25400" dir="5400000" algn="bl" rotWithShape="0">
              <a:srgbClr val="1A1A2E">
                <a:alpha val="8000"/>
              </a:srgbClr>
            </a:outerShdw>
          </a:effectLst>
        </p:spPr>
      </p:sp>
      <p:sp>
        <p:nvSpPr>
          <p:cNvPr id="16" name="Shape 14"/>
          <p:cNvSpPr/>
          <p:nvPr/>
        </p:nvSpPr>
        <p:spPr>
          <a:xfrm>
            <a:off x="731520" y="3456432"/>
            <a:ext cx="502920" cy="502920"/>
          </a:xfrm>
          <a:prstGeom prst="ellipse">
            <a:avLst/>
          </a:prstGeom>
          <a:solidFill>
            <a:srgbClr val="E5F0F4"/>
          </a:solidFill>
          <a:ln/>
        </p:spPr>
      </p:sp>
      <p:sp>
        <p:nvSpPr>
          <p:cNvPr id="17" name="Text 15"/>
          <p:cNvSpPr/>
          <p:nvPr/>
        </p:nvSpPr>
        <p:spPr>
          <a:xfrm>
            <a:off x="731520" y="3456432"/>
            <a:ext cx="502920" cy="502920"/>
          </a:xfrm>
          <a:prstGeom prst="rect">
            <a:avLst/>
          </a:prstGeom>
          <a:noFill/>
          <a:ln/>
        </p:spPr>
        <p:txBody>
          <a:bodyPr wrap="square" rtlCol="0" anchor="ctr"/>
          <a:lstStyle/>
          <a:p>
            <a:pPr marL="0" indent="0" algn="ctr">
              <a:buNone/>
            </a:pPr>
            <a:r>
              <a:rPr lang="en-US" sz="1600" b="1" dirty="0">
                <a:solidFill>
                  <a:srgbClr val="065A82"/>
                </a:solidFill>
                <a:latin typeface="Calibri" pitchFamily="34" charset="0"/>
                <a:ea typeface="Calibri" pitchFamily="34" charset="-122"/>
                <a:cs typeface="Calibri" pitchFamily="34" charset="-120"/>
              </a:rPr>
              <a:t>3</a:t>
            </a:r>
            <a:endParaRPr lang="en-US" sz="1600" dirty="0"/>
          </a:p>
        </p:txBody>
      </p:sp>
      <p:sp>
        <p:nvSpPr>
          <p:cNvPr id="18" name="Text 16"/>
          <p:cNvSpPr/>
          <p:nvPr/>
        </p:nvSpPr>
        <p:spPr>
          <a:xfrm>
            <a:off x="1417320" y="3364992"/>
            <a:ext cx="4297680" cy="365760"/>
          </a:xfrm>
          <a:prstGeom prst="rect">
            <a:avLst/>
          </a:prstGeom>
          <a:noFill/>
          <a:ln/>
        </p:spPr>
        <p:txBody>
          <a:bodyPr wrap="square" rtlCol="0" anchor="ctr"/>
          <a:lstStyle/>
          <a:p>
            <a:pPr marL="0" indent="0">
              <a:buNone/>
            </a:pPr>
            <a:r>
              <a:rPr lang="en-US" sz="1400" b="1" dirty="0">
                <a:solidFill>
                  <a:srgbClr val="0B2A4A"/>
                </a:solidFill>
                <a:latin typeface="Cambria" pitchFamily="34" charset="0"/>
                <a:ea typeface="Cambria" pitchFamily="34" charset="-122"/>
                <a:cs typeface="Cambria" pitchFamily="34" charset="-120"/>
              </a:rPr>
              <a:t>Our result</a:t>
            </a:r>
            <a:endParaRPr lang="en-US" sz="1400" dirty="0"/>
          </a:p>
        </p:txBody>
      </p:sp>
      <p:sp>
        <p:nvSpPr>
          <p:cNvPr id="19" name="Text 17"/>
          <p:cNvSpPr/>
          <p:nvPr/>
        </p:nvSpPr>
        <p:spPr>
          <a:xfrm>
            <a:off x="731520" y="3858768"/>
            <a:ext cx="4937760" cy="640080"/>
          </a:xfrm>
          <a:prstGeom prst="rect">
            <a:avLst/>
          </a:prstGeom>
          <a:noFill/>
          <a:ln/>
        </p:spPr>
        <p:txBody>
          <a:bodyPr wrap="square" rtlCol="0" anchor="ctr"/>
          <a:lstStyle/>
          <a:p>
            <a:pPr marL="0" indent="0">
              <a:lnSpc>
                <a:spcPts val="1350"/>
              </a:lnSpc>
              <a:buNone/>
            </a:pPr>
            <a:r>
              <a:rPr lang="en-US" sz="1100" dirty="0">
                <a:solidFill>
                  <a:srgbClr val="5C6B73"/>
                </a:solidFill>
                <a:latin typeface="Calibri" pitchFamily="34" charset="0"/>
                <a:ea typeface="Calibri" pitchFamily="34" charset="-122"/>
                <a:cs typeface="Calibri" pitchFamily="34" charset="-120"/>
              </a:rPr>
              <a:t>b = 1.102, a = 3.082 → y = 3.082 + 1.102x.</a:t>
            </a:r>
            <a:endParaRPr lang="en-US" sz="1100" dirty="0"/>
          </a:p>
        </p:txBody>
      </p:sp>
      <p:sp>
        <p:nvSpPr>
          <p:cNvPr id="20" name="Shape 18"/>
          <p:cNvSpPr/>
          <p:nvPr/>
        </p:nvSpPr>
        <p:spPr>
          <a:xfrm>
            <a:off x="6217920" y="3200400"/>
            <a:ext cx="5486400" cy="1417320"/>
          </a:xfrm>
          <a:prstGeom prst="roundRect">
            <a:avLst>
              <a:gd name="adj" fmla="val 6452"/>
            </a:avLst>
          </a:prstGeom>
          <a:solidFill>
            <a:srgbClr val="FFFFFF"/>
          </a:solidFill>
          <a:ln w="12700">
            <a:solidFill>
              <a:srgbClr val="D7E2E6"/>
            </a:solidFill>
            <a:prstDash val="solid"/>
          </a:ln>
          <a:effectLst>
            <a:outerShdw blurRad="63500" dist="25400" dir="5400000" algn="bl" rotWithShape="0">
              <a:srgbClr val="1A1A2E">
                <a:alpha val="8000"/>
              </a:srgbClr>
            </a:outerShdw>
          </a:effectLst>
        </p:spPr>
      </p:sp>
      <p:sp>
        <p:nvSpPr>
          <p:cNvPr id="21" name="Shape 19"/>
          <p:cNvSpPr/>
          <p:nvPr/>
        </p:nvSpPr>
        <p:spPr>
          <a:xfrm>
            <a:off x="6492240" y="3456432"/>
            <a:ext cx="502920" cy="502920"/>
          </a:xfrm>
          <a:prstGeom prst="ellipse">
            <a:avLst/>
          </a:prstGeom>
          <a:solidFill>
            <a:srgbClr val="E5F0F4"/>
          </a:solidFill>
          <a:ln/>
        </p:spPr>
      </p:sp>
      <p:sp>
        <p:nvSpPr>
          <p:cNvPr id="22" name="Text 20"/>
          <p:cNvSpPr/>
          <p:nvPr/>
        </p:nvSpPr>
        <p:spPr>
          <a:xfrm>
            <a:off x="6492240" y="3456432"/>
            <a:ext cx="502920" cy="502920"/>
          </a:xfrm>
          <a:prstGeom prst="rect">
            <a:avLst/>
          </a:prstGeom>
          <a:noFill/>
          <a:ln/>
        </p:spPr>
        <p:txBody>
          <a:bodyPr wrap="square" rtlCol="0" anchor="ctr"/>
          <a:lstStyle/>
          <a:p>
            <a:pPr marL="0" indent="0" algn="ctr">
              <a:buNone/>
            </a:pPr>
            <a:r>
              <a:rPr lang="en-US" sz="1600" b="1" dirty="0">
                <a:solidFill>
                  <a:srgbClr val="065A82"/>
                </a:solidFill>
                <a:latin typeface="Calibri" pitchFamily="34" charset="0"/>
                <a:ea typeface="Calibri" pitchFamily="34" charset="-122"/>
                <a:cs typeface="Calibri" pitchFamily="34" charset="-120"/>
              </a:rPr>
              <a:t>4</a:t>
            </a:r>
            <a:endParaRPr lang="en-US" sz="1600" dirty="0"/>
          </a:p>
        </p:txBody>
      </p:sp>
      <p:sp>
        <p:nvSpPr>
          <p:cNvPr id="23" name="Text 21"/>
          <p:cNvSpPr/>
          <p:nvPr/>
        </p:nvSpPr>
        <p:spPr>
          <a:xfrm>
            <a:off x="7178040" y="3364992"/>
            <a:ext cx="4297680" cy="365760"/>
          </a:xfrm>
          <a:prstGeom prst="rect">
            <a:avLst/>
          </a:prstGeom>
          <a:noFill/>
          <a:ln/>
        </p:spPr>
        <p:txBody>
          <a:bodyPr wrap="square" rtlCol="0" anchor="ctr"/>
          <a:lstStyle/>
          <a:p>
            <a:pPr marL="0" indent="0">
              <a:buNone/>
            </a:pPr>
            <a:r>
              <a:rPr lang="en-US" sz="1400" b="1" dirty="0">
                <a:solidFill>
                  <a:srgbClr val="0B2A4A"/>
                </a:solidFill>
                <a:latin typeface="Cambria" pitchFamily="34" charset="0"/>
                <a:ea typeface="Cambria" pitchFamily="34" charset="-122"/>
                <a:cs typeface="Cambria" pitchFamily="34" charset="-120"/>
              </a:rPr>
              <a:t>Positive slope</a:t>
            </a:r>
            <a:endParaRPr lang="en-US" sz="1400" dirty="0"/>
          </a:p>
        </p:txBody>
      </p:sp>
      <p:sp>
        <p:nvSpPr>
          <p:cNvPr id="24" name="Text 22"/>
          <p:cNvSpPr/>
          <p:nvPr/>
        </p:nvSpPr>
        <p:spPr>
          <a:xfrm>
            <a:off x="6492240" y="3858768"/>
            <a:ext cx="4937760" cy="640080"/>
          </a:xfrm>
          <a:prstGeom prst="rect">
            <a:avLst/>
          </a:prstGeom>
          <a:noFill/>
          <a:ln/>
        </p:spPr>
        <p:txBody>
          <a:bodyPr wrap="square" rtlCol="0" anchor="ctr"/>
          <a:lstStyle/>
          <a:p>
            <a:pPr marL="0" indent="0">
              <a:lnSpc>
                <a:spcPts val="1350"/>
              </a:lnSpc>
              <a:buNone/>
            </a:pPr>
            <a:r>
              <a:rPr lang="en-US" sz="1100" dirty="0">
                <a:solidFill>
                  <a:srgbClr val="5C6B73"/>
                </a:solidFill>
                <a:latin typeface="Calibri" pitchFamily="34" charset="0"/>
                <a:ea typeface="Calibri" pitchFamily="34" charset="-122"/>
                <a:cs typeface="Calibri" pitchFamily="34" charset="-120"/>
              </a:rPr>
              <a:t>Confirms the biologist's hypothesis: fertilizer and yield move together.</a:t>
            </a:r>
            <a:endParaRPr lang="en-US" sz="1100" dirty="0"/>
          </a:p>
        </p:txBody>
      </p:sp>
      <p:sp>
        <p:nvSpPr>
          <p:cNvPr id="25" name="Shape 23"/>
          <p:cNvSpPr/>
          <p:nvPr/>
        </p:nvSpPr>
        <p:spPr>
          <a:xfrm>
            <a:off x="457200" y="4800600"/>
            <a:ext cx="5486400" cy="1417320"/>
          </a:xfrm>
          <a:prstGeom prst="roundRect">
            <a:avLst>
              <a:gd name="adj" fmla="val 6452"/>
            </a:avLst>
          </a:prstGeom>
          <a:solidFill>
            <a:srgbClr val="FFFFFF"/>
          </a:solidFill>
          <a:ln w="12700">
            <a:solidFill>
              <a:srgbClr val="D7E2E6"/>
            </a:solidFill>
            <a:prstDash val="solid"/>
          </a:ln>
          <a:effectLst>
            <a:outerShdw blurRad="63500" dist="25400" dir="5400000" algn="bl" rotWithShape="0">
              <a:srgbClr val="1A1A2E">
                <a:alpha val="8000"/>
              </a:srgbClr>
            </a:outerShdw>
          </a:effectLst>
        </p:spPr>
      </p:sp>
      <p:sp>
        <p:nvSpPr>
          <p:cNvPr id="26" name="Shape 24"/>
          <p:cNvSpPr/>
          <p:nvPr/>
        </p:nvSpPr>
        <p:spPr>
          <a:xfrm>
            <a:off x="731520" y="5056632"/>
            <a:ext cx="502920" cy="502920"/>
          </a:xfrm>
          <a:prstGeom prst="ellipse">
            <a:avLst/>
          </a:prstGeom>
          <a:solidFill>
            <a:srgbClr val="E5F0F4"/>
          </a:solidFill>
          <a:ln/>
        </p:spPr>
      </p:sp>
      <p:sp>
        <p:nvSpPr>
          <p:cNvPr id="27" name="Text 25"/>
          <p:cNvSpPr/>
          <p:nvPr/>
        </p:nvSpPr>
        <p:spPr>
          <a:xfrm>
            <a:off x="731520" y="5056632"/>
            <a:ext cx="502920" cy="502920"/>
          </a:xfrm>
          <a:prstGeom prst="rect">
            <a:avLst/>
          </a:prstGeom>
          <a:noFill/>
          <a:ln/>
        </p:spPr>
        <p:txBody>
          <a:bodyPr wrap="square" rtlCol="0" anchor="ctr"/>
          <a:lstStyle/>
          <a:p>
            <a:pPr marL="0" indent="0" algn="ctr">
              <a:buNone/>
            </a:pPr>
            <a:r>
              <a:rPr lang="en-US" sz="1600" b="1" dirty="0">
                <a:solidFill>
                  <a:srgbClr val="065A82"/>
                </a:solidFill>
                <a:latin typeface="Calibri" pitchFamily="34" charset="0"/>
                <a:ea typeface="Calibri" pitchFamily="34" charset="-122"/>
                <a:cs typeface="Calibri" pitchFamily="34" charset="-120"/>
              </a:rPr>
              <a:t>5</a:t>
            </a:r>
            <a:endParaRPr lang="en-US" sz="1600" dirty="0"/>
          </a:p>
        </p:txBody>
      </p:sp>
      <p:sp>
        <p:nvSpPr>
          <p:cNvPr id="28" name="Text 26"/>
          <p:cNvSpPr/>
          <p:nvPr/>
        </p:nvSpPr>
        <p:spPr>
          <a:xfrm>
            <a:off x="1417320" y="4965192"/>
            <a:ext cx="4297680" cy="365760"/>
          </a:xfrm>
          <a:prstGeom prst="rect">
            <a:avLst/>
          </a:prstGeom>
          <a:noFill/>
          <a:ln/>
        </p:spPr>
        <p:txBody>
          <a:bodyPr wrap="square" rtlCol="0" anchor="ctr"/>
          <a:lstStyle/>
          <a:p>
            <a:pPr marL="0" indent="0">
              <a:buNone/>
            </a:pPr>
            <a:r>
              <a:rPr lang="en-US" sz="1400" b="1" dirty="0">
                <a:solidFill>
                  <a:srgbClr val="0B2A4A"/>
                </a:solidFill>
                <a:latin typeface="Cambria" pitchFamily="34" charset="0"/>
                <a:ea typeface="Cambria" pitchFamily="34" charset="-122"/>
                <a:cs typeface="Cambria" pitchFamily="34" charset="-120"/>
              </a:rPr>
              <a:t>Prediction</a:t>
            </a:r>
            <a:endParaRPr lang="en-US" sz="1400" dirty="0"/>
          </a:p>
        </p:txBody>
      </p:sp>
      <p:sp>
        <p:nvSpPr>
          <p:cNvPr id="29" name="Text 27"/>
          <p:cNvSpPr/>
          <p:nvPr/>
        </p:nvSpPr>
        <p:spPr>
          <a:xfrm>
            <a:off x="731520" y="5458968"/>
            <a:ext cx="4937760" cy="640080"/>
          </a:xfrm>
          <a:prstGeom prst="rect">
            <a:avLst/>
          </a:prstGeom>
          <a:noFill/>
          <a:ln/>
        </p:spPr>
        <p:txBody>
          <a:bodyPr wrap="square" rtlCol="0" anchor="ctr"/>
          <a:lstStyle/>
          <a:p>
            <a:pPr marL="0" indent="0">
              <a:lnSpc>
                <a:spcPts val="1350"/>
              </a:lnSpc>
              <a:buNone/>
            </a:pPr>
            <a:r>
              <a:rPr lang="en-US" sz="1100" dirty="0">
                <a:solidFill>
                  <a:srgbClr val="5C6B73"/>
                </a:solidFill>
                <a:latin typeface="Calibri" pitchFamily="34" charset="0"/>
                <a:ea typeface="Calibri" pitchFamily="34" charset="-122"/>
                <a:cs typeface="Calibri" pitchFamily="34" charset="-120"/>
              </a:rPr>
              <a:t>At x = 3.2 g, the model predicts y ≈ 6.61 kg of tomatoes.</a:t>
            </a:r>
            <a:endParaRPr lang="en-US" sz="1100" dirty="0"/>
          </a:p>
        </p:txBody>
      </p:sp>
      <p:sp>
        <p:nvSpPr>
          <p:cNvPr id="30" name="Shape 28"/>
          <p:cNvSpPr/>
          <p:nvPr/>
        </p:nvSpPr>
        <p:spPr>
          <a:xfrm>
            <a:off x="6217920" y="4800600"/>
            <a:ext cx="5486400" cy="1417320"/>
          </a:xfrm>
          <a:prstGeom prst="roundRect">
            <a:avLst>
              <a:gd name="adj" fmla="val 6452"/>
            </a:avLst>
          </a:prstGeom>
          <a:solidFill>
            <a:srgbClr val="FFFFFF"/>
          </a:solidFill>
          <a:ln w="12700">
            <a:solidFill>
              <a:srgbClr val="D7E2E6"/>
            </a:solidFill>
            <a:prstDash val="solid"/>
          </a:ln>
          <a:effectLst>
            <a:outerShdw blurRad="63500" dist="25400" dir="5400000" algn="bl" rotWithShape="0">
              <a:srgbClr val="1A1A2E">
                <a:alpha val="8000"/>
              </a:srgbClr>
            </a:outerShdw>
          </a:effectLst>
        </p:spPr>
      </p:sp>
      <p:sp>
        <p:nvSpPr>
          <p:cNvPr id="31" name="Shape 29"/>
          <p:cNvSpPr/>
          <p:nvPr/>
        </p:nvSpPr>
        <p:spPr>
          <a:xfrm>
            <a:off x="6492240" y="5056632"/>
            <a:ext cx="502920" cy="502920"/>
          </a:xfrm>
          <a:prstGeom prst="ellipse">
            <a:avLst/>
          </a:prstGeom>
          <a:solidFill>
            <a:srgbClr val="E5F0F4"/>
          </a:solidFill>
          <a:ln/>
        </p:spPr>
      </p:sp>
      <p:sp>
        <p:nvSpPr>
          <p:cNvPr id="32" name="Text 30"/>
          <p:cNvSpPr/>
          <p:nvPr/>
        </p:nvSpPr>
        <p:spPr>
          <a:xfrm>
            <a:off x="6492240" y="5056632"/>
            <a:ext cx="502920" cy="502920"/>
          </a:xfrm>
          <a:prstGeom prst="rect">
            <a:avLst/>
          </a:prstGeom>
          <a:noFill/>
          <a:ln/>
        </p:spPr>
        <p:txBody>
          <a:bodyPr wrap="square" rtlCol="0" anchor="ctr"/>
          <a:lstStyle/>
          <a:p>
            <a:pPr marL="0" indent="0" algn="ctr">
              <a:buNone/>
            </a:pPr>
            <a:r>
              <a:rPr lang="en-US" sz="1600" b="1" dirty="0">
                <a:solidFill>
                  <a:srgbClr val="065A82"/>
                </a:solidFill>
                <a:latin typeface="Calibri" pitchFamily="34" charset="0"/>
                <a:ea typeface="Calibri" pitchFamily="34" charset="-122"/>
                <a:cs typeface="Calibri" pitchFamily="34" charset="-120"/>
              </a:rPr>
              <a:t>6</a:t>
            </a:r>
            <a:endParaRPr lang="en-US" sz="1600" dirty="0"/>
          </a:p>
        </p:txBody>
      </p:sp>
      <p:sp>
        <p:nvSpPr>
          <p:cNvPr id="33" name="Text 31"/>
          <p:cNvSpPr/>
          <p:nvPr/>
        </p:nvSpPr>
        <p:spPr>
          <a:xfrm>
            <a:off x="7178040" y="4965192"/>
            <a:ext cx="4297680" cy="365760"/>
          </a:xfrm>
          <a:prstGeom prst="rect">
            <a:avLst/>
          </a:prstGeom>
          <a:noFill/>
          <a:ln/>
        </p:spPr>
        <p:txBody>
          <a:bodyPr wrap="square" rtlCol="0" anchor="ctr"/>
          <a:lstStyle/>
          <a:p>
            <a:pPr marL="0" indent="0">
              <a:buNone/>
            </a:pPr>
            <a:r>
              <a:rPr lang="en-US" sz="1400" b="1" dirty="0">
                <a:solidFill>
                  <a:srgbClr val="0B2A4A"/>
                </a:solidFill>
                <a:latin typeface="Cambria" pitchFamily="34" charset="0"/>
                <a:ea typeface="Cambria" pitchFamily="34" charset="-122"/>
                <a:cs typeface="Cambria" pitchFamily="34" charset="-120"/>
              </a:rPr>
              <a:t>General method</a:t>
            </a:r>
            <a:endParaRPr lang="en-US" sz="1400" dirty="0"/>
          </a:p>
        </p:txBody>
      </p:sp>
      <p:sp>
        <p:nvSpPr>
          <p:cNvPr id="34" name="Text 32"/>
          <p:cNvSpPr/>
          <p:nvPr/>
        </p:nvSpPr>
        <p:spPr>
          <a:xfrm>
            <a:off x="6492240" y="5458968"/>
            <a:ext cx="4937760" cy="640080"/>
          </a:xfrm>
          <a:prstGeom prst="rect">
            <a:avLst/>
          </a:prstGeom>
          <a:noFill/>
          <a:ln/>
        </p:spPr>
        <p:txBody>
          <a:bodyPr wrap="square" rtlCol="0" anchor="ctr"/>
          <a:lstStyle/>
          <a:p>
            <a:pPr marL="0" indent="0">
              <a:lnSpc>
                <a:spcPts val="1350"/>
              </a:lnSpc>
              <a:buNone/>
            </a:pPr>
            <a:r>
              <a:rPr lang="en-US" sz="1100" dirty="0">
                <a:solidFill>
                  <a:srgbClr val="5C6B73"/>
                </a:solidFill>
                <a:latin typeface="Calibri" pitchFamily="34" charset="0"/>
                <a:ea typeface="Calibri" pitchFamily="34" charset="-122"/>
                <a:cs typeface="Calibri" pitchFamily="34" charset="-120"/>
              </a:rPr>
              <a:t>Same recipe as any simple linear regression: gather sums, solve for b, then a, then predict.</a:t>
            </a:r>
            <a:endParaRPr lang="en-US" sz="1100" dirty="0"/>
          </a:p>
        </p:txBody>
      </p:sp>
      <p:sp>
        <p:nvSpPr>
          <p:cNvPr id="35" name="Text 33"/>
          <p:cNvSpPr/>
          <p:nvPr/>
        </p:nvSpPr>
        <p:spPr>
          <a:xfrm>
            <a:off x="457200" y="6537960"/>
            <a:ext cx="5486400" cy="274320"/>
          </a:xfrm>
          <a:prstGeom prst="rect">
            <a:avLst/>
          </a:prstGeom>
          <a:noFill/>
          <a:ln/>
        </p:spPr>
        <p:txBody>
          <a:bodyPr wrap="square" rtlCol="0" anchor="ctr"/>
          <a:lstStyle/>
          <a:p>
            <a:pPr marL="0" indent="0">
              <a:buNone/>
            </a:pPr>
            <a:r>
              <a:rPr lang="en-US" sz="900" i="1" dirty="0">
                <a:solidFill>
                  <a:srgbClr val="5C6B73"/>
                </a:solidFill>
                <a:latin typeface="Calibri" pitchFamily="34" charset="0"/>
                <a:ea typeface="Calibri" pitchFamily="34" charset="-122"/>
                <a:cs typeface="Calibri" pitchFamily="34" charset="-120"/>
              </a:rPr>
              <a:t>Linear Regression · Fertilizer &amp; Yield</a:t>
            </a:r>
            <a:endParaRPr lang="en-US" sz="900" dirty="0"/>
          </a:p>
        </p:txBody>
      </p:sp>
      <p:sp>
        <p:nvSpPr>
          <p:cNvPr id="36" name="Text 34"/>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5C6B73"/>
                </a:solidFill>
                <a:latin typeface="Calibri" pitchFamily="34" charset="0"/>
                <a:ea typeface="Calibri" pitchFamily="34" charset="-122"/>
                <a:cs typeface="Calibri" pitchFamily="34" charset="-120"/>
              </a:rPr>
              <a:t>11</a:t>
            </a:r>
            <a:endParaRPr lang="en-US" sz="900"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101</TotalTime>
  <Words>1041</Words>
  <Application>Microsoft Office PowerPoint</Application>
  <PresentationFormat>Custom</PresentationFormat>
  <Paragraphs>219</Paragraphs>
  <Slides>11</Slides>
  <Notes>11</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win</cp:lastModifiedBy>
  <cp:revision>2</cp:revision>
  <dcterms:created xsi:type="dcterms:W3CDTF">2026-09-06T07:34:18Z</dcterms:created>
  <dcterms:modified xsi:type="dcterms:W3CDTF">2026-09-09T07:59:53Z</dcterms:modified>
</cp:coreProperties>
</file>