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63093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943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61264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55778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7607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52120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5394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48463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8183880" y="6400800"/>
            <a:ext cx="3657600" cy="-16916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 ·  LECTURE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Regression: Building the Intuition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first algorithm every ML learner should master, and the geometric idea behind it — before any of the math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Regression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ALGORITHM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Begin an ML Journey With Linear Regression?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course, every textbook, starts the same way — and that's not an accident.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genuinely simple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163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understand, easy to explain — unlike black-box algorithms (SVM, PCA) where even practitioners struggle to say exactly what's happening inside.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584448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7216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interpretable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14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look at what the model learned and explain it in plain language — a rare property among ML algorithms.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882896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0200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foundational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132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learn here — best-fit lines, minimizing error — carries forward and compounds as you move to more advanced algorithms.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Linear Regression Fits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splits first into Supervised, Unsupervised, and Semi-Supervised learning. Supervised learning splits again into two problem types: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6060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 is numerical / continuous — a package in LPA, a house price, a temperature.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Linear Regression lives 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423160"/>
            <a:ext cx="5422392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606040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108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 is categorical — spam or not spam, pass or fail, which of several classes.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algorithms, different lecture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a Supervised Machine Learning algorithm that solves Regression problems — the moment you see a numeric output column, this family of algorithms is in play.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Flavors of Linear Regression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full map of what "Linear Regression" covers as a topic — we'll work through all three, in order.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74552" cy="1078992"/>
          </a:xfrm>
          <a:prstGeom prst="roundRect">
            <a:avLst>
              <a:gd name="adj" fmla="val 8475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1401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134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4320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column, one output column. Today's entire focus.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11274552" cy="1078992"/>
          </a:xfrm>
          <a:prstGeom prst="roundRect">
            <a:avLst>
              <a:gd name="adj" fmla="val 8475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639312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387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6849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input column feeding a single output.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645152"/>
            <a:ext cx="11274552" cy="1078992"/>
          </a:xfrm>
          <a:prstGeom prst="roundRect">
            <a:avLst>
              <a:gd name="adj" fmla="val 8475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86460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764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Regression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19379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and similar variants — built on the same foundation, with extra constraints.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Simple Linear Regression deeply, and Multiple Linear Regression will feel like a small, natural extension — not a new topic.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"Simple" vs. "Multiple" — One Word Makes the Difference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input column,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column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CGPA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Package (LPA)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a student's CGPA, predict their package."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for the rest of this lecture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422392" cy="4206240"/>
          </a:xfrm>
          <a:prstGeom prst="roundRect">
            <a:avLst>
              <a:gd name="adj" fmla="val 2609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87452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286000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input column,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column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301752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CGPA, gender,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12th %, state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Package (LPA)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several facts about a student, predict their package."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98348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a later lecture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Lecture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27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placement dataset, and why you can't just guess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idea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127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the data and discovering the best-fit line, by eye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A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code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303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scikit-learn's LinearRegression and reading its predictions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39319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52303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slope and intercept actually mean, in plain language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math derivation — deriving m and b from scratch, and building your own LinearRegression class — is next lecture. Today is intuition-first.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Placement Prediction 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has 4th-year students who have been placed. For each, we know two things: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CGPA, and the package (in LPA) they were offered.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1274552" cy="13716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— imagine it as a simple website — where a new student enters their CGPA, and instantly gets a predicted package. Under the hood, that website just needs a working Linear Regression model.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question: imagine you had zero data at all. If a student asked "what package will I get?", could you answer meaningfully? No — with nothing to go on, any answer is a guess.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question becomes: once you do have data, how do you use it well?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ATTEMPT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Simplest Possible Idea: Just Guess the Mean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 available but no model, one option: take the mean package of every placed student, and always answer with that number.</a:t>
            </a:r>
            <a:endParaRPr lang="en-US" sz="1400" dirty="0"/>
          </a:p>
        </p:txBody>
      </p:sp>
      <p:pic>
        <p:nvPicPr>
          <p:cNvPr id="6" name="Image 0" descr="/home/claude/slides3/mean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630936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040880" y="237744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with a strong CGPA and a student with a weak CGPA both get the exact same predicted package — every red gap on this chart is a mistake this approach makes.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CGPA column exists precisely because it should influence the prediction. Ignoring it wastes the most useful information you have.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One: Just Look at the Data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anything, plot CGPA against package for every student. A picture reveals structure a table of numbers hides.</a:t>
            </a:r>
            <a:endParaRPr lang="en-US" sz="1400" dirty="0"/>
          </a:p>
        </p:txBody>
      </p:sp>
      <p:pic>
        <p:nvPicPr>
          <p:cNvPr id="6" name="Image 0" descr="/home/claude/slides3/scatter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194560"/>
            <a:ext cx="685800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"Sort Of" Linear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CGPA goes up, package tends to go up too — but the points don't sit on a single, perfect line. There's a clear trend, wrapped in noise.</a:t>
            </a:r>
            <a:endParaRPr lang="en-US" sz="1450" dirty="0"/>
          </a:p>
        </p:txBody>
      </p:sp>
      <p:pic>
        <p:nvPicPr>
          <p:cNvPr id="6" name="Image 0" descr="/home/claude/slides3/perfect_vs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23160"/>
            <a:ext cx="11274552" cy="3566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between "perfectly linear" and "real" is the whole reason Simple Linear Regression needs a clever idea, not just an equation.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NOISE?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Isn't Real Data Perfectly Linear?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outcomes carry real-world randomness — factors no formula can capture from a spreadsheet of just two columns.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weaker CGPA, but a great package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0779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the interview went unusually well, or a personal connection helped, or the hiring company was simply paying generously that year.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4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CGPA, but a disappointing package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0799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the interview didn't go well that day, or the specific company or role just paid less, regardless of academic record.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something we can quantify or put a number on — it's exactly the kind of unpredictable human and situational noise that real datasets carry.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 EXPERIMENT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Data Really Were Perfectly Linear...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 problem would be almost trivial. Draw one line that passes through every single point, and you're done.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line's equation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straight line can be written as y = mx + 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377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m and b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have both numbers, the line is fully defined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anything instantly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any new CGPA (x), and y falls straight out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3645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mx + b   —   m = slope,   b = intercept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our data isn't perfectly linear — so no single line passes through every point. We need a different plan.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No Line Is Perfect — Find the Best One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line that passes as close as possible to every point, even though it touches almost none of them exactly. This is called the best-fit line.</a:t>
            </a:r>
            <a:endParaRPr lang="en-US" sz="1400" dirty="0"/>
          </a:p>
        </p:txBody>
      </p:sp>
      <p:pic>
        <p:nvPicPr>
          <p:cNvPr id="6" name="Image 0" descr="/home/claude/slides3/three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331720"/>
            <a:ext cx="850392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DEFINITION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Regression, In One Sentence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10725912" cy="1920240"/>
          </a:xfrm>
          <a:prstGeom prst="roundRect">
            <a:avLst>
              <a:gd name="adj" fmla="val 5714"/>
            </a:avLst>
          </a:prstGeom>
          <a:solidFill>
            <a:srgbClr val="2C3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834640"/>
            <a:ext cx="10177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algorithm whose entire job is to find the best-fit line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scatter of two-dimensional data.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Every formula, every derivation, every line of sklearn code that follows exists purely to answer one question: which m and which b make the best line?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 Is Coming — Just Not Yet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out exactly how m and b get calculated requires real derivation — and that's the entire subject of the next lecture, where we build it from scratch.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1274552" cy="1737360"/>
          </a:xfrm>
          <a:prstGeom prst="roundRect">
            <a:avLst>
              <a:gd name="adj" fmla="val 6316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approach instead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scikit-learn's ready-made LinearRegression to see the algorithm work end-to-end, build a feel for what a "trained model" actually is, and develop plain-language intuition for what its output numbers mean — before opening up the math.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 works well: code-first learners (which most ML students are) often find the math far easier to absorb once they've already seen it "do something" real.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Workflow for Any ML Algorithm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Linear Regression specifically, here's the four-step pattern every supervised algorithm follows: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420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X and 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input column(s) from the output column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2860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560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5420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00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some rows to check honestly how well the model does later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416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train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74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algorithm class, then fit it on the training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4160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4434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416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074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new inputs through the trained model to get outputs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1–2: Extract Columns, Then Split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2834640"/>
          </a:xfrm>
          <a:prstGeom prst="roundRect">
            <a:avLst>
              <a:gd name="adj" fmla="val 3226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pd.read_csv('placement.csv')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df.iloc[:, 0]   # CGPA — all rows, column 0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df.iloc[:, -1]  # Package — all rows, last column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random_state=2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5541264" cy="1188720"/>
          </a:xfrm>
          <a:prstGeom prst="roundRect">
            <a:avLst>
              <a:gd name="adj" fmla="val 7692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892040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test_size=0.2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25780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rows set aside purely for honest evaluation later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4754880"/>
            <a:ext cx="5541264" cy="1188720"/>
          </a:xfrm>
          <a:prstGeom prst="roundRect">
            <a:avLst>
              <a:gd name="adj" fmla="val 7692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9944" y="4892040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525780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random shuffle, so results are reproducible run to run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Select the Algorithm and Train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691640"/>
          </a:xfrm>
          <a:prstGeom prst="roundRect">
            <a:avLst>
              <a:gd name="adj" fmla="val 5405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LinearRegression()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genuinely all it takes.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model object, call .fit() with the training data, and — because this dataset is small — training finishes almost instantly. The model is now "trained," meaning it has learned its own m and b internally.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hasn't been trained yet has no m or b at all — fit() is the step where those numbers actually get computed.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Snag: The Reshape Gotcha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single test value directly into predict() often throws a shape error — here's why, and the one-line fix.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sklearn expects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— shaped like a column, even for one feature and one row.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= (1, 1)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422392" cy="1920240"/>
          </a:xfrm>
          <a:prstGeom prst="roundRect">
            <a:avLst>
              <a:gd name="adj" fmla="val 4762"/>
            </a:avLst>
          </a:prstGeom>
          <a:solidFill>
            <a:srgbClr val="FDEE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single value looks like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bare scalar — sklearn can't tell how many features or rows that represents.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= ()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3645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44805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lr.predict([[8.58]])   # nested brackets → one row, one column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detail, but one nearly every learner hits on their first prediction — worth knowing before it trips you up.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Predict, and Compare to Reality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trained model on a couple of test students, and check the predicted package against what they actually got.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package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233172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74552" cy="777240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 LPA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3.90 LPA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283464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close, not exact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1274552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3.49 LPA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3.25 LPA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0" y="361188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close, not exact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6634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land close to reality but not exactly on it — expected, since our data isn't perfectly linear. That gap is the residual we'll formalize mathematically next lecture.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RESULT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Algorithm Actually Drew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the trained model's line on top of the full scatter plot — this is the literal best-fit line the algorithm found for our data.</a:t>
            </a:r>
            <a:endParaRPr lang="en-US" sz="1400" dirty="0"/>
          </a:p>
        </p:txBody>
      </p:sp>
      <p:pic>
        <p:nvPicPr>
          <p:cNvPr id="6" name="Image 0" descr="/home/claude/slides3/best_fit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286000"/>
            <a:ext cx="6858000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Line's Equation Straight From the Model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trained scikit-learn LinearRegression stores its learned slope and intercept as attributes — no need to reverse-engineer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2286000"/>
          </a:xfrm>
          <a:prstGeom prst="roundRect">
            <a:avLst>
              <a:gd name="adj" fmla="val 4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lr.coef_       # the slope, m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lr.intercept_  # the intercept, b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check: y = m * x + b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* 8.58 + b   # should match lr.predict([[8.58]])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y = mx + b by hand, using the values read from coef_ and intercept_, produces exactly the same number as lr.predict() — proof that predict() is doing nothing more mysterious than plugging into the line's own equation.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LIMITATION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Doesn't Know Where to Stop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input far outside the range the model was trained on, and it keeps predicting anyway — following the line blindly, with no sense of real-world limits.</a:t>
            </a:r>
            <a:endParaRPr lang="en-US" sz="1400" dirty="0"/>
          </a:p>
        </p:txBody>
      </p:sp>
      <p:pic>
        <p:nvPicPr>
          <p:cNvPr id="6" name="Image 0" descr="/home/claude/slides3/extrapo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86000"/>
            <a:ext cx="9601200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Math: What Do m and b Actually Mean?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Mathematically, the story is simple: package = m × CGPA + b.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you had to explain that equation to someone with no math background — what would you actually say m and b represent?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56616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 =  m × CGPA  +  b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— How Strongly the Output Depends on the Input</a:t>
            </a:r>
            <a:endParaRPr lang="en-US" sz="3000" dirty="0"/>
          </a:p>
        </p:txBody>
      </p:sp>
      <p:pic>
        <p:nvPicPr>
          <p:cNvPr id="5" name="Image 0" descr="/home/claude/slides3/slope_intu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11274552" cy="3063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m as importance, or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weightage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small m means small changes in output for even large changes in CGPA — package barely depends on it. A large m means package swings sharply with even a small CGPA change — the input matters a lot.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why, in ML terminology, m is often just called a "weight."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The Value That Exists Even Without the Input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setting b = 0 for our example: package = m × CGPA. At CGPA = 0, predicted package is exactly 0 — plausible enough here, but it doesn't reveal what b really means. A different example makes it clearer:</a:t>
            </a:r>
            <a:endParaRPr lang="en-US" sz="1350" dirty="0"/>
          </a:p>
        </p:txBody>
      </p:sp>
      <p:pic>
        <p:nvPicPr>
          <p:cNvPr id="6" name="Image 0" descr="/home/claude/slides3/intercept_intu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377440"/>
            <a:ext cx="66751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Fresher's Salary Isn't Zero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example to years of experience → salary. If b were forced to 0, a fresh graduate with zero experience would be predicted a salary of exactly zero — which is obviously wrong. Companies pay a base salary regardless.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74552" cy="13716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889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represents the baseline value of the output —</a:t>
            </a:r>
            <a:endParaRPr lang="en-US" sz="16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be even if the input column didn't move the needle at all.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placement example, b captures whatever floor value package tends toward, independent of CGPA — the part of the outcome the input feature alone doesn't explain.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m and b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83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 input, through m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762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larger the weight, the more strongly the output tracks the input's changes.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26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has a baseline, through b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192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input column vanished entirely, the output wouldn't collapse to zero — b is what's left over.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69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define the line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4622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the model makes is just this pair of numbers, applied to a new input.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Building Intuition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2C3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here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8308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simple, interpretable, and foundational for everything that follows.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670048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2C3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700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70048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finds the best-fit line on a 2D scatter of real, noisy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557016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2C3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5701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557016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X/y, split train/test, fit the model, predict — the same four steps every algorithm follows.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443984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2C3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44398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443984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is the weight — how strongly output tracks input. b is the baseline — what remains when input doesn't move.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5330952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2C3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3309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limitation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30952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extrapolates blindly beyond the data it was trained on — no built-in sense of realistic bounds.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the complete mathematical derivation of m and b — and building your own LinearRegression class from scratch.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2026-09-01T13:44:10Z</dcterms:created>
  <dcterms:modified xsi:type="dcterms:W3CDTF">2026-09-01T13:44:10Z</dcterms:modified>
</cp:coreProperties>
</file>